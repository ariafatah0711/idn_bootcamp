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354.xml"/>
  <Override ContentType="application/vnd.openxmlformats-officedocument.presentationml.notesSlide+xml" PartName="/ppt/notesSlides/notesSlide222.xml"/>
  <Override ContentType="application/vnd.openxmlformats-officedocument.presentationml.notesSlide+xml" PartName="/ppt/notesSlides/notesSlide311.xml"/>
  <Override ContentType="application/vnd.openxmlformats-officedocument.presentationml.notesSlide+xml" PartName="/ppt/notesSlides/notesSlide257.xml"/>
  <Override ContentType="application/vnd.openxmlformats-officedocument.presentationml.notesSlide+xml" PartName="/ppt/notesSlides/notesSlide265.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73.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338.xml"/>
  <Override ContentType="application/vnd.openxmlformats-officedocument.presentationml.notesSlide+xml" PartName="/ppt/notesSlides/notesSlide362.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303.xml"/>
  <Override ContentType="application/vnd.openxmlformats-officedocument.presentationml.notesSlide+xml" PartName="/ppt/notesSlides/notesSlide34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293.xml"/>
  <Override ContentType="application/vnd.openxmlformats-officedocument.presentationml.notesSlide+xml" PartName="/ppt/notesSlides/notesSlide137.xml"/>
  <Override ContentType="application/vnd.openxmlformats-officedocument.presentationml.notesSlide+xml" PartName="/ppt/notesSlides/notesSlide27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326.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81.xml"/>
  <Override ContentType="application/vnd.openxmlformats-officedocument.presentationml.notesSlide+xml" PartName="/ppt/notesSlides/notesSlide331.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358.xml"/>
  <Override ContentType="application/vnd.openxmlformats-officedocument.presentationml.notesSlide+xml" PartName="/ppt/notesSlides/notesSlide342.xml"/>
  <Override ContentType="application/vnd.openxmlformats-officedocument.presentationml.notesSlide+xml" PartName="/ppt/notesSlides/notesSlide270.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315.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296.xml"/>
  <Override ContentType="application/vnd.openxmlformats-officedocument.presentationml.notesSlide+xml" PartName="/ppt/notesSlides/notesSlide253.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1.xml"/>
  <Override ContentType="application/vnd.openxmlformats-officedocument.presentationml.notesSlide+xml" PartName="/ppt/notesSlides/notesSlide319.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334.xml"/>
  <Override ContentType="application/vnd.openxmlformats-officedocument.presentationml.notesSlide+xml" PartName="/ppt/notesSlides/notesSlide306.xml"/>
  <Override ContentType="application/vnd.openxmlformats-officedocument.presentationml.notesSlide+xml" PartName="/ppt/notesSlides/notesSlide349.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323.xml"/>
  <Override ContentType="application/vnd.openxmlformats-officedocument.presentationml.notesSlide+xml" PartName="/ppt/notesSlides/notesSlide71.xml"/>
  <Override ContentType="application/vnd.openxmlformats-officedocument.presentationml.notesSlide+xml" PartName="/ppt/notesSlides/notesSlide285.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268.xml"/>
  <Override ContentType="application/vnd.openxmlformats-officedocument.presentationml.notesSlide+xml" PartName="/ppt/notesSlides/notesSlide329.xml"/>
  <Override ContentType="application/vnd.openxmlformats-officedocument.presentationml.notesSlide+xml" PartName="/ppt/notesSlides/notesSlide290.xml"/>
  <Override ContentType="application/vnd.openxmlformats-officedocument.presentationml.notesSlide+xml" PartName="/ppt/notesSlides/notesSlide274.xml"/>
  <Override ContentType="application/vnd.openxmlformats-officedocument.presentationml.notesSlide+xml" PartName="/ppt/notesSlides/notesSlide84.xml"/>
  <Override ContentType="application/vnd.openxmlformats-officedocument.presentationml.notesSlide+xml" PartName="/ppt/notesSlides/notesSlide302.xml"/>
  <Override ContentType="application/vnd.openxmlformats-officedocument.presentationml.notesSlide+xml" PartName="/ppt/notesSlides/notesSlide76.xml"/>
  <Override ContentType="application/vnd.openxmlformats-officedocument.presentationml.notesSlide+xml" PartName="/ppt/notesSlides/notesSlide345.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56.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363.xml"/>
  <Override ContentType="application/vnd.openxmlformats-officedocument.presentationml.notesSlide+xml" PartName="/ppt/notesSlides/notesSlide51.xml"/>
  <Override ContentType="application/vnd.openxmlformats-officedocument.presentationml.notesSlide+xml" PartName="/ppt/notesSlides/notesSlide266.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320.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330.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289.xml"/>
  <Override ContentType="application/vnd.openxmlformats-officedocument.presentationml.notesSlide+xml" PartName="/ppt/notesSlides/notesSlide280.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314.xml"/>
  <Override ContentType="application/vnd.openxmlformats-officedocument.presentationml.notesSlide+xml" PartName="/ppt/notesSlides/notesSlide27.xml"/>
  <Override ContentType="application/vnd.openxmlformats-officedocument.presentationml.notesSlide+xml" PartName="/ppt/notesSlides/notesSlide339.xml"/>
  <Override ContentType="application/vnd.openxmlformats-officedocument.presentationml.notesSlide+xml" PartName="/ppt/notesSlides/notesSlide88.xml"/>
  <Override ContentType="application/vnd.openxmlformats-officedocument.presentationml.notesSlide+xml" PartName="/ppt/notesSlides/notesSlide357.xml"/>
  <Override ContentType="application/vnd.openxmlformats-officedocument.presentationml.notesSlide+xml" PartName="/ppt/notesSlides/notesSlide251.xml"/>
  <Override ContentType="application/vnd.openxmlformats-officedocument.presentationml.notesSlide+xml" PartName="/ppt/notesSlides/notesSlide294.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95.xml"/>
  <Override ContentType="application/vnd.openxmlformats-officedocument.presentationml.notesSlide+xml" PartName="/ppt/notesSlides/notesSlide324.xml"/>
  <Override ContentType="application/vnd.openxmlformats-officedocument.presentationml.notesSlide+xml" PartName="/ppt/notesSlides/notesSlide235.xml"/>
  <Override ContentType="application/vnd.openxmlformats-officedocument.presentationml.notesSlide+xml" PartName="/ppt/notesSlides/notesSlide341.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78.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8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307.xml"/>
  <Override ContentType="application/vnd.openxmlformats-officedocument.presentationml.notesSlide+xml" PartName="/ppt/notesSlides/notesSlide335.xml"/>
  <Override ContentType="application/vnd.openxmlformats-officedocument.presentationml.notesSlide+xml" PartName="/ppt/notesSlides/notesSlide318.xml"/>
  <Override ContentType="application/vnd.openxmlformats-officedocument.presentationml.notesSlide+xml" PartName="/ppt/notesSlides/notesSlide284.xml"/>
  <Override ContentType="application/vnd.openxmlformats-officedocument.presentationml.notesSlide+xml" PartName="/ppt/notesSlides/notesSlide352.xml"/>
  <Override ContentType="application/vnd.openxmlformats-officedocument.presentationml.notesSlide+xml" PartName="/ppt/notesSlides/notesSlide128.xml"/>
  <Override ContentType="application/vnd.openxmlformats-officedocument.presentationml.notesSlide+xml" PartName="/ppt/notesSlides/notesSlide267.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299.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291.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28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275.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28.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360.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263.xml"/>
  <Override ContentType="application/vnd.openxmlformats-officedocument.presentationml.notesSlide+xml" PartName="/ppt/notesSlides/notesSlide25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313.xml"/>
  <Override ContentType="application/vnd.openxmlformats-officedocument.presentationml.notesSlide+xml" PartName="/ppt/notesSlides/notesSlide69.xml"/>
  <Override ContentType="application/vnd.openxmlformats-officedocument.presentationml.notesSlide+xml" PartName="/ppt/notesSlides/notesSlide356.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301.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344.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287.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332.xml"/>
  <Override ContentType="application/vnd.openxmlformats-officedocument.presentationml.notesSlide+xml" PartName="/ppt/notesSlides/notesSlide120.xml"/>
  <Override ContentType="application/vnd.openxmlformats-officedocument.presentationml.notesSlide+xml" PartName="/ppt/notesSlides/notesSlide308.xml"/>
  <Override ContentType="application/vnd.openxmlformats-officedocument.presentationml.notesSlide+xml" PartName="/ppt/notesSlides/notesSlide325.xml"/>
  <Override ContentType="application/vnd.openxmlformats-officedocument.presentationml.notesSlide+xml" PartName="/ppt/notesSlides/notesSlide279.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321.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347.xml"/>
  <Override ContentType="application/vnd.openxmlformats-officedocument.presentationml.notesSlide+xml" PartName="/ppt/notesSlides/notesSlide317.xml"/>
  <Override ContentType="application/vnd.openxmlformats-officedocument.presentationml.notesSlide+xml" PartName="/ppt/notesSlides/notesSlide336.xml"/>
  <Override ContentType="application/vnd.openxmlformats-officedocument.presentationml.notesSlide+xml" PartName="/ppt/notesSlides/notesSlide304.xml"/>
  <Override ContentType="application/vnd.openxmlformats-officedocument.presentationml.notesSlide+xml" PartName="/ppt/notesSlides/notesSlide272.xml"/>
  <Override ContentType="application/vnd.openxmlformats-officedocument.presentationml.notesSlide+xml" PartName="/ppt/notesSlides/notesSlide310.xml"/>
  <Override ContentType="application/vnd.openxmlformats-officedocument.presentationml.notesSlide+xml" PartName="/ppt/notesSlides/notesSlide340.xml"/>
  <Override ContentType="application/vnd.openxmlformats-officedocument.presentationml.notesSlide+xml" PartName="/ppt/notesSlides/notesSlide353.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298.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28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258.xml"/>
  <Override ContentType="application/vnd.openxmlformats-officedocument.presentationml.notesSlide+xml" PartName="/ppt/notesSlides/notesSlide355.xml"/>
  <Override ContentType="application/vnd.openxmlformats-officedocument.presentationml.notesSlide+xml" PartName="/ppt/notesSlides/notesSlide312.xml"/>
  <Override ContentType="application/vnd.openxmlformats-officedocument.presentationml.notesSlide+xml" PartName="/ppt/notesSlides/notesSlide169.xml"/>
  <Override ContentType="application/vnd.openxmlformats-officedocument.presentationml.notesSlide+xml" PartName="/ppt/notesSlides/notesSlide292.xml"/>
  <Override ContentType="application/vnd.openxmlformats-officedocument.presentationml.notesSlide+xml" PartName="/ppt/notesSlides/notesSlide205.xml"/>
  <Override ContentType="application/vnd.openxmlformats-officedocument.presentationml.notesSlide+xml" PartName="/ppt/notesSlides/notesSlide337.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276.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343.xml"/>
  <Override ContentType="application/vnd.openxmlformats-officedocument.presentationml.notesSlide+xml" PartName="/ppt/notesSlides/notesSlide233.xml"/>
  <Override ContentType="application/vnd.openxmlformats-officedocument.presentationml.notesSlide+xml" PartName="/ppt/notesSlides/notesSlide300.xml"/>
  <Override ContentType="application/vnd.openxmlformats-officedocument.presentationml.notesSlide+xml" PartName="/ppt/notesSlides/notesSlide327.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264.xml"/>
  <Override ContentType="application/vnd.openxmlformats-officedocument.presentationml.notesSlide+xml" PartName="/ppt/notesSlides/notesSlide361.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309.xml"/>
  <Override ContentType="application/vnd.openxmlformats-officedocument.presentationml.notesSlide+xml" PartName="/ppt/notesSlides/notesSlide2.xml"/>
  <Override ContentType="application/vnd.openxmlformats-officedocument.presentationml.notesSlide+xml" PartName="/ppt/notesSlides/notesSlide359.xml"/>
  <Override ContentType="application/vnd.openxmlformats-officedocument.presentationml.notesSlide+xml" PartName="/ppt/notesSlides/notesSlide260.xml"/>
  <Override ContentType="application/vnd.openxmlformats-officedocument.presentationml.notesSlide+xml" PartName="/ppt/notesSlides/notesSlide316.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69.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350.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333.xml"/>
  <Override ContentType="application/vnd.openxmlformats-officedocument.presentationml.notesSlide+xml" PartName="/ppt/notesSlides/notesSlide305.xml"/>
  <Override ContentType="application/vnd.openxmlformats-officedocument.presentationml.notesSlide+xml" PartName="/ppt/notesSlides/notesSlide6.xml"/>
  <Override ContentType="application/vnd.openxmlformats-officedocument.presentationml.notesSlide+xml" PartName="/ppt/notesSlides/notesSlide271.xml"/>
  <Override ContentType="application/vnd.openxmlformats-officedocument.presentationml.notesSlide+xml" PartName="/ppt/notesSlides/notesSlide237.xml"/>
  <Override ContentType="application/vnd.openxmlformats-officedocument.presentationml.notesSlide+xml" PartName="/ppt/notesSlides/notesSlide297.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286.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322.xml"/>
  <Override ContentType="application/vnd.openxmlformats-officedocument.presentationml.notesSlide+xml" PartName="/ppt/notesSlides/notesSlide175.xml"/>
  <Override ContentType="application/vnd.openxmlformats-officedocument.presentationml.notesSlide+xml" PartName="/ppt/notesSlides/notesSlide348.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296.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350.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334.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26.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288.xml"/>
  <Override ContentType="application/vnd.openxmlformats-officedocument.presentationml.slide+xml" PartName="/ppt/slides/slide342.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281.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76.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362.xml"/>
  <Override ContentType="application/vnd.openxmlformats-officedocument.presentationml.slide+xml" PartName="/ppt/slides/slide265.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357.xml"/>
  <Override ContentType="application/vnd.openxmlformats-officedocument.presentationml.slide+xml" PartName="/ppt/slides/slide141.xml"/>
  <Override ContentType="application/vnd.openxmlformats-officedocument.presentationml.slide+xml" PartName="/ppt/slides/slide314.xml"/>
  <Override ContentType="application/vnd.openxmlformats-officedocument.presentationml.slide+xml" PartName="/ppt/slides/slide338.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57.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306.xml"/>
  <Override ContentType="application/vnd.openxmlformats-officedocument.presentationml.slide+xml" PartName="/ppt/slides/slide272.xml"/>
  <Override ContentType="application/vnd.openxmlformats-officedocument.presentationml.slide+xml" PartName="/ppt/slides/slide59.xml"/>
  <Override ContentType="application/vnd.openxmlformats-officedocument.presentationml.slide+xml" PartName="/ppt/slides/slide285.xml"/>
  <Override ContentType="application/vnd.openxmlformats-officedocument.presentationml.slide+xml" PartName="/ppt/slides/slide89.xml"/>
  <Override ContentType="application/vnd.openxmlformats-officedocument.presentationml.slide+xml" PartName="/ppt/slides/slide323.xml"/>
  <Override ContentType="application/vnd.openxmlformats-officedocument.presentationml.slide+xml" PartName="/ppt/slides/slide242.xml"/>
  <Override ContentType="application/vnd.openxmlformats-officedocument.presentationml.slide+xml" PartName="/ppt/slides/slide34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68.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310.xml"/>
  <Override ContentType="application/vnd.openxmlformats-officedocument.presentationml.slide+xml" PartName="/ppt/slides/slide180.xml"/>
  <Override ContentType="application/vnd.openxmlformats-officedocument.presentationml.slide+xml" PartName="/ppt/slides/slide353.xml"/>
  <Override ContentType="application/vnd.openxmlformats-officedocument.presentationml.slide+xml" PartName="/ppt/slides/slide18.xml"/>
  <Override ContentType="application/vnd.openxmlformats-officedocument.presentationml.slide+xml" PartName="/ppt/slides/slide333.xml"/>
  <Override ContentType="application/vnd.openxmlformats-officedocument.presentationml.slide+xml" PartName="/ppt/slides/slide201.xml"/>
  <Override ContentType="application/vnd.openxmlformats-officedocument.presentationml.slide+xml" PartName="/ppt/slides/slide309.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287.xml"/>
  <Override ContentType="application/vnd.openxmlformats-officedocument.presentationml.slide+xml" PartName="/ppt/slides/slide270.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343.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297.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79.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361.xml"/>
  <Override ContentType="application/vnd.openxmlformats-officedocument.presentationml.slide+xml" PartName="/ppt/slides/slide293.xml"/>
  <Override ContentType="application/vnd.openxmlformats-officedocument.presentationml.slide+xml" PartName="/ppt/slides/slide358.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300.xml"/>
  <Override ContentType="application/vnd.openxmlformats-officedocument.presentationml.slide+xml" PartName="/ppt/slides/slide315.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282.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327.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264.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311.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354.xml"/>
  <Override ContentType="application/vnd.openxmlformats-officedocument.presentationml.slide+xml" PartName="/ppt/slides/slide337.xml"/>
  <Override ContentType="application/vnd.openxmlformats-officedocument.presentationml.slide+xml" PartName="/ppt/slides/slide205.xml"/>
  <Override ContentType="application/vnd.openxmlformats-officedocument.presentationml.slide+xml" PartName="/ppt/slides/slide292.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275.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269.xml"/>
  <Override ContentType="application/vnd.openxmlformats-officedocument.presentationml.slide+xml" PartName="/ppt/slides/slide322.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305.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348.xml"/>
  <Override ContentType="application/vnd.openxmlformats-officedocument.presentationml.slide+xml" PartName="/ppt/slides/slide88.xml"/>
  <Override ContentType="application/vnd.openxmlformats-officedocument.presentationml.slide+xml" PartName="/ppt/slides/slide286.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08.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71.xml"/>
  <Override ContentType="application/vnd.openxmlformats-officedocument.presentationml.slide+xml" PartName="/ppt/slides/slide324.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6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359.xml"/>
  <Override ContentType="application/vnd.openxmlformats-officedocument.presentationml.slide+xml" PartName="/ppt/slides/slide316.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44.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94.xml"/>
  <Override ContentType="application/vnd.openxmlformats-officedocument.presentationml.slide+xml" PartName="/ppt/slides/slide220.xml"/>
  <Override ContentType="application/vnd.openxmlformats-officedocument.presentationml.slide+xml" PartName="/ppt/slides/slide26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328.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278.xml"/>
  <Override ContentType="application/vnd.openxmlformats-officedocument.presentationml.slide+xml" PartName="/ppt/slides/slide332.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301.xml"/>
  <Override ContentType="application/vnd.openxmlformats-officedocument.presentationml.slide+xml" PartName="/ppt/slides/slide48.xml"/>
  <Override ContentType="application/vnd.openxmlformats-officedocument.presentationml.slide+xml" PartName="/ppt/slides/slide355.xml"/>
  <Override ContentType="application/vnd.openxmlformats-officedocument.presentationml.slide+xml" PartName="/ppt/slides/slide223.xml"/>
  <Override ContentType="application/vnd.openxmlformats-officedocument.presentationml.slide+xml" PartName="/ppt/slides/slide266.xml"/>
  <Override ContentType="application/vnd.openxmlformats-officedocument.presentationml.slide+xml" PartName="/ppt/slides/slide283.xml"/>
  <Override ContentType="application/vnd.openxmlformats-officedocument.presentationml.slide+xml" PartName="/ppt/slides/slide291.xml"/>
  <Override ContentType="application/vnd.openxmlformats-officedocument.presentationml.slide+xml" PartName="/ppt/slides/slide312.xml"/>
  <Override ContentType="application/vnd.openxmlformats-officedocument.presentationml.slide+xml" PartName="/ppt/slides/slide240.xml"/>
  <Override ContentType="application/vnd.openxmlformats-officedocument.presentationml.slide+xml" PartName="/ppt/slides/slide347.xml"/>
  <Override ContentType="application/vnd.openxmlformats-officedocument.presentationml.slide+xml" PartName="/ppt/slides/slide22.xml"/>
  <Override ContentType="application/vnd.openxmlformats-officedocument.presentationml.slide+xml" PartName="/ppt/slides/slide304.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274.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321.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319.xml"/>
  <Override ContentType="application/vnd.openxmlformats-officedocument.presentationml.slide+xml" PartName="/ppt/slides/slide212.xml"/>
  <Override ContentType="application/vnd.openxmlformats-officedocument.presentationml.slide+xml" PartName="/ppt/slides/slide336.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29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340.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325.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317.xml"/>
  <Override ContentType="application/vnd.openxmlformats-officedocument.presentationml.slide+xml" PartName="/ppt/slides/slide155.xml"/>
  <Override ContentType="application/vnd.openxmlformats-officedocument.presentationml.slide+xml" PartName="/ppt/slides/slide341.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307.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351.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331.xml"/>
  <Override ContentType="application/vnd.openxmlformats-officedocument.presentationml.slide+xml" PartName="/ppt/slides/slide140.xml"/>
  <Override ContentType="application/vnd.openxmlformats-officedocument.presentationml.slide+xml" PartName="/ppt/slides/slide277.xml"/>
  <Override ContentType="application/vnd.openxmlformats-officedocument.presentationml.slide+xml" PartName="/ppt/slides/slide11.xml"/>
  <Override ContentType="application/vnd.openxmlformats-officedocument.presentationml.slide+xml" PartName="/ppt/slides/slide280.xml"/>
  <Override ContentType="application/vnd.openxmlformats-officedocument.presentationml.slide+xml" PartName="/ppt/slides/slide345.xml"/>
  <Override ContentType="application/vnd.openxmlformats-officedocument.presentationml.slide+xml" PartName="/ppt/slides/slide302.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289.xml"/>
  <Override ContentType="application/vnd.openxmlformats-officedocument.presentationml.slide+xml" PartName="/ppt/slides/slide36.xml"/>
  <Override ContentType="application/vnd.openxmlformats-officedocument.presentationml.slide+xml" PartName="/ppt/slides/slide313.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295.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363.xml"/>
  <Override ContentType="application/vnd.openxmlformats-officedocument.presentationml.slide+xml" PartName="/ppt/slides/slide134.xml"/>
  <Override ContentType="application/vnd.openxmlformats-officedocument.presentationml.slide+xml" PartName="/ppt/slides/slide320.xml"/>
  <Override ContentType="application/vnd.openxmlformats-officedocument.presentationml.slide+xml" PartName="/ppt/slides/slide207.xml"/>
  <Override ContentType="application/vnd.openxmlformats-officedocument.presentationml.slide+xml" PartName="/ppt/slides/slide339.xml"/>
  <Override ContentType="application/vnd.openxmlformats-officedocument.presentationml.slide+xml" PartName="/ppt/slides/slide224.xml"/>
  <Override ContentType="application/vnd.openxmlformats-officedocument.presentationml.slide+xml" PartName="/ppt/slides/slide356.xml"/>
  <Override ContentType="application/vnd.openxmlformats-officedocument.presentationml.slide+xml" PartName="/ppt/slides/slide284.xml"/>
  <Override ContentType="application/vnd.openxmlformats-officedocument.presentationml.slide+xml" PartName="/ppt/slides/slide330.xml"/>
  <Override ContentType="application/vnd.openxmlformats-officedocument.presentationml.slide+xml" PartName="/ppt/slides/slide47.xml"/>
  <Override ContentType="application/vnd.openxmlformats-officedocument.presentationml.slide+xml" PartName="/ppt/slides/slide26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346.xml"/>
  <Override ContentType="application/vnd.openxmlformats-officedocument.presentationml.slide+xml" PartName="/ppt/slides/slide303.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9.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352.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318.xml"/>
  <Override ContentType="application/vnd.openxmlformats-officedocument.presentationml.slide+xml" PartName="/ppt/slides/slide230.xml"/>
  <Override ContentType="application/vnd.openxmlformats-officedocument.presentationml.slide+xml" PartName="/ppt/slides/slide290.xml"/>
  <Override ContentType="application/vnd.openxmlformats-officedocument.presentationml.slide+xml" PartName="/ppt/slides/slide335.xml"/>
  <Override ContentType="application/vnd.openxmlformats-officedocument.presentationml.slide+xml" PartName="/ppt/slides/slide256.xml"/>
  <Override ContentType="application/vnd.openxmlformats-officedocument.presentationml.slide+xml" PartName="/ppt/slides/slide299.xml"/>
  <Override ContentType="application/vnd.openxmlformats-officedocument.presentationml.slide+xml" PartName="/ppt/slides/slide128.xml"/>
  <Override ContentType="application/vnd.openxmlformats-officedocument.presentationml.slide+xml" PartName="/ppt/slides/slide273.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Lst>
  <p:sldSz cy="6858000" cx="12192000"/>
  <p:notesSz cx="6858000" cy="9144000"/>
  <p:embeddedFontLst>
    <p:embeddedFont>
      <p:font typeface="Poppins"/>
      <p:regular r:id="rId370"/>
      <p:bold r:id="rId371"/>
      <p:italic r:id="rId372"/>
      <p:boldItalic r:id="rId373"/>
    </p:embeddedFont>
    <p:embeddedFont>
      <p:font typeface="Archivo Medium"/>
      <p:regular r:id="rId374"/>
      <p:bold r:id="rId375"/>
      <p:italic r:id="rId376"/>
      <p:boldItalic r:id="rId377"/>
    </p:embeddedFont>
    <p:embeddedFont>
      <p:font typeface="Poppins SemiBold"/>
      <p:regular r:id="rId378"/>
      <p:bold r:id="rId379"/>
      <p:italic r:id="rId380"/>
      <p:boldItalic r:id="rId381"/>
    </p:embeddedFont>
    <p:embeddedFont>
      <p:font typeface="Roboto Mono"/>
      <p:regular r:id="rId382"/>
      <p:bold r:id="rId383"/>
      <p:italic r:id="rId384"/>
      <p:boldItalic r:id="rId385"/>
    </p:embeddedFont>
    <p:embeddedFont>
      <p:font typeface="Archivo"/>
      <p:regular r:id="rId386"/>
      <p:bold r:id="rId387"/>
      <p:italic r:id="rId388"/>
      <p:boldItalic r:id="rId3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31">
          <p15:clr>
            <a:srgbClr val="747775"/>
          </p15:clr>
        </p15:guide>
        <p15:guide id="2" orient="horz" pos="1039">
          <p15:clr>
            <a:srgbClr val="747775"/>
          </p15:clr>
        </p15:guide>
        <p15:guide id="3" pos="6912">
          <p15:clr>
            <a:srgbClr val="747775"/>
          </p15:clr>
        </p15:guide>
        <p15:guide id="4" orient="horz" pos="237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9E9AE0-E05B-434B-992F-78115EA43AB1}">
  <a:tblStyle styleId="{5E9E9AE0-E05B-434B-992F-78115EA43AB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6616233-9F48-4773-A8E8-B958FCE2834E}"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31"/>
        <p:guide pos="1039" orient="horz"/>
        <p:guide pos="6912"/>
        <p:guide pos="2376" orient="horz"/>
      </p:guideLst>
    </p:cSldViewPr>
  </p:slideViewPr>
</p:viewPr>
</file>

<file path=ppt/_rels/presentation.xml.rels><?xml version="1.0" encoding="UTF-8" standalone="yes"?><Relationships xmlns="http://schemas.openxmlformats.org/package/2006/relationships"><Relationship Id="rId190" Type="http://schemas.openxmlformats.org/officeDocument/2006/relationships/slide" Target="slides/slide184.xml"/><Relationship Id="rId194" Type="http://schemas.openxmlformats.org/officeDocument/2006/relationships/slide" Target="slides/slide188.xml"/><Relationship Id="rId193" Type="http://schemas.openxmlformats.org/officeDocument/2006/relationships/slide" Target="slides/slide187.xml"/><Relationship Id="rId192" Type="http://schemas.openxmlformats.org/officeDocument/2006/relationships/slide" Target="slides/slide186.xml"/><Relationship Id="rId191" Type="http://schemas.openxmlformats.org/officeDocument/2006/relationships/slide" Target="slides/slide185.xml"/><Relationship Id="rId187" Type="http://schemas.openxmlformats.org/officeDocument/2006/relationships/slide" Target="slides/slide181.xml"/><Relationship Id="rId186" Type="http://schemas.openxmlformats.org/officeDocument/2006/relationships/slide" Target="slides/slide180.xml"/><Relationship Id="rId185" Type="http://schemas.openxmlformats.org/officeDocument/2006/relationships/slide" Target="slides/slide179.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183" Type="http://schemas.openxmlformats.org/officeDocument/2006/relationships/slide" Target="slides/slide177.xml"/><Relationship Id="rId182" Type="http://schemas.openxmlformats.org/officeDocument/2006/relationships/slide" Target="slides/slide176.xml"/><Relationship Id="rId181" Type="http://schemas.openxmlformats.org/officeDocument/2006/relationships/slide" Target="slides/slide175.xml"/><Relationship Id="rId180" Type="http://schemas.openxmlformats.org/officeDocument/2006/relationships/slide" Target="slides/slide174.xml"/><Relationship Id="rId176" Type="http://schemas.openxmlformats.org/officeDocument/2006/relationships/slide" Target="slides/slide170.xml"/><Relationship Id="rId297" Type="http://schemas.openxmlformats.org/officeDocument/2006/relationships/slide" Target="slides/slide291.xml"/><Relationship Id="rId175" Type="http://schemas.openxmlformats.org/officeDocument/2006/relationships/slide" Target="slides/slide169.xml"/><Relationship Id="rId296" Type="http://schemas.openxmlformats.org/officeDocument/2006/relationships/slide" Target="slides/slide290.xml"/><Relationship Id="rId174" Type="http://schemas.openxmlformats.org/officeDocument/2006/relationships/slide" Target="slides/slide168.xml"/><Relationship Id="rId295" Type="http://schemas.openxmlformats.org/officeDocument/2006/relationships/slide" Target="slides/slide289.xml"/><Relationship Id="rId173" Type="http://schemas.openxmlformats.org/officeDocument/2006/relationships/slide" Target="slides/slide167.xml"/><Relationship Id="rId294" Type="http://schemas.openxmlformats.org/officeDocument/2006/relationships/slide" Target="slides/slide288.xml"/><Relationship Id="rId179" Type="http://schemas.openxmlformats.org/officeDocument/2006/relationships/slide" Target="slides/slide173.xml"/><Relationship Id="rId178" Type="http://schemas.openxmlformats.org/officeDocument/2006/relationships/slide" Target="slides/slide172.xml"/><Relationship Id="rId299" Type="http://schemas.openxmlformats.org/officeDocument/2006/relationships/slide" Target="slides/slide293.xml"/><Relationship Id="rId177" Type="http://schemas.openxmlformats.org/officeDocument/2006/relationships/slide" Target="slides/slide171.xml"/><Relationship Id="rId298" Type="http://schemas.openxmlformats.org/officeDocument/2006/relationships/slide" Target="slides/slide292.xml"/><Relationship Id="rId198" Type="http://schemas.openxmlformats.org/officeDocument/2006/relationships/slide" Target="slides/slide192.xml"/><Relationship Id="rId197" Type="http://schemas.openxmlformats.org/officeDocument/2006/relationships/slide" Target="slides/slide191.xml"/><Relationship Id="rId196" Type="http://schemas.openxmlformats.org/officeDocument/2006/relationships/slide" Target="slides/slide190.xml"/><Relationship Id="rId195" Type="http://schemas.openxmlformats.org/officeDocument/2006/relationships/slide" Target="slides/slide189.xml"/><Relationship Id="rId199" Type="http://schemas.openxmlformats.org/officeDocument/2006/relationships/slide" Target="slides/slide193.xml"/><Relationship Id="rId150" Type="http://schemas.openxmlformats.org/officeDocument/2006/relationships/slide" Target="slides/slide144.xml"/><Relationship Id="rId271" Type="http://schemas.openxmlformats.org/officeDocument/2006/relationships/slide" Target="slides/slide265.xml"/><Relationship Id="rId270" Type="http://schemas.openxmlformats.org/officeDocument/2006/relationships/slide" Target="slides/slide26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269" Type="http://schemas.openxmlformats.org/officeDocument/2006/relationships/slide" Target="slides/slide263.xml"/><Relationship Id="rId9" Type="http://schemas.openxmlformats.org/officeDocument/2006/relationships/slide" Target="slides/slide3.xml"/><Relationship Id="rId143" Type="http://schemas.openxmlformats.org/officeDocument/2006/relationships/slide" Target="slides/slide137.xml"/><Relationship Id="rId264" Type="http://schemas.openxmlformats.org/officeDocument/2006/relationships/slide" Target="slides/slide258.xml"/><Relationship Id="rId385" Type="http://schemas.openxmlformats.org/officeDocument/2006/relationships/font" Target="fonts/RobotoMono-boldItalic.fntdata"/><Relationship Id="rId142" Type="http://schemas.openxmlformats.org/officeDocument/2006/relationships/slide" Target="slides/slide136.xml"/><Relationship Id="rId263" Type="http://schemas.openxmlformats.org/officeDocument/2006/relationships/slide" Target="slides/slide257.xml"/><Relationship Id="rId384" Type="http://schemas.openxmlformats.org/officeDocument/2006/relationships/font" Target="fonts/RobotoMono-italic.fntdata"/><Relationship Id="rId141" Type="http://schemas.openxmlformats.org/officeDocument/2006/relationships/slide" Target="slides/slide135.xml"/><Relationship Id="rId262" Type="http://schemas.openxmlformats.org/officeDocument/2006/relationships/slide" Target="slides/slide256.xml"/><Relationship Id="rId383" Type="http://schemas.openxmlformats.org/officeDocument/2006/relationships/font" Target="fonts/RobotoMono-bold.fntdata"/><Relationship Id="rId140" Type="http://schemas.openxmlformats.org/officeDocument/2006/relationships/slide" Target="slides/slide134.xml"/><Relationship Id="rId261" Type="http://schemas.openxmlformats.org/officeDocument/2006/relationships/slide" Target="slides/slide255.xml"/><Relationship Id="rId382" Type="http://schemas.openxmlformats.org/officeDocument/2006/relationships/font" Target="fonts/RobotoMono-regular.fntdata"/><Relationship Id="rId5" Type="http://schemas.openxmlformats.org/officeDocument/2006/relationships/slideMaster" Target="slideMasters/slideMaster1.xml"/><Relationship Id="rId147" Type="http://schemas.openxmlformats.org/officeDocument/2006/relationships/slide" Target="slides/slide141.xml"/><Relationship Id="rId268" Type="http://schemas.openxmlformats.org/officeDocument/2006/relationships/slide" Target="slides/slide262.xml"/><Relationship Id="rId389" Type="http://schemas.openxmlformats.org/officeDocument/2006/relationships/font" Target="fonts/Archivo-boldItalic.fntdata"/><Relationship Id="rId6" Type="http://schemas.openxmlformats.org/officeDocument/2006/relationships/notesMaster" Target="notesMasters/notesMaster1.xml"/><Relationship Id="rId146" Type="http://schemas.openxmlformats.org/officeDocument/2006/relationships/slide" Target="slides/slide140.xml"/><Relationship Id="rId267" Type="http://schemas.openxmlformats.org/officeDocument/2006/relationships/slide" Target="slides/slide261.xml"/><Relationship Id="rId388" Type="http://schemas.openxmlformats.org/officeDocument/2006/relationships/font" Target="fonts/Archivo-italic.fntdata"/><Relationship Id="rId7" Type="http://schemas.openxmlformats.org/officeDocument/2006/relationships/slide" Target="slides/slide1.xml"/><Relationship Id="rId145" Type="http://schemas.openxmlformats.org/officeDocument/2006/relationships/slide" Target="slides/slide139.xml"/><Relationship Id="rId266" Type="http://schemas.openxmlformats.org/officeDocument/2006/relationships/slide" Target="slides/slide260.xml"/><Relationship Id="rId387" Type="http://schemas.openxmlformats.org/officeDocument/2006/relationships/font" Target="fonts/Archivo-bold.fntdata"/><Relationship Id="rId8" Type="http://schemas.openxmlformats.org/officeDocument/2006/relationships/slide" Target="slides/slide2.xml"/><Relationship Id="rId144" Type="http://schemas.openxmlformats.org/officeDocument/2006/relationships/slide" Target="slides/slide138.xml"/><Relationship Id="rId265" Type="http://schemas.openxmlformats.org/officeDocument/2006/relationships/slide" Target="slides/slide259.xml"/><Relationship Id="rId386" Type="http://schemas.openxmlformats.org/officeDocument/2006/relationships/font" Target="fonts/Archivo-regular.fntdata"/><Relationship Id="rId260" Type="http://schemas.openxmlformats.org/officeDocument/2006/relationships/slide" Target="slides/slide254.xml"/><Relationship Id="rId381" Type="http://schemas.openxmlformats.org/officeDocument/2006/relationships/font" Target="fonts/PoppinsSemiBold-boldItalic.fntdata"/><Relationship Id="rId380" Type="http://schemas.openxmlformats.org/officeDocument/2006/relationships/font" Target="fonts/PoppinsSemiBold-italic.fntdata"/><Relationship Id="rId139" Type="http://schemas.openxmlformats.org/officeDocument/2006/relationships/slide" Target="slides/slide133.xml"/><Relationship Id="rId138" Type="http://schemas.openxmlformats.org/officeDocument/2006/relationships/slide" Target="slides/slide132.xml"/><Relationship Id="rId259" Type="http://schemas.openxmlformats.org/officeDocument/2006/relationships/slide" Target="slides/slide253.xml"/><Relationship Id="rId137" Type="http://schemas.openxmlformats.org/officeDocument/2006/relationships/slide" Target="slides/slide131.xml"/><Relationship Id="rId258" Type="http://schemas.openxmlformats.org/officeDocument/2006/relationships/slide" Target="slides/slide252.xml"/><Relationship Id="rId379" Type="http://schemas.openxmlformats.org/officeDocument/2006/relationships/font" Target="fonts/PoppinsSemiBold-bold.fntdata"/><Relationship Id="rId132" Type="http://schemas.openxmlformats.org/officeDocument/2006/relationships/slide" Target="slides/slide126.xml"/><Relationship Id="rId253" Type="http://schemas.openxmlformats.org/officeDocument/2006/relationships/slide" Target="slides/slide247.xml"/><Relationship Id="rId374" Type="http://schemas.openxmlformats.org/officeDocument/2006/relationships/font" Target="fonts/ArchivoMedium-regular.fntdata"/><Relationship Id="rId131" Type="http://schemas.openxmlformats.org/officeDocument/2006/relationships/slide" Target="slides/slide125.xml"/><Relationship Id="rId252" Type="http://schemas.openxmlformats.org/officeDocument/2006/relationships/slide" Target="slides/slide246.xml"/><Relationship Id="rId373" Type="http://schemas.openxmlformats.org/officeDocument/2006/relationships/font" Target="fonts/Poppins-boldItalic.fntdata"/><Relationship Id="rId130" Type="http://schemas.openxmlformats.org/officeDocument/2006/relationships/slide" Target="slides/slide124.xml"/><Relationship Id="rId251" Type="http://schemas.openxmlformats.org/officeDocument/2006/relationships/slide" Target="slides/slide245.xml"/><Relationship Id="rId372" Type="http://schemas.openxmlformats.org/officeDocument/2006/relationships/font" Target="fonts/Poppins-italic.fntdata"/><Relationship Id="rId250" Type="http://schemas.openxmlformats.org/officeDocument/2006/relationships/slide" Target="slides/slide244.xml"/><Relationship Id="rId371" Type="http://schemas.openxmlformats.org/officeDocument/2006/relationships/font" Target="fonts/Poppins-bold.fntdata"/><Relationship Id="rId136" Type="http://schemas.openxmlformats.org/officeDocument/2006/relationships/slide" Target="slides/slide130.xml"/><Relationship Id="rId257" Type="http://schemas.openxmlformats.org/officeDocument/2006/relationships/slide" Target="slides/slide251.xml"/><Relationship Id="rId378" Type="http://schemas.openxmlformats.org/officeDocument/2006/relationships/font" Target="fonts/PoppinsSemiBold-regular.fntdata"/><Relationship Id="rId135" Type="http://schemas.openxmlformats.org/officeDocument/2006/relationships/slide" Target="slides/slide129.xml"/><Relationship Id="rId256" Type="http://schemas.openxmlformats.org/officeDocument/2006/relationships/slide" Target="slides/slide250.xml"/><Relationship Id="rId377" Type="http://schemas.openxmlformats.org/officeDocument/2006/relationships/font" Target="fonts/ArchivoMedium-boldItalic.fntdata"/><Relationship Id="rId134" Type="http://schemas.openxmlformats.org/officeDocument/2006/relationships/slide" Target="slides/slide128.xml"/><Relationship Id="rId255" Type="http://schemas.openxmlformats.org/officeDocument/2006/relationships/slide" Target="slides/slide249.xml"/><Relationship Id="rId376" Type="http://schemas.openxmlformats.org/officeDocument/2006/relationships/font" Target="fonts/ArchivoMedium-italic.fntdata"/><Relationship Id="rId133" Type="http://schemas.openxmlformats.org/officeDocument/2006/relationships/slide" Target="slides/slide127.xml"/><Relationship Id="rId254" Type="http://schemas.openxmlformats.org/officeDocument/2006/relationships/slide" Target="slides/slide248.xml"/><Relationship Id="rId375" Type="http://schemas.openxmlformats.org/officeDocument/2006/relationships/font" Target="fonts/ArchivoMedium-bold.fntdata"/><Relationship Id="rId172" Type="http://schemas.openxmlformats.org/officeDocument/2006/relationships/slide" Target="slides/slide166.xml"/><Relationship Id="rId293" Type="http://schemas.openxmlformats.org/officeDocument/2006/relationships/slide" Target="slides/slide287.xml"/><Relationship Id="rId171" Type="http://schemas.openxmlformats.org/officeDocument/2006/relationships/slide" Target="slides/slide165.xml"/><Relationship Id="rId292" Type="http://schemas.openxmlformats.org/officeDocument/2006/relationships/slide" Target="slides/slide286.xml"/><Relationship Id="rId170" Type="http://schemas.openxmlformats.org/officeDocument/2006/relationships/slide" Target="slides/slide164.xml"/><Relationship Id="rId291" Type="http://schemas.openxmlformats.org/officeDocument/2006/relationships/slide" Target="slides/slide285.xml"/><Relationship Id="rId290" Type="http://schemas.openxmlformats.org/officeDocument/2006/relationships/slide" Target="slides/slide284.xml"/><Relationship Id="rId165" Type="http://schemas.openxmlformats.org/officeDocument/2006/relationships/slide" Target="slides/slide159.xml"/><Relationship Id="rId286" Type="http://schemas.openxmlformats.org/officeDocument/2006/relationships/slide" Target="slides/slide280.xml"/><Relationship Id="rId164" Type="http://schemas.openxmlformats.org/officeDocument/2006/relationships/slide" Target="slides/slide158.xml"/><Relationship Id="rId285" Type="http://schemas.openxmlformats.org/officeDocument/2006/relationships/slide" Target="slides/slide279.xml"/><Relationship Id="rId163" Type="http://schemas.openxmlformats.org/officeDocument/2006/relationships/slide" Target="slides/slide157.xml"/><Relationship Id="rId284" Type="http://schemas.openxmlformats.org/officeDocument/2006/relationships/slide" Target="slides/slide278.xml"/><Relationship Id="rId162" Type="http://schemas.openxmlformats.org/officeDocument/2006/relationships/slide" Target="slides/slide156.xml"/><Relationship Id="rId283" Type="http://schemas.openxmlformats.org/officeDocument/2006/relationships/slide" Target="slides/slide277.xml"/><Relationship Id="rId169" Type="http://schemas.openxmlformats.org/officeDocument/2006/relationships/slide" Target="slides/slide163.xml"/><Relationship Id="rId168" Type="http://schemas.openxmlformats.org/officeDocument/2006/relationships/slide" Target="slides/slide162.xml"/><Relationship Id="rId289" Type="http://schemas.openxmlformats.org/officeDocument/2006/relationships/slide" Target="slides/slide283.xml"/><Relationship Id="rId167" Type="http://schemas.openxmlformats.org/officeDocument/2006/relationships/slide" Target="slides/slide161.xml"/><Relationship Id="rId288" Type="http://schemas.openxmlformats.org/officeDocument/2006/relationships/slide" Target="slides/slide282.xml"/><Relationship Id="rId166" Type="http://schemas.openxmlformats.org/officeDocument/2006/relationships/slide" Target="slides/slide160.xml"/><Relationship Id="rId287" Type="http://schemas.openxmlformats.org/officeDocument/2006/relationships/slide" Target="slides/slide281.xml"/><Relationship Id="rId161" Type="http://schemas.openxmlformats.org/officeDocument/2006/relationships/slide" Target="slides/slide155.xml"/><Relationship Id="rId282" Type="http://schemas.openxmlformats.org/officeDocument/2006/relationships/slide" Target="slides/slide276.xml"/><Relationship Id="rId160" Type="http://schemas.openxmlformats.org/officeDocument/2006/relationships/slide" Target="slides/slide154.xml"/><Relationship Id="rId281" Type="http://schemas.openxmlformats.org/officeDocument/2006/relationships/slide" Target="slides/slide275.xml"/><Relationship Id="rId280" Type="http://schemas.openxmlformats.org/officeDocument/2006/relationships/slide" Target="slides/slide274.xml"/><Relationship Id="rId159" Type="http://schemas.openxmlformats.org/officeDocument/2006/relationships/slide" Target="slides/slide153.xml"/><Relationship Id="rId154" Type="http://schemas.openxmlformats.org/officeDocument/2006/relationships/slide" Target="slides/slide148.xml"/><Relationship Id="rId275" Type="http://schemas.openxmlformats.org/officeDocument/2006/relationships/slide" Target="slides/slide269.xml"/><Relationship Id="rId153" Type="http://schemas.openxmlformats.org/officeDocument/2006/relationships/slide" Target="slides/slide147.xml"/><Relationship Id="rId274" Type="http://schemas.openxmlformats.org/officeDocument/2006/relationships/slide" Target="slides/slide268.xml"/><Relationship Id="rId152" Type="http://schemas.openxmlformats.org/officeDocument/2006/relationships/slide" Target="slides/slide146.xml"/><Relationship Id="rId273" Type="http://schemas.openxmlformats.org/officeDocument/2006/relationships/slide" Target="slides/slide267.xml"/><Relationship Id="rId151" Type="http://schemas.openxmlformats.org/officeDocument/2006/relationships/slide" Target="slides/slide145.xml"/><Relationship Id="rId272" Type="http://schemas.openxmlformats.org/officeDocument/2006/relationships/slide" Target="slides/slide266.xml"/><Relationship Id="rId158" Type="http://schemas.openxmlformats.org/officeDocument/2006/relationships/slide" Target="slides/slide152.xml"/><Relationship Id="rId279" Type="http://schemas.openxmlformats.org/officeDocument/2006/relationships/slide" Target="slides/slide273.xml"/><Relationship Id="rId157" Type="http://schemas.openxmlformats.org/officeDocument/2006/relationships/slide" Target="slides/slide151.xml"/><Relationship Id="rId278" Type="http://schemas.openxmlformats.org/officeDocument/2006/relationships/slide" Target="slides/slide272.xml"/><Relationship Id="rId156" Type="http://schemas.openxmlformats.org/officeDocument/2006/relationships/slide" Target="slides/slide150.xml"/><Relationship Id="rId277" Type="http://schemas.openxmlformats.org/officeDocument/2006/relationships/slide" Target="slides/slide271.xml"/><Relationship Id="rId155" Type="http://schemas.openxmlformats.org/officeDocument/2006/relationships/slide" Target="slides/slide149.xml"/><Relationship Id="rId276" Type="http://schemas.openxmlformats.org/officeDocument/2006/relationships/slide" Target="slides/slide270.xml"/><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 Id="rId107" Type="http://schemas.openxmlformats.org/officeDocument/2006/relationships/slide" Target="slides/slide101.xml"/><Relationship Id="rId228" Type="http://schemas.openxmlformats.org/officeDocument/2006/relationships/slide" Target="slides/slide222.xml"/><Relationship Id="rId349" Type="http://schemas.openxmlformats.org/officeDocument/2006/relationships/slide" Target="slides/slide343.xml"/><Relationship Id="rId106" Type="http://schemas.openxmlformats.org/officeDocument/2006/relationships/slide" Target="slides/slide100.xml"/><Relationship Id="rId227" Type="http://schemas.openxmlformats.org/officeDocument/2006/relationships/slide" Target="slides/slide221.xml"/><Relationship Id="rId348" Type="http://schemas.openxmlformats.org/officeDocument/2006/relationships/slide" Target="slides/slide342.xml"/><Relationship Id="rId105" Type="http://schemas.openxmlformats.org/officeDocument/2006/relationships/slide" Target="slides/slide99.xml"/><Relationship Id="rId226" Type="http://schemas.openxmlformats.org/officeDocument/2006/relationships/slide" Target="slides/slide220.xml"/><Relationship Id="rId347" Type="http://schemas.openxmlformats.org/officeDocument/2006/relationships/slide" Target="slides/slide341.xml"/><Relationship Id="rId104" Type="http://schemas.openxmlformats.org/officeDocument/2006/relationships/slide" Target="slides/slide98.xml"/><Relationship Id="rId225" Type="http://schemas.openxmlformats.org/officeDocument/2006/relationships/slide" Target="slides/slide219.xml"/><Relationship Id="rId346" Type="http://schemas.openxmlformats.org/officeDocument/2006/relationships/slide" Target="slides/slide340.xml"/><Relationship Id="rId109" Type="http://schemas.openxmlformats.org/officeDocument/2006/relationships/slide" Target="slides/slide103.xml"/><Relationship Id="rId108" Type="http://schemas.openxmlformats.org/officeDocument/2006/relationships/slide" Target="slides/slide102.xml"/><Relationship Id="rId229" Type="http://schemas.openxmlformats.org/officeDocument/2006/relationships/slide" Target="slides/slide223.xml"/><Relationship Id="rId220" Type="http://schemas.openxmlformats.org/officeDocument/2006/relationships/slide" Target="slides/slide214.xml"/><Relationship Id="rId341" Type="http://schemas.openxmlformats.org/officeDocument/2006/relationships/slide" Target="slides/slide335.xml"/><Relationship Id="rId340" Type="http://schemas.openxmlformats.org/officeDocument/2006/relationships/slide" Target="slides/slide334.xml"/><Relationship Id="rId103" Type="http://schemas.openxmlformats.org/officeDocument/2006/relationships/slide" Target="slides/slide97.xml"/><Relationship Id="rId224" Type="http://schemas.openxmlformats.org/officeDocument/2006/relationships/slide" Target="slides/slide218.xml"/><Relationship Id="rId345" Type="http://schemas.openxmlformats.org/officeDocument/2006/relationships/slide" Target="slides/slide339.xml"/><Relationship Id="rId102" Type="http://schemas.openxmlformats.org/officeDocument/2006/relationships/slide" Target="slides/slide96.xml"/><Relationship Id="rId223" Type="http://schemas.openxmlformats.org/officeDocument/2006/relationships/slide" Target="slides/slide217.xml"/><Relationship Id="rId344" Type="http://schemas.openxmlformats.org/officeDocument/2006/relationships/slide" Target="slides/slide338.xml"/><Relationship Id="rId101" Type="http://schemas.openxmlformats.org/officeDocument/2006/relationships/slide" Target="slides/slide95.xml"/><Relationship Id="rId222" Type="http://schemas.openxmlformats.org/officeDocument/2006/relationships/slide" Target="slides/slide216.xml"/><Relationship Id="rId343" Type="http://schemas.openxmlformats.org/officeDocument/2006/relationships/slide" Target="slides/slide337.xml"/><Relationship Id="rId100" Type="http://schemas.openxmlformats.org/officeDocument/2006/relationships/slide" Target="slides/slide94.xml"/><Relationship Id="rId221" Type="http://schemas.openxmlformats.org/officeDocument/2006/relationships/slide" Target="slides/slide215.xml"/><Relationship Id="rId342" Type="http://schemas.openxmlformats.org/officeDocument/2006/relationships/slide" Target="slides/slide336.xml"/><Relationship Id="rId217" Type="http://schemas.openxmlformats.org/officeDocument/2006/relationships/slide" Target="slides/slide211.xml"/><Relationship Id="rId338" Type="http://schemas.openxmlformats.org/officeDocument/2006/relationships/slide" Target="slides/slide332.xml"/><Relationship Id="rId216" Type="http://schemas.openxmlformats.org/officeDocument/2006/relationships/slide" Target="slides/slide210.xml"/><Relationship Id="rId337" Type="http://schemas.openxmlformats.org/officeDocument/2006/relationships/slide" Target="slides/slide331.xml"/><Relationship Id="rId215" Type="http://schemas.openxmlformats.org/officeDocument/2006/relationships/slide" Target="slides/slide209.xml"/><Relationship Id="rId336" Type="http://schemas.openxmlformats.org/officeDocument/2006/relationships/slide" Target="slides/slide330.xml"/><Relationship Id="rId214" Type="http://schemas.openxmlformats.org/officeDocument/2006/relationships/slide" Target="slides/slide208.xml"/><Relationship Id="rId335" Type="http://schemas.openxmlformats.org/officeDocument/2006/relationships/slide" Target="slides/slide329.xml"/><Relationship Id="rId219" Type="http://schemas.openxmlformats.org/officeDocument/2006/relationships/slide" Target="slides/slide213.xml"/><Relationship Id="rId218" Type="http://schemas.openxmlformats.org/officeDocument/2006/relationships/slide" Target="slides/slide212.xml"/><Relationship Id="rId339" Type="http://schemas.openxmlformats.org/officeDocument/2006/relationships/slide" Target="slides/slide333.xml"/><Relationship Id="rId330" Type="http://schemas.openxmlformats.org/officeDocument/2006/relationships/slide" Target="slides/slide324.xml"/><Relationship Id="rId213" Type="http://schemas.openxmlformats.org/officeDocument/2006/relationships/slide" Target="slides/slide207.xml"/><Relationship Id="rId334" Type="http://schemas.openxmlformats.org/officeDocument/2006/relationships/slide" Target="slides/slide328.xml"/><Relationship Id="rId212" Type="http://schemas.openxmlformats.org/officeDocument/2006/relationships/slide" Target="slides/slide206.xml"/><Relationship Id="rId333" Type="http://schemas.openxmlformats.org/officeDocument/2006/relationships/slide" Target="slides/slide327.xml"/><Relationship Id="rId211" Type="http://schemas.openxmlformats.org/officeDocument/2006/relationships/slide" Target="slides/slide205.xml"/><Relationship Id="rId332" Type="http://schemas.openxmlformats.org/officeDocument/2006/relationships/slide" Target="slides/slide326.xml"/><Relationship Id="rId210" Type="http://schemas.openxmlformats.org/officeDocument/2006/relationships/slide" Target="slides/slide204.xml"/><Relationship Id="rId331" Type="http://schemas.openxmlformats.org/officeDocument/2006/relationships/slide" Target="slides/slide325.xml"/><Relationship Id="rId370" Type="http://schemas.openxmlformats.org/officeDocument/2006/relationships/font" Target="fonts/Poppins-regular.fntdata"/><Relationship Id="rId129" Type="http://schemas.openxmlformats.org/officeDocument/2006/relationships/slide" Target="slides/slide123.xml"/><Relationship Id="rId128" Type="http://schemas.openxmlformats.org/officeDocument/2006/relationships/slide" Target="slides/slide122.xml"/><Relationship Id="rId249" Type="http://schemas.openxmlformats.org/officeDocument/2006/relationships/slide" Target="slides/slide243.xml"/><Relationship Id="rId127" Type="http://schemas.openxmlformats.org/officeDocument/2006/relationships/slide" Target="slides/slide121.xml"/><Relationship Id="rId248" Type="http://schemas.openxmlformats.org/officeDocument/2006/relationships/slide" Target="slides/slide242.xml"/><Relationship Id="rId369" Type="http://schemas.openxmlformats.org/officeDocument/2006/relationships/slide" Target="slides/slide363.xml"/><Relationship Id="rId126" Type="http://schemas.openxmlformats.org/officeDocument/2006/relationships/slide" Target="slides/slide120.xml"/><Relationship Id="rId247" Type="http://schemas.openxmlformats.org/officeDocument/2006/relationships/slide" Target="slides/slide241.xml"/><Relationship Id="rId368" Type="http://schemas.openxmlformats.org/officeDocument/2006/relationships/slide" Target="slides/slide362.xml"/><Relationship Id="rId121" Type="http://schemas.openxmlformats.org/officeDocument/2006/relationships/slide" Target="slides/slide115.xml"/><Relationship Id="rId242" Type="http://schemas.openxmlformats.org/officeDocument/2006/relationships/slide" Target="slides/slide236.xml"/><Relationship Id="rId363" Type="http://schemas.openxmlformats.org/officeDocument/2006/relationships/slide" Target="slides/slide357.xml"/><Relationship Id="rId120" Type="http://schemas.openxmlformats.org/officeDocument/2006/relationships/slide" Target="slides/slide114.xml"/><Relationship Id="rId241" Type="http://schemas.openxmlformats.org/officeDocument/2006/relationships/slide" Target="slides/slide235.xml"/><Relationship Id="rId362" Type="http://schemas.openxmlformats.org/officeDocument/2006/relationships/slide" Target="slides/slide356.xml"/><Relationship Id="rId240" Type="http://schemas.openxmlformats.org/officeDocument/2006/relationships/slide" Target="slides/slide234.xml"/><Relationship Id="rId361" Type="http://schemas.openxmlformats.org/officeDocument/2006/relationships/slide" Target="slides/slide355.xml"/><Relationship Id="rId360" Type="http://schemas.openxmlformats.org/officeDocument/2006/relationships/slide" Target="slides/slide354.xml"/><Relationship Id="rId125" Type="http://schemas.openxmlformats.org/officeDocument/2006/relationships/slide" Target="slides/slide119.xml"/><Relationship Id="rId246" Type="http://schemas.openxmlformats.org/officeDocument/2006/relationships/slide" Target="slides/slide240.xml"/><Relationship Id="rId367" Type="http://schemas.openxmlformats.org/officeDocument/2006/relationships/slide" Target="slides/slide361.xml"/><Relationship Id="rId124" Type="http://schemas.openxmlformats.org/officeDocument/2006/relationships/slide" Target="slides/slide118.xml"/><Relationship Id="rId245" Type="http://schemas.openxmlformats.org/officeDocument/2006/relationships/slide" Target="slides/slide239.xml"/><Relationship Id="rId366" Type="http://schemas.openxmlformats.org/officeDocument/2006/relationships/slide" Target="slides/slide360.xml"/><Relationship Id="rId123" Type="http://schemas.openxmlformats.org/officeDocument/2006/relationships/slide" Target="slides/slide117.xml"/><Relationship Id="rId244" Type="http://schemas.openxmlformats.org/officeDocument/2006/relationships/slide" Target="slides/slide238.xml"/><Relationship Id="rId365" Type="http://schemas.openxmlformats.org/officeDocument/2006/relationships/slide" Target="slides/slide359.xml"/><Relationship Id="rId122" Type="http://schemas.openxmlformats.org/officeDocument/2006/relationships/slide" Target="slides/slide116.xml"/><Relationship Id="rId243" Type="http://schemas.openxmlformats.org/officeDocument/2006/relationships/slide" Target="slides/slide237.xml"/><Relationship Id="rId364" Type="http://schemas.openxmlformats.org/officeDocument/2006/relationships/slide" Target="slides/slide358.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239" Type="http://schemas.openxmlformats.org/officeDocument/2006/relationships/slide" Target="slides/slide233.xml"/><Relationship Id="rId117" Type="http://schemas.openxmlformats.org/officeDocument/2006/relationships/slide" Target="slides/slide111.xml"/><Relationship Id="rId238" Type="http://schemas.openxmlformats.org/officeDocument/2006/relationships/slide" Target="slides/slide232.xml"/><Relationship Id="rId359" Type="http://schemas.openxmlformats.org/officeDocument/2006/relationships/slide" Target="slides/slide353.xml"/><Relationship Id="rId116" Type="http://schemas.openxmlformats.org/officeDocument/2006/relationships/slide" Target="slides/slide110.xml"/><Relationship Id="rId237" Type="http://schemas.openxmlformats.org/officeDocument/2006/relationships/slide" Target="slides/slide231.xml"/><Relationship Id="rId358" Type="http://schemas.openxmlformats.org/officeDocument/2006/relationships/slide" Target="slides/slide352.xml"/><Relationship Id="rId115" Type="http://schemas.openxmlformats.org/officeDocument/2006/relationships/slide" Target="slides/slide109.xml"/><Relationship Id="rId236" Type="http://schemas.openxmlformats.org/officeDocument/2006/relationships/slide" Target="slides/slide230.xml"/><Relationship Id="rId357" Type="http://schemas.openxmlformats.org/officeDocument/2006/relationships/slide" Target="slides/slide351.xml"/><Relationship Id="rId119" Type="http://schemas.openxmlformats.org/officeDocument/2006/relationships/slide" Target="slides/slide113.xml"/><Relationship Id="rId110" Type="http://schemas.openxmlformats.org/officeDocument/2006/relationships/slide" Target="slides/slide104.xml"/><Relationship Id="rId231" Type="http://schemas.openxmlformats.org/officeDocument/2006/relationships/slide" Target="slides/slide225.xml"/><Relationship Id="rId352" Type="http://schemas.openxmlformats.org/officeDocument/2006/relationships/slide" Target="slides/slide346.xml"/><Relationship Id="rId230" Type="http://schemas.openxmlformats.org/officeDocument/2006/relationships/slide" Target="slides/slide224.xml"/><Relationship Id="rId351" Type="http://schemas.openxmlformats.org/officeDocument/2006/relationships/slide" Target="slides/slide345.xml"/><Relationship Id="rId350" Type="http://schemas.openxmlformats.org/officeDocument/2006/relationships/slide" Target="slides/slide344.xml"/><Relationship Id="rId114" Type="http://schemas.openxmlformats.org/officeDocument/2006/relationships/slide" Target="slides/slide108.xml"/><Relationship Id="rId235" Type="http://schemas.openxmlformats.org/officeDocument/2006/relationships/slide" Target="slides/slide229.xml"/><Relationship Id="rId356" Type="http://schemas.openxmlformats.org/officeDocument/2006/relationships/slide" Target="slides/slide350.xml"/><Relationship Id="rId113" Type="http://schemas.openxmlformats.org/officeDocument/2006/relationships/slide" Target="slides/slide107.xml"/><Relationship Id="rId234" Type="http://schemas.openxmlformats.org/officeDocument/2006/relationships/slide" Target="slides/slide228.xml"/><Relationship Id="rId355" Type="http://schemas.openxmlformats.org/officeDocument/2006/relationships/slide" Target="slides/slide349.xml"/><Relationship Id="rId112" Type="http://schemas.openxmlformats.org/officeDocument/2006/relationships/slide" Target="slides/slide106.xml"/><Relationship Id="rId233" Type="http://schemas.openxmlformats.org/officeDocument/2006/relationships/slide" Target="slides/slide227.xml"/><Relationship Id="rId354" Type="http://schemas.openxmlformats.org/officeDocument/2006/relationships/slide" Target="slides/slide348.xml"/><Relationship Id="rId111" Type="http://schemas.openxmlformats.org/officeDocument/2006/relationships/slide" Target="slides/slide105.xml"/><Relationship Id="rId232" Type="http://schemas.openxmlformats.org/officeDocument/2006/relationships/slide" Target="slides/slide226.xml"/><Relationship Id="rId353" Type="http://schemas.openxmlformats.org/officeDocument/2006/relationships/slide" Target="slides/slide347.xml"/><Relationship Id="rId305" Type="http://schemas.openxmlformats.org/officeDocument/2006/relationships/slide" Target="slides/slide299.xml"/><Relationship Id="rId304" Type="http://schemas.openxmlformats.org/officeDocument/2006/relationships/slide" Target="slides/slide298.xml"/><Relationship Id="rId303" Type="http://schemas.openxmlformats.org/officeDocument/2006/relationships/slide" Target="slides/slide297.xml"/><Relationship Id="rId302" Type="http://schemas.openxmlformats.org/officeDocument/2006/relationships/slide" Target="slides/slide296.xml"/><Relationship Id="rId309" Type="http://schemas.openxmlformats.org/officeDocument/2006/relationships/slide" Target="slides/slide303.xml"/><Relationship Id="rId308" Type="http://schemas.openxmlformats.org/officeDocument/2006/relationships/slide" Target="slides/slide302.xml"/><Relationship Id="rId307" Type="http://schemas.openxmlformats.org/officeDocument/2006/relationships/slide" Target="slides/slide301.xml"/><Relationship Id="rId306" Type="http://schemas.openxmlformats.org/officeDocument/2006/relationships/slide" Target="slides/slide300.xml"/><Relationship Id="rId301" Type="http://schemas.openxmlformats.org/officeDocument/2006/relationships/slide" Target="slides/slide295.xml"/><Relationship Id="rId300" Type="http://schemas.openxmlformats.org/officeDocument/2006/relationships/slide" Target="slides/slide294.xml"/><Relationship Id="rId206" Type="http://schemas.openxmlformats.org/officeDocument/2006/relationships/slide" Target="slides/slide200.xml"/><Relationship Id="rId327" Type="http://schemas.openxmlformats.org/officeDocument/2006/relationships/slide" Target="slides/slide321.xml"/><Relationship Id="rId205" Type="http://schemas.openxmlformats.org/officeDocument/2006/relationships/slide" Target="slides/slide199.xml"/><Relationship Id="rId326" Type="http://schemas.openxmlformats.org/officeDocument/2006/relationships/slide" Target="slides/slide320.xml"/><Relationship Id="rId204" Type="http://schemas.openxmlformats.org/officeDocument/2006/relationships/slide" Target="slides/slide198.xml"/><Relationship Id="rId325" Type="http://schemas.openxmlformats.org/officeDocument/2006/relationships/slide" Target="slides/slide319.xml"/><Relationship Id="rId203" Type="http://schemas.openxmlformats.org/officeDocument/2006/relationships/slide" Target="slides/slide197.xml"/><Relationship Id="rId324" Type="http://schemas.openxmlformats.org/officeDocument/2006/relationships/slide" Target="slides/slide318.xml"/><Relationship Id="rId209" Type="http://schemas.openxmlformats.org/officeDocument/2006/relationships/slide" Target="slides/slide203.xml"/><Relationship Id="rId208" Type="http://schemas.openxmlformats.org/officeDocument/2006/relationships/slide" Target="slides/slide202.xml"/><Relationship Id="rId329" Type="http://schemas.openxmlformats.org/officeDocument/2006/relationships/slide" Target="slides/slide323.xml"/><Relationship Id="rId207" Type="http://schemas.openxmlformats.org/officeDocument/2006/relationships/slide" Target="slides/slide201.xml"/><Relationship Id="rId328" Type="http://schemas.openxmlformats.org/officeDocument/2006/relationships/slide" Target="slides/slide322.xml"/><Relationship Id="rId202" Type="http://schemas.openxmlformats.org/officeDocument/2006/relationships/slide" Target="slides/slide196.xml"/><Relationship Id="rId323" Type="http://schemas.openxmlformats.org/officeDocument/2006/relationships/slide" Target="slides/slide317.xml"/><Relationship Id="rId201" Type="http://schemas.openxmlformats.org/officeDocument/2006/relationships/slide" Target="slides/slide195.xml"/><Relationship Id="rId322" Type="http://schemas.openxmlformats.org/officeDocument/2006/relationships/slide" Target="slides/slide316.xml"/><Relationship Id="rId200" Type="http://schemas.openxmlformats.org/officeDocument/2006/relationships/slide" Target="slides/slide194.xml"/><Relationship Id="rId321" Type="http://schemas.openxmlformats.org/officeDocument/2006/relationships/slide" Target="slides/slide315.xml"/><Relationship Id="rId320" Type="http://schemas.openxmlformats.org/officeDocument/2006/relationships/slide" Target="slides/slide314.xml"/><Relationship Id="rId316" Type="http://schemas.openxmlformats.org/officeDocument/2006/relationships/slide" Target="slides/slide310.xml"/><Relationship Id="rId315" Type="http://schemas.openxmlformats.org/officeDocument/2006/relationships/slide" Target="slides/slide309.xml"/><Relationship Id="rId314" Type="http://schemas.openxmlformats.org/officeDocument/2006/relationships/slide" Target="slides/slide308.xml"/><Relationship Id="rId313" Type="http://schemas.openxmlformats.org/officeDocument/2006/relationships/slide" Target="slides/slide307.xml"/><Relationship Id="rId319" Type="http://schemas.openxmlformats.org/officeDocument/2006/relationships/slide" Target="slides/slide313.xml"/><Relationship Id="rId318" Type="http://schemas.openxmlformats.org/officeDocument/2006/relationships/slide" Target="slides/slide312.xml"/><Relationship Id="rId317" Type="http://schemas.openxmlformats.org/officeDocument/2006/relationships/slide" Target="slides/slide311.xml"/><Relationship Id="rId312" Type="http://schemas.openxmlformats.org/officeDocument/2006/relationships/slide" Target="slides/slide306.xml"/><Relationship Id="rId311" Type="http://schemas.openxmlformats.org/officeDocument/2006/relationships/slide" Target="slides/slide305.xml"/><Relationship Id="rId310" Type="http://schemas.openxmlformats.org/officeDocument/2006/relationships/slide" Target="slides/slide30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056e9c39d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6" name="Google Shape;86;g3056e9c39d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9e0f832c4_0_88:notes"/>
          <p:cNvSpPr/>
          <p:nvPr>
            <p:ph idx="2" type="sldImg"/>
          </p:nvPr>
        </p:nvSpPr>
        <p:spPr>
          <a:xfrm>
            <a:off x="465885" y="1143179"/>
            <a:ext cx="5927700" cy="30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69e0f832c4_0_88:notes"/>
          <p:cNvSpPr txBox="1"/>
          <p:nvPr>
            <p:ph idx="1" type="body"/>
          </p:nvPr>
        </p:nvSpPr>
        <p:spPr>
          <a:xfrm>
            <a:off x="685802" y="4400555"/>
            <a:ext cx="5486400" cy="3600600"/>
          </a:xfrm>
          <a:prstGeom prst="rect">
            <a:avLst/>
          </a:prstGeom>
          <a:noFill/>
          <a:ln>
            <a:noFill/>
          </a:ln>
        </p:spPr>
        <p:txBody>
          <a:bodyPr anchorCtr="0" anchor="t" bIns="46625" lIns="93275" spcFirstLastPara="1" rIns="93275" wrap="square" tIns="46625">
            <a:noAutofit/>
          </a:bodyPr>
          <a:lstStyle/>
          <a:p>
            <a:pPr indent="0" lvl="0" marL="0" rtl="0" algn="l">
              <a:spcBef>
                <a:spcPts val="0"/>
              </a:spcBef>
              <a:spcAft>
                <a:spcPts val="0"/>
              </a:spcAft>
              <a:buNone/>
            </a:pPr>
            <a:r>
              <a:t/>
            </a:r>
            <a:endParaRPr/>
          </a:p>
        </p:txBody>
      </p:sp>
      <p:sp>
        <p:nvSpPr>
          <p:cNvPr id="99" name="Google Shape;99;g369e0f832c4_0_88:notes"/>
          <p:cNvSpPr txBox="1"/>
          <p:nvPr>
            <p:ph idx="11" type="ftr"/>
          </p:nvPr>
        </p:nvSpPr>
        <p:spPr>
          <a:xfrm>
            <a:off x="0" y="8685225"/>
            <a:ext cx="2971800" cy="459000"/>
          </a:xfrm>
          <a:prstGeom prst="rect">
            <a:avLst/>
          </a:prstGeom>
          <a:noFill/>
          <a:ln>
            <a:noFill/>
          </a:ln>
        </p:spPr>
        <p:txBody>
          <a:bodyPr anchorCtr="0" anchor="b" bIns="46625" lIns="93275" spcFirstLastPara="1" rIns="93275" wrap="square" tIns="46625">
            <a:noAutofit/>
          </a:bodyPr>
          <a:lstStyle/>
          <a:p>
            <a:pPr indent="0" lvl="0" marL="0" rtl="0" algn="l">
              <a:spcBef>
                <a:spcPts val="0"/>
              </a:spcBef>
              <a:spcAft>
                <a:spcPts val="0"/>
              </a:spcAft>
              <a:buNone/>
            </a:pPr>
            <a:r>
              <a:rPr lang="en-US" sz="1300"/>
              <a:t>www.idn.id</a:t>
            </a:r>
            <a:endParaRPr sz="1300"/>
          </a:p>
        </p:txBody>
      </p:sp>
      <p:sp>
        <p:nvSpPr>
          <p:cNvPr id="100" name="Google Shape;100;g369e0f832c4_0_88:notes"/>
          <p:cNvSpPr txBox="1"/>
          <p:nvPr>
            <p:ph idx="12" type="sldNum"/>
          </p:nvPr>
        </p:nvSpPr>
        <p:spPr>
          <a:xfrm>
            <a:off x="3884620" y="8685225"/>
            <a:ext cx="2971800" cy="459000"/>
          </a:xfrm>
          <a:prstGeom prst="rect">
            <a:avLst/>
          </a:prstGeom>
          <a:noFill/>
          <a:ln>
            <a:noFill/>
          </a:ln>
        </p:spPr>
        <p:txBody>
          <a:bodyPr anchorCtr="0" anchor="b" bIns="46625" lIns="93275" spcFirstLastPara="1" rIns="93275" wrap="square" tIns="46625">
            <a:noAutofit/>
          </a:bodyPr>
          <a:lstStyle/>
          <a:p>
            <a:pPr indent="0" lvl="0" marL="0" rtl="0" algn="r">
              <a:spcBef>
                <a:spcPts val="0"/>
              </a:spcBef>
              <a:spcAft>
                <a:spcPts val="0"/>
              </a:spcAft>
              <a:buNone/>
            </a:pPr>
            <a:fld id="{00000000-1234-1234-1234-123412341234}" type="slidenum">
              <a:rPr lang="en-US" sz="1300"/>
              <a:t>‹#›</a:t>
            </a:fld>
            <a:endParaRPr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69e0f832c4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9" name="Google Shape;119;g369e0f832c4_0_0:notes"/>
          <p:cNvSpPr/>
          <p:nvPr>
            <p:ph idx="2" type="sldImg"/>
          </p:nvPr>
        </p:nvSpPr>
        <p:spPr>
          <a:xfrm>
            <a:off x="1142653" y="685800"/>
            <a:ext cx="457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056e9c39db_0_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1" name="Google Shape;131;g3056e9c39db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056e9c39db_0_2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 name="Google Shape;143;g3056e9c39db_0_2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056e9c39db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5" name="Google Shape;155;g3056e9c39db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056e9c39db_0_1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6" name="Google Shape;196;g3056e9c39db_0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056e9c39db_0_1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8" name="Google Shape;208;g3056e9c39db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0ee80025d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1" name="Google Shape;221;g30ee80025d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056e9c39db_0_2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5" name="Google Shape;235;g3056e9c39db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056e9c39db_0_2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9" name="Google Shape;249;g3056e9c39db_0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056e9c39db_0_2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2" name="Google Shape;262;g3056e9c39db_0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056e9c39db_0_2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5" name="Google Shape;275;g3056e9c39db_0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0ee80025de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9" name="Google Shape;289;g30ee80025de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056e9c39db_0_2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5" name="Google Shape;305;g3056e9c39db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056e9c39db_0_3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8" name="Google Shape;318;g3056e9c39db_0_3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096a079d72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0" name="Google Shape;330;g3096a079d72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056e9c39db_0_3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3" name="Google Shape;343;g3056e9c39db_0_3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056e9c39db_0_3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7" name="Google Shape;357;g3056e9c39db_0_3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056e9c39db_0_3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1" name="Google Shape;371;g3056e9c39db_0_3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056e9c39db_0_4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1" name="Google Shape;391;g3056e9c39db_0_4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056e9c39db_0_4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4" name="Google Shape;404;g3056e9c39db_0_4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69e0f832c4_0_2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4" name="Google Shape;424;g369e0f832c4_0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69e0f832c4_0_2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6" name="Google Shape;436;g369e0f832c4_0_2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31b375737f_1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8" name="Google Shape;448;g331b375737f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056e9c39db_0_5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1" name="Google Shape;461;g3056e9c39db_0_5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056e9c39db_0_5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3" name="Google Shape;473;g3056e9c39db_0_5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056e9c39db_0_4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7" name="Google Shape;487;g3056e9c39db_0_4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69e0f832c4_0_2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7" name="Google Shape;507;g369e0f832c4_0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056e9c39db_0_50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8" name="Google Shape;518;g3056e9c39db_0_5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f8e6a3ff9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33" name="Google Shape;533;g2f8e6a3ff9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056e9c39db_0_5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48" name="Google Shape;548;g3056e9c39db_0_5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056e9c39db_0_5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60" name="Google Shape;560;g3056e9c39db_0_5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0adc2d4cf8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78" name="Google Shape;578;g30adc2d4cf8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0adc2d4cf8_0_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96" name="Google Shape;596;g30adc2d4cf8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f8e6a3ff99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14" name="Google Shape;614;g2f8e6a3ff99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056e9c39db_0_5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26" name="Google Shape;626;g3056e9c39db_0_5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31b375737f_1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39" name="Google Shape;639;g331b375737f_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056e9c39db_0_6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52" name="Google Shape;652;g3056e9c39db_0_6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69e0f832c4_0_3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64" name="Google Shape;664;g369e0f832c4_0_3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69e0f832c4_0_3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78" name="Google Shape;678;g369e0f832c4_0_3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2f8e6a3ff99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91" name="Google Shape;691;g2f8e6a3ff99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2f8e6a3ff99_0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5" name="Google Shape;705;g2f8e6a3ff99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2f8e6a3ff99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18" name="Google Shape;718;g2f8e6a3ff99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2f8e6a3ff99_0_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31" name="Google Shape;731;g2f8e6a3ff99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0ee80025de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44" name="Google Shape;744;g30ee80025de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0ee80025de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56" name="Google Shape;756;g30ee80025de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0ee80025de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71" name="Google Shape;771;g30ee80025de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0ee80025de_0_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85" name="Google Shape;785;g30ee80025de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2f8e6a3ff99_0_1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00" name="Google Shape;800;g2f8e6a3ff99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2f8e6a3ff99_0_1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12" name="Google Shape;812;g2f8e6a3ff99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2f8e6a3ff99_0_1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26" name="Google Shape;826;g2f8e6a3ff99_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0adc2d4cf8_0_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39" name="Google Shape;839;g30adc2d4cf8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2f8e6a3ff99_0_1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55" name="Google Shape;855;g2f8e6a3ff99_0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2f8e6a3ff99_0_2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69" name="Google Shape;869;g2f8e6a3ff99_0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2f8e6a3ff99_0_2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84" name="Google Shape;884;g2f8e6a3ff99_0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f8e6a3ff99_0_2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98" name="Google Shape;898;g2f8e6a3ff99_0_2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2f8e6a3ff99_0_2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14" name="Google Shape;914;g2f8e6a3ff99_0_2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0ee80025de_1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8" name="Google Shape;928;g30ee80025de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2f8e6a3ff99_0_2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41" name="Google Shape;941;g2f8e6a3ff99_0_2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0adc2d4cf8_0_1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53" name="Google Shape;953;g30adc2d4cf8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0adc2d4cf8_0_1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68" name="Google Shape;968;g30adc2d4cf8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0adc2d4cf8_0_1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82" name="Google Shape;982;g30adc2d4cf8_0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2f8e6a3ff99_0_2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96" name="Google Shape;996;g2f8e6a3ff99_0_2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2f8e6a3ff99_0_3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8" name="Google Shape;1008;g2f8e6a3ff99_0_3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2f8e6a3ff99_0_3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1" name="Google Shape;1021;g2f8e6a3ff99_0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2f8e6a3ff99_0_3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34" name="Google Shape;1034;g2f8e6a3ff99_0_3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2f8e6a3ff99_0_3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47" name="Google Shape;1047;g2f8e6a3ff99_0_3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2f8e6a3ff99_0_3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60" name="Google Shape;1060;g2f8e6a3ff99_0_3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2f8e6a3ff99_0_3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73" name="Google Shape;1073;g2f8e6a3ff99_0_3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0ee80025de_1_1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86" name="Google Shape;1086;g30ee80025de_1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0ee80025de_1_1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98" name="Google Shape;1098;g30ee80025de_1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0ee80025de_1_1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10" name="Google Shape;1110;g30ee80025de_1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0ee80025de_1_1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23" name="Google Shape;1123;g30ee80025de_1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0ee80025de_1_1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37" name="Google Shape;1137;g30ee80025de_1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30ee80025de_1_1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52" name="Google Shape;1152;g30ee80025de_1_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30ee80025de_1_1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67" name="Google Shape;1167;g30ee80025de_1_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0ee80025de_1_2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84" name="Google Shape;1184;g30ee80025de_1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30ee80025de_1_2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97" name="Google Shape;1197;g30ee80025de_1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0ee80025de_1_3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11" name="Google Shape;1211;g30ee80025de_1_3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0ee80025de_1_2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23" name="Google Shape;1223;g30ee80025de_1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30ee80025de_1_2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35" name="Google Shape;1235;g30ee80025de_1_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0ee80025de_1_2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48" name="Google Shape;1248;g30ee80025de_1_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0ee80025de_1_2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61" name="Google Shape;1261;g30ee80025de_1_2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30ee80025de_1_2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77" name="Google Shape;1277;g30ee80025de_1_2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30ee80025de_1_3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93" name="Google Shape;1293;g30ee80025de_1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30ee80025de_1_3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09" name="Google Shape;1309;g30ee80025de_1_3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30ee80025de_1_3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25" name="Google Shape;1325;g30ee80025de_1_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0ee80025de_1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37" name="Google Shape;1337;g30ee80025de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g30ee80025de_1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49" name="Google Shape;1349;g30ee80025de_1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30ee80025de_1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61" name="Google Shape;1361;g30ee80025de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g30ee80025de_1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74" name="Google Shape;1374;g30ee80025de_1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30ee80025de_1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86" name="Google Shape;1386;g30ee80025de_1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30ee80025de_1_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98" name="Google Shape;1398;g30ee80025de_1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30ee80025de_1_3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11" name="Google Shape;1411;g30ee80025de_1_3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30ee80025de_1_3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23" name="Google Shape;1423;g30ee80025de_1_3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30ee80025de_1_3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6" name="Google Shape;1436;g30ee80025de_1_3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30ee80025de_1_3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49" name="Google Shape;1449;g30ee80025de_1_3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g30ee80025de_1_1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61" name="Google Shape;1461;g30ee80025de_1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308028c86d0_0_4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74" name="Google Shape;1474;g308028c86d0_0_4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g3096a079d72_0_1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6" name="Google Shape;1486;g3096a079d72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3096a079d72_0_1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99" name="Google Shape;1499;g3096a079d72_0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3096a079d72_0_1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14" name="Google Shape;1514;g3096a079d72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g3096a079d72_0_1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29" name="Google Shape;1529;g3096a079d72_0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g3096a079d72_0_1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45" name="Google Shape;1545;g3096a079d72_0_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g308028c86d0_0_5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59" name="Google Shape;1559;g308028c86d0_0_5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3096a079d72_0_2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71" name="Google Shape;1571;g3096a079d72_0_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3096a079d72_0_2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85" name="Google Shape;1585;g3096a079d72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7" name="Shape 1597"/>
        <p:cNvGrpSpPr/>
        <p:nvPr/>
      </p:nvGrpSpPr>
      <p:grpSpPr>
        <a:xfrm>
          <a:off x="0" y="0"/>
          <a:ext cx="0" cy="0"/>
          <a:chOff x="0" y="0"/>
          <a:chExt cx="0" cy="0"/>
        </a:xfrm>
      </p:grpSpPr>
      <p:sp>
        <p:nvSpPr>
          <p:cNvPr id="1598" name="Google Shape;1598;g30ee80025de_1_4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99" name="Google Shape;1599;g30ee80025de_1_4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30ee80025de_1_4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13" name="Google Shape;1613;g30ee80025de_1_4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g308028c86d0_0_5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27" name="Google Shape;1627;g308028c86d0_0_5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7" name="Shape 1637"/>
        <p:cNvGrpSpPr/>
        <p:nvPr/>
      </p:nvGrpSpPr>
      <p:grpSpPr>
        <a:xfrm>
          <a:off x="0" y="0"/>
          <a:ext cx="0" cy="0"/>
          <a:chOff x="0" y="0"/>
          <a:chExt cx="0" cy="0"/>
        </a:xfrm>
      </p:grpSpPr>
      <p:sp>
        <p:nvSpPr>
          <p:cNvPr id="1638" name="Google Shape;1638;g30adc2d4cf8_0_1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39" name="Google Shape;1639;g30adc2d4cf8_0_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1" name="Shape 1651"/>
        <p:cNvGrpSpPr/>
        <p:nvPr/>
      </p:nvGrpSpPr>
      <p:grpSpPr>
        <a:xfrm>
          <a:off x="0" y="0"/>
          <a:ext cx="0" cy="0"/>
          <a:chOff x="0" y="0"/>
          <a:chExt cx="0" cy="0"/>
        </a:xfrm>
      </p:grpSpPr>
      <p:sp>
        <p:nvSpPr>
          <p:cNvPr id="1652" name="Google Shape;1652;g3099c4cccf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53" name="Google Shape;1653;g3099c4cccf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g30adc2d4cf8_0_1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66" name="Google Shape;1666;g30adc2d4cf8_0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g30adc2d4cf8_0_2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79" name="Google Shape;1679;g30adc2d4cf8_0_2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g30adc2d4cf8_0_2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92" name="Google Shape;1692;g30adc2d4cf8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3" name="Shape 1703"/>
        <p:cNvGrpSpPr/>
        <p:nvPr/>
      </p:nvGrpSpPr>
      <p:grpSpPr>
        <a:xfrm>
          <a:off x="0" y="0"/>
          <a:ext cx="0" cy="0"/>
          <a:chOff x="0" y="0"/>
          <a:chExt cx="0" cy="0"/>
        </a:xfrm>
      </p:grpSpPr>
      <p:sp>
        <p:nvSpPr>
          <p:cNvPr id="1704" name="Google Shape;1704;g30adc2d4cf8_0_2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05" name="Google Shape;1705;g30adc2d4cf8_0_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6" name="Shape 1716"/>
        <p:cNvGrpSpPr/>
        <p:nvPr/>
      </p:nvGrpSpPr>
      <p:grpSpPr>
        <a:xfrm>
          <a:off x="0" y="0"/>
          <a:ext cx="0" cy="0"/>
          <a:chOff x="0" y="0"/>
          <a:chExt cx="0" cy="0"/>
        </a:xfrm>
      </p:grpSpPr>
      <p:sp>
        <p:nvSpPr>
          <p:cNvPr id="1717" name="Google Shape;1717;g30adc2d4cf8_0_2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18" name="Google Shape;1718;g30adc2d4cf8_0_2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9" name="Shape 1729"/>
        <p:cNvGrpSpPr/>
        <p:nvPr/>
      </p:nvGrpSpPr>
      <p:grpSpPr>
        <a:xfrm>
          <a:off x="0" y="0"/>
          <a:ext cx="0" cy="0"/>
          <a:chOff x="0" y="0"/>
          <a:chExt cx="0" cy="0"/>
        </a:xfrm>
      </p:grpSpPr>
      <p:sp>
        <p:nvSpPr>
          <p:cNvPr id="1730" name="Google Shape;1730;g30adc2d4cf8_0_2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31" name="Google Shape;1731;g30adc2d4cf8_0_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g30adc2d4cf8_0_2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44" name="Google Shape;1744;g30adc2d4cf8_0_2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g30adc2d4cf8_0_2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58" name="Google Shape;1758;g30adc2d4cf8_0_2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9" name="Shape 1769"/>
        <p:cNvGrpSpPr/>
        <p:nvPr/>
      </p:nvGrpSpPr>
      <p:grpSpPr>
        <a:xfrm>
          <a:off x="0" y="0"/>
          <a:ext cx="0" cy="0"/>
          <a:chOff x="0" y="0"/>
          <a:chExt cx="0" cy="0"/>
        </a:xfrm>
      </p:grpSpPr>
      <p:sp>
        <p:nvSpPr>
          <p:cNvPr id="1770" name="Google Shape;1770;g30adc2d4cf8_0_3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71" name="Google Shape;1771;g30adc2d4cf8_0_3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1" name="Shape 1781"/>
        <p:cNvGrpSpPr/>
        <p:nvPr/>
      </p:nvGrpSpPr>
      <p:grpSpPr>
        <a:xfrm>
          <a:off x="0" y="0"/>
          <a:ext cx="0" cy="0"/>
          <a:chOff x="0" y="0"/>
          <a:chExt cx="0" cy="0"/>
        </a:xfrm>
      </p:grpSpPr>
      <p:sp>
        <p:nvSpPr>
          <p:cNvPr id="1782" name="Google Shape;1782;g30adc2d4cf8_0_3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83" name="Google Shape;1783;g30adc2d4cf8_0_3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g30adc2d4cf8_0_3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96" name="Google Shape;1796;g30adc2d4cf8_0_3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8" name="Shape 1808"/>
        <p:cNvGrpSpPr/>
        <p:nvPr/>
      </p:nvGrpSpPr>
      <p:grpSpPr>
        <a:xfrm>
          <a:off x="0" y="0"/>
          <a:ext cx="0" cy="0"/>
          <a:chOff x="0" y="0"/>
          <a:chExt cx="0" cy="0"/>
        </a:xfrm>
      </p:grpSpPr>
      <p:sp>
        <p:nvSpPr>
          <p:cNvPr id="1809" name="Google Shape;1809;g30adc2d4cf8_0_3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10" name="Google Shape;1810;g30adc2d4cf8_0_3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1" name="Shape 1821"/>
        <p:cNvGrpSpPr/>
        <p:nvPr/>
      </p:nvGrpSpPr>
      <p:grpSpPr>
        <a:xfrm>
          <a:off x="0" y="0"/>
          <a:ext cx="0" cy="0"/>
          <a:chOff x="0" y="0"/>
          <a:chExt cx="0" cy="0"/>
        </a:xfrm>
      </p:grpSpPr>
      <p:sp>
        <p:nvSpPr>
          <p:cNvPr id="1822" name="Google Shape;1822;g30adc2d4cf8_0_3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23" name="Google Shape;1823;g30adc2d4cf8_0_3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4" name="Shape 1834"/>
        <p:cNvGrpSpPr/>
        <p:nvPr/>
      </p:nvGrpSpPr>
      <p:grpSpPr>
        <a:xfrm>
          <a:off x="0" y="0"/>
          <a:ext cx="0" cy="0"/>
          <a:chOff x="0" y="0"/>
          <a:chExt cx="0" cy="0"/>
        </a:xfrm>
      </p:grpSpPr>
      <p:sp>
        <p:nvSpPr>
          <p:cNvPr id="1835" name="Google Shape;1835;g30b888f2f3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36" name="Google Shape;1836;g30b888f2f3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g308028c86d0_0_4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49" name="Google Shape;1849;g308028c86d0_0_4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8" name="Shape 1888"/>
        <p:cNvGrpSpPr/>
        <p:nvPr/>
      </p:nvGrpSpPr>
      <p:grpSpPr>
        <a:xfrm>
          <a:off x="0" y="0"/>
          <a:ext cx="0" cy="0"/>
          <a:chOff x="0" y="0"/>
          <a:chExt cx="0" cy="0"/>
        </a:xfrm>
      </p:grpSpPr>
      <p:sp>
        <p:nvSpPr>
          <p:cNvPr id="1889" name="Google Shape;1889;g2ff2e3f88f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90" name="Google Shape;1890;g2ff2e3f88f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g309ba08c72f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03" name="Google Shape;1903;g309ba08c72f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3" name="Shape 1913"/>
        <p:cNvGrpSpPr/>
        <p:nvPr/>
      </p:nvGrpSpPr>
      <p:grpSpPr>
        <a:xfrm>
          <a:off x="0" y="0"/>
          <a:ext cx="0" cy="0"/>
          <a:chOff x="0" y="0"/>
          <a:chExt cx="0" cy="0"/>
        </a:xfrm>
      </p:grpSpPr>
      <p:sp>
        <p:nvSpPr>
          <p:cNvPr id="1914" name="Google Shape;1914;g30ee80025de_1_4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15" name="Google Shape;1915;g30ee80025de_1_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5" name="Shape 1925"/>
        <p:cNvGrpSpPr/>
        <p:nvPr/>
      </p:nvGrpSpPr>
      <p:grpSpPr>
        <a:xfrm>
          <a:off x="0" y="0"/>
          <a:ext cx="0" cy="0"/>
          <a:chOff x="0" y="0"/>
          <a:chExt cx="0" cy="0"/>
        </a:xfrm>
      </p:grpSpPr>
      <p:sp>
        <p:nvSpPr>
          <p:cNvPr id="1926" name="Google Shape;1926;g30ee80025de_1_4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27" name="Google Shape;1927;g30ee80025de_1_4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8" name="Shape 1938"/>
        <p:cNvGrpSpPr/>
        <p:nvPr/>
      </p:nvGrpSpPr>
      <p:grpSpPr>
        <a:xfrm>
          <a:off x="0" y="0"/>
          <a:ext cx="0" cy="0"/>
          <a:chOff x="0" y="0"/>
          <a:chExt cx="0" cy="0"/>
        </a:xfrm>
      </p:grpSpPr>
      <p:sp>
        <p:nvSpPr>
          <p:cNvPr id="1939" name="Google Shape;1939;g30ee80025de_1_4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40" name="Google Shape;1940;g30ee80025de_1_4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0" name="Shape 1950"/>
        <p:cNvGrpSpPr/>
        <p:nvPr/>
      </p:nvGrpSpPr>
      <p:grpSpPr>
        <a:xfrm>
          <a:off x="0" y="0"/>
          <a:ext cx="0" cy="0"/>
          <a:chOff x="0" y="0"/>
          <a:chExt cx="0" cy="0"/>
        </a:xfrm>
      </p:grpSpPr>
      <p:sp>
        <p:nvSpPr>
          <p:cNvPr id="1951" name="Google Shape;1951;g30b888f2f37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52" name="Google Shape;1952;g30b888f2f37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g30b888f2f37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64" name="Google Shape;1964;g30b888f2f37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4" name="Shape 1974"/>
        <p:cNvGrpSpPr/>
        <p:nvPr/>
      </p:nvGrpSpPr>
      <p:grpSpPr>
        <a:xfrm>
          <a:off x="0" y="0"/>
          <a:ext cx="0" cy="0"/>
          <a:chOff x="0" y="0"/>
          <a:chExt cx="0" cy="0"/>
        </a:xfrm>
      </p:grpSpPr>
      <p:sp>
        <p:nvSpPr>
          <p:cNvPr id="1975" name="Google Shape;1975;g30ee80025de_1_5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76" name="Google Shape;1976;g30ee80025de_1_5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6" name="Shape 1986"/>
        <p:cNvGrpSpPr/>
        <p:nvPr/>
      </p:nvGrpSpPr>
      <p:grpSpPr>
        <a:xfrm>
          <a:off x="0" y="0"/>
          <a:ext cx="0" cy="0"/>
          <a:chOff x="0" y="0"/>
          <a:chExt cx="0" cy="0"/>
        </a:xfrm>
      </p:grpSpPr>
      <p:sp>
        <p:nvSpPr>
          <p:cNvPr id="1987" name="Google Shape;1987;g309ba08c72f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88" name="Google Shape;1988;g309ba08c72f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g309ba08c72f_0_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00" name="Google Shape;2000;g309ba08c72f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8" name="Shape 2018"/>
        <p:cNvGrpSpPr/>
        <p:nvPr/>
      </p:nvGrpSpPr>
      <p:grpSpPr>
        <a:xfrm>
          <a:off x="0" y="0"/>
          <a:ext cx="0" cy="0"/>
          <a:chOff x="0" y="0"/>
          <a:chExt cx="0" cy="0"/>
        </a:xfrm>
      </p:grpSpPr>
      <p:sp>
        <p:nvSpPr>
          <p:cNvPr id="2019" name="Google Shape;2019;g30ee80025de_1_5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20" name="Google Shape;2020;g30ee80025de_1_5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3" name="Shape 2033"/>
        <p:cNvGrpSpPr/>
        <p:nvPr/>
      </p:nvGrpSpPr>
      <p:grpSpPr>
        <a:xfrm>
          <a:off x="0" y="0"/>
          <a:ext cx="0" cy="0"/>
          <a:chOff x="0" y="0"/>
          <a:chExt cx="0" cy="0"/>
        </a:xfrm>
      </p:grpSpPr>
      <p:sp>
        <p:nvSpPr>
          <p:cNvPr id="2034" name="Google Shape;2034;g30ee80025de_1_5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35" name="Google Shape;2035;g30ee80025de_1_5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8" name="Shape 2048"/>
        <p:cNvGrpSpPr/>
        <p:nvPr/>
      </p:nvGrpSpPr>
      <p:grpSpPr>
        <a:xfrm>
          <a:off x="0" y="0"/>
          <a:ext cx="0" cy="0"/>
          <a:chOff x="0" y="0"/>
          <a:chExt cx="0" cy="0"/>
        </a:xfrm>
      </p:grpSpPr>
      <p:sp>
        <p:nvSpPr>
          <p:cNvPr id="2049" name="Google Shape;2049;g309ba08c72f_0_1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50" name="Google Shape;2050;g309ba08c72f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2" name="Shape 2062"/>
        <p:cNvGrpSpPr/>
        <p:nvPr/>
      </p:nvGrpSpPr>
      <p:grpSpPr>
        <a:xfrm>
          <a:off x="0" y="0"/>
          <a:ext cx="0" cy="0"/>
          <a:chOff x="0" y="0"/>
          <a:chExt cx="0" cy="0"/>
        </a:xfrm>
      </p:grpSpPr>
      <p:sp>
        <p:nvSpPr>
          <p:cNvPr id="2063" name="Google Shape;2063;g30ee80025de_1_5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64" name="Google Shape;2064;g30ee80025de_1_5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7" name="Shape 2077"/>
        <p:cNvGrpSpPr/>
        <p:nvPr/>
      </p:nvGrpSpPr>
      <p:grpSpPr>
        <a:xfrm>
          <a:off x="0" y="0"/>
          <a:ext cx="0" cy="0"/>
          <a:chOff x="0" y="0"/>
          <a:chExt cx="0" cy="0"/>
        </a:xfrm>
      </p:grpSpPr>
      <p:sp>
        <p:nvSpPr>
          <p:cNvPr id="2078" name="Google Shape;2078;g30b888f2f37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79" name="Google Shape;2079;g30b888f2f37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1" name="Shape 2091"/>
        <p:cNvGrpSpPr/>
        <p:nvPr/>
      </p:nvGrpSpPr>
      <p:grpSpPr>
        <a:xfrm>
          <a:off x="0" y="0"/>
          <a:ext cx="0" cy="0"/>
          <a:chOff x="0" y="0"/>
          <a:chExt cx="0" cy="0"/>
        </a:xfrm>
      </p:grpSpPr>
      <p:sp>
        <p:nvSpPr>
          <p:cNvPr id="2092" name="Google Shape;2092;g30b888f2f37_0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93" name="Google Shape;2093;g30b888f2f37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5" name="Shape 2105"/>
        <p:cNvGrpSpPr/>
        <p:nvPr/>
      </p:nvGrpSpPr>
      <p:grpSpPr>
        <a:xfrm>
          <a:off x="0" y="0"/>
          <a:ext cx="0" cy="0"/>
          <a:chOff x="0" y="0"/>
          <a:chExt cx="0" cy="0"/>
        </a:xfrm>
      </p:grpSpPr>
      <p:sp>
        <p:nvSpPr>
          <p:cNvPr id="2106" name="Google Shape;2106;g30b888f2f37_0_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07" name="Google Shape;2107;g30b888f2f37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7" name="Shape 2117"/>
        <p:cNvGrpSpPr/>
        <p:nvPr/>
      </p:nvGrpSpPr>
      <p:grpSpPr>
        <a:xfrm>
          <a:off x="0" y="0"/>
          <a:ext cx="0" cy="0"/>
          <a:chOff x="0" y="0"/>
          <a:chExt cx="0" cy="0"/>
        </a:xfrm>
      </p:grpSpPr>
      <p:sp>
        <p:nvSpPr>
          <p:cNvPr id="2118" name="Google Shape;2118;g30b888f2f37_0_1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19" name="Google Shape;2119;g30b888f2f37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7" name="Shape 2137"/>
        <p:cNvGrpSpPr/>
        <p:nvPr/>
      </p:nvGrpSpPr>
      <p:grpSpPr>
        <a:xfrm>
          <a:off x="0" y="0"/>
          <a:ext cx="0" cy="0"/>
          <a:chOff x="0" y="0"/>
          <a:chExt cx="0" cy="0"/>
        </a:xfrm>
      </p:grpSpPr>
      <p:sp>
        <p:nvSpPr>
          <p:cNvPr id="2138" name="Google Shape;2138;g30b888f2f37_0_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39" name="Google Shape;2139;g30b888f2f37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5" name="Shape 2155"/>
        <p:cNvGrpSpPr/>
        <p:nvPr/>
      </p:nvGrpSpPr>
      <p:grpSpPr>
        <a:xfrm>
          <a:off x="0" y="0"/>
          <a:ext cx="0" cy="0"/>
          <a:chOff x="0" y="0"/>
          <a:chExt cx="0" cy="0"/>
        </a:xfrm>
      </p:grpSpPr>
      <p:sp>
        <p:nvSpPr>
          <p:cNvPr id="2156" name="Google Shape;2156;g30b888f2f37_0_1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57" name="Google Shape;2157;g30b888f2f37_0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7" name="Shape 2167"/>
        <p:cNvGrpSpPr/>
        <p:nvPr/>
      </p:nvGrpSpPr>
      <p:grpSpPr>
        <a:xfrm>
          <a:off x="0" y="0"/>
          <a:ext cx="0" cy="0"/>
          <a:chOff x="0" y="0"/>
          <a:chExt cx="0" cy="0"/>
        </a:xfrm>
      </p:grpSpPr>
      <p:sp>
        <p:nvSpPr>
          <p:cNvPr id="2168" name="Google Shape;2168;g30b888f2f37_0_1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69" name="Google Shape;2169;g30b888f2f37_0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5" name="Shape 2185"/>
        <p:cNvGrpSpPr/>
        <p:nvPr/>
      </p:nvGrpSpPr>
      <p:grpSpPr>
        <a:xfrm>
          <a:off x="0" y="0"/>
          <a:ext cx="0" cy="0"/>
          <a:chOff x="0" y="0"/>
          <a:chExt cx="0" cy="0"/>
        </a:xfrm>
      </p:grpSpPr>
      <p:sp>
        <p:nvSpPr>
          <p:cNvPr id="2186" name="Google Shape;2186;g30b888f2f37_0_1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87" name="Google Shape;2187;g30b888f2f37_0_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3" name="Shape 2203"/>
        <p:cNvGrpSpPr/>
        <p:nvPr/>
      </p:nvGrpSpPr>
      <p:grpSpPr>
        <a:xfrm>
          <a:off x="0" y="0"/>
          <a:ext cx="0" cy="0"/>
          <a:chOff x="0" y="0"/>
          <a:chExt cx="0" cy="0"/>
        </a:xfrm>
      </p:grpSpPr>
      <p:sp>
        <p:nvSpPr>
          <p:cNvPr id="2204" name="Google Shape;2204;g30b888f2f37_0_2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05" name="Google Shape;2205;g30b888f2f37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1" name="Shape 2221"/>
        <p:cNvGrpSpPr/>
        <p:nvPr/>
      </p:nvGrpSpPr>
      <p:grpSpPr>
        <a:xfrm>
          <a:off x="0" y="0"/>
          <a:ext cx="0" cy="0"/>
          <a:chOff x="0" y="0"/>
          <a:chExt cx="0" cy="0"/>
        </a:xfrm>
      </p:grpSpPr>
      <p:sp>
        <p:nvSpPr>
          <p:cNvPr id="2222" name="Google Shape;2222;g30f04c112dd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23" name="Google Shape;2223;g30f04c112dd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9" name="Shape 2239"/>
        <p:cNvGrpSpPr/>
        <p:nvPr/>
      </p:nvGrpSpPr>
      <p:grpSpPr>
        <a:xfrm>
          <a:off x="0" y="0"/>
          <a:ext cx="0" cy="0"/>
          <a:chOff x="0" y="0"/>
          <a:chExt cx="0" cy="0"/>
        </a:xfrm>
      </p:grpSpPr>
      <p:sp>
        <p:nvSpPr>
          <p:cNvPr id="2240" name="Google Shape;2240;g30b888f2f37_0_2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41" name="Google Shape;2241;g30b888f2f37_0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7" name="Shape 2257"/>
        <p:cNvGrpSpPr/>
        <p:nvPr/>
      </p:nvGrpSpPr>
      <p:grpSpPr>
        <a:xfrm>
          <a:off x="0" y="0"/>
          <a:ext cx="0" cy="0"/>
          <a:chOff x="0" y="0"/>
          <a:chExt cx="0" cy="0"/>
        </a:xfrm>
      </p:grpSpPr>
      <p:sp>
        <p:nvSpPr>
          <p:cNvPr id="2258" name="Google Shape;2258;g30b888f2f37_0_2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59" name="Google Shape;2259;g30b888f2f37_0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9" name="Shape 2269"/>
        <p:cNvGrpSpPr/>
        <p:nvPr/>
      </p:nvGrpSpPr>
      <p:grpSpPr>
        <a:xfrm>
          <a:off x="0" y="0"/>
          <a:ext cx="0" cy="0"/>
          <a:chOff x="0" y="0"/>
          <a:chExt cx="0" cy="0"/>
        </a:xfrm>
      </p:grpSpPr>
      <p:sp>
        <p:nvSpPr>
          <p:cNvPr id="2270" name="Google Shape;2270;g309ba08c72f_0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71" name="Google Shape;2271;g309ba08c72f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3" name="Shape 2283"/>
        <p:cNvGrpSpPr/>
        <p:nvPr/>
      </p:nvGrpSpPr>
      <p:grpSpPr>
        <a:xfrm>
          <a:off x="0" y="0"/>
          <a:ext cx="0" cy="0"/>
          <a:chOff x="0" y="0"/>
          <a:chExt cx="0" cy="0"/>
        </a:xfrm>
      </p:grpSpPr>
      <p:sp>
        <p:nvSpPr>
          <p:cNvPr id="2284" name="Google Shape;2284;g309ba08c72f_0_1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85" name="Google Shape;2285;g309ba08c72f_0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6" name="Shape 2296"/>
        <p:cNvGrpSpPr/>
        <p:nvPr/>
      </p:nvGrpSpPr>
      <p:grpSpPr>
        <a:xfrm>
          <a:off x="0" y="0"/>
          <a:ext cx="0" cy="0"/>
          <a:chOff x="0" y="0"/>
          <a:chExt cx="0" cy="0"/>
        </a:xfrm>
      </p:grpSpPr>
      <p:sp>
        <p:nvSpPr>
          <p:cNvPr id="2297" name="Google Shape;2297;g30b888f2f37_0_3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98" name="Google Shape;2298;g30b888f2f37_0_3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8" name="Shape 2308"/>
        <p:cNvGrpSpPr/>
        <p:nvPr/>
      </p:nvGrpSpPr>
      <p:grpSpPr>
        <a:xfrm>
          <a:off x="0" y="0"/>
          <a:ext cx="0" cy="0"/>
          <a:chOff x="0" y="0"/>
          <a:chExt cx="0" cy="0"/>
        </a:xfrm>
      </p:grpSpPr>
      <p:sp>
        <p:nvSpPr>
          <p:cNvPr id="2309" name="Google Shape;2309;g30cf6a1bfdd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10" name="Google Shape;2310;g30cf6a1bfdd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g30cf6a1bfdd_0_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24" name="Google Shape;2324;g30cf6a1bfdd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6" name="Shape 2336"/>
        <p:cNvGrpSpPr/>
        <p:nvPr/>
      </p:nvGrpSpPr>
      <p:grpSpPr>
        <a:xfrm>
          <a:off x="0" y="0"/>
          <a:ext cx="0" cy="0"/>
          <a:chOff x="0" y="0"/>
          <a:chExt cx="0" cy="0"/>
        </a:xfrm>
      </p:grpSpPr>
      <p:sp>
        <p:nvSpPr>
          <p:cNvPr id="2337" name="Google Shape;2337;g30cf6a1bfdd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38" name="Google Shape;2338;g30cf6a1bfdd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0" name="Shape 2350"/>
        <p:cNvGrpSpPr/>
        <p:nvPr/>
      </p:nvGrpSpPr>
      <p:grpSpPr>
        <a:xfrm>
          <a:off x="0" y="0"/>
          <a:ext cx="0" cy="0"/>
          <a:chOff x="0" y="0"/>
          <a:chExt cx="0" cy="0"/>
        </a:xfrm>
      </p:grpSpPr>
      <p:sp>
        <p:nvSpPr>
          <p:cNvPr id="2351" name="Google Shape;2351;g30b888f2f37_0_3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52" name="Google Shape;2352;g30b888f2f37_0_3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8" name="Shape 2368"/>
        <p:cNvGrpSpPr/>
        <p:nvPr/>
      </p:nvGrpSpPr>
      <p:grpSpPr>
        <a:xfrm>
          <a:off x="0" y="0"/>
          <a:ext cx="0" cy="0"/>
          <a:chOff x="0" y="0"/>
          <a:chExt cx="0" cy="0"/>
        </a:xfrm>
      </p:grpSpPr>
      <p:sp>
        <p:nvSpPr>
          <p:cNvPr id="2369" name="Google Shape;2369;g30b888f2f37_0_3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70" name="Google Shape;2370;g30b888f2f37_0_3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6" name="Shape 2386"/>
        <p:cNvGrpSpPr/>
        <p:nvPr/>
      </p:nvGrpSpPr>
      <p:grpSpPr>
        <a:xfrm>
          <a:off x="0" y="0"/>
          <a:ext cx="0" cy="0"/>
          <a:chOff x="0" y="0"/>
          <a:chExt cx="0" cy="0"/>
        </a:xfrm>
      </p:grpSpPr>
      <p:sp>
        <p:nvSpPr>
          <p:cNvPr id="2387" name="Google Shape;2387;g30b888f2f37_0_3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88" name="Google Shape;2388;g30b888f2f37_0_3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8" name="Shape 2398"/>
        <p:cNvGrpSpPr/>
        <p:nvPr/>
      </p:nvGrpSpPr>
      <p:grpSpPr>
        <a:xfrm>
          <a:off x="0" y="0"/>
          <a:ext cx="0" cy="0"/>
          <a:chOff x="0" y="0"/>
          <a:chExt cx="0" cy="0"/>
        </a:xfrm>
      </p:grpSpPr>
      <p:sp>
        <p:nvSpPr>
          <p:cNvPr id="2399" name="Google Shape;2399;g309ba08c72f_0_1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00" name="Google Shape;2400;g309ba08c72f_0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0" name="Shape 2410"/>
        <p:cNvGrpSpPr/>
        <p:nvPr/>
      </p:nvGrpSpPr>
      <p:grpSpPr>
        <a:xfrm>
          <a:off x="0" y="0"/>
          <a:ext cx="0" cy="0"/>
          <a:chOff x="0" y="0"/>
          <a:chExt cx="0" cy="0"/>
        </a:xfrm>
      </p:grpSpPr>
      <p:sp>
        <p:nvSpPr>
          <p:cNvPr id="2411" name="Google Shape;2411;g309ba08c72f_0_1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12" name="Google Shape;2412;g309ba08c72f_0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4" name="Shape 2424"/>
        <p:cNvGrpSpPr/>
        <p:nvPr/>
      </p:nvGrpSpPr>
      <p:grpSpPr>
        <a:xfrm>
          <a:off x="0" y="0"/>
          <a:ext cx="0" cy="0"/>
          <a:chOff x="0" y="0"/>
          <a:chExt cx="0" cy="0"/>
        </a:xfrm>
      </p:grpSpPr>
      <p:sp>
        <p:nvSpPr>
          <p:cNvPr id="2425" name="Google Shape;2425;g309ba08c72f_0_2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26" name="Google Shape;2426;g309ba08c72f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6" name="Shape 2436"/>
        <p:cNvGrpSpPr/>
        <p:nvPr/>
      </p:nvGrpSpPr>
      <p:grpSpPr>
        <a:xfrm>
          <a:off x="0" y="0"/>
          <a:ext cx="0" cy="0"/>
          <a:chOff x="0" y="0"/>
          <a:chExt cx="0" cy="0"/>
        </a:xfrm>
      </p:grpSpPr>
      <p:sp>
        <p:nvSpPr>
          <p:cNvPr id="2437" name="Google Shape;2437;g30cf6a1bfdd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38" name="Google Shape;2438;g30cf6a1bfdd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8" name="Shape 2448"/>
        <p:cNvGrpSpPr/>
        <p:nvPr/>
      </p:nvGrpSpPr>
      <p:grpSpPr>
        <a:xfrm>
          <a:off x="0" y="0"/>
          <a:ext cx="0" cy="0"/>
          <a:chOff x="0" y="0"/>
          <a:chExt cx="0" cy="0"/>
        </a:xfrm>
      </p:grpSpPr>
      <p:sp>
        <p:nvSpPr>
          <p:cNvPr id="2449" name="Google Shape;2449;g30b888f2f37_0_2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50" name="Google Shape;2450;g30b888f2f37_0_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0" name="Shape 2460"/>
        <p:cNvGrpSpPr/>
        <p:nvPr/>
      </p:nvGrpSpPr>
      <p:grpSpPr>
        <a:xfrm>
          <a:off x="0" y="0"/>
          <a:ext cx="0" cy="0"/>
          <a:chOff x="0" y="0"/>
          <a:chExt cx="0" cy="0"/>
        </a:xfrm>
      </p:grpSpPr>
      <p:sp>
        <p:nvSpPr>
          <p:cNvPr id="2461" name="Google Shape;2461;g30b888f2f37_0_3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62" name="Google Shape;2462;g30b888f2f37_0_3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2" name="Shape 2472"/>
        <p:cNvGrpSpPr/>
        <p:nvPr/>
      </p:nvGrpSpPr>
      <p:grpSpPr>
        <a:xfrm>
          <a:off x="0" y="0"/>
          <a:ext cx="0" cy="0"/>
          <a:chOff x="0" y="0"/>
          <a:chExt cx="0" cy="0"/>
        </a:xfrm>
      </p:grpSpPr>
      <p:sp>
        <p:nvSpPr>
          <p:cNvPr id="2473" name="Google Shape;2473;g309ba08c72f_0_2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74" name="Google Shape;2474;g309ba08c72f_0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4" name="Shape 2484"/>
        <p:cNvGrpSpPr/>
        <p:nvPr/>
      </p:nvGrpSpPr>
      <p:grpSpPr>
        <a:xfrm>
          <a:off x="0" y="0"/>
          <a:ext cx="0" cy="0"/>
          <a:chOff x="0" y="0"/>
          <a:chExt cx="0" cy="0"/>
        </a:xfrm>
      </p:grpSpPr>
      <p:sp>
        <p:nvSpPr>
          <p:cNvPr id="2485" name="Google Shape;2485;g309ba08c72f_0_2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86" name="Google Shape;2486;g309ba08c72f_0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g30cf6a1bfdd_0_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98" name="Google Shape;2498;g30cf6a1bfdd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9" name="Shape 2509"/>
        <p:cNvGrpSpPr/>
        <p:nvPr/>
      </p:nvGrpSpPr>
      <p:grpSpPr>
        <a:xfrm>
          <a:off x="0" y="0"/>
          <a:ext cx="0" cy="0"/>
          <a:chOff x="0" y="0"/>
          <a:chExt cx="0" cy="0"/>
        </a:xfrm>
      </p:grpSpPr>
      <p:sp>
        <p:nvSpPr>
          <p:cNvPr id="2510" name="Google Shape;2510;g30a1a6d01d3_0_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11" name="Google Shape;2511;g30a1a6d01d3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1" name="Shape 2521"/>
        <p:cNvGrpSpPr/>
        <p:nvPr/>
      </p:nvGrpSpPr>
      <p:grpSpPr>
        <a:xfrm>
          <a:off x="0" y="0"/>
          <a:ext cx="0" cy="0"/>
          <a:chOff x="0" y="0"/>
          <a:chExt cx="0" cy="0"/>
        </a:xfrm>
      </p:grpSpPr>
      <p:sp>
        <p:nvSpPr>
          <p:cNvPr id="2522" name="Google Shape;2522;g309ba08c72f_0_2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23" name="Google Shape;2523;g309ba08c72f_0_2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5" name="Shape 2535"/>
        <p:cNvGrpSpPr/>
        <p:nvPr/>
      </p:nvGrpSpPr>
      <p:grpSpPr>
        <a:xfrm>
          <a:off x="0" y="0"/>
          <a:ext cx="0" cy="0"/>
          <a:chOff x="0" y="0"/>
          <a:chExt cx="0" cy="0"/>
        </a:xfrm>
      </p:grpSpPr>
      <p:sp>
        <p:nvSpPr>
          <p:cNvPr id="2536" name="Google Shape;2536;g30a1a6d01d3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37" name="Google Shape;2537;g30a1a6d01d3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7" name="Shape 2547"/>
        <p:cNvGrpSpPr/>
        <p:nvPr/>
      </p:nvGrpSpPr>
      <p:grpSpPr>
        <a:xfrm>
          <a:off x="0" y="0"/>
          <a:ext cx="0" cy="0"/>
          <a:chOff x="0" y="0"/>
          <a:chExt cx="0" cy="0"/>
        </a:xfrm>
      </p:grpSpPr>
      <p:sp>
        <p:nvSpPr>
          <p:cNvPr id="2548" name="Google Shape;2548;g30cf6a1bfdd_0_1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49" name="Google Shape;2549;g30cf6a1bfdd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9" name="Shape 2559"/>
        <p:cNvGrpSpPr/>
        <p:nvPr/>
      </p:nvGrpSpPr>
      <p:grpSpPr>
        <a:xfrm>
          <a:off x="0" y="0"/>
          <a:ext cx="0" cy="0"/>
          <a:chOff x="0" y="0"/>
          <a:chExt cx="0" cy="0"/>
        </a:xfrm>
      </p:grpSpPr>
      <p:sp>
        <p:nvSpPr>
          <p:cNvPr id="2560" name="Google Shape;2560;g30cf6a1bfdd_0_1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61" name="Google Shape;2561;g30cf6a1bfdd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1" name="Shape 2571"/>
        <p:cNvGrpSpPr/>
        <p:nvPr/>
      </p:nvGrpSpPr>
      <p:grpSpPr>
        <a:xfrm>
          <a:off x="0" y="0"/>
          <a:ext cx="0" cy="0"/>
          <a:chOff x="0" y="0"/>
          <a:chExt cx="0" cy="0"/>
        </a:xfrm>
      </p:grpSpPr>
      <p:sp>
        <p:nvSpPr>
          <p:cNvPr id="2572" name="Google Shape;2572;g30cf6a1bfdd_0_1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73" name="Google Shape;2573;g30cf6a1bfdd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3" name="Shape 2583"/>
        <p:cNvGrpSpPr/>
        <p:nvPr/>
      </p:nvGrpSpPr>
      <p:grpSpPr>
        <a:xfrm>
          <a:off x="0" y="0"/>
          <a:ext cx="0" cy="0"/>
          <a:chOff x="0" y="0"/>
          <a:chExt cx="0" cy="0"/>
        </a:xfrm>
      </p:grpSpPr>
      <p:sp>
        <p:nvSpPr>
          <p:cNvPr id="2584" name="Google Shape;2584;g30a1a6d01d3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85" name="Google Shape;2585;g30a1a6d01d3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5" name="Shape 2595"/>
        <p:cNvGrpSpPr/>
        <p:nvPr/>
      </p:nvGrpSpPr>
      <p:grpSpPr>
        <a:xfrm>
          <a:off x="0" y="0"/>
          <a:ext cx="0" cy="0"/>
          <a:chOff x="0" y="0"/>
          <a:chExt cx="0" cy="0"/>
        </a:xfrm>
      </p:grpSpPr>
      <p:sp>
        <p:nvSpPr>
          <p:cNvPr id="2596" name="Google Shape;2596;g30a1a6d01d3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97" name="Google Shape;2597;g30a1a6d01d3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7" name="Shape 2607"/>
        <p:cNvGrpSpPr/>
        <p:nvPr/>
      </p:nvGrpSpPr>
      <p:grpSpPr>
        <a:xfrm>
          <a:off x="0" y="0"/>
          <a:ext cx="0" cy="0"/>
          <a:chOff x="0" y="0"/>
          <a:chExt cx="0" cy="0"/>
        </a:xfrm>
      </p:grpSpPr>
      <p:sp>
        <p:nvSpPr>
          <p:cNvPr id="2608" name="Google Shape;2608;g30b888f2f37_0_3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09" name="Google Shape;2609;g30b888f2f37_0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9" name="Shape 2619"/>
        <p:cNvGrpSpPr/>
        <p:nvPr/>
      </p:nvGrpSpPr>
      <p:grpSpPr>
        <a:xfrm>
          <a:off x="0" y="0"/>
          <a:ext cx="0" cy="0"/>
          <a:chOff x="0" y="0"/>
          <a:chExt cx="0" cy="0"/>
        </a:xfrm>
      </p:grpSpPr>
      <p:sp>
        <p:nvSpPr>
          <p:cNvPr id="2620" name="Google Shape;2620;g30b888f2f37_0_4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21" name="Google Shape;2621;g30b888f2f37_0_4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1" name="Shape 2631"/>
        <p:cNvGrpSpPr/>
        <p:nvPr/>
      </p:nvGrpSpPr>
      <p:grpSpPr>
        <a:xfrm>
          <a:off x="0" y="0"/>
          <a:ext cx="0" cy="0"/>
          <a:chOff x="0" y="0"/>
          <a:chExt cx="0" cy="0"/>
        </a:xfrm>
      </p:grpSpPr>
      <p:sp>
        <p:nvSpPr>
          <p:cNvPr id="2632" name="Google Shape;2632;g30b888f2f37_0_4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33" name="Google Shape;2633;g30b888f2f37_0_4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3" name="Shape 2643"/>
        <p:cNvGrpSpPr/>
        <p:nvPr/>
      </p:nvGrpSpPr>
      <p:grpSpPr>
        <a:xfrm>
          <a:off x="0" y="0"/>
          <a:ext cx="0" cy="0"/>
          <a:chOff x="0" y="0"/>
          <a:chExt cx="0" cy="0"/>
        </a:xfrm>
      </p:grpSpPr>
      <p:sp>
        <p:nvSpPr>
          <p:cNvPr id="2644" name="Google Shape;2644;g30b888f2f37_0_4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45" name="Google Shape;2645;g30b888f2f37_0_4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8" name="Shape 2658"/>
        <p:cNvGrpSpPr/>
        <p:nvPr/>
      </p:nvGrpSpPr>
      <p:grpSpPr>
        <a:xfrm>
          <a:off x="0" y="0"/>
          <a:ext cx="0" cy="0"/>
          <a:chOff x="0" y="0"/>
          <a:chExt cx="0" cy="0"/>
        </a:xfrm>
      </p:grpSpPr>
      <p:sp>
        <p:nvSpPr>
          <p:cNvPr id="2659" name="Google Shape;2659;g30a1a6d01d3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60" name="Google Shape;2660;g30a1a6d01d3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2" name="Shape 2672"/>
        <p:cNvGrpSpPr/>
        <p:nvPr/>
      </p:nvGrpSpPr>
      <p:grpSpPr>
        <a:xfrm>
          <a:off x="0" y="0"/>
          <a:ext cx="0" cy="0"/>
          <a:chOff x="0" y="0"/>
          <a:chExt cx="0" cy="0"/>
        </a:xfrm>
      </p:grpSpPr>
      <p:sp>
        <p:nvSpPr>
          <p:cNvPr id="2673" name="Google Shape;2673;g30a1a6d01d3_0_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74" name="Google Shape;2674;g30a1a6d01d3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5" name="Shape 2685"/>
        <p:cNvGrpSpPr/>
        <p:nvPr/>
      </p:nvGrpSpPr>
      <p:grpSpPr>
        <a:xfrm>
          <a:off x="0" y="0"/>
          <a:ext cx="0" cy="0"/>
          <a:chOff x="0" y="0"/>
          <a:chExt cx="0" cy="0"/>
        </a:xfrm>
      </p:grpSpPr>
      <p:sp>
        <p:nvSpPr>
          <p:cNvPr id="2686" name="Google Shape;2686;g30b888f2f37_0_4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87" name="Google Shape;2687;g30b888f2f37_0_4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8" name="Shape 2698"/>
        <p:cNvGrpSpPr/>
        <p:nvPr/>
      </p:nvGrpSpPr>
      <p:grpSpPr>
        <a:xfrm>
          <a:off x="0" y="0"/>
          <a:ext cx="0" cy="0"/>
          <a:chOff x="0" y="0"/>
          <a:chExt cx="0" cy="0"/>
        </a:xfrm>
      </p:grpSpPr>
      <p:sp>
        <p:nvSpPr>
          <p:cNvPr id="2699" name="Google Shape;2699;g30b888f2f37_0_4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00" name="Google Shape;2700;g30b888f2f37_0_4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0" name="Shape 2710"/>
        <p:cNvGrpSpPr/>
        <p:nvPr/>
      </p:nvGrpSpPr>
      <p:grpSpPr>
        <a:xfrm>
          <a:off x="0" y="0"/>
          <a:ext cx="0" cy="0"/>
          <a:chOff x="0" y="0"/>
          <a:chExt cx="0" cy="0"/>
        </a:xfrm>
      </p:grpSpPr>
      <p:sp>
        <p:nvSpPr>
          <p:cNvPr id="2711" name="Google Shape;2711;g309ba08c72f_0_2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12" name="Google Shape;2712;g309ba08c72f_0_2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2" name="Shape 2722"/>
        <p:cNvGrpSpPr/>
        <p:nvPr/>
      </p:nvGrpSpPr>
      <p:grpSpPr>
        <a:xfrm>
          <a:off x="0" y="0"/>
          <a:ext cx="0" cy="0"/>
          <a:chOff x="0" y="0"/>
          <a:chExt cx="0" cy="0"/>
        </a:xfrm>
      </p:grpSpPr>
      <p:sp>
        <p:nvSpPr>
          <p:cNvPr id="2723" name="Google Shape;2723;g309ba08c72f_0_3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24" name="Google Shape;2724;g309ba08c72f_0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4" name="Shape 2734"/>
        <p:cNvGrpSpPr/>
        <p:nvPr/>
      </p:nvGrpSpPr>
      <p:grpSpPr>
        <a:xfrm>
          <a:off x="0" y="0"/>
          <a:ext cx="0" cy="0"/>
          <a:chOff x="0" y="0"/>
          <a:chExt cx="0" cy="0"/>
        </a:xfrm>
      </p:grpSpPr>
      <p:sp>
        <p:nvSpPr>
          <p:cNvPr id="2735" name="Google Shape;2735;g30a1a6d01d3_0_1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36" name="Google Shape;2736;g30a1a6d01d3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6" name="Shape 2746"/>
        <p:cNvGrpSpPr/>
        <p:nvPr/>
      </p:nvGrpSpPr>
      <p:grpSpPr>
        <a:xfrm>
          <a:off x="0" y="0"/>
          <a:ext cx="0" cy="0"/>
          <a:chOff x="0" y="0"/>
          <a:chExt cx="0" cy="0"/>
        </a:xfrm>
      </p:grpSpPr>
      <p:sp>
        <p:nvSpPr>
          <p:cNvPr id="2747" name="Google Shape;2747;g2fc652a2f9e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48" name="Google Shape;2748;g2fc652a2f9e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9" name="Shape 2759"/>
        <p:cNvGrpSpPr/>
        <p:nvPr/>
      </p:nvGrpSpPr>
      <p:grpSpPr>
        <a:xfrm>
          <a:off x="0" y="0"/>
          <a:ext cx="0" cy="0"/>
          <a:chOff x="0" y="0"/>
          <a:chExt cx="0" cy="0"/>
        </a:xfrm>
      </p:grpSpPr>
      <p:sp>
        <p:nvSpPr>
          <p:cNvPr id="2760" name="Google Shape;2760;g30cf6a1bfdd_0_1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61" name="Google Shape;2761;g30cf6a1bfdd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1" name="Shape 2771"/>
        <p:cNvGrpSpPr/>
        <p:nvPr/>
      </p:nvGrpSpPr>
      <p:grpSpPr>
        <a:xfrm>
          <a:off x="0" y="0"/>
          <a:ext cx="0" cy="0"/>
          <a:chOff x="0" y="0"/>
          <a:chExt cx="0" cy="0"/>
        </a:xfrm>
      </p:grpSpPr>
      <p:sp>
        <p:nvSpPr>
          <p:cNvPr id="2772" name="Google Shape;2772;g30cf6a1bfdd_0_1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73" name="Google Shape;2773;g30cf6a1bfdd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3" name="Shape 2783"/>
        <p:cNvGrpSpPr/>
        <p:nvPr/>
      </p:nvGrpSpPr>
      <p:grpSpPr>
        <a:xfrm>
          <a:off x="0" y="0"/>
          <a:ext cx="0" cy="0"/>
          <a:chOff x="0" y="0"/>
          <a:chExt cx="0" cy="0"/>
        </a:xfrm>
      </p:grpSpPr>
      <p:sp>
        <p:nvSpPr>
          <p:cNvPr id="2784" name="Google Shape;2784;g30cf6a1bfdd_0_2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85" name="Google Shape;2785;g30cf6a1bfdd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6" name="Shape 2796"/>
        <p:cNvGrpSpPr/>
        <p:nvPr/>
      </p:nvGrpSpPr>
      <p:grpSpPr>
        <a:xfrm>
          <a:off x="0" y="0"/>
          <a:ext cx="0" cy="0"/>
          <a:chOff x="0" y="0"/>
          <a:chExt cx="0" cy="0"/>
        </a:xfrm>
      </p:grpSpPr>
      <p:sp>
        <p:nvSpPr>
          <p:cNvPr id="2797" name="Google Shape;2797;g30cf6a1bfdd_0_1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98" name="Google Shape;2798;g30cf6a1bfdd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8" name="Shape 2808"/>
        <p:cNvGrpSpPr/>
        <p:nvPr/>
      </p:nvGrpSpPr>
      <p:grpSpPr>
        <a:xfrm>
          <a:off x="0" y="0"/>
          <a:ext cx="0" cy="0"/>
          <a:chOff x="0" y="0"/>
          <a:chExt cx="0" cy="0"/>
        </a:xfrm>
      </p:grpSpPr>
      <p:sp>
        <p:nvSpPr>
          <p:cNvPr id="2809" name="Google Shape;2809;g30cf6a1bfdd_0_2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10" name="Google Shape;2810;g30cf6a1bfdd_0_2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1" name="Shape 2821"/>
        <p:cNvGrpSpPr/>
        <p:nvPr/>
      </p:nvGrpSpPr>
      <p:grpSpPr>
        <a:xfrm>
          <a:off x="0" y="0"/>
          <a:ext cx="0" cy="0"/>
          <a:chOff x="0" y="0"/>
          <a:chExt cx="0" cy="0"/>
        </a:xfrm>
      </p:grpSpPr>
      <p:sp>
        <p:nvSpPr>
          <p:cNvPr id="2822" name="Google Shape;2822;g30c94051d4b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23" name="Google Shape;2823;g30c94051d4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3" name="Shape 2833"/>
        <p:cNvGrpSpPr/>
        <p:nvPr/>
      </p:nvGrpSpPr>
      <p:grpSpPr>
        <a:xfrm>
          <a:off x="0" y="0"/>
          <a:ext cx="0" cy="0"/>
          <a:chOff x="0" y="0"/>
          <a:chExt cx="0" cy="0"/>
        </a:xfrm>
      </p:grpSpPr>
      <p:sp>
        <p:nvSpPr>
          <p:cNvPr id="2834" name="Google Shape;2834;g30c94051d4b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35" name="Google Shape;2835;g30c94051d4b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5" name="Shape 2845"/>
        <p:cNvGrpSpPr/>
        <p:nvPr/>
      </p:nvGrpSpPr>
      <p:grpSpPr>
        <a:xfrm>
          <a:off x="0" y="0"/>
          <a:ext cx="0" cy="0"/>
          <a:chOff x="0" y="0"/>
          <a:chExt cx="0" cy="0"/>
        </a:xfrm>
      </p:grpSpPr>
      <p:sp>
        <p:nvSpPr>
          <p:cNvPr id="2846" name="Google Shape;2846;g30cf6a1bfdd_0_2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47" name="Google Shape;2847;g30cf6a1bfdd_0_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7" name="Shape 2857"/>
        <p:cNvGrpSpPr/>
        <p:nvPr/>
      </p:nvGrpSpPr>
      <p:grpSpPr>
        <a:xfrm>
          <a:off x="0" y="0"/>
          <a:ext cx="0" cy="0"/>
          <a:chOff x="0" y="0"/>
          <a:chExt cx="0" cy="0"/>
        </a:xfrm>
      </p:grpSpPr>
      <p:sp>
        <p:nvSpPr>
          <p:cNvPr id="2858" name="Google Shape;2858;g30cf6a1bfdd_0_2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59" name="Google Shape;2859;g30cf6a1bfdd_0_2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9" name="Shape 2869"/>
        <p:cNvGrpSpPr/>
        <p:nvPr/>
      </p:nvGrpSpPr>
      <p:grpSpPr>
        <a:xfrm>
          <a:off x="0" y="0"/>
          <a:ext cx="0" cy="0"/>
          <a:chOff x="0" y="0"/>
          <a:chExt cx="0" cy="0"/>
        </a:xfrm>
      </p:grpSpPr>
      <p:sp>
        <p:nvSpPr>
          <p:cNvPr id="2870" name="Google Shape;2870;g30cf6a1bfdd_0_2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71" name="Google Shape;2871;g30cf6a1bfdd_0_2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1" name="Shape 2881"/>
        <p:cNvGrpSpPr/>
        <p:nvPr/>
      </p:nvGrpSpPr>
      <p:grpSpPr>
        <a:xfrm>
          <a:off x="0" y="0"/>
          <a:ext cx="0" cy="0"/>
          <a:chOff x="0" y="0"/>
          <a:chExt cx="0" cy="0"/>
        </a:xfrm>
      </p:grpSpPr>
      <p:sp>
        <p:nvSpPr>
          <p:cNvPr id="2882" name="Google Shape;2882;g30c94051d4b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83" name="Google Shape;2883;g30c94051d4b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3" name="Shape 2893"/>
        <p:cNvGrpSpPr/>
        <p:nvPr/>
      </p:nvGrpSpPr>
      <p:grpSpPr>
        <a:xfrm>
          <a:off x="0" y="0"/>
          <a:ext cx="0" cy="0"/>
          <a:chOff x="0" y="0"/>
          <a:chExt cx="0" cy="0"/>
        </a:xfrm>
      </p:grpSpPr>
      <p:sp>
        <p:nvSpPr>
          <p:cNvPr id="2894" name="Google Shape;2894;g309ba08c72f_0_2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95" name="Google Shape;2895;g309ba08c72f_0_2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5" name="Shape 2905"/>
        <p:cNvGrpSpPr/>
        <p:nvPr/>
      </p:nvGrpSpPr>
      <p:grpSpPr>
        <a:xfrm>
          <a:off x="0" y="0"/>
          <a:ext cx="0" cy="0"/>
          <a:chOff x="0" y="0"/>
          <a:chExt cx="0" cy="0"/>
        </a:xfrm>
      </p:grpSpPr>
      <p:sp>
        <p:nvSpPr>
          <p:cNvPr id="2906" name="Google Shape;2906;g309ba08c72f_0_2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07" name="Google Shape;2907;g309ba08c72f_0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7" name="Shape 2917"/>
        <p:cNvGrpSpPr/>
        <p:nvPr/>
      </p:nvGrpSpPr>
      <p:grpSpPr>
        <a:xfrm>
          <a:off x="0" y="0"/>
          <a:ext cx="0" cy="0"/>
          <a:chOff x="0" y="0"/>
          <a:chExt cx="0" cy="0"/>
        </a:xfrm>
      </p:grpSpPr>
      <p:sp>
        <p:nvSpPr>
          <p:cNvPr id="2918" name="Google Shape;2918;g30cf6a1bfdd_0_3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19" name="Google Shape;2919;g30cf6a1bfdd_0_3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9" name="Shape 2929"/>
        <p:cNvGrpSpPr/>
        <p:nvPr/>
      </p:nvGrpSpPr>
      <p:grpSpPr>
        <a:xfrm>
          <a:off x="0" y="0"/>
          <a:ext cx="0" cy="0"/>
          <a:chOff x="0" y="0"/>
          <a:chExt cx="0" cy="0"/>
        </a:xfrm>
      </p:grpSpPr>
      <p:sp>
        <p:nvSpPr>
          <p:cNvPr id="2930" name="Google Shape;2930;g30cf6a1bfdd_0_3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31" name="Google Shape;2931;g30cf6a1bfdd_0_3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1" name="Shape 2941"/>
        <p:cNvGrpSpPr/>
        <p:nvPr/>
      </p:nvGrpSpPr>
      <p:grpSpPr>
        <a:xfrm>
          <a:off x="0" y="0"/>
          <a:ext cx="0" cy="0"/>
          <a:chOff x="0" y="0"/>
          <a:chExt cx="0" cy="0"/>
        </a:xfrm>
      </p:grpSpPr>
      <p:sp>
        <p:nvSpPr>
          <p:cNvPr id="2942" name="Google Shape;2942;g30cf6a1bfdd_0_3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43" name="Google Shape;2943;g30cf6a1bfdd_0_3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4" name="Shape 2954"/>
        <p:cNvGrpSpPr/>
        <p:nvPr/>
      </p:nvGrpSpPr>
      <p:grpSpPr>
        <a:xfrm>
          <a:off x="0" y="0"/>
          <a:ext cx="0" cy="0"/>
          <a:chOff x="0" y="0"/>
          <a:chExt cx="0" cy="0"/>
        </a:xfrm>
      </p:grpSpPr>
      <p:sp>
        <p:nvSpPr>
          <p:cNvPr id="2955" name="Google Shape;2955;g30cf6a1bfdd_0_3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56" name="Google Shape;2956;g30cf6a1bfdd_0_3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6" name="Shape 2966"/>
        <p:cNvGrpSpPr/>
        <p:nvPr/>
      </p:nvGrpSpPr>
      <p:grpSpPr>
        <a:xfrm>
          <a:off x="0" y="0"/>
          <a:ext cx="0" cy="0"/>
          <a:chOff x="0" y="0"/>
          <a:chExt cx="0" cy="0"/>
        </a:xfrm>
      </p:grpSpPr>
      <p:sp>
        <p:nvSpPr>
          <p:cNvPr id="2967" name="Google Shape;2967;g30cf6a1bfdd_0_4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68" name="Google Shape;2968;g30cf6a1bfdd_0_4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0" name="Shape 2980"/>
        <p:cNvGrpSpPr/>
        <p:nvPr/>
      </p:nvGrpSpPr>
      <p:grpSpPr>
        <a:xfrm>
          <a:off x="0" y="0"/>
          <a:ext cx="0" cy="0"/>
          <a:chOff x="0" y="0"/>
          <a:chExt cx="0" cy="0"/>
        </a:xfrm>
      </p:grpSpPr>
      <p:sp>
        <p:nvSpPr>
          <p:cNvPr id="2981" name="Google Shape;2981;g30cf6a1bfdd_0_4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82" name="Google Shape;2982;g30cf6a1bfdd_0_4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3" name="Shape 2993"/>
        <p:cNvGrpSpPr/>
        <p:nvPr/>
      </p:nvGrpSpPr>
      <p:grpSpPr>
        <a:xfrm>
          <a:off x="0" y="0"/>
          <a:ext cx="0" cy="0"/>
          <a:chOff x="0" y="0"/>
          <a:chExt cx="0" cy="0"/>
        </a:xfrm>
      </p:grpSpPr>
      <p:sp>
        <p:nvSpPr>
          <p:cNvPr id="2994" name="Google Shape;2994;g30cf6a1bfdd_0_4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95" name="Google Shape;2995;g30cf6a1bfdd_0_4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6" name="Shape 3006"/>
        <p:cNvGrpSpPr/>
        <p:nvPr/>
      </p:nvGrpSpPr>
      <p:grpSpPr>
        <a:xfrm>
          <a:off x="0" y="0"/>
          <a:ext cx="0" cy="0"/>
          <a:chOff x="0" y="0"/>
          <a:chExt cx="0" cy="0"/>
        </a:xfrm>
      </p:grpSpPr>
      <p:sp>
        <p:nvSpPr>
          <p:cNvPr id="3007" name="Google Shape;3007;g30cf6a1bfdd_0_4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08" name="Google Shape;3008;g30cf6a1bfdd_0_4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9" name="Shape 3019"/>
        <p:cNvGrpSpPr/>
        <p:nvPr/>
      </p:nvGrpSpPr>
      <p:grpSpPr>
        <a:xfrm>
          <a:off x="0" y="0"/>
          <a:ext cx="0" cy="0"/>
          <a:chOff x="0" y="0"/>
          <a:chExt cx="0" cy="0"/>
        </a:xfrm>
      </p:grpSpPr>
      <p:sp>
        <p:nvSpPr>
          <p:cNvPr id="3020" name="Google Shape;3020;g30cf6a1bfdd_0_4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21" name="Google Shape;3021;g30cf6a1bfdd_0_4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2" name="Shape 3032"/>
        <p:cNvGrpSpPr/>
        <p:nvPr/>
      </p:nvGrpSpPr>
      <p:grpSpPr>
        <a:xfrm>
          <a:off x="0" y="0"/>
          <a:ext cx="0" cy="0"/>
          <a:chOff x="0" y="0"/>
          <a:chExt cx="0" cy="0"/>
        </a:xfrm>
      </p:grpSpPr>
      <p:sp>
        <p:nvSpPr>
          <p:cNvPr id="3033" name="Google Shape;3033;g30cf6a1bfdd_0_4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34" name="Google Shape;3034;g30cf6a1bfdd_0_4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6" name="Shape 3046"/>
        <p:cNvGrpSpPr/>
        <p:nvPr/>
      </p:nvGrpSpPr>
      <p:grpSpPr>
        <a:xfrm>
          <a:off x="0" y="0"/>
          <a:ext cx="0" cy="0"/>
          <a:chOff x="0" y="0"/>
          <a:chExt cx="0" cy="0"/>
        </a:xfrm>
      </p:grpSpPr>
      <p:sp>
        <p:nvSpPr>
          <p:cNvPr id="3047" name="Google Shape;3047;g30cf6a1bfdd_0_5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48" name="Google Shape;3048;g30cf6a1bfdd_0_5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9" name="Shape 3059"/>
        <p:cNvGrpSpPr/>
        <p:nvPr/>
      </p:nvGrpSpPr>
      <p:grpSpPr>
        <a:xfrm>
          <a:off x="0" y="0"/>
          <a:ext cx="0" cy="0"/>
          <a:chOff x="0" y="0"/>
          <a:chExt cx="0" cy="0"/>
        </a:xfrm>
      </p:grpSpPr>
      <p:sp>
        <p:nvSpPr>
          <p:cNvPr id="3060" name="Google Shape;3060;g30cf6a1bfdd_0_5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61" name="Google Shape;3061;g30cf6a1bfdd_0_5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3" name="Shape 3073"/>
        <p:cNvGrpSpPr/>
        <p:nvPr/>
      </p:nvGrpSpPr>
      <p:grpSpPr>
        <a:xfrm>
          <a:off x="0" y="0"/>
          <a:ext cx="0" cy="0"/>
          <a:chOff x="0" y="0"/>
          <a:chExt cx="0" cy="0"/>
        </a:xfrm>
      </p:grpSpPr>
      <p:sp>
        <p:nvSpPr>
          <p:cNvPr id="3074" name="Google Shape;3074;g30a1a6d01d3_0_1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75" name="Google Shape;3075;g30a1a6d01d3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5" name="Shape 3085"/>
        <p:cNvGrpSpPr/>
        <p:nvPr/>
      </p:nvGrpSpPr>
      <p:grpSpPr>
        <a:xfrm>
          <a:off x="0" y="0"/>
          <a:ext cx="0" cy="0"/>
          <a:chOff x="0" y="0"/>
          <a:chExt cx="0" cy="0"/>
        </a:xfrm>
      </p:grpSpPr>
      <p:sp>
        <p:nvSpPr>
          <p:cNvPr id="3086" name="Google Shape;3086;g30a1a6d01d3_0_1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87" name="Google Shape;3087;g30a1a6d01d3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7" name="Shape 3097"/>
        <p:cNvGrpSpPr/>
        <p:nvPr/>
      </p:nvGrpSpPr>
      <p:grpSpPr>
        <a:xfrm>
          <a:off x="0" y="0"/>
          <a:ext cx="0" cy="0"/>
          <a:chOff x="0" y="0"/>
          <a:chExt cx="0" cy="0"/>
        </a:xfrm>
      </p:grpSpPr>
      <p:sp>
        <p:nvSpPr>
          <p:cNvPr id="3098" name="Google Shape;3098;g2fc652a2f9e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99" name="Google Shape;3099;g2fc652a2f9e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1" name="Shape 3111"/>
        <p:cNvGrpSpPr/>
        <p:nvPr/>
      </p:nvGrpSpPr>
      <p:grpSpPr>
        <a:xfrm>
          <a:off x="0" y="0"/>
          <a:ext cx="0" cy="0"/>
          <a:chOff x="0" y="0"/>
          <a:chExt cx="0" cy="0"/>
        </a:xfrm>
      </p:grpSpPr>
      <p:sp>
        <p:nvSpPr>
          <p:cNvPr id="3112" name="Google Shape;3112;g30c94051d4b_0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13" name="Google Shape;3113;g30c94051d4b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5" name="Shape 3125"/>
        <p:cNvGrpSpPr/>
        <p:nvPr/>
      </p:nvGrpSpPr>
      <p:grpSpPr>
        <a:xfrm>
          <a:off x="0" y="0"/>
          <a:ext cx="0" cy="0"/>
          <a:chOff x="0" y="0"/>
          <a:chExt cx="0" cy="0"/>
        </a:xfrm>
      </p:grpSpPr>
      <p:sp>
        <p:nvSpPr>
          <p:cNvPr id="3126" name="Google Shape;3126;g30c94051d4b_0_1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27" name="Google Shape;3127;g30c94051d4b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1" name="Shape 3141"/>
        <p:cNvGrpSpPr/>
        <p:nvPr/>
      </p:nvGrpSpPr>
      <p:grpSpPr>
        <a:xfrm>
          <a:off x="0" y="0"/>
          <a:ext cx="0" cy="0"/>
          <a:chOff x="0" y="0"/>
          <a:chExt cx="0" cy="0"/>
        </a:xfrm>
      </p:grpSpPr>
      <p:sp>
        <p:nvSpPr>
          <p:cNvPr id="3142" name="Google Shape;3142;g2fc652a2f9e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43" name="Google Shape;3143;g2fc652a2f9e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3" name="Shape 3153"/>
        <p:cNvGrpSpPr/>
        <p:nvPr/>
      </p:nvGrpSpPr>
      <p:grpSpPr>
        <a:xfrm>
          <a:off x="0" y="0"/>
          <a:ext cx="0" cy="0"/>
          <a:chOff x="0" y="0"/>
          <a:chExt cx="0" cy="0"/>
        </a:xfrm>
      </p:grpSpPr>
      <p:sp>
        <p:nvSpPr>
          <p:cNvPr id="3154" name="Google Shape;3154;g2fc652a2f9e_0_1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55" name="Google Shape;3155;g2fc652a2f9e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5" name="Shape 3165"/>
        <p:cNvGrpSpPr/>
        <p:nvPr/>
      </p:nvGrpSpPr>
      <p:grpSpPr>
        <a:xfrm>
          <a:off x="0" y="0"/>
          <a:ext cx="0" cy="0"/>
          <a:chOff x="0" y="0"/>
          <a:chExt cx="0" cy="0"/>
        </a:xfrm>
      </p:grpSpPr>
      <p:sp>
        <p:nvSpPr>
          <p:cNvPr id="3166" name="Google Shape;3166;g2fc652a2f9e_0_1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67" name="Google Shape;3167;g2fc652a2f9e_0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9" name="Shape 3179"/>
        <p:cNvGrpSpPr/>
        <p:nvPr/>
      </p:nvGrpSpPr>
      <p:grpSpPr>
        <a:xfrm>
          <a:off x="0" y="0"/>
          <a:ext cx="0" cy="0"/>
          <a:chOff x="0" y="0"/>
          <a:chExt cx="0" cy="0"/>
        </a:xfrm>
      </p:grpSpPr>
      <p:sp>
        <p:nvSpPr>
          <p:cNvPr id="3180" name="Google Shape;3180;g30c94051d4b_0_1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81" name="Google Shape;3181;g30c94051d4b_0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3" name="Shape 3193"/>
        <p:cNvGrpSpPr/>
        <p:nvPr/>
      </p:nvGrpSpPr>
      <p:grpSpPr>
        <a:xfrm>
          <a:off x="0" y="0"/>
          <a:ext cx="0" cy="0"/>
          <a:chOff x="0" y="0"/>
          <a:chExt cx="0" cy="0"/>
        </a:xfrm>
      </p:grpSpPr>
      <p:sp>
        <p:nvSpPr>
          <p:cNvPr id="3194" name="Google Shape;3194;g30c94051d4b_0_1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95" name="Google Shape;3195;g30c94051d4b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7" name="Shape 3207"/>
        <p:cNvGrpSpPr/>
        <p:nvPr/>
      </p:nvGrpSpPr>
      <p:grpSpPr>
        <a:xfrm>
          <a:off x="0" y="0"/>
          <a:ext cx="0" cy="0"/>
          <a:chOff x="0" y="0"/>
          <a:chExt cx="0" cy="0"/>
        </a:xfrm>
      </p:grpSpPr>
      <p:sp>
        <p:nvSpPr>
          <p:cNvPr id="3208" name="Google Shape;3208;g2fc652a2f9e_0_1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09" name="Google Shape;3209;g2fc652a2f9e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9" name="Shape 3219"/>
        <p:cNvGrpSpPr/>
        <p:nvPr/>
      </p:nvGrpSpPr>
      <p:grpSpPr>
        <a:xfrm>
          <a:off x="0" y="0"/>
          <a:ext cx="0" cy="0"/>
          <a:chOff x="0" y="0"/>
          <a:chExt cx="0" cy="0"/>
        </a:xfrm>
      </p:grpSpPr>
      <p:sp>
        <p:nvSpPr>
          <p:cNvPr id="3220" name="Google Shape;3220;g309ba08c72f_0_3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21" name="Google Shape;3221;g309ba08c72f_0_3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1" name="Shape 3231"/>
        <p:cNvGrpSpPr/>
        <p:nvPr/>
      </p:nvGrpSpPr>
      <p:grpSpPr>
        <a:xfrm>
          <a:off x="0" y="0"/>
          <a:ext cx="0" cy="0"/>
          <a:chOff x="0" y="0"/>
          <a:chExt cx="0" cy="0"/>
        </a:xfrm>
      </p:grpSpPr>
      <p:sp>
        <p:nvSpPr>
          <p:cNvPr id="3232" name="Google Shape;3232;g2fc652a2f9e_0_1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33" name="Google Shape;3233;g2fc652a2f9e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5" name="Shape 3245"/>
        <p:cNvGrpSpPr/>
        <p:nvPr/>
      </p:nvGrpSpPr>
      <p:grpSpPr>
        <a:xfrm>
          <a:off x="0" y="0"/>
          <a:ext cx="0" cy="0"/>
          <a:chOff x="0" y="0"/>
          <a:chExt cx="0" cy="0"/>
        </a:xfrm>
      </p:grpSpPr>
      <p:sp>
        <p:nvSpPr>
          <p:cNvPr id="3246" name="Google Shape;3246;g2fc652a2f9e_0_1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47" name="Google Shape;3247;g2fc652a2f9e_0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9" name="Shape 3259"/>
        <p:cNvGrpSpPr/>
        <p:nvPr/>
      </p:nvGrpSpPr>
      <p:grpSpPr>
        <a:xfrm>
          <a:off x="0" y="0"/>
          <a:ext cx="0" cy="0"/>
          <a:chOff x="0" y="0"/>
          <a:chExt cx="0" cy="0"/>
        </a:xfrm>
      </p:grpSpPr>
      <p:sp>
        <p:nvSpPr>
          <p:cNvPr id="3260" name="Google Shape;3260;g2fc652a2f9e_0_1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61" name="Google Shape;3261;g2fc652a2f9e_0_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3" name="Shape 3273"/>
        <p:cNvGrpSpPr/>
        <p:nvPr/>
      </p:nvGrpSpPr>
      <p:grpSpPr>
        <a:xfrm>
          <a:off x="0" y="0"/>
          <a:ext cx="0" cy="0"/>
          <a:chOff x="0" y="0"/>
          <a:chExt cx="0" cy="0"/>
        </a:xfrm>
      </p:grpSpPr>
      <p:sp>
        <p:nvSpPr>
          <p:cNvPr id="3274" name="Google Shape;3274;g2fc652a2f9e_0_1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75" name="Google Shape;3275;g2fc652a2f9e_0_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8" name="Shape 3288"/>
        <p:cNvGrpSpPr/>
        <p:nvPr/>
      </p:nvGrpSpPr>
      <p:grpSpPr>
        <a:xfrm>
          <a:off x="0" y="0"/>
          <a:ext cx="0" cy="0"/>
          <a:chOff x="0" y="0"/>
          <a:chExt cx="0" cy="0"/>
        </a:xfrm>
      </p:grpSpPr>
      <p:sp>
        <p:nvSpPr>
          <p:cNvPr id="3289" name="Google Shape;3289;g309ba08c72f_0_3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90" name="Google Shape;3290;g309ba08c72f_0_3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0" name="Shape 3300"/>
        <p:cNvGrpSpPr/>
        <p:nvPr/>
      </p:nvGrpSpPr>
      <p:grpSpPr>
        <a:xfrm>
          <a:off x="0" y="0"/>
          <a:ext cx="0" cy="0"/>
          <a:chOff x="0" y="0"/>
          <a:chExt cx="0" cy="0"/>
        </a:xfrm>
      </p:grpSpPr>
      <p:sp>
        <p:nvSpPr>
          <p:cNvPr id="3301" name="Google Shape;3301;g2fc652a2f9e_0_2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02" name="Google Shape;3302;g2fc652a2f9e_0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2" name="Shape 3312"/>
        <p:cNvGrpSpPr/>
        <p:nvPr/>
      </p:nvGrpSpPr>
      <p:grpSpPr>
        <a:xfrm>
          <a:off x="0" y="0"/>
          <a:ext cx="0" cy="0"/>
          <a:chOff x="0" y="0"/>
          <a:chExt cx="0" cy="0"/>
        </a:xfrm>
      </p:grpSpPr>
      <p:sp>
        <p:nvSpPr>
          <p:cNvPr id="3313" name="Google Shape;3313;g2fc652a2f9e_0_2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14" name="Google Shape;3314;g2fc652a2f9e_0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4" name="Shape 3324"/>
        <p:cNvGrpSpPr/>
        <p:nvPr/>
      </p:nvGrpSpPr>
      <p:grpSpPr>
        <a:xfrm>
          <a:off x="0" y="0"/>
          <a:ext cx="0" cy="0"/>
          <a:chOff x="0" y="0"/>
          <a:chExt cx="0" cy="0"/>
        </a:xfrm>
      </p:grpSpPr>
      <p:sp>
        <p:nvSpPr>
          <p:cNvPr id="3325" name="Google Shape;3325;g30c94051d4b_0_1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26" name="Google Shape;3326;g30c94051d4b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6" name="Shape 3336"/>
        <p:cNvGrpSpPr/>
        <p:nvPr/>
      </p:nvGrpSpPr>
      <p:grpSpPr>
        <a:xfrm>
          <a:off x="0" y="0"/>
          <a:ext cx="0" cy="0"/>
          <a:chOff x="0" y="0"/>
          <a:chExt cx="0" cy="0"/>
        </a:xfrm>
      </p:grpSpPr>
      <p:sp>
        <p:nvSpPr>
          <p:cNvPr id="3337" name="Google Shape;3337;g30c94051d4b_0_18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38" name="Google Shape;3338;g30c94051d4b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9" name="Shape 3349"/>
        <p:cNvGrpSpPr/>
        <p:nvPr/>
      </p:nvGrpSpPr>
      <p:grpSpPr>
        <a:xfrm>
          <a:off x="0" y="0"/>
          <a:ext cx="0" cy="0"/>
          <a:chOff x="0" y="0"/>
          <a:chExt cx="0" cy="0"/>
        </a:xfrm>
      </p:grpSpPr>
      <p:sp>
        <p:nvSpPr>
          <p:cNvPr id="3350" name="Google Shape;3350;g30c94051d4b_0_2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51" name="Google Shape;3351;g30c94051d4b_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1" name="Shape 3361"/>
        <p:cNvGrpSpPr/>
        <p:nvPr/>
      </p:nvGrpSpPr>
      <p:grpSpPr>
        <a:xfrm>
          <a:off x="0" y="0"/>
          <a:ext cx="0" cy="0"/>
          <a:chOff x="0" y="0"/>
          <a:chExt cx="0" cy="0"/>
        </a:xfrm>
      </p:grpSpPr>
      <p:sp>
        <p:nvSpPr>
          <p:cNvPr id="3362" name="Google Shape;3362;g2fc652a2f9e_0_2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63" name="Google Shape;3363;g2fc652a2f9e_0_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3" name="Shape 3373"/>
        <p:cNvGrpSpPr/>
        <p:nvPr/>
      </p:nvGrpSpPr>
      <p:grpSpPr>
        <a:xfrm>
          <a:off x="0" y="0"/>
          <a:ext cx="0" cy="0"/>
          <a:chOff x="0" y="0"/>
          <a:chExt cx="0" cy="0"/>
        </a:xfrm>
      </p:grpSpPr>
      <p:sp>
        <p:nvSpPr>
          <p:cNvPr id="3374" name="Google Shape;3374;g309ba08c72f_0_3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75" name="Google Shape;3375;g309ba08c72f_0_3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5" name="Shape 3385"/>
        <p:cNvGrpSpPr/>
        <p:nvPr/>
      </p:nvGrpSpPr>
      <p:grpSpPr>
        <a:xfrm>
          <a:off x="0" y="0"/>
          <a:ext cx="0" cy="0"/>
          <a:chOff x="0" y="0"/>
          <a:chExt cx="0" cy="0"/>
        </a:xfrm>
      </p:grpSpPr>
      <p:sp>
        <p:nvSpPr>
          <p:cNvPr id="3386" name="Google Shape;3386;g309ba08c72f_0_3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87" name="Google Shape;3387;g309ba08c72f_0_3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7" name="Shape 3397"/>
        <p:cNvGrpSpPr/>
        <p:nvPr/>
      </p:nvGrpSpPr>
      <p:grpSpPr>
        <a:xfrm>
          <a:off x="0" y="0"/>
          <a:ext cx="0" cy="0"/>
          <a:chOff x="0" y="0"/>
          <a:chExt cx="0" cy="0"/>
        </a:xfrm>
      </p:grpSpPr>
      <p:sp>
        <p:nvSpPr>
          <p:cNvPr id="3398" name="Google Shape;3398;g2fc652a2f9e_0_2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99" name="Google Shape;3399;g2fc652a2f9e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9" name="Shape 3409"/>
        <p:cNvGrpSpPr/>
        <p:nvPr/>
      </p:nvGrpSpPr>
      <p:grpSpPr>
        <a:xfrm>
          <a:off x="0" y="0"/>
          <a:ext cx="0" cy="0"/>
          <a:chOff x="0" y="0"/>
          <a:chExt cx="0" cy="0"/>
        </a:xfrm>
      </p:grpSpPr>
      <p:sp>
        <p:nvSpPr>
          <p:cNvPr id="3410" name="Google Shape;3410;g2fc652a2f9e_0_2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11" name="Google Shape;3411;g2fc652a2f9e_0_2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1" name="Shape 3421"/>
        <p:cNvGrpSpPr/>
        <p:nvPr/>
      </p:nvGrpSpPr>
      <p:grpSpPr>
        <a:xfrm>
          <a:off x="0" y="0"/>
          <a:ext cx="0" cy="0"/>
          <a:chOff x="0" y="0"/>
          <a:chExt cx="0" cy="0"/>
        </a:xfrm>
      </p:grpSpPr>
      <p:sp>
        <p:nvSpPr>
          <p:cNvPr id="3422" name="Google Shape;3422;g2fc652a2f9e_0_3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23" name="Google Shape;3423;g2fc652a2f9e_0_3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3" name="Shape 3433"/>
        <p:cNvGrpSpPr/>
        <p:nvPr/>
      </p:nvGrpSpPr>
      <p:grpSpPr>
        <a:xfrm>
          <a:off x="0" y="0"/>
          <a:ext cx="0" cy="0"/>
          <a:chOff x="0" y="0"/>
          <a:chExt cx="0" cy="0"/>
        </a:xfrm>
      </p:grpSpPr>
      <p:sp>
        <p:nvSpPr>
          <p:cNvPr id="3434" name="Google Shape;3434;g2fc652a2f9e_0_3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35" name="Google Shape;3435;g2fc652a2f9e_0_3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5" name="Shape 3445"/>
        <p:cNvGrpSpPr/>
        <p:nvPr/>
      </p:nvGrpSpPr>
      <p:grpSpPr>
        <a:xfrm>
          <a:off x="0" y="0"/>
          <a:ext cx="0" cy="0"/>
          <a:chOff x="0" y="0"/>
          <a:chExt cx="0" cy="0"/>
        </a:xfrm>
      </p:grpSpPr>
      <p:sp>
        <p:nvSpPr>
          <p:cNvPr id="3446" name="Google Shape;3446;g3099c4cccff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47" name="Google Shape;3447;g3099c4cccff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6" name="Shape 3486"/>
        <p:cNvGrpSpPr/>
        <p:nvPr/>
      </p:nvGrpSpPr>
      <p:grpSpPr>
        <a:xfrm>
          <a:off x="0" y="0"/>
          <a:ext cx="0" cy="0"/>
          <a:chOff x="0" y="0"/>
          <a:chExt cx="0" cy="0"/>
        </a:xfrm>
      </p:grpSpPr>
      <p:sp>
        <p:nvSpPr>
          <p:cNvPr id="3487" name="Google Shape;3487;g2ff2e3f88f6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88" name="Google Shape;3488;g2ff2e3f88f6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8" name="Shape 3498"/>
        <p:cNvGrpSpPr/>
        <p:nvPr/>
      </p:nvGrpSpPr>
      <p:grpSpPr>
        <a:xfrm>
          <a:off x="0" y="0"/>
          <a:ext cx="0" cy="0"/>
          <a:chOff x="0" y="0"/>
          <a:chExt cx="0" cy="0"/>
        </a:xfrm>
      </p:grpSpPr>
      <p:sp>
        <p:nvSpPr>
          <p:cNvPr id="3499" name="Google Shape;3499;g309ba08c72f_0_3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00" name="Google Shape;3500;g309ba08c72f_0_3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0" name="Shape 3510"/>
        <p:cNvGrpSpPr/>
        <p:nvPr/>
      </p:nvGrpSpPr>
      <p:grpSpPr>
        <a:xfrm>
          <a:off x="0" y="0"/>
          <a:ext cx="0" cy="0"/>
          <a:chOff x="0" y="0"/>
          <a:chExt cx="0" cy="0"/>
        </a:xfrm>
      </p:grpSpPr>
      <p:sp>
        <p:nvSpPr>
          <p:cNvPr id="3511" name="Google Shape;3511;g309ba08c72f_0_4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12" name="Google Shape;3512;g309ba08c72f_0_4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4" name="Shape 3524"/>
        <p:cNvGrpSpPr/>
        <p:nvPr/>
      </p:nvGrpSpPr>
      <p:grpSpPr>
        <a:xfrm>
          <a:off x="0" y="0"/>
          <a:ext cx="0" cy="0"/>
          <a:chOff x="0" y="0"/>
          <a:chExt cx="0" cy="0"/>
        </a:xfrm>
      </p:grpSpPr>
      <p:sp>
        <p:nvSpPr>
          <p:cNvPr id="3525" name="Google Shape;3525;g30cf6a1bfdd_0_5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26" name="Google Shape;3526;g30cf6a1bfdd_0_5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8" name="Shape 3538"/>
        <p:cNvGrpSpPr/>
        <p:nvPr/>
      </p:nvGrpSpPr>
      <p:grpSpPr>
        <a:xfrm>
          <a:off x="0" y="0"/>
          <a:ext cx="0" cy="0"/>
          <a:chOff x="0" y="0"/>
          <a:chExt cx="0" cy="0"/>
        </a:xfrm>
      </p:grpSpPr>
      <p:sp>
        <p:nvSpPr>
          <p:cNvPr id="3539" name="Google Shape;3539;g30cf6a1bfdd_0_5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40" name="Google Shape;3540;g30cf6a1bfdd_0_5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3" name="Shape 3553"/>
        <p:cNvGrpSpPr/>
        <p:nvPr/>
      </p:nvGrpSpPr>
      <p:grpSpPr>
        <a:xfrm>
          <a:off x="0" y="0"/>
          <a:ext cx="0" cy="0"/>
          <a:chOff x="0" y="0"/>
          <a:chExt cx="0" cy="0"/>
        </a:xfrm>
      </p:grpSpPr>
      <p:sp>
        <p:nvSpPr>
          <p:cNvPr id="3554" name="Google Shape;3554;g30c63584a3a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55" name="Google Shape;3555;g30c63584a3a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8" name="Shape 3568"/>
        <p:cNvGrpSpPr/>
        <p:nvPr/>
      </p:nvGrpSpPr>
      <p:grpSpPr>
        <a:xfrm>
          <a:off x="0" y="0"/>
          <a:ext cx="0" cy="0"/>
          <a:chOff x="0" y="0"/>
          <a:chExt cx="0" cy="0"/>
        </a:xfrm>
      </p:grpSpPr>
      <p:sp>
        <p:nvSpPr>
          <p:cNvPr id="3569" name="Google Shape;3569;g30c63584a3a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70" name="Google Shape;3570;g30c63584a3a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7" name="Shape 3587"/>
        <p:cNvGrpSpPr/>
        <p:nvPr/>
      </p:nvGrpSpPr>
      <p:grpSpPr>
        <a:xfrm>
          <a:off x="0" y="0"/>
          <a:ext cx="0" cy="0"/>
          <a:chOff x="0" y="0"/>
          <a:chExt cx="0" cy="0"/>
        </a:xfrm>
      </p:grpSpPr>
      <p:sp>
        <p:nvSpPr>
          <p:cNvPr id="3588" name="Google Shape;3588;g30cf6a1bfdd_0_6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89" name="Google Shape;3589;g30cf6a1bfdd_0_6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0" name="Shape 3600"/>
        <p:cNvGrpSpPr/>
        <p:nvPr/>
      </p:nvGrpSpPr>
      <p:grpSpPr>
        <a:xfrm>
          <a:off x="0" y="0"/>
          <a:ext cx="0" cy="0"/>
          <a:chOff x="0" y="0"/>
          <a:chExt cx="0" cy="0"/>
        </a:xfrm>
      </p:grpSpPr>
      <p:sp>
        <p:nvSpPr>
          <p:cNvPr id="3601" name="Google Shape;3601;g30cf6a1bfdd_0_6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02" name="Google Shape;3602;g30cf6a1bfdd_0_6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3" name="Shape 3613"/>
        <p:cNvGrpSpPr/>
        <p:nvPr/>
      </p:nvGrpSpPr>
      <p:grpSpPr>
        <a:xfrm>
          <a:off x="0" y="0"/>
          <a:ext cx="0" cy="0"/>
          <a:chOff x="0" y="0"/>
          <a:chExt cx="0" cy="0"/>
        </a:xfrm>
      </p:grpSpPr>
      <p:sp>
        <p:nvSpPr>
          <p:cNvPr id="3614" name="Google Shape;3614;g30cf6a1bfdd_0_6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15" name="Google Shape;3615;g30cf6a1bfdd_0_6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6" name="Shape 3626"/>
        <p:cNvGrpSpPr/>
        <p:nvPr/>
      </p:nvGrpSpPr>
      <p:grpSpPr>
        <a:xfrm>
          <a:off x="0" y="0"/>
          <a:ext cx="0" cy="0"/>
          <a:chOff x="0" y="0"/>
          <a:chExt cx="0" cy="0"/>
        </a:xfrm>
      </p:grpSpPr>
      <p:sp>
        <p:nvSpPr>
          <p:cNvPr id="3627" name="Google Shape;3627;g30c63584a3a_0_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28" name="Google Shape;3628;g30c63584a3a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8" name="Shape 3638"/>
        <p:cNvGrpSpPr/>
        <p:nvPr/>
      </p:nvGrpSpPr>
      <p:grpSpPr>
        <a:xfrm>
          <a:off x="0" y="0"/>
          <a:ext cx="0" cy="0"/>
          <a:chOff x="0" y="0"/>
          <a:chExt cx="0" cy="0"/>
        </a:xfrm>
      </p:grpSpPr>
      <p:sp>
        <p:nvSpPr>
          <p:cNvPr id="3639" name="Google Shape;3639;g30c63584a3a_0_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40" name="Google Shape;3640;g30c63584a3a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2" name="Shape 3652"/>
        <p:cNvGrpSpPr/>
        <p:nvPr/>
      </p:nvGrpSpPr>
      <p:grpSpPr>
        <a:xfrm>
          <a:off x="0" y="0"/>
          <a:ext cx="0" cy="0"/>
          <a:chOff x="0" y="0"/>
          <a:chExt cx="0" cy="0"/>
        </a:xfrm>
      </p:grpSpPr>
      <p:sp>
        <p:nvSpPr>
          <p:cNvPr id="3653" name="Google Shape;3653;g30c94051d4b_0_2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54" name="Google Shape;3654;g30c94051d4b_0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6" name="Shape 3666"/>
        <p:cNvGrpSpPr/>
        <p:nvPr/>
      </p:nvGrpSpPr>
      <p:grpSpPr>
        <a:xfrm>
          <a:off x="0" y="0"/>
          <a:ext cx="0" cy="0"/>
          <a:chOff x="0" y="0"/>
          <a:chExt cx="0" cy="0"/>
        </a:xfrm>
      </p:grpSpPr>
      <p:sp>
        <p:nvSpPr>
          <p:cNvPr id="3667" name="Google Shape;3667;g30cf6a1bfdd_0_6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68" name="Google Shape;3668;g30cf6a1bfdd_0_6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0" name="Shape 3680"/>
        <p:cNvGrpSpPr/>
        <p:nvPr/>
      </p:nvGrpSpPr>
      <p:grpSpPr>
        <a:xfrm>
          <a:off x="0" y="0"/>
          <a:ext cx="0" cy="0"/>
          <a:chOff x="0" y="0"/>
          <a:chExt cx="0" cy="0"/>
        </a:xfrm>
      </p:grpSpPr>
      <p:sp>
        <p:nvSpPr>
          <p:cNvPr id="3681" name="Google Shape;3681;g30c63584a3a_0_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82" name="Google Shape;3682;g30c63584a3a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2" name="Shape 3692"/>
        <p:cNvGrpSpPr/>
        <p:nvPr/>
      </p:nvGrpSpPr>
      <p:grpSpPr>
        <a:xfrm>
          <a:off x="0" y="0"/>
          <a:ext cx="0" cy="0"/>
          <a:chOff x="0" y="0"/>
          <a:chExt cx="0" cy="0"/>
        </a:xfrm>
      </p:grpSpPr>
      <p:sp>
        <p:nvSpPr>
          <p:cNvPr id="3693" name="Google Shape;3693;g309ba08c72f_0_4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94" name="Google Shape;3694;g309ba08c72f_0_4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4" name="Shape 3704"/>
        <p:cNvGrpSpPr/>
        <p:nvPr/>
      </p:nvGrpSpPr>
      <p:grpSpPr>
        <a:xfrm>
          <a:off x="0" y="0"/>
          <a:ext cx="0" cy="0"/>
          <a:chOff x="0" y="0"/>
          <a:chExt cx="0" cy="0"/>
        </a:xfrm>
      </p:grpSpPr>
      <p:sp>
        <p:nvSpPr>
          <p:cNvPr id="3705" name="Google Shape;3705;g30cf6a1bfdd_0_6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06" name="Google Shape;3706;g30cf6a1bfdd_0_6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8" name="Shape 3718"/>
        <p:cNvGrpSpPr/>
        <p:nvPr/>
      </p:nvGrpSpPr>
      <p:grpSpPr>
        <a:xfrm>
          <a:off x="0" y="0"/>
          <a:ext cx="0" cy="0"/>
          <a:chOff x="0" y="0"/>
          <a:chExt cx="0" cy="0"/>
        </a:xfrm>
      </p:grpSpPr>
      <p:sp>
        <p:nvSpPr>
          <p:cNvPr id="3719" name="Google Shape;3719;g30c94051d4b_0_2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20" name="Google Shape;3720;g30c94051d4b_0_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2" name="Shape 3732"/>
        <p:cNvGrpSpPr/>
        <p:nvPr/>
      </p:nvGrpSpPr>
      <p:grpSpPr>
        <a:xfrm>
          <a:off x="0" y="0"/>
          <a:ext cx="0" cy="0"/>
          <a:chOff x="0" y="0"/>
          <a:chExt cx="0" cy="0"/>
        </a:xfrm>
      </p:grpSpPr>
      <p:sp>
        <p:nvSpPr>
          <p:cNvPr id="3733" name="Google Shape;3733;g309ba08c72f_0_4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34" name="Google Shape;3734;g309ba08c72f_0_4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6" name="Shape 3746"/>
        <p:cNvGrpSpPr/>
        <p:nvPr/>
      </p:nvGrpSpPr>
      <p:grpSpPr>
        <a:xfrm>
          <a:off x="0" y="0"/>
          <a:ext cx="0" cy="0"/>
          <a:chOff x="0" y="0"/>
          <a:chExt cx="0" cy="0"/>
        </a:xfrm>
      </p:grpSpPr>
      <p:sp>
        <p:nvSpPr>
          <p:cNvPr id="3747" name="Google Shape;3747;g30c94051d4b_0_2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48" name="Google Shape;3748;g30c94051d4b_0_2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9" name="Shape 3759"/>
        <p:cNvGrpSpPr/>
        <p:nvPr/>
      </p:nvGrpSpPr>
      <p:grpSpPr>
        <a:xfrm>
          <a:off x="0" y="0"/>
          <a:ext cx="0" cy="0"/>
          <a:chOff x="0" y="0"/>
          <a:chExt cx="0" cy="0"/>
        </a:xfrm>
      </p:grpSpPr>
      <p:sp>
        <p:nvSpPr>
          <p:cNvPr id="3760" name="Google Shape;3760;g30c94051d4b_0_3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61" name="Google Shape;3761;g30c94051d4b_0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2" name="Shape 3772"/>
        <p:cNvGrpSpPr/>
        <p:nvPr/>
      </p:nvGrpSpPr>
      <p:grpSpPr>
        <a:xfrm>
          <a:off x="0" y="0"/>
          <a:ext cx="0" cy="0"/>
          <a:chOff x="0" y="0"/>
          <a:chExt cx="0" cy="0"/>
        </a:xfrm>
      </p:grpSpPr>
      <p:sp>
        <p:nvSpPr>
          <p:cNvPr id="3773" name="Google Shape;3773;g30c94051d4b_0_3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74" name="Google Shape;3774;g30c94051d4b_0_3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5" name="Shape 3785"/>
        <p:cNvGrpSpPr/>
        <p:nvPr/>
      </p:nvGrpSpPr>
      <p:grpSpPr>
        <a:xfrm>
          <a:off x="0" y="0"/>
          <a:ext cx="0" cy="0"/>
          <a:chOff x="0" y="0"/>
          <a:chExt cx="0" cy="0"/>
        </a:xfrm>
      </p:grpSpPr>
      <p:sp>
        <p:nvSpPr>
          <p:cNvPr id="3786" name="Google Shape;3786;g30c94051d4b_0_3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87" name="Google Shape;3787;g30c94051d4b_0_3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7" name="Shape 3797"/>
        <p:cNvGrpSpPr/>
        <p:nvPr/>
      </p:nvGrpSpPr>
      <p:grpSpPr>
        <a:xfrm>
          <a:off x="0" y="0"/>
          <a:ext cx="0" cy="0"/>
          <a:chOff x="0" y="0"/>
          <a:chExt cx="0" cy="0"/>
        </a:xfrm>
      </p:grpSpPr>
      <p:sp>
        <p:nvSpPr>
          <p:cNvPr id="3798" name="Google Shape;3798;g30c94051d4b_0_3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99" name="Google Shape;3799;g30c94051d4b_0_3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1" name="Shape 3811"/>
        <p:cNvGrpSpPr/>
        <p:nvPr/>
      </p:nvGrpSpPr>
      <p:grpSpPr>
        <a:xfrm>
          <a:off x="0" y="0"/>
          <a:ext cx="0" cy="0"/>
          <a:chOff x="0" y="0"/>
          <a:chExt cx="0" cy="0"/>
        </a:xfrm>
      </p:grpSpPr>
      <p:sp>
        <p:nvSpPr>
          <p:cNvPr id="3812" name="Google Shape;3812;g30c94051d4b_0_3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13" name="Google Shape;3813;g30c94051d4b_0_3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5" name="Shape 3825"/>
        <p:cNvGrpSpPr/>
        <p:nvPr/>
      </p:nvGrpSpPr>
      <p:grpSpPr>
        <a:xfrm>
          <a:off x="0" y="0"/>
          <a:ext cx="0" cy="0"/>
          <a:chOff x="0" y="0"/>
          <a:chExt cx="0" cy="0"/>
        </a:xfrm>
      </p:grpSpPr>
      <p:sp>
        <p:nvSpPr>
          <p:cNvPr id="3826" name="Google Shape;3826;g30c94051d4b_0_4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27" name="Google Shape;3827;g30c94051d4b_0_4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9" name="Shape 3839"/>
        <p:cNvGrpSpPr/>
        <p:nvPr/>
      </p:nvGrpSpPr>
      <p:grpSpPr>
        <a:xfrm>
          <a:off x="0" y="0"/>
          <a:ext cx="0" cy="0"/>
          <a:chOff x="0" y="0"/>
          <a:chExt cx="0" cy="0"/>
        </a:xfrm>
      </p:grpSpPr>
      <p:sp>
        <p:nvSpPr>
          <p:cNvPr id="3840" name="Google Shape;3840;g30c94051d4b_0_4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41" name="Google Shape;3841;g30c94051d4b_0_4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3" name="Shape 3853"/>
        <p:cNvGrpSpPr/>
        <p:nvPr/>
      </p:nvGrpSpPr>
      <p:grpSpPr>
        <a:xfrm>
          <a:off x="0" y="0"/>
          <a:ext cx="0" cy="0"/>
          <a:chOff x="0" y="0"/>
          <a:chExt cx="0" cy="0"/>
        </a:xfrm>
      </p:grpSpPr>
      <p:sp>
        <p:nvSpPr>
          <p:cNvPr id="3854" name="Google Shape;3854;g30c94051d4b_0_4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55" name="Google Shape;3855;g30c94051d4b_0_4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8" name="Shape 3868"/>
        <p:cNvGrpSpPr/>
        <p:nvPr/>
      </p:nvGrpSpPr>
      <p:grpSpPr>
        <a:xfrm>
          <a:off x="0" y="0"/>
          <a:ext cx="0" cy="0"/>
          <a:chOff x="0" y="0"/>
          <a:chExt cx="0" cy="0"/>
        </a:xfrm>
      </p:grpSpPr>
      <p:sp>
        <p:nvSpPr>
          <p:cNvPr id="3869" name="Google Shape;3869;g30c94051d4b_0_3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70" name="Google Shape;3870;g30c94051d4b_0_3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0" name="Shape 3880"/>
        <p:cNvGrpSpPr/>
        <p:nvPr/>
      </p:nvGrpSpPr>
      <p:grpSpPr>
        <a:xfrm>
          <a:off x="0" y="0"/>
          <a:ext cx="0" cy="0"/>
          <a:chOff x="0" y="0"/>
          <a:chExt cx="0" cy="0"/>
        </a:xfrm>
      </p:grpSpPr>
      <p:sp>
        <p:nvSpPr>
          <p:cNvPr id="3881" name="Google Shape;3881;g309ba08c72f_0_4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82" name="Google Shape;3882;g309ba08c72f_0_4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2" name="Shape 3892"/>
        <p:cNvGrpSpPr/>
        <p:nvPr/>
      </p:nvGrpSpPr>
      <p:grpSpPr>
        <a:xfrm>
          <a:off x="0" y="0"/>
          <a:ext cx="0" cy="0"/>
          <a:chOff x="0" y="0"/>
          <a:chExt cx="0" cy="0"/>
        </a:xfrm>
      </p:grpSpPr>
      <p:sp>
        <p:nvSpPr>
          <p:cNvPr id="3893" name="Google Shape;3893;g309ba08c72f_0_4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94" name="Google Shape;3894;g309ba08c72f_0_4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6" name="Shape 3906"/>
        <p:cNvGrpSpPr/>
        <p:nvPr/>
      </p:nvGrpSpPr>
      <p:grpSpPr>
        <a:xfrm>
          <a:off x="0" y="0"/>
          <a:ext cx="0" cy="0"/>
          <a:chOff x="0" y="0"/>
          <a:chExt cx="0" cy="0"/>
        </a:xfrm>
      </p:grpSpPr>
      <p:sp>
        <p:nvSpPr>
          <p:cNvPr id="3907" name="Google Shape;3907;g30c94051d4b_0_4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08" name="Google Shape;3908;g30c94051d4b_0_4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0" name="Shape 3920"/>
        <p:cNvGrpSpPr/>
        <p:nvPr/>
      </p:nvGrpSpPr>
      <p:grpSpPr>
        <a:xfrm>
          <a:off x="0" y="0"/>
          <a:ext cx="0" cy="0"/>
          <a:chOff x="0" y="0"/>
          <a:chExt cx="0" cy="0"/>
        </a:xfrm>
      </p:grpSpPr>
      <p:sp>
        <p:nvSpPr>
          <p:cNvPr id="3921" name="Google Shape;3921;g30c94051d4b_0_4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22" name="Google Shape;3922;g30c94051d4b_0_4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4" name="Shape 3934"/>
        <p:cNvGrpSpPr/>
        <p:nvPr/>
      </p:nvGrpSpPr>
      <p:grpSpPr>
        <a:xfrm>
          <a:off x="0" y="0"/>
          <a:ext cx="0" cy="0"/>
          <a:chOff x="0" y="0"/>
          <a:chExt cx="0" cy="0"/>
        </a:xfrm>
      </p:grpSpPr>
      <p:sp>
        <p:nvSpPr>
          <p:cNvPr id="3935" name="Google Shape;3935;g30c94051d4b_0_4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36" name="Google Shape;3936;g30c94051d4b_0_4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8" name="Shape 3948"/>
        <p:cNvGrpSpPr/>
        <p:nvPr/>
      </p:nvGrpSpPr>
      <p:grpSpPr>
        <a:xfrm>
          <a:off x="0" y="0"/>
          <a:ext cx="0" cy="0"/>
          <a:chOff x="0" y="0"/>
          <a:chExt cx="0" cy="0"/>
        </a:xfrm>
      </p:grpSpPr>
      <p:sp>
        <p:nvSpPr>
          <p:cNvPr id="3949" name="Google Shape;3949;g30c94051d4b_0_5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50" name="Google Shape;3950;g30c94051d4b_0_5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0" name="Shape 3960"/>
        <p:cNvGrpSpPr/>
        <p:nvPr/>
      </p:nvGrpSpPr>
      <p:grpSpPr>
        <a:xfrm>
          <a:off x="0" y="0"/>
          <a:ext cx="0" cy="0"/>
          <a:chOff x="0" y="0"/>
          <a:chExt cx="0" cy="0"/>
        </a:xfrm>
      </p:grpSpPr>
      <p:sp>
        <p:nvSpPr>
          <p:cNvPr id="3961" name="Google Shape;3961;g30c94051d4b_0_5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62" name="Google Shape;3962;g30c94051d4b_0_5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4" name="Shape 3974"/>
        <p:cNvGrpSpPr/>
        <p:nvPr/>
      </p:nvGrpSpPr>
      <p:grpSpPr>
        <a:xfrm>
          <a:off x="0" y="0"/>
          <a:ext cx="0" cy="0"/>
          <a:chOff x="0" y="0"/>
          <a:chExt cx="0" cy="0"/>
        </a:xfrm>
      </p:grpSpPr>
      <p:sp>
        <p:nvSpPr>
          <p:cNvPr id="3975" name="Google Shape;3975;g30c94051d4b_0_5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76" name="Google Shape;3976;g30c94051d4b_0_5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8" name="Shape 3988"/>
        <p:cNvGrpSpPr/>
        <p:nvPr/>
      </p:nvGrpSpPr>
      <p:grpSpPr>
        <a:xfrm>
          <a:off x="0" y="0"/>
          <a:ext cx="0" cy="0"/>
          <a:chOff x="0" y="0"/>
          <a:chExt cx="0" cy="0"/>
        </a:xfrm>
      </p:grpSpPr>
      <p:sp>
        <p:nvSpPr>
          <p:cNvPr id="3989" name="Google Shape;3989;g30c94051d4b_0_5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90" name="Google Shape;3990;g30c94051d4b_0_5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2" name="Shape 4002"/>
        <p:cNvGrpSpPr/>
        <p:nvPr/>
      </p:nvGrpSpPr>
      <p:grpSpPr>
        <a:xfrm>
          <a:off x="0" y="0"/>
          <a:ext cx="0" cy="0"/>
          <a:chOff x="0" y="0"/>
          <a:chExt cx="0" cy="0"/>
        </a:xfrm>
      </p:grpSpPr>
      <p:sp>
        <p:nvSpPr>
          <p:cNvPr id="4003" name="Google Shape;4003;g30c94051d4b_0_6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04" name="Google Shape;4004;g30c94051d4b_0_6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6" name="Shape 4016"/>
        <p:cNvGrpSpPr/>
        <p:nvPr/>
      </p:nvGrpSpPr>
      <p:grpSpPr>
        <a:xfrm>
          <a:off x="0" y="0"/>
          <a:ext cx="0" cy="0"/>
          <a:chOff x="0" y="0"/>
          <a:chExt cx="0" cy="0"/>
        </a:xfrm>
      </p:grpSpPr>
      <p:sp>
        <p:nvSpPr>
          <p:cNvPr id="4017" name="Google Shape;4017;g30c94051d4b_0_5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18" name="Google Shape;4018;g30c94051d4b_0_5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8" name="Shape 4028"/>
        <p:cNvGrpSpPr/>
        <p:nvPr/>
      </p:nvGrpSpPr>
      <p:grpSpPr>
        <a:xfrm>
          <a:off x="0" y="0"/>
          <a:ext cx="0" cy="0"/>
          <a:chOff x="0" y="0"/>
          <a:chExt cx="0" cy="0"/>
        </a:xfrm>
      </p:grpSpPr>
      <p:sp>
        <p:nvSpPr>
          <p:cNvPr id="4029" name="Google Shape;4029;g309ba08c72f_0_5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30" name="Google Shape;4030;g309ba08c72f_0_5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0" name="Shape 4040"/>
        <p:cNvGrpSpPr/>
        <p:nvPr/>
      </p:nvGrpSpPr>
      <p:grpSpPr>
        <a:xfrm>
          <a:off x="0" y="0"/>
          <a:ext cx="0" cy="0"/>
          <a:chOff x="0" y="0"/>
          <a:chExt cx="0" cy="0"/>
        </a:xfrm>
      </p:grpSpPr>
      <p:sp>
        <p:nvSpPr>
          <p:cNvPr id="4041" name="Google Shape;4041;g30cf6a1bfdd_0_7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42" name="Google Shape;4042;g30cf6a1bfdd_0_7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4" name="Shape 4054"/>
        <p:cNvGrpSpPr/>
        <p:nvPr/>
      </p:nvGrpSpPr>
      <p:grpSpPr>
        <a:xfrm>
          <a:off x="0" y="0"/>
          <a:ext cx="0" cy="0"/>
          <a:chOff x="0" y="0"/>
          <a:chExt cx="0" cy="0"/>
        </a:xfrm>
      </p:grpSpPr>
      <p:sp>
        <p:nvSpPr>
          <p:cNvPr id="4055" name="Google Shape;4055;g309ba08c72f_0_5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56" name="Google Shape;4056;g309ba08c72f_0_5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8" name="Shape 4068"/>
        <p:cNvGrpSpPr/>
        <p:nvPr/>
      </p:nvGrpSpPr>
      <p:grpSpPr>
        <a:xfrm>
          <a:off x="0" y="0"/>
          <a:ext cx="0" cy="0"/>
          <a:chOff x="0" y="0"/>
          <a:chExt cx="0" cy="0"/>
        </a:xfrm>
      </p:grpSpPr>
      <p:sp>
        <p:nvSpPr>
          <p:cNvPr id="4069" name="Google Shape;4069;g30c94051d4b_0_6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70" name="Google Shape;4070;g30c94051d4b_0_6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2" name="Shape 4082"/>
        <p:cNvGrpSpPr/>
        <p:nvPr/>
      </p:nvGrpSpPr>
      <p:grpSpPr>
        <a:xfrm>
          <a:off x="0" y="0"/>
          <a:ext cx="0" cy="0"/>
          <a:chOff x="0" y="0"/>
          <a:chExt cx="0" cy="0"/>
        </a:xfrm>
      </p:grpSpPr>
      <p:sp>
        <p:nvSpPr>
          <p:cNvPr id="4083" name="Google Shape;4083;g309ba08c72f_0_5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84" name="Google Shape;4084;g309ba08c72f_0_5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4" name="Shape 4094"/>
        <p:cNvGrpSpPr/>
        <p:nvPr/>
      </p:nvGrpSpPr>
      <p:grpSpPr>
        <a:xfrm>
          <a:off x="0" y="0"/>
          <a:ext cx="0" cy="0"/>
          <a:chOff x="0" y="0"/>
          <a:chExt cx="0" cy="0"/>
        </a:xfrm>
      </p:grpSpPr>
      <p:sp>
        <p:nvSpPr>
          <p:cNvPr id="4095" name="Google Shape;4095;g30cf6a1bfdd_0_7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96" name="Google Shape;4096;g30cf6a1bfdd_0_7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8" name="Shape 4108"/>
        <p:cNvGrpSpPr/>
        <p:nvPr/>
      </p:nvGrpSpPr>
      <p:grpSpPr>
        <a:xfrm>
          <a:off x="0" y="0"/>
          <a:ext cx="0" cy="0"/>
          <a:chOff x="0" y="0"/>
          <a:chExt cx="0" cy="0"/>
        </a:xfrm>
      </p:grpSpPr>
      <p:sp>
        <p:nvSpPr>
          <p:cNvPr id="4109" name="Google Shape;4109;g309ba08c72f_0_5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10" name="Google Shape;4110;g309ba08c72f_0_5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2" name="Shape 4122"/>
        <p:cNvGrpSpPr/>
        <p:nvPr/>
      </p:nvGrpSpPr>
      <p:grpSpPr>
        <a:xfrm>
          <a:off x="0" y="0"/>
          <a:ext cx="0" cy="0"/>
          <a:chOff x="0" y="0"/>
          <a:chExt cx="0" cy="0"/>
        </a:xfrm>
      </p:grpSpPr>
      <p:sp>
        <p:nvSpPr>
          <p:cNvPr id="4123" name="Google Shape;4123;g30cf6a1bfdd_0_7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24" name="Google Shape;4124;g30cf6a1bfdd_0_7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7" name="Shape 4137"/>
        <p:cNvGrpSpPr/>
        <p:nvPr/>
      </p:nvGrpSpPr>
      <p:grpSpPr>
        <a:xfrm>
          <a:off x="0" y="0"/>
          <a:ext cx="0" cy="0"/>
          <a:chOff x="0" y="0"/>
          <a:chExt cx="0" cy="0"/>
        </a:xfrm>
      </p:grpSpPr>
      <p:sp>
        <p:nvSpPr>
          <p:cNvPr id="4138" name="Google Shape;4138;g30cf6a1bfdd_0_7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39" name="Google Shape;4139;g30cf6a1bfdd_0_7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1" name="Shape 4151"/>
        <p:cNvGrpSpPr/>
        <p:nvPr/>
      </p:nvGrpSpPr>
      <p:grpSpPr>
        <a:xfrm>
          <a:off x="0" y="0"/>
          <a:ext cx="0" cy="0"/>
          <a:chOff x="0" y="0"/>
          <a:chExt cx="0" cy="0"/>
        </a:xfrm>
      </p:grpSpPr>
      <p:sp>
        <p:nvSpPr>
          <p:cNvPr id="4152" name="Google Shape;4152;g30cf6a1bfdd_0_7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53" name="Google Shape;4153;g30cf6a1bfdd_0_7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5" name="Shape 4165"/>
        <p:cNvGrpSpPr/>
        <p:nvPr/>
      </p:nvGrpSpPr>
      <p:grpSpPr>
        <a:xfrm>
          <a:off x="0" y="0"/>
          <a:ext cx="0" cy="0"/>
          <a:chOff x="0" y="0"/>
          <a:chExt cx="0" cy="0"/>
        </a:xfrm>
      </p:grpSpPr>
      <p:sp>
        <p:nvSpPr>
          <p:cNvPr id="4166" name="Google Shape;4166;g30cf6a1bfdd_0_8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67" name="Google Shape;4167;g30cf6a1bfdd_0_8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7" name="Shape 4177"/>
        <p:cNvGrpSpPr/>
        <p:nvPr/>
      </p:nvGrpSpPr>
      <p:grpSpPr>
        <a:xfrm>
          <a:off x="0" y="0"/>
          <a:ext cx="0" cy="0"/>
          <a:chOff x="0" y="0"/>
          <a:chExt cx="0" cy="0"/>
        </a:xfrm>
      </p:grpSpPr>
      <p:sp>
        <p:nvSpPr>
          <p:cNvPr id="4178" name="Google Shape;4178;g30cf6a1bfdd_0_8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79" name="Google Shape;4179;g30cf6a1bfdd_0_8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1" name="Shape 4191"/>
        <p:cNvGrpSpPr/>
        <p:nvPr/>
      </p:nvGrpSpPr>
      <p:grpSpPr>
        <a:xfrm>
          <a:off x="0" y="0"/>
          <a:ext cx="0" cy="0"/>
          <a:chOff x="0" y="0"/>
          <a:chExt cx="0" cy="0"/>
        </a:xfrm>
      </p:grpSpPr>
      <p:sp>
        <p:nvSpPr>
          <p:cNvPr id="4192" name="Google Shape;4192;g30cf6a1bfdd_0_8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93" name="Google Shape;4193;g30cf6a1bfdd_0_8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5" name="Shape 4205"/>
        <p:cNvGrpSpPr/>
        <p:nvPr/>
      </p:nvGrpSpPr>
      <p:grpSpPr>
        <a:xfrm>
          <a:off x="0" y="0"/>
          <a:ext cx="0" cy="0"/>
          <a:chOff x="0" y="0"/>
          <a:chExt cx="0" cy="0"/>
        </a:xfrm>
      </p:grpSpPr>
      <p:sp>
        <p:nvSpPr>
          <p:cNvPr id="4206" name="Google Shape;4206;g30cf6a1bfdd_0_8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07" name="Google Shape;4207;g30cf6a1bfdd_0_8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9" name="Shape 4219"/>
        <p:cNvGrpSpPr/>
        <p:nvPr/>
      </p:nvGrpSpPr>
      <p:grpSpPr>
        <a:xfrm>
          <a:off x="0" y="0"/>
          <a:ext cx="0" cy="0"/>
          <a:chOff x="0" y="0"/>
          <a:chExt cx="0" cy="0"/>
        </a:xfrm>
      </p:grpSpPr>
      <p:sp>
        <p:nvSpPr>
          <p:cNvPr id="4220" name="Google Shape;4220;g30cf6a1bfdd_0_8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21" name="Google Shape;4221;g30cf6a1bfdd_0_8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1" name="Shape 4231"/>
        <p:cNvGrpSpPr/>
        <p:nvPr/>
      </p:nvGrpSpPr>
      <p:grpSpPr>
        <a:xfrm>
          <a:off x="0" y="0"/>
          <a:ext cx="0" cy="0"/>
          <a:chOff x="0" y="0"/>
          <a:chExt cx="0" cy="0"/>
        </a:xfrm>
      </p:grpSpPr>
      <p:sp>
        <p:nvSpPr>
          <p:cNvPr id="4232" name="Google Shape;4232;g308028c86d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33" name="Google Shape;4233;g308028c86d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3" name="Shape 4243"/>
        <p:cNvGrpSpPr/>
        <p:nvPr/>
      </p:nvGrpSpPr>
      <p:grpSpPr>
        <a:xfrm>
          <a:off x="0" y="0"/>
          <a:ext cx="0" cy="0"/>
          <a:chOff x="0" y="0"/>
          <a:chExt cx="0" cy="0"/>
        </a:xfrm>
      </p:grpSpPr>
      <p:sp>
        <p:nvSpPr>
          <p:cNvPr id="4244" name="Google Shape;4244;g30cf6a1bfdd_0_8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45" name="Google Shape;4245;g30cf6a1bfdd_0_8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7" name="Shape 4257"/>
        <p:cNvGrpSpPr/>
        <p:nvPr/>
      </p:nvGrpSpPr>
      <p:grpSpPr>
        <a:xfrm>
          <a:off x="0" y="0"/>
          <a:ext cx="0" cy="0"/>
          <a:chOff x="0" y="0"/>
          <a:chExt cx="0" cy="0"/>
        </a:xfrm>
      </p:grpSpPr>
      <p:sp>
        <p:nvSpPr>
          <p:cNvPr id="4258" name="Google Shape;4258;g308028c86d0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59" name="Google Shape;4259;g308028c86d0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1" name="Shape 4271"/>
        <p:cNvGrpSpPr/>
        <p:nvPr/>
      </p:nvGrpSpPr>
      <p:grpSpPr>
        <a:xfrm>
          <a:off x="0" y="0"/>
          <a:ext cx="0" cy="0"/>
          <a:chOff x="0" y="0"/>
          <a:chExt cx="0" cy="0"/>
        </a:xfrm>
      </p:grpSpPr>
      <p:sp>
        <p:nvSpPr>
          <p:cNvPr id="4272" name="Google Shape;4272;g308028c86d0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73" name="Google Shape;4273;g308028c86d0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5" name="Shape 4285"/>
        <p:cNvGrpSpPr/>
        <p:nvPr/>
      </p:nvGrpSpPr>
      <p:grpSpPr>
        <a:xfrm>
          <a:off x="0" y="0"/>
          <a:ext cx="0" cy="0"/>
          <a:chOff x="0" y="0"/>
          <a:chExt cx="0" cy="0"/>
        </a:xfrm>
      </p:grpSpPr>
      <p:sp>
        <p:nvSpPr>
          <p:cNvPr id="4286" name="Google Shape;4286;g308028c86d0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87" name="Google Shape;4287;g308028c86d0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6" name="Shape 4296"/>
        <p:cNvGrpSpPr/>
        <p:nvPr/>
      </p:nvGrpSpPr>
      <p:grpSpPr>
        <a:xfrm>
          <a:off x="0" y="0"/>
          <a:ext cx="0" cy="0"/>
          <a:chOff x="0" y="0"/>
          <a:chExt cx="0" cy="0"/>
        </a:xfrm>
      </p:grpSpPr>
      <p:sp>
        <p:nvSpPr>
          <p:cNvPr id="4297" name="Google Shape;4297;g308028c86d0_0_1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98" name="Google Shape;4298;g308028c86d0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8" name="Shape 4308"/>
        <p:cNvGrpSpPr/>
        <p:nvPr/>
      </p:nvGrpSpPr>
      <p:grpSpPr>
        <a:xfrm>
          <a:off x="0" y="0"/>
          <a:ext cx="0" cy="0"/>
          <a:chOff x="0" y="0"/>
          <a:chExt cx="0" cy="0"/>
        </a:xfrm>
      </p:grpSpPr>
      <p:sp>
        <p:nvSpPr>
          <p:cNvPr id="4309" name="Google Shape;4309;g308028c86d0_0_1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10" name="Google Shape;4310;g308028c86d0_0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2" name="Shape 4322"/>
        <p:cNvGrpSpPr/>
        <p:nvPr/>
      </p:nvGrpSpPr>
      <p:grpSpPr>
        <a:xfrm>
          <a:off x="0" y="0"/>
          <a:ext cx="0" cy="0"/>
          <a:chOff x="0" y="0"/>
          <a:chExt cx="0" cy="0"/>
        </a:xfrm>
      </p:grpSpPr>
      <p:sp>
        <p:nvSpPr>
          <p:cNvPr id="4323" name="Google Shape;4323;g308028c86d0_0_1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24" name="Google Shape;4324;g308028c86d0_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6" name="Shape 4336"/>
        <p:cNvGrpSpPr/>
        <p:nvPr/>
      </p:nvGrpSpPr>
      <p:grpSpPr>
        <a:xfrm>
          <a:off x="0" y="0"/>
          <a:ext cx="0" cy="0"/>
          <a:chOff x="0" y="0"/>
          <a:chExt cx="0" cy="0"/>
        </a:xfrm>
      </p:grpSpPr>
      <p:sp>
        <p:nvSpPr>
          <p:cNvPr id="4337" name="Google Shape;4337;g308028c86d0_0_1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38" name="Google Shape;4338;g308028c86d0_0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0" name="Shape 4350"/>
        <p:cNvGrpSpPr/>
        <p:nvPr/>
      </p:nvGrpSpPr>
      <p:grpSpPr>
        <a:xfrm>
          <a:off x="0" y="0"/>
          <a:ext cx="0" cy="0"/>
          <a:chOff x="0" y="0"/>
          <a:chExt cx="0" cy="0"/>
        </a:xfrm>
      </p:grpSpPr>
      <p:sp>
        <p:nvSpPr>
          <p:cNvPr id="4351" name="Google Shape;4351;g308028c86d0_0_1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52" name="Google Shape;4352;g308028c86d0_0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4" name="Shape 4364"/>
        <p:cNvGrpSpPr/>
        <p:nvPr/>
      </p:nvGrpSpPr>
      <p:grpSpPr>
        <a:xfrm>
          <a:off x="0" y="0"/>
          <a:ext cx="0" cy="0"/>
          <a:chOff x="0" y="0"/>
          <a:chExt cx="0" cy="0"/>
        </a:xfrm>
      </p:grpSpPr>
      <p:sp>
        <p:nvSpPr>
          <p:cNvPr id="4365" name="Google Shape;4365;g308028c86d0_0_1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66" name="Google Shape;4366;g308028c86d0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8" name="Shape 4378"/>
        <p:cNvGrpSpPr/>
        <p:nvPr/>
      </p:nvGrpSpPr>
      <p:grpSpPr>
        <a:xfrm>
          <a:off x="0" y="0"/>
          <a:ext cx="0" cy="0"/>
          <a:chOff x="0" y="0"/>
          <a:chExt cx="0" cy="0"/>
        </a:xfrm>
      </p:grpSpPr>
      <p:sp>
        <p:nvSpPr>
          <p:cNvPr id="4379" name="Google Shape;4379;g308028c86d0_0_2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80" name="Google Shape;4380;g308028c86d0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0" name="Shape 4390"/>
        <p:cNvGrpSpPr/>
        <p:nvPr/>
      </p:nvGrpSpPr>
      <p:grpSpPr>
        <a:xfrm>
          <a:off x="0" y="0"/>
          <a:ext cx="0" cy="0"/>
          <a:chOff x="0" y="0"/>
          <a:chExt cx="0" cy="0"/>
        </a:xfrm>
      </p:grpSpPr>
      <p:sp>
        <p:nvSpPr>
          <p:cNvPr id="4391" name="Google Shape;4391;g308028c86d0_0_2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92" name="Google Shape;4392;g308028c86d0_0_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5" name="Shape 4405"/>
        <p:cNvGrpSpPr/>
        <p:nvPr/>
      </p:nvGrpSpPr>
      <p:grpSpPr>
        <a:xfrm>
          <a:off x="0" y="0"/>
          <a:ext cx="0" cy="0"/>
          <a:chOff x="0" y="0"/>
          <a:chExt cx="0" cy="0"/>
        </a:xfrm>
      </p:grpSpPr>
      <p:sp>
        <p:nvSpPr>
          <p:cNvPr id="4406" name="Google Shape;4406;g308028c86d0_0_2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07" name="Google Shape;4407;g308028c86d0_0_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9" name="Shape 4419"/>
        <p:cNvGrpSpPr/>
        <p:nvPr/>
      </p:nvGrpSpPr>
      <p:grpSpPr>
        <a:xfrm>
          <a:off x="0" y="0"/>
          <a:ext cx="0" cy="0"/>
          <a:chOff x="0" y="0"/>
          <a:chExt cx="0" cy="0"/>
        </a:xfrm>
      </p:grpSpPr>
      <p:sp>
        <p:nvSpPr>
          <p:cNvPr id="4420" name="Google Shape;4420;g308028c86d0_0_2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21" name="Google Shape;4421;g308028c86d0_0_2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3" name="Shape 4433"/>
        <p:cNvGrpSpPr/>
        <p:nvPr/>
      </p:nvGrpSpPr>
      <p:grpSpPr>
        <a:xfrm>
          <a:off x="0" y="0"/>
          <a:ext cx="0" cy="0"/>
          <a:chOff x="0" y="0"/>
          <a:chExt cx="0" cy="0"/>
        </a:xfrm>
      </p:grpSpPr>
      <p:sp>
        <p:nvSpPr>
          <p:cNvPr id="4434" name="Google Shape;4434;g308028c86d0_0_2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35" name="Google Shape;4435;g308028c86d0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8" name="Shape 4448"/>
        <p:cNvGrpSpPr/>
        <p:nvPr/>
      </p:nvGrpSpPr>
      <p:grpSpPr>
        <a:xfrm>
          <a:off x="0" y="0"/>
          <a:ext cx="0" cy="0"/>
          <a:chOff x="0" y="0"/>
          <a:chExt cx="0" cy="0"/>
        </a:xfrm>
      </p:grpSpPr>
      <p:sp>
        <p:nvSpPr>
          <p:cNvPr id="4449" name="Google Shape;4449;g308028c86d0_0_2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50" name="Google Shape;4450;g308028c86d0_0_2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1" name="Shape 4461"/>
        <p:cNvGrpSpPr/>
        <p:nvPr/>
      </p:nvGrpSpPr>
      <p:grpSpPr>
        <a:xfrm>
          <a:off x="0" y="0"/>
          <a:ext cx="0" cy="0"/>
          <a:chOff x="0" y="0"/>
          <a:chExt cx="0" cy="0"/>
        </a:xfrm>
      </p:grpSpPr>
      <p:sp>
        <p:nvSpPr>
          <p:cNvPr id="4462" name="Google Shape;4462;g308028c86d0_0_3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63" name="Google Shape;4463;g308028c86d0_0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5" name="Shape 4475"/>
        <p:cNvGrpSpPr/>
        <p:nvPr/>
      </p:nvGrpSpPr>
      <p:grpSpPr>
        <a:xfrm>
          <a:off x="0" y="0"/>
          <a:ext cx="0" cy="0"/>
          <a:chOff x="0" y="0"/>
          <a:chExt cx="0" cy="0"/>
        </a:xfrm>
      </p:grpSpPr>
      <p:sp>
        <p:nvSpPr>
          <p:cNvPr id="4476" name="Google Shape;4476;g308028c86d0_0_3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77" name="Google Shape;4477;g308028c86d0_0_3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0" name="Shape 4490"/>
        <p:cNvGrpSpPr/>
        <p:nvPr/>
      </p:nvGrpSpPr>
      <p:grpSpPr>
        <a:xfrm>
          <a:off x="0" y="0"/>
          <a:ext cx="0" cy="0"/>
          <a:chOff x="0" y="0"/>
          <a:chExt cx="0" cy="0"/>
        </a:xfrm>
      </p:grpSpPr>
      <p:sp>
        <p:nvSpPr>
          <p:cNvPr id="4491" name="Google Shape;4491;g308028c86d0_0_3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92" name="Google Shape;4492;g308028c86d0_0_3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5" name="Shape 4505"/>
        <p:cNvGrpSpPr/>
        <p:nvPr/>
      </p:nvGrpSpPr>
      <p:grpSpPr>
        <a:xfrm>
          <a:off x="0" y="0"/>
          <a:ext cx="0" cy="0"/>
          <a:chOff x="0" y="0"/>
          <a:chExt cx="0" cy="0"/>
        </a:xfrm>
      </p:grpSpPr>
      <p:sp>
        <p:nvSpPr>
          <p:cNvPr id="4506" name="Google Shape;4506;g308028c86d0_0_3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07" name="Google Shape;4507;g308028c86d0_0_3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9" name="Shape 4519"/>
        <p:cNvGrpSpPr/>
        <p:nvPr/>
      </p:nvGrpSpPr>
      <p:grpSpPr>
        <a:xfrm>
          <a:off x="0" y="0"/>
          <a:ext cx="0" cy="0"/>
          <a:chOff x="0" y="0"/>
          <a:chExt cx="0" cy="0"/>
        </a:xfrm>
      </p:grpSpPr>
      <p:sp>
        <p:nvSpPr>
          <p:cNvPr id="4520" name="Google Shape;4520;g308028c86d0_0_2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21" name="Google Shape;4521;g308028c86d0_0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1" name="Shape 4531"/>
        <p:cNvGrpSpPr/>
        <p:nvPr/>
      </p:nvGrpSpPr>
      <p:grpSpPr>
        <a:xfrm>
          <a:off x="0" y="0"/>
          <a:ext cx="0" cy="0"/>
          <a:chOff x="0" y="0"/>
          <a:chExt cx="0" cy="0"/>
        </a:xfrm>
      </p:grpSpPr>
      <p:sp>
        <p:nvSpPr>
          <p:cNvPr id="4532" name="Google Shape;4532;g309ba08c72f_0_5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33" name="Google Shape;4533;g309ba08c72f_0_5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2" name="Shape 4572"/>
        <p:cNvGrpSpPr/>
        <p:nvPr/>
      </p:nvGrpSpPr>
      <p:grpSpPr>
        <a:xfrm>
          <a:off x="0" y="0"/>
          <a:ext cx="0" cy="0"/>
          <a:chOff x="0" y="0"/>
          <a:chExt cx="0" cy="0"/>
        </a:xfrm>
      </p:grpSpPr>
      <p:sp>
        <p:nvSpPr>
          <p:cNvPr id="4573" name="Google Shape;4573;g309ba08c72f_0_5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74" name="Google Shape;4574;g309ba08c72f_0_5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4" name="Shape 4584"/>
        <p:cNvGrpSpPr/>
        <p:nvPr/>
      </p:nvGrpSpPr>
      <p:grpSpPr>
        <a:xfrm>
          <a:off x="0" y="0"/>
          <a:ext cx="0" cy="0"/>
          <a:chOff x="0" y="0"/>
          <a:chExt cx="0" cy="0"/>
        </a:xfrm>
      </p:grpSpPr>
      <p:sp>
        <p:nvSpPr>
          <p:cNvPr id="4585" name="Google Shape;4585;g30c63584a3a_0_1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86" name="Google Shape;4586;g30c63584a3a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8" name="Shape 4598"/>
        <p:cNvGrpSpPr/>
        <p:nvPr/>
      </p:nvGrpSpPr>
      <p:grpSpPr>
        <a:xfrm>
          <a:off x="0" y="0"/>
          <a:ext cx="0" cy="0"/>
          <a:chOff x="0" y="0"/>
          <a:chExt cx="0" cy="0"/>
        </a:xfrm>
      </p:grpSpPr>
      <p:sp>
        <p:nvSpPr>
          <p:cNvPr id="4599" name="Google Shape;4599;g2fee925edeb_1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00" name="Google Shape;4600;g2fee925edeb_1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2" name="Shape 4612"/>
        <p:cNvGrpSpPr/>
        <p:nvPr/>
      </p:nvGrpSpPr>
      <p:grpSpPr>
        <a:xfrm>
          <a:off x="0" y="0"/>
          <a:ext cx="0" cy="0"/>
          <a:chOff x="0" y="0"/>
          <a:chExt cx="0" cy="0"/>
        </a:xfrm>
      </p:grpSpPr>
      <p:sp>
        <p:nvSpPr>
          <p:cNvPr id="4613" name="Google Shape;4613;g2fee925edeb_1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14" name="Google Shape;4614;g2fee925edeb_1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8" name="Shape 4628"/>
        <p:cNvGrpSpPr/>
        <p:nvPr/>
      </p:nvGrpSpPr>
      <p:grpSpPr>
        <a:xfrm>
          <a:off x="0" y="0"/>
          <a:ext cx="0" cy="0"/>
          <a:chOff x="0" y="0"/>
          <a:chExt cx="0" cy="0"/>
        </a:xfrm>
      </p:grpSpPr>
      <p:sp>
        <p:nvSpPr>
          <p:cNvPr id="4629" name="Google Shape;4629;g30c63584a3a_0_1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30" name="Google Shape;4630;g30c63584a3a_0_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2" name="Shape 4642"/>
        <p:cNvGrpSpPr/>
        <p:nvPr/>
      </p:nvGrpSpPr>
      <p:grpSpPr>
        <a:xfrm>
          <a:off x="0" y="0"/>
          <a:ext cx="0" cy="0"/>
          <a:chOff x="0" y="0"/>
          <a:chExt cx="0" cy="0"/>
        </a:xfrm>
      </p:grpSpPr>
      <p:sp>
        <p:nvSpPr>
          <p:cNvPr id="4643" name="Google Shape;4643;g30c63584a3a_0_2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44" name="Google Shape;4644;g30c63584a3a_0_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6" name="Shape 4656"/>
        <p:cNvGrpSpPr/>
        <p:nvPr/>
      </p:nvGrpSpPr>
      <p:grpSpPr>
        <a:xfrm>
          <a:off x="0" y="0"/>
          <a:ext cx="0" cy="0"/>
          <a:chOff x="0" y="0"/>
          <a:chExt cx="0" cy="0"/>
        </a:xfrm>
      </p:grpSpPr>
      <p:sp>
        <p:nvSpPr>
          <p:cNvPr id="4657" name="Google Shape;4657;g30c63584a3a_0_2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58" name="Google Shape;4658;g30c63584a3a_0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0" name="Shape 4670"/>
        <p:cNvGrpSpPr/>
        <p:nvPr/>
      </p:nvGrpSpPr>
      <p:grpSpPr>
        <a:xfrm>
          <a:off x="0" y="0"/>
          <a:ext cx="0" cy="0"/>
          <a:chOff x="0" y="0"/>
          <a:chExt cx="0" cy="0"/>
        </a:xfrm>
      </p:grpSpPr>
      <p:sp>
        <p:nvSpPr>
          <p:cNvPr id="4671" name="Google Shape;4671;g30c63584a3a_0_2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72" name="Google Shape;4672;g30c63584a3a_0_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4" name="Shape 4684"/>
        <p:cNvGrpSpPr/>
        <p:nvPr/>
      </p:nvGrpSpPr>
      <p:grpSpPr>
        <a:xfrm>
          <a:off x="0" y="0"/>
          <a:ext cx="0" cy="0"/>
          <a:chOff x="0" y="0"/>
          <a:chExt cx="0" cy="0"/>
        </a:xfrm>
      </p:grpSpPr>
      <p:sp>
        <p:nvSpPr>
          <p:cNvPr id="4685" name="Google Shape;4685;g309ba08c72f_0_6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86" name="Google Shape;4686;g309ba08c72f_0_6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6" name="Shape 4696"/>
        <p:cNvGrpSpPr/>
        <p:nvPr/>
      </p:nvGrpSpPr>
      <p:grpSpPr>
        <a:xfrm>
          <a:off x="0" y="0"/>
          <a:ext cx="0" cy="0"/>
          <a:chOff x="0" y="0"/>
          <a:chExt cx="0" cy="0"/>
        </a:xfrm>
      </p:grpSpPr>
      <p:sp>
        <p:nvSpPr>
          <p:cNvPr id="4697" name="Google Shape;4697;g2fee925edeb_1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98" name="Google Shape;4698;g2fee925edeb_1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0" name="Shape 4710"/>
        <p:cNvGrpSpPr/>
        <p:nvPr/>
      </p:nvGrpSpPr>
      <p:grpSpPr>
        <a:xfrm>
          <a:off x="0" y="0"/>
          <a:ext cx="0" cy="0"/>
          <a:chOff x="0" y="0"/>
          <a:chExt cx="0" cy="0"/>
        </a:xfrm>
      </p:grpSpPr>
      <p:sp>
        <p:nvSpPr>
          <p:cNvPr id="4711" name="Google Shape;4711;g2fee925edeb_1_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12" name="Google Shape;4712;g2fee925edeb_1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4" name="Shape 4724"/>
        <p:cNvGrpSpPr/>
        <p:nvPr/>
      </p:nvGrpSpPr>
      <p:grpSpPr>
        <a:xfrm>
          <a:off x="0" y="0"/>
          <a:ext cx="0" cy="0"/>
          <a:chOff x="0" y="0"/>
          <a:chExt cx="0" cy="0"/>
        </a:xfrm>
      </p:grpSpPr>
      <p:sp>
        <p:nvSpPr>
          <p:cNvPr id="4725" name="Google Shape;4725;g2fee925edeb_1_1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26" name="Google Shape;4726;g2fee925edeb_1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8" name="Shape 4738"/>
        <p:cNvGrpSpPr/>
        <p:nvPr/>
      </p:nvGrpSpPr>
      <p:grpSpPr>
        <a:xfrm>
          <a:off x="0" y="0"/>
          <a:ext cx="0" cy="0"/>
          <a:chOff x="0" y="0"/>
          <a:chExt cx="0" cy="0"/>
        </a:xfrm>
      </p:grpSpPr>
      <p:sp>
        <p:nvSpPr>
          <p:cNvPr id="4739" name="Google Shape;4739;g2fee925edeb_1_1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40" name="Google Shape;4740;g2fee925edeb_1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0" name="Shape 4750"/>
        <p:cNvGrpSpPr/>
        <p:nvPr/>
      </p:nvGrpSpPr>
      <p:grpSpPr>
        <a:xfrm>
          <a:off x="0" y="0"/>
          <a:ext cx="0" cy="0"/>
          <a:chOff x="0" y="0"/>
          <a:chExt cx="0" cy="0"/>
        </a:xfrm>
      </p:grpSpPr>
      <p:sp>
        <p:nvSpPr>
          <p:cNvPr id="4751" name="Google Shape;4751;g2fee925edeb_1_1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52" name="Google Shape;4752;g2fee925edeb_1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4" name="Shape 4764"/>
        <p:cNvGrpSpPr/>
        <p:nvPr/>
      </p:nvGrpSpPr>
      <p:grpSpPr>
        <a:xfrm>
          <a:off x="0" y="0"/>
          <a:ext cx="0" cy="0"/>
          <a:chOff x="0" y="0"/>
          <a:chExt cx="0" cy="0"/>
        </a:xfrm>
      </p:grpSpPr>
      <p:sp>
        <p:nvSpPr>
          <p:cNvPr id="4765" name="Google Shape;4765;g2fee925edeb_1_1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66" name="Google Shape;4766;g2fee925edeb_1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8" name="Shape 4778"/>
        <p:cNvGrpSpPr/>
        <p:nvPr/>
      </p:nvGrpSpPr>
      <p:grpSpPr>
        <a:xfrm>
          <a:off x="0" y="0"/>
          <a:ext cx="0" cy="0"/>
          <a:chOff x="0" y="0"/>
          <a:chExt cx="0" cy="0"/>
        </a:xfrm>
      </p:grpSpPr>
      <p:sp>
        <p:nvSpPr>
          <p:cNvPr id="4779" name="Google Shape;4779;g2fee925edeb_1_1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80" name="Google Shape;4780;g2fee925edeb_1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2" name="Shape 4792"/>
        <p:cNvGrpSpPr/>
        <p:nvPr/>
      </p:nvGrpSpPr>
      <p:grpSpPr>
        <a:xfrm>
          <a:off x="0" y="0"/>
          <a:ext cx="0" cy="0"/>
          <a:chOff x="0" y="0"/>
          <a:chExt cx="0" cy="0"/>
        </a:xfrm>
      </p:grpSpPr>
      <p:sp>
        <p:nvSpPr>
          <p:cNvPr id="4793" name="Google Shape;4793;g2fee925edeb_1_1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94" name="Google Shape;4794;g2fee925edeb_1_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6" name="Shape 4806"/>
        <p:cNvGrpSpPr/>
        <p:nvPr/>
      </p:nvGrpSpPr>
      <p:grpSpPr>
        <a:xfrm>
          <a:off x="0" y="0"/>
          <a:ext cx="0" cy="0"/>
          <a:chOff x="0" y="0"/>
          <a:chExt cx="0" cy="0"/>
        </a:xfrm>
      </p:grpSpPr>
      <p:sp>
        <p:nvSpPr>
          <p:cNvPr id="4807" name="Google Shape;4807;g2fee925edeb_1_2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08" name="Google Shape;4808;g2fee925edeb_1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1" name="Shape 4821"/>
        <p:cNvGrpSpPr/>
        <p:nvPr/>
      </p:nvGrpSpPr>
      <p:grpSpPr>
        <a:xfrm>
          <a:off x="0" y="0"/>
          <a:ext cx="0" cy="0"/>
          <a:chOff x="0" y="0"/>
          <a:chExt cx="0" cy="0"/>
        </a:xfrm>
      </p:grpSpPr>
      <p:sp>
        <p:nvSpPr>
          <p:cNvPr id="4822" name="Google Shape;4822;g2fee925edeb_1_1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23" name="Google Shape;4823;g2fee925edeb_1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3" name="Shape 4833"/>
        <p:cNvGrpSpPr/>
        <p:nvPr/>
      </p:nvGrpSpPr>
      <p:grpSpPr>
        <a:xfrm>
          <a:off x="0" y="0"/>
          <a:ext cx="0" cy="0"/>
          <a:chOff x="0" y="0"/>
          <a:chExt cx="0" cy="0"/>
        </a:xfrm>
      </p:grpSpPr>
      <p:sp>
        <p:nvSpPr>
          <p:cNvPr id="4834" name="Google Shape;4834;g2fee925edeb_1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35" name="Google Shape;4835;g2fee925edeb_1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5" name="Shape 4845"/>
        <p:cNvGrpSpPr/>
        <p:nvPr/>
      </p:nvGrpSpPr>
      <p:grpSpPr>
        <a:xfrm>
          <a:off x="0" y="0"/>
          <a:ext cx="0" cy="0"/>
          <a:chOff x="0" y="0"/>
          <a:chExt cx="0" cy="0"/>
        </a:xfrm>
      </p:grpSpPr>
      <p:sp>
        <p:nvSpPr>
          <p:cNvPr id="4846" name="Google Shape;4846;g30c63584a3a_0_2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47" name="Google Shape;4847;g30c63584a3a_0_2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9" name="Shape 4859"/>
        <p:cNvGrpSpPr/>
        <p:nvPr/>
      </p:nvGrpSpPr>
      <p:grpSpPr>
        <a:xfrm>
          <a:off x="0" y="0"/>
          <a:ext cx="0" cy="0"/>
          <a:chOff x="0" y="0"/>
          <a:chExt cx="0" cy="0"/>
        </a:xfrm>
      </p:grpSpPr>
      <p:sp>
        <p:nvSpPr>
          <p:cNvPr id="4860" name="Google Shape;4860;g2fee925edeb_1_2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61" name="Google Shape;4861;g2fee925edeb_1_2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3" name="Shape 4873"/>
        <p:cNvGrpSpPr/>
        <p:nvPr/>
      </p:nvGrpSpPr>
      <p:grpSpPr>
        <a:xfrm>
          <a:off x="0" y="0"/>
          <a:ext cx="0" cy="0"/>
          <a:chOff x="0" y="0"/>
          <a:chExt cx="0" cy="0"/>
        </a:xfrm>
      </p:grpSpPr>
      <p:sp>
        <p:nvSpPr>
          <p:cNvPr id="4874" name="Google Shape;4874;g2fee925edeb_1_2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75" name="Google Shape;4875;g2fee925edeb_1_2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7" name="Shape 4887"/>
        <p:cNvGrpSpPr/>
        <p:nvPr/>
      </p:nvGrpSpPr>
      <p:grpSpPr>
        <a:xfrm>
          <a:off x="0" y="0"/>
          <a:ext cx="0" cy="0"/>
          <a:chOff x="0" y="0"/>
          <a:chExt cx="0" cy="0"/>
        </a:xfrm>
      </p:grpSpPr>
      <p:sp>
        <p:nvSpPr>
          <p:cNvPr id="4888" name="Google Shape;4888;g2fee925edeb_1_2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89" name="Google Shape;4889;g2fee925edeb_1_2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9" name="Shape 4899"/>
        <p:cNvGrpSpPr/>
        <p:nvPr/>
      </p:nvGrpSpPr>
      <p:grpSpPr>
        <a:xfrm>
          <a:off x="0" y="0"/>
          <a:ext cx="0" cy="0"/>
          <a:chOff x="0" y="0"/>
          <a:chExt cx="0" cy="0"/>
        </a:xfrm>
      </p:grpSpPr>
      <p:sp>
        <p:nvSpPr>
          <p:cNvPr id="4900" name="Google Shape;4900;g2fee925edeb_1_2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01" name="Google Shape;4901;g2fee925edeb_1_2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3" name="Shape 4913"/>
        <p:cNvGrpSpPr/>
        <p:nvPr/>
      </p:nvGrpSpPr>
      <p:grpSpPr>
        <a:xfrm>
          <a:off x="0" y="0"/>
          <a:ext cx="0" cy="0"/>
          <a:chOff x="0" y="0"/>
          <a:chExt cx="0" cy="0"/>
        </a:xfrm>
      </p:grpSpPr>
      <p:sp>
        <p:nvSpPr>
          <p:cNvPr id="4914" name="Google Shape;4914;g2fee925edeb_1_3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15" name="Google Shape;4915;g2fee925edeb_1_3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7" name="Shape 4927"/>
        <p:cNvGrpSpPr/>
        <p:nvPr/>
      </p:nvGrpSpPr>
      <p:grpSpPr>
        <a:xfrm>
          <a:off x="0" y="0"/>
          <a:ext cx="0" cy="0"/>
          <a:chOff x="0" y="0"/>
          <a:chExt cx="0" cy="0"/>
        </a:xfrm>
      </p:grpSpPr>
      <p:sp>
        <p:nvSpPr>
          <p:cNvPr id="4928" name="Google Shape;4928;g2fee925edeb_1_3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29" name="Google Shape;4929;g2fee925edeb_1_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1" name="Shape 4941"/>
        <p:cNvGrpSpPr/>
        <p:nvPr/>
      </p:nvGrpSpPr>
      <p:grpSpPr>
        <a:xfrm>
          <a:off x="0" y="0"/>
          <a:ext cx="0" cy="0"/>
          <a:chOff x="0" y="0"/>
          <a:chExt cx="0" cy="0"/>
        </a:xfrm>
      </p:grpSpPr>
      <p:sp>
        <p:nvSpPr>
          <p:cNvPr id="4942" name="Google Shape;4942;g2fee925edeb_1_3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43" name="Google Shape;4943;g2fee925edeb_1_3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5" name="Shape 4955"/>
        <p:cNvGrpSpPr/>
        <p:nvPr/>
      </p:nvGrpSpPr>
      <p:grpSpPr>
        <a:xfrm>
          <a:off x="0" y="0"/>
          <a:ext cx="0" cy="0"/>
          <a:chOff x="0" y="0"/>
          <a:chExt cx="0" cy="0"/>
        </a:xfrm>
      </p:grpSpPr>
      <p:sp>
        <p:nvSpPr>
          <p:cNvPr id="4956" name="Google Shape;4956;g2fee925edeb_1_2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57" name="Google Shape;4957;g2fee925edeb_1_2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7" name="Shape 4967"/>
        <p:cNvGrpSpPr/>
        <p:nvPr/>
      </p:nvGrpSpPr>
      <p:grpSpPr>
        <a:xfrm>
          <a:off x="0" y="0"/>
          <a:ext cx="0" cy="0"/>
          <a:chOff x="0" y="0"/>
          <a:chExt cx="0" cy="0"/>
        </a:xfrm>
      </p:grpSpPr>
      <p:sp>
        <p:nvSpPr>
          <p:cNvPr id="4968" name="Google Shape;4968;g309ba08c72f_0_6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69" name="Google Shape;4969;g309ba08c72f_0_6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9" name="Shape 4979"/>
        <p:cNvGrpSpPr/>
        <p:nvPr/>
      </p:nvGrpSpPr>
      <p:grpSpPr>
        <a:xfrm>
          <a:off x="0" y="0"/>
          <a:ext cx="0" cy="0"/>
          <a:chOff x="0" y="0"/>
          <a:chExt cx="0" cy="0"/>
        </a:xfrm>
      </p:grpSpPr>
      <p:sp>
        <p:nvSpPr>
          <p:cNvPr id="4980" name="Google Shape;4980;g30c63584a3a_0_2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81" name="Google Shape;4981;g30c63584a3a_0_2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3" name="Shape 4993"/>
        <p:cNvGrpSpPr/>
        <p:nvPr/>
      </p:nvGrpSpPr>
      <p:grpSpPr>
        <a:xfrm>
          <a:off x="0" y="0"/>
          <a:ext cx="0" cy="0"/>
          <a:chOff x="0" y="0"/>
          <a:chExt cx="0" cy="0"/>
        </a:xfrm>
      </p:grpSpPr>
      <p:sp>
        <p:nvSpPr>
          <p:cNvPr id="4994" name="Google Shape;4994;g2fee925edeb_1_3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95" name="Google Shape;4995;g2fee925edeb_1_3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5" name="Shape 5005"/>
        <p:cNvGrpSpPr/>
        <p:nvPr/>
      </p:nvGrpSpPr>
      <p:grpSpPr>
        <a:xfrm>
          <a:off x="0" y="0"/>
          <a:ext cx="0" cy="0"/>
          <a:chOff x="0" y="0"/>
          <a:chExt cx="0" cy="0"/>
        </a:xfrm>
      </p:grpSpPr>
      <p:sp>
        <p:nvSpPr>
          <p:cNvPr id="5006" name="Google Shape;5006;g2fee925edeb_1_3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07" name="Google Shape;5007;g2fee925edeb_1_3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9" name="Shape 5019"/>
        <p:cNvGrpSpPr/>
        <p:nvPr/>
      </p:nvGrpSpPr>
      <p:grpSpPr>
        <a:xfrm>
          <a:off x="0" y="0"/>
          <a:ext cx="0" cy="0"/>
          <a:chOff x="0" y="0"/>
          <a:chExt cx="0" cy="0"/>
        </a:xfrm>
      </p:grpSpPr>
      <p:sp>
        <p:nvSpPr>
          <p:cNvPr id="5020" name="Google Shape;5020;g2fee925edeb_1_4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21" name="Google Shape;5021;g2fee925edeb_1_4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3" name="Shape 5033"/>
        <p:cNvGrpSpPr/>
        <p:nvPr/>
      </p:nvGrpSpPr>
      <p:grpSpPr>
        <a:xfrm>
          <a:off x="0" y="0"/>
          <a:ext cx="0" cy="0"/>
          <a:chOff x="0" y="0"/>
          <a:chExt cx="0" cy="0"/>
        </a:xfrm>
      </p:grpSpPr>
      <p:sp>
        <p:nvSpPr>
          <p:cNvPr id="5034" name="Google Shape;5034;g2fee925edeb_1_4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35" name="Google Shape;5035;g2fee925edeb_1_4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7" name="Shape 5047"/>
        <p:cNvGrpSpPr/>
        <p:nvPr/>
      </p:nvGrpSpPr>
      <p:grpSpPr>
        <a:xfrm>
          <a:off x="0" y="0"/>
          <a:ext cx="0" cy="0"/>
          <a:chOff x="0" y="0"/>
          <a:chExt cx="0" cy="0"/>
        </a:xfrm>
      </p:grpSpPr>
      <p:sp>
        <p:nvSpPr>
          <p:cNvPr id="5048" name="Google Shape;5048;g2fee925edeb_1_4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49" name="Google Shape;5049;g2fee925edeb_1_4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1" name="Shape 5061"/>
        <p:cNvGrpSpPr/>
        <p:nvPr/>
      </p:nvGrpSpPr>
      <p:grpSpPr>
        <a:xfrm>
          <a:off x="0" y="0"/>
          <a:ext cx="0" cy="0"/>
          <a:chOff x="0" y="0"/>
          <a:chExt cx="0" cy="0"/>
        </a:xfrm>
      </p:grpSpPr>
      <p:sp>
        <p:nvSpPr>
          <p:cNvPr id="5062" name="Google Shape;5062;g2fee925edeb_1_4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63" name="Google Shape;5063;g2fee925edeb_1_4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6" name="Shape 5076"/>
        <p:cNvGrpSpPr/>
        <p:nvPr/>
      </p:nvGrpSpPr>
      <p:grpSpPr>
        <a:xfrm>
          <a:off x="0" y="0"/>
          <a:ext cx="0" cy="0"/>
          <a:chOff x="0" y="0"/>
          <a:chExt cx="0" cy="0"/>
        </a:xfrm>
      </p:grpSpPr>
      <p:sp>
        <p:nvSpPr>
          <p:cNvPr id="5077" name="Google Shape;5077;g2fee925edeb_1_4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78" name="Google Shape;5078;g2fee925edeb_1_4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linkedin.com/in/adityyaaa/" TargetMode="External"/><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0.png"/><Relationship Id="rId11" Type="http://schemas.openxmlformats.org/officeDocument/2006/relationships/image" Target="../media/image103.png"/><Relationship Id="rId10" Type="http://schemas.openxmlformats.org/officeDocument/2006/relationships/image" Target="../media/image14.png"/><Relationship Id="rId9" Type="http://schemas.openxmlformats.org/officeDocument/2006/relationships/image" Target="../media/image16.png"/><Relationship Id="rId5" Type="http://schemas.openxmlformats.org/officeDocument/2006/relationships/image" Target="../media/image15.png"/><Relationship Id="rId6" Type="http://schemas.openxmlformats.org/officeDocument/2006/relationships/image" Target="../media/image17.png"/><Relationship Id="rId7" Type="http://schemas.openxmlformats.org/officeDocument/2006/relationships/image" Target="../media/image19.png"/><Relationship Id="rId8"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25.png"/><Relationship Id="rId7" Type="http://schemas.openxmlformats.org/officeDocument/2006/relationships/image" Target="../media/image12.png"/><Relationship Id="rId8"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3.png"/><Relationship Id="rId11" Type="http://schemas.openxmlformats.org/officeDocument/2006/relationships/image" Target="../media/image26.png"/><Relationship Id="rId10" Type="http://schemas.openxmlformats.org/officeDocument/2006/relationships/image" Target="../media/image41.png"/><Relationship Id="rId9" Type="http://schemas.openxmlformats.org/officeDocument/2006/relationships/image" Target="../media/image30.png"/><Relationship Id="rId5" Type="http://schemas.openxmlformats.org/officeDocument/2006/relationships/image" Target="../media/image4.png"/><Relationship Id="rId6" Type="http://schemas.openxmlformats.org/officeDocument/2006/relationships/image" Target="../media/image32.png"/><Relationship Id="rId7" Type="http://schemas.openxmlformats.org/officeDocument/2006/relationships/image" Target="../media/image43.png"/><Relationship Id="rId8"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34.png"/><Relationship Id="rId6" Type="http://schemas.openxmlformats.org/officeDocument/2006/relationships/image" Target="../media/image36.png"/><Relationship Id="rId7" Type="http://schemas.openxmlformats.org/officeDocument/2006/relationships/image" Target="../media/image46.png"/><Relationship Id="rId8"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6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3.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3.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3.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5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5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41.png"/><Relationship Id="rId6" Type="http://schemas.openxmlformats.org/officeDocument/2006/relationships/image" Target="../media/image5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3.png"/><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3.png"/><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3.png"/><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3.png"/><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3.png"/><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3.png"/><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3.png"/><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3.png"/><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3.png"/><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5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3.png"/><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5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5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5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49.png"/><Relationship Id="rId6" Type="http://schemas.openxmlformats.org/officeDocument/2006/relationships/image" Target="../media/image6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7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5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5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5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6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6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6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6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6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6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7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8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76.png"/><Relationship Id="rId7" Type="http://schemas.openxmlformats.org/officeDocument/2006/relationships/image" Target="../media/image6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6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7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77.pn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77.pn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72.pn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3.png"/><Relationship Id="rId4" Type="http://schemas.openxmlformats.org/officeDocument/2006/relationships/image" Target="../media/image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3.png"/><Relationship Id="rId4" Type="http://schemas.openxmlformats.org/officeDocument/2006/relationships/image" Target="../media/image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hyperlink" Target="https://localhost:55000/security/user/authenticate?raw=true"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13.png"/><Relationship Id="rId4" Type="http://schemas.openxmlformats.org/officeDocument/2006/relationships/image" Target="../media/image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13.png"/><Relationship Id="rId4" Type="http://schemas.openxmlformats.org/officeDocument/2006/relationships/image" Target="../media/image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7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hyperlink" Target="https://localhost:55000/security/user/authenticate?raw=true"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7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79.pn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83.pn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4.png"/><Relationship Id="rId7" Type="http://schemas.openxmlformats.org/officeDocument/2006/relationships/image" Target="../media/image7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80.png"/><Relationship Id="rId7" Type="http://schemas.openxmlformats.org/officeDocument/2006/relationships/image" Target="../media/image8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8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88.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0.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8.png"/><Relationship Id="rId4" Type="http://schemas.openxmlformats.org/officeDocument/2006/relationships/image" Target="../media/image10.png"/><Relationship Id="rId11" Type="http://schemas.openxmlformats.org/officeDocument/2006/relationships/image" Target="../media/image103.png"/><Relationship Id="rId10" Type="http://schemas.openxmlformats.org/officeDocument/2006/relationships/image" Target="../media/image14.png"/><Relationship Id="rId9" Type="http://schemas.openxmlformats.org/officeDocument/2006/relationships/image" Target="../media/image16.png"/><Relationship Id="rId5" Type="http://schemas.openxmlformats.org/officeDocument/2006/relationships/image" Target="../media/image15.png"/><Relationship Id="rId6" Type="http://schemas.openxmlformats.org/officeDocument/2006/relationships/image" Target="../media/image17.png"/><Relationship Id="rId7" Type="http://schemas.openxmlformats.org/officeDocument/2006/relationships/image" Target="../media/image19.png"/><Relationship Id="rId8" Type="http://schemas.openxmlformats.org/officeDocument/2006/relationships/image" Target="../media/image2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87.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84.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1.png"/><Relationship Id="rId7" Type="http://schemas.openxmlformats.org/officeDocument/2006/relationships/image" Target="../media/image10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3.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6.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86.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4.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40.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85.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hyperlink" Target="https://raw.githubusercontent.com/wazuh/wazuh/v4.9.0/extensions/elasticsearch/7.x/wazuh-template.json" TargetMode="Externa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9.png"/><Relationship Id="rId7" Type="http://schemas.openxmlformats.org/officeDocument/2006/relationships/image" Target="../media/image95.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hyperlink" Target="https://documentation.wazuh.com/current/user-manual/ruleset/ruleset-xml-syntax/decoders.html" TargetMode="Externa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09.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0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7.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hyperlink" Target="https://github.com/wazuh/wazuh-ruleset.git" TargetMode="Externa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00.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98.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18.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 Id="rId3" Type="http://schemas.openxmlformats.org/officeDocument/2006/relationships/image" Target="../media/image8.png"/><Relationship Id="rId4" Type="http://schemas.openxmlformats.org/officeDocument/2006/relationships/image" Target="../media/image10.png"/><Relationship Id="rId11" Type="http://schemas.openxmlformats.org/officeDocument/2006/relationships/image" Target="../media/image103.png"/><Relationship Id="rId10" Type="http://schemas.openxmlformats.org/officeDocument/2006/relationships/image" Target="../media/image14.png"/><Relationship Id="rId9" Type="http://schemas.openxmlformats.org/officeDocument/2006/relationships/image" Target="../media/image16.png"/><Relationship Id="rId5" Type="http://schemas.openxmlformats.org/officeDocument/2006/relationships/image" Target="../media/image15.png"/><Relationship Id="rId6" Type="http://schemas.openxmlformats.org/officeDocument/2006/relationships/image" Target="../media/image17.png"/><Relationship Id="rId7" Type="http://schemas.openxmlformats.org/officeDocument/2006/relationships/image" Target="../media/image19.png"/><Relationship Id="rId8" Type="http://schemas.openxmlformats.org/officeDocument/2006/relationships/image" Target="../media/image23.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13.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06.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14.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7.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7.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12.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04.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07.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10.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07.pn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hyperlink" Target="https://documentation.wazuh.com/current/user-manual/ruleset/ruleset-xml-syntax/regex.html" TargetMode="Externa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5.xml"/><Relationship Id="rId3" Type="http://schemas.openxmlformats.org/officeDocument/2006/relationships/image" Target="../media/image8.png"/><Relationship Id="rId4" Type="http://schemas.openxmlformats.org/officeDocument/2006/relationships/image" Target="../media/image10.png"/><Relationship Id="rId11" Type="http://schemas.openxmlformats.org/officeDocument/2006/relationships/image" Target="../media/image103.png"/><Relationship Id="rId10" Type="http://schemas.openxmlformats.org/officeDocument/2006/relationships/image" Target="../media/image14.png"/><Relationship Id="rId9" Type="http://schemas.openxmlformats.org/officeDocument/2006/relationships/image" Target="../media/image16.png"/><Relationship Id="rId5" Type="http://schemas.openxmlformats.org/officeDocument/2006/relationships/image" Target="../media/image15.png"/><Relationship Id="rId6" Type="http://schemas.openxmlformats.org/officeDocument/2006/relationships/image" Target="../media/image17.png"/><Relationship Id="rId7" Type="http://schemas.openxmlformats.org/officeDocument/2006/relationships/image" Target="../media/image19.png"/><Relationship Id="rId8" Type="http://schemas.openxmlformats.org/officeDocument/2006/relationships/image" Target="../media/image23.png"/></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19.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11.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16.png"/></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05.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08.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5.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15.png"/></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5.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9.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5.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7.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9.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hyperlink" Target="https://docs.microsoft.com/en-us/sysinternals/downloads/sysmon" TargetMode="External"/><Relationship Id="rId7" Type="http://schemas.openxmlformats.org/officeDocument/2006/relationships/hyperlink" Target="https://wazuh.com/resources/blog/detecting-process-injection-with-wazuh/sysmonconfig.xml" TargetMode="Externa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0.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1.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17.png"/></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7" name="Shape 87"/>
        <p:cNvGrpSpPr/>
        <p:nvPr/>
      </p:nvGrpSpPr>
      <p:grpSpPr>
        <a:xfrm>
          <a:off x="0" y="0"/>
          <a:ext cx="0" cy="0"/>
          <a:chOff x="0" y="0"/>
          <a:chExt cx="0" cy="0"/>
        </a:xfrm>
      </p:grpSpPr>
      <p:pic>
        <p:nvPicPr>
          <p:cNvPr descr="A picture containing food, drawing, shirt&#10;&#10;Description automatically generated" id="88" name="Google Shape;88;p1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89" name="Google Shape;89;p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0" name="Google Shape;90;p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91" name="Google Shape;91;p13"/>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92" name="Google Shape;92;p1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93" name="Google Shape;93;p13"/>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94" name="Google Shape;94;p13"/>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Wazuh for Security Engineers.</a:t>
            </a:r>
            <a:endParaRPr sz="4800">
              <a:solidFill>
                <a:schemeClr val="lt1"/>
              </a:solidFill>
              <a:highlight>
                <a:srgbClr val="3585F9"/>
              </a:highlight>
              <a:latin typeface="Poppins"/>
              <a:ea typeface="Poppins"/>
              <a:cs typeface="Poppins"/>
              <a:sym typeface="Poppins"/>
            </a:endParaRPr>
          </a:p>
        </p:txBody>
      </p:sp>
      <p:pic>
        <p:nvPicPr>
          <p:cNvPr id="95" name="Google Shape;95;p13"/>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14"/>
          <p:cNvSpPr txBox="1"/>
          <p:nvPr/>
        </p:nvSpPr>
        <p:spPr>
          <a:xfrm>
            <a:off x="838199" y="1832264"/>
            <a:ext cx="3388500" cy="482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400"/>
              <a:buFont typeface="Poppins"/>
              <a:buNone/>
            </a:pPr>
            <a:r>
              <a:rPr b="0" i="0" lang="en-US" sz="2400" u="none" cap="none" strike="noStrike">
                <a:solidFill>
                  <a:srgbClr val="000000"/>
                </a:solidFill>
                <a:latin typeface="Poppins"/>
                <a:ea typeface="Poppins"/>
                <a:cs typeface="Poppins"/>
                <a:sym typeface="Poppins"/>
              </a:rPr>
              <a:t>we are</a:t>
            </a:r>
            <a:endParaRPr sz="1400"/>
          </a:p>
        </p:txBody>
      </p:sp>
      <p:sp>
        <p:nvSpPr>
          <p:cNvPr id="103" name="Google Shape;103;p14"/>
          <p:cNvSpPr txBox="1"/>
          <p:nvPr/>
        </p:nvSpPr>
        <p:spPr>
          <a:xfrm>
            <a:off x="838199" y="2248457"/>
            <a:ext cx="5765700" cy="36507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1" i="0" lang="en-US" sz="3600" u="none" cap="none" strike="noStrike">
                <a:solidFill>
                  <a:srgbClr val="D61F64"/>
                </a:solidFill>
                <a:latin typeface="Poppins"/>
                <a:ea typeface="Poppins"/>
                <a:cs typeface="Poppins"/>
                <a:sym typeface="Poppins"/>
              </a:rPr>
              <a:t>IT TRAINING CENTER</a:t>
            </a:r>
            <a:br>
              <a:rPr b="1" i="0" lang="en-US" sz="3600" u="none" cap="none" strike="noStrike">
                <a:solidFill>
                  <a:srgbClr val="D61F64"/>
                </a:solidFill>
                <a:latin typeface="Poppins"/>
                <a:ea typeface="Poppins"/>
                <a:cs typeface="Poppins"/>
                <a:sym typeface="Poppins"/>
              </a:rPr>
            </a:br>
            <a:r>
              <a:rPr b="1" i="0" lang="en-US" sz="3600" u="none" cap="none" strike="noStrike">
                <a:solidFill>
                  <a:srgbClr val="F7A24E"/>
                </a:solidFill>
                <a:latin typeface="Poppins"/>
                <a:ea typeface="Poppins"/>
                <a:cs typeface="Poppins"/>
                <a:sym typeface="Poppins"/>
              </a:rPr>
              <a:t>IT SOLUTION PROVIDER</a:t>
            </a:r>
            <a:endParaRPr b="1" i="0" sz="3600" u="none" cap="none" strike="noStrike">
              <a:solidFill>
                <a:srgbClr val="F7A24E"/>
              </a:solidFill>
              <a:latin typeface="Poppins"/>
              <a:ea typeface="Poppins"/>
              <a:cs typeface="Poppins"/>
              <a:sym typeface="Poppins"/>
            </a:endParaRPr>
          </a:p>
          <a:p>
            <a:pPr indent="0" lvl="0" marL="0" marR="0" rtl="0" algn="l">
              <a:lnSpc>
                <a:spcPct val="90000"/>
              </a:lnSpc>
              <a:spcBef>
                <a:spcPts val="600"/>
              </a:spcBef>
              <a:spcAft>
                <a:spcPts val="0"/>
              </a:spcAft>
              <a:buClr>
                <a:schemeClr val="dk1"/>
              </a:buClr>
              <a:buSzPts val="3200"/>
              <a:buFont typeface="Poppins"/>
              <a:buNone/>
            </a:pPr>
            <a:r>
              <a:t/>
            </a:r>
            <a:endParaRPr b="1" i="0" sz="3200" u="none" cap="none" strike="noStrike">
              <a:solidFill>
                <a:srgbClr val="000000"/>
              </a:solidFill>
              <a:latin typeface="Poppins"/>
              <a:ea typeface="Poppins"/>
              <a:cs typeface="Poppins"/>
              <a:sym typeface="Poppins"/>
            </a:endParaRPr>
          </a:p>
          <a:p>
            <a:pPr indent="0" lvl="0" marL="0" marR="0" rtl="0" algn="l">
              <a:lnSpc>
                <a:spcPct val="90000"/>
              </a:lnSpc>
              <a:spcBef>
                <a:spcPts val="600"/>
              </a:spcBef>
              <a:spcAft>
                <a:spcPts val="0"/>
              </a:spcAft>
              <a:buClr>
                <a:srgbClr val="000000"/>
              </a:buClr>
              <a:buSzPts val="3200"/>
              <a:buFont typeface="Poppins"/>
              <a:buNone/>
            </a:pPr>
            <a:r>
              <a:rPr b="1" i="0" lang="en-US" sz="3200" u="none" cap="none" strike="noStrike">
                <a:solidFill>
                  <a:srgbClr val="000000"/>
                </a:solidFill>
                <a:latin typeface="Poppins"/>
                <a:ea typeface="Poppins"/>
                <a:cs typeface="Poppins"/>
                <a:sym typeface="Poppins"/>
              </a:rPr>
              <a:t>ID-Networkers</a:t>
            </a:r>
            <a:endParaRPr b="1" i="0" sz="3600" u="none" cap="none" strike="noStrike">
              <a:solidFill>
                <a:srgbClr val="000000"/>
              </a:solidFill>
              <a:latin typeface="Poppins"/>
              <a:ea typeface="Poppins"/>
              <a:cs typeface="Poppins"/>
              <a:sym typeface="Poppins"/>
            </a:endParaRPr>
          </a:p>
          <a:p>
            <a:pPr indent="0" lvl="0" marL="0" marR="0" rtl="0" algn="l">
              <a:lnSpc>
                <a:spcPct val="90000"/>
              </a:lnSpc>
              <a:spcBef>
                <a:spcPts val="600"/>
              </a:spcBef>
              <a:spcAft>
                <a:spcPts val="0"/>
              </a:spcAft>
              <a:buClr>
                <a:srgbClr val="000000"/>
              </a:buClr>
              <a:buSzPts val="2000"/>
              <a:buFont typeface="Poppins"/>
              <a:buNone/>
            </a:pPr>
            <a:r>
              <a:rPr b="0" i="0" lang="en-US" sz="2000" u="none" cap="none" strike="noStrike">
                <a:solidFill>
                  <a:srgbClr val="000000"/>
                </a:solidFill>
                <a:latin typeface="Poppins"/>
                <a:ea typeface="Poppins"/>
                <a:cs typeface="Poppins"/>
                <a:sym typeface="Poppins"/>
              </a:rPr>
              <a:t>PT. Integrasi Data Nusantara</a:t>
            </a:r>
            <a:endParaRPr sz="1400"/>
          </a:p>
          <a:p>
            <a:pPr indent="0" lvl="0" marL="0" marR="0" rtl="0" algn="l">
              <a:lnSpc>
                <a:spcPct val="90000"/>
              </a:lnSpc>
              <a:spcBef>
                <a:spcPts val="600"/>
              </a:spcBef>
              <a:spcAft>
                <a:spcPts val="0"/>
              </a:spcAft>
              <a:buNone/>
            </a:pPr>
            <a:r>
              <a:t/>
            </a:r>
            <a:endParaRPr b="0" i="0" sz="3200" u="none" cap="none" strike="noStrike">
              <a:solidFill>
                <a:srgbClr val="000000"/>
              </a:solidFill>
              <a:latin typeface="Poppins"/>
              <a:ea typeface="Poppins"/>
              <a:cs typeface="Poppins"/>
              <a:sym typeface="Poppins"/>
            </a:endParaRPr>
          </a:p>
          <a:p>
            <a:pPr indent="0" lvl="0" marL="0" marR="0" rtl="0" algn="l">
              <a:lnSpc>
                <a:spcPct val="90000"/>
              </a:lnSpc>
              <a:spcBef>
                <a:spcPts val="600"/>
              </a:spcBef>
              <a:spcAft>
                <a:spcPts val="0"/>
              </a:spcAft>
              <a:buClr>
                <a:srgbClr val="000000"/>
              </a:buClr>
              <a:buSzPts val="1600"/>
              <a:buFont typeface="Poppins"/>
              <a:buNone/>
            </a:pPr>
            <a:r>
              <a:rPr b="1" i="0" lang="en-US" sz="1600" u="none" cap="none" strike="noStrike">
                <a:solidFill>
                  <a:srgbClr val="000000"/>
                </a:solidFill>
                <a:latin typeface="Poppins"/>
                <a:ea typeface="Poppins"/>
                <a:cs typeface="Poppins"/>
                <a:sym typeface="Poppins"/>
              </a:rPr>
              <a:t>Jakarta Office</a:t>
            </a:r>
            <a:r>
              <a:rPr b="0" i="0" lang="en-US" sz="1600" u="none" cap="none" strike="noStrike">
                <a:solidFill>
                  <a:srgbClr val="000000"/>
                </a:solidFill>
                <a:latin typeface="Poppins"/>
                <a:ea typeface="Poppins"/>
                <a:cs typeface="Poppins"/>
                <a:sym typeface="Poppins"/>
              </a:rPr>
              <a:t>:	</a:t>
            </a:r>
            <a:r>
              <a:rPr b="1" i="0" lang="en-US" sz="1600" u="none" cap="none" strike="noStrike">
                <a:solidFill>
                  <a:srgbClr val="000000"/>
                </a:solidFill>
                <a:latin typeface="Poppins"/>
                <a:ea typeface="Poppins"/>
                <a:cs typeface="Poppins"/>
                <a:sym typeface="Poppins"/>
              </a:rPr>
              <a:t> 	Semarang Office</a:t>
            </a:r>
            <a:r>
              <a:rPr b="0" i="0" lang="en-US" sz="1600" u="none" cap="none" strike="noStrike">
                <a:solidFill>
                  <a:srgbClr val="000000"/>
                </a:solidFill>
                <a:latin typeface="Poppins"/>
                <a:ea typeface="Poppins"/>
                <a:cs typeface="Poppins"/>
                <a:sym typeface="Poppins"/>
              </a:rPr>
              <a:t>:</a:t>
            </a:r>
            <a:br>
              <a:rPr b="0" i="0" lang="en-US" sz="1600" u="none" cap="none" strike="noStrike">
                <a:solidFill>
                  <a:srgbClr val="000000"/>
                </a:solidFill>
                <a:latin typeface="Poppins"/>
                <a:ea typeface="Poppins"/>
                <a:cs typeface="Poppins"/>
                <a:sym typeface="Poppins"/>
              </a:rPr>
            </a:br>
            <a:r>
              <a:rPr b="0" i="1" lang="en-US" sz="1200" u="none" cap="none" strike="noStrike">
                <a:solidFill>
                  <a:srgbClr val="000000"/>
                </a:solidFill>
                <a:latin typeface="Poppins"/>
                <a:ea typeface="Poppins"/>
                <a:cs typeface="Poppins"/>
                <a:sym typeface="Poppins"/>
              </a:rPr>
              <a:t>Jl. Anggrek Rosliana No.12A,	 Jl. Prof Sudarto Ruko Lt. 2 No. 11,</a:t>
            </a:r>
            <a:br>
              <a:rPr b="0" i="1" lang="en-US" sz="1200" u="none" cap="none" strike="noStrike">
                <a:solidFill>
                  <a:srgbClr val="000000"/>
                </a:solidFill>
                <a:latin typeface="Poppins"/>
                <a:ea typeface="Poppins"/>
                <a:cs typeface="Poppins"/>
                <a:sym typeface="Poppins"/>
              </a:rPr>
            </a:br>
            <a:r>
              <a:rPr b="0" i="1" lang="en-US" sz="1200" u="none" cap="none" strike="noStrike">
                <a:solidFill>
                  <a:srgbClr val="000000"/>
                </a:solidFill>
                <a:latin typeface="Poppins"/>
                <a:ea typeface="Poppins"/>
                <a:cs typeface="Poppins"/>
                <a:sym typeface="Poppins"/>
              </a:rPr>
              <a:t>Slipi, Jakarta Barat.		Tembalang, Kota Semarang.</a:t>
            </a:r>
            <a:endParaRPr b="0" i="0" sz="100" u="none" cap="none" strike="noStrike">
              <a:solidFill>
                <a:srgbClr val="000000"/>
              </a:solidFill>
              <a:latin typeface="Poppins"/>
              <a:ea typeface="Poppins"/>
              <a:cs typeface="Poppins"/>
              <a:sym typeface="Poppins"/>
            </a:endParaRPr>
          </a:p>
        </p:txBody>
      </p:sp>
      <p:sp>
        <p:nvSpPr>
          <p:cNvPr id="104" name="Google Shape;104;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05" name="Google Shape;105;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06" name="Google Shape;106;p14"/>
          <p:cNvPicPr preferRelativeResize="0"/>
          <p:nvPr/>
        </p:nvPicPr>
        <p:blipFill rotWithShape="1">
          <a:blip r:embed="rId3">
            <a:alphaModFix/>
          </a:blip>
          <a:srcRect b="0" l="0" r="14192" t="0"/>
          <a:stretch/>
        </p:blipFill>
        <p:spPr>
          <a:xfrm>
            <a:off x="6485466" y="1268781"/>
            <a:ext cx="5706534" cy="4630367"/>
          </a:xfrm>
          <a:prstGeom prst="rect">
            <a:avLst/>
          </a:prstGeom>
          <a:noFill/>
          <a:ln>
            <a:noFill/>
          </a:ln>
        </p:spPr>
      </p:pic>
      <p:sp>
        <p:nvSpPr>
          <p:cNvPr id="107" name="Google Shape;107;p14"/>
          <p:cNvSpPr/>
          <p:nvPr/>
        </p:nvSpPr>
        <p:spPr>
          <a:xfrm>
            <a:off x="6485466" y="6008366"/>
            <a:ext cx="477600" cy="114600"/>
          </a:xfrm>
          <a:prstGeom prst="roundRect">
            <a:avLst>
              <a:gd fmla="val 50000" name="adj"/>
            </a:avLst>
          </a:prstGeom>
          <a:solidFill>
            <a:srgbClr val="D61F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
        <p:nvSpPr>
          <p:cNvPr id="108" name="Google Shape;108;p14"/>
          <p:cNvSpPr/>
          <p:nvPr/>
        </p:nvSpPr>
        <p:spPr>
          <a:xfrm>
            <a:off x="7217303" y="6004781"/>
            <a:ext cx="477600" cy="114600"/>
          </a:xfrm>
          <a:prstGeom prst="roundRect">
            <a:avLst>
              <a:gd fmla="val 50000" name="adj"/>
            </a:avLst>
          </a:prstGeom>
          <a:solidFill>
            <a:srgbClr val="D61F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
        <p:nvSpPr>
          <p:cNvPr id="109" name="Google Shape;109;p14"/>
          <p:cNvSpPr/>
          <p:nvPr/>
        </p:nvSpPr>
        <p:spPr>
          <a:xfrm>
            <a:off x="7949140" y="6001196"/>
            <a:ext cx="477600" cy="114600"/>
          </a:xfrm>
          <a:prstGeom prst="roundRect">
            <a:avLst>
              <a:gd fmla="val 50000" name="adj"/>
            </a:avLst>
          </a:prstGeom>
          <a:solidFill>
            <a:srgbClr val="D61F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
        <p:nvSpPr>
          <p:cNvPr id="110" name="Google Shape;110;p14"/>
          <p:cNvSpPr/>
          <p:nvPr/>
        </p:nvSpPr>
        <p:spPr>
          <a:xfrm>
            <a:off x="8680977" y="5997611"/>
            <a:ext cx="477600" cy="114600"/>
          </a:xfrm>
          <a:prstGeom prst="roundRect">
            <a:avLst>
              <a:gd fmla="val 50000" name="adj"/>
            </a:avLst>
          </a:prstGeom>
          <a:solidFill>
            <a:srgbClr val="D61F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
        <p:nvSpPr>
          <p:cNvPr id="111" name="Google Shape;111;p14"/>
          <p:cNvSpPr/>
          <p:nvPr/>
        </p:nvSpPr>
        <p:spPr>
          <a:xfrm>
            <a:off x="9412814" y="5994026"/>
            <a:ext cx="477600" cy="114600"/>
          </a:xfrm>
          <a:prstGeom prst="roundRect">
            <a:avLst>
              <a:gd fmla="val 50000" name="adj"/>
            </a:avLst>
          </a:prstGeom>
          <a:solidFill>
            <a:srgbClr val="D61F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
        <p:nvSpPr>
          <p:cNvPr id="112" name="Google Shape;112;p14"/>
          <p:cNvSpPr/>
          <p:nvPr/>
        </p:nvSpPr>
        <p:spPr>
          <a:xfrm>
            <a:off x="10144651" y="5990441"/>
            <a:ext cx="477600" cy="114600"/>
          </a:xfrm>
          <a:prstGeom prst="roundRect">
            <a:avLst>
              <a:gd fmla="val 50000" name="adj"/>
            </a:avLst>
          </a:prstGeom>
          <a:solidFill>
            <a:srgbClr val="D61F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
        <p:nvSpPr>
          <p:cNvPr id="113" name="Google Shape;113;p14"/>
          <p:cNvSpPr/>
          <p:nvPr/>
        </p:nvSpPr>
        <p:spPr>
          <a:xfrm>
            <a:off x="10876488" y="5986856"/>
            <a:ext cx="477600" cy="114600"/>
          </a:xfrm>
          <a:prstGeom prst="roundRect">
            <a:avLst>
              <a:gd fmla="val 50000" name="adj"/>
            </a:avLst>
          </a:prstGeom>
          <a:solidFill>
            <a:srgbClr val="D61F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
        <p:nvSpPr>
          <p:cNvPr id="114" name="Google Shape;114;p14"/>
          <p:cNvSpPr/>
          <p:nvPr/>
        </p:nvSpPr>
        <p:spPr>
          <a:xfrm>
            <a:off x="11608325" y="5983271"/>
            <a:ext cx="477600" cy="114600"/>
          </a:xfrm>
          <a:prstGeom prst="roundRect">
            <a:avLst>
              <a:gd fmla="val 50000" name="adj"/>
            </a:avLst>
          </a:prstGeom>
          <a:solidFill>
            <a:srgbClr val="D61F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
        <p:nvSpPr>
          <p:cNvPr id="115" name="Google Shape;115;p14"/>
          <p:cNvSpPr txBox="1"/>
          <p:nvPr/>
        </p:nvSpPr>
        <p:spPr>
          <a:xfrm>
            <a:off x="10383416" y="367486"/>
            <a:ext cx="14415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7A24E"/>
                </a:solidFill>
                <a:latin typeface="Poppins"/>
                <a:ea typeface="Poppins"/>
                <a:cs typeface="Poppins"/>
                <a:sym typeface="Poppins"/>
              </a:rPr>
              <a:t>++++++++</a:t>
            </a:r>
            <a:br>
              <a:rPr b="0" i="0" lang="en-US" sz="1800" u="none" cap="none" strike="noStrike">
                <a:solidFill>
                  <a:srgbClr val="F7A24E"/>
                </a:solidFill>
                <a:latin typeface="Poppins"/>
                <a:ea typeface="Poppins"/>
                <a:cs typeface="Poppins"/>
                <a:sym typeface="Poppins"/>
              </a:rPr>
            </a:br>
            <a:r>
              <a:rPr b="0" i="0" lang="en-US" sz="1800" u="none" cap="none" strike="noStrike">
                <a:solidFill>
                  <a:srgbClr val="F7A24E"/>
                </a:solidFill>
                <a:latin typeface="Poppins"/>
                <a:ea typeface="Poppins"/>
                <a:cs typeface="Poppins"/>
                <a:sym typeface="Poppins"/>
              </a:rPr>
              <a:t>++++++++</a:t>
            </a:r>
            <a:endParaRPr sz="1800">
              <a:solidFill>
                <a:srgbClr val="F7A24E"/>
              </a:solidFill>
              <a:latin typeface="Poppins"/>
              <a:ea typeface="Poppins"/>
              <a:cs typeface="Poppins"/>
              <a:sym typeface="Poppins"/>
            </a:endParaRPr>
          </a:p>
        </p:txBody>
      </p:sp>
      <p:sp>
        <p:nvSpPr>
          <p:cNvPr id="116" name="Google Shape;116;p14"/>
          <p:cNvSpPr txBox="1"/>
          <p:nvPr/>
        </p:nvSpPr>
        <p:spPr>
          <a:xfrm>
            <a:off x="838199" y="367486"/>
            <a:ext cx="14415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7A24E"/>
                </a:solidFill>
                <a:latin typeface="Poppins"/>
                <a:ea typeface="Poppins"/>
                <a:cs typeface="Poppins"/>
                <a:sym typeface="Poppins"/>
              </a:rPr>
              <a:t>++++++++</a:t>
            </a:r>
            <a:br>
              <a:rPr lang="en-US" sz="1800">
                <a:solidFill>
                  <a:srgbClr val="F7A24E"/>
                </a:solidFill>
                <a:latin typeface="Poppins"/>
                <a:ea typeface="Poppins"/>
                <a:cs typeface="Poppins"/>
                <a:sym typeface="Poppins"/>
              </a:rPr>
            </a:br>
            <a:r>
              <a:rPr lang="en-US" sz="1800">
                <a:solidFill>
                  <a:srgbClr val="F7A24E"/>
                </a:solidFill>
                <a:latin typeface="Poppins"/>
                <a:ea typeface="Poppins"/>
                <a:cs typeface="Poppins"/>
                <a:sym typeface="Poppins"/>
              </a:rPr>
              <a:t>++++++++</a:t>
            </a:r>
            <a:endParaRPr sz="1800">
              <a:solidFill>
                <a:srgbClr val="F7A24E"/>
              </a:solidFill>
              <a:latin typeface="Poppins"/>
              <a:ea typeface="Poppins"/>
              <a:cs typeface="Poppins"/>
              <a:sym typeface="Poppi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txBox="1"/>
          <p:nvPr>
            <p:ph type="title"/>
          </p:nvPr>
        </p:nvSpPr>
        <p:spPr>
          <a:xfrm>
            <a:off x="1980170" y="314163"/>
            <a:ext cx="82317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latin typeface="Poppins SemiBold"/>
                <a:ea typeface="Poppins SemiBold"/>
                <a:cs typeface="Poppins SemiBold"/>
                <a:sym typeface="Poppins SemiBold"/>
              </a:rPr>
              <a:t>Whoami !</a:t>
            </a:r>
            <a:endParaRPr>
              <a:latin typeface="Poppins SemiBold"/>
              <a:ea typeface="Poppins SemiBold"/>
              <a:cs typeface="Poppins SemiBold"/>
              <a:sym typeface="Poppins SemiBold"/>
            </a:endParaRPr>
          </a:p>
        </p:txBody>
      </p:sp>
      <p:sp>
        <p:nvSpPr>
          <p:cNvPr id="122" name="Google Shape;122;p15"/>
          <p:cNvSpPr txBox="1"/>
          <p:nvPr/>
        </p:nvSpPr>
        <p:spPr>
          <a:xfrm>
            <a:off x="4595625" y="6252350"/>
            <a:ext cx="3000900" cy="323100"/>
          </a:xfrm>
          <a:prstGeom prst="rect">
            <a:avLst/>
          </a:prstGeom>
          <a:noFill/>
          <a:ln>
            <a:noFill/>
          </a:ln>
        </p:spPr>
        <p:txBody>
          <a:bodyPr anchorCtr="0" anchor="t" bIns="91425" lIns="91425" spcFirstLastPara="1" rIns="91425" wrap="square" tIns="91425">
            <a:spAutoFit/>
          </a:bodyPr>
          <a:lstStyle/>
          <a:p>
            <a:pPr indent="0" lvl="0" marL="0" rtl="0" algn="ctr">
              <a:lnSpc>
                <a:spcPct val="107916"/>
              </a:lnSpc>
              <a:spcBef>
                <a:spcPts val="0"/>
              </a:spcBef>
              <a:spcAft>
                <a:spcPts val="0"/>
              </a:spcAft>
              <a:buNone/>
            </a:pPr>
            <a:r>
              <a:rPr lang="en-US" sz="900">
                <a:solidFill>
                  <a:srgbClr val="808080"/>
                </a:solidFill>
                <a:latin typeface="Calibri"/>
                <a:ea typeface="Calibri"/>
                <a:cs typeface="Calibri"/>
                <a:sym typeface="Calibri"/>
              </a:rPr>
              <a:t>Copyright © 2025, All rights reserved</a:t>
            </a:r>
            <a:endParaRPr sz="900">
              <a:solidFill>
                <a:srgbClr val="808080"/>
              </a:solidFill>
              <a:latin typeface="Calibri"/>
              <a:ea typeface="Calibri"/>
              <a:cs typeface="Calibri"/>
              <a:sym typeface="Calibri"/>
            </a:endParaRPr>
          </a:p>
        </p:txBody>
      </p:sp>
      <p:cxnSp>
        <p:nvCxnSpPr>
          <p:cNvPr id="123" name="Google Shape;123;p15"/>
          <p:cNvCxnSpPr/>
          <p:nvPr/>
        </p:nvCxnSpPr>
        <p:spPr>
          <a:xfrm flipH="1" rot="10800000">
            <a:off x="8327333" y="6346975"/>
            <a:ext cx="3864600" cy="9900"/>
          </a:xfrm>
          <a:prstGeom prst="straightConnector1">
            <a:avLst/>
          </a:prstGeom>
          <a:noFill/>
          <a:ln cap="flat" cmpd="sng" w="38100">
            <a:solidFill>
              <a:schemeClr val="accent1"/>
            </a:solidFill>
            <a:prstDash val="solid"/>
            <a:round/>
            <a:headEnd len="med" w="med" type="oval"/>
            <a:tailEnd len="med" w="med" type="none"/>
          </a:ln>
        </p:spPr>
      </p:cxnSp>
      <p:sp>
        <p:nvSpPr>
          <p:cNvPr id="124" name="Google Shape;124;p15"/>
          <p:cNvSpPr txBox="1"/>
          <p:nvPr/>
        </p:nvSpPr>
        <p:spPr>
          <a:xfrm>
            <a:off x="838410" y="1825625"/>
            <a:ext cx="10518300" cy="4351200"/>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None/>
            </a:pPr>
            <a:r>
              <a:t/>
            </a:r>
            <a:endParaRPr sz="2500">
              <a:solidFill>
                <a:srgbClr val="000000"/>
              </a:solidFill>
              <a:latin typeface="Poppins"/>
              <a:ea typeface="Poppins"/>
              <a:cs typeface="Poppins"/>
              <a:sym typeface="Poppins"/>
            </a:endParaRPr>
          </a:p>
          <a:p>
            <a:pPr indent="0" lvl="0" marL="0" rtl="0" algn="l">
              <a:lnSpc>
                <a:spcPct val="70000"/>
              </a:lnSpc>
              <a:spcBef>
                <a:spcPts val="1000"/>
              </a:spcBef>
              <a:spcAft>
                <a:spcPts val="0"/>
              </a:spcAft>
              <a:buNone/>
            </a:pPr>
            <a:r>
              <a:rPr lang="en-US" sz="2500">
                <a:solidFill>
                  <a:srgbClr val="000000"/>
                </a:solidFill>
                <a:latin typeface="Poppins"/>
                <a:ea typeface="Poppins"/>
                <a:cs typeface="Poppins"/>
                <a:sym typeface="Poppins"/>
              </a:rPr>
              <a:t>Aditya Firman </a:t>
            </a:r>
            <a:r>
              <a:rPr lang="en-US" sz="2500">
                <a:latin typeface="Poppins"/>
                <a:ea typeface="Poppins"/>
                <a:cs typeface="Poppins"/>
                <a:sym typeface="Poppins"/>
              </a:rPr>
              <a:t>“Ghxyss”</a:t>
            </a:r>
            <a:endParaRPr sz="900">
              <a:solidFill>
                <a:srgbClr val="000000"/>
              </a:solidFill>
              <a:latin typeface="Poppins"/>
              <a:ea typeface="Poppins"/>
              <a:cs typeface="Poppins"/>
              <a:sym typeface="Poppins"/>
            </a:endParaRPr>
          </a:p>
          <a:p>
            <a:pPr indent="0" lvl="0" marL="0" rtl="0" algn="l">
              <a:lnSpc>
                <a:spcPct val="70000"/>
              </a:lnSpc>
              <a:spcBef>
                <a:spcPts val="1000"/>
              </a:spcBef>
              <a:spcAft>
                <a:spcPts val="0"/>
              </a:spcAft>
              <a:buNone/>
            </a:pPr>
            <a:r>
              <a:rPr lang="en-US" sz="2500">
                <a:latin typeface="Poppins"/>
                <a:ea typeface="Poppins"/>
                <a:cs typeface="Poppins"/>
                <a:sym typeface="Poppins"/>
              </a:rPr>
              <a:t>IT Security With 4+ Years Experience </a:t>
            </a:r>
            <a:endParaRPr sz="900">
              <a:solidFill>
                <a:srgbClr val="000000"/>
              </a:solidFill>
              <a:latin typeface="Poppins"/>
              <a:ea typeface="Poppins"/>
              <a:cs typeface="Poppins"/>
              <a:sym typeface="Poppins"/>
            </a:endParaRPr>
          </a:p>
          <a:p>
            <a:pPr indent="0" lvl="0" marL="0" rtl="0" algn="l">
              <a:lnSpc>
                <a:spcPct val="70000"/>
              </a:lnSpc>
              <a:spcBef>
                <a:spcPts val="1000"/>
              </a:spcBef>
              <a:spcAft>
                <a:spcPts val="0"/>
              </a:spcAft>
              <a:buNone/>
            </a:pPr>
            <a:r>
              <a:t/>
            </a:r>
            <a:endParaRPr sz="900">
              <a:solidFill>
                <a:srgbClr val="000000"/>
              </a:solidFill>
              <a:latin typeface="Poppins"/>
              <a:ea typeface="Poppins"/>
              <a:cs typeface="Poppins"/>
              <a:sym typeface="Poppins"/>
            </a:endParaRPr>
          </a:p>
          <a:p>
            <a:pPr indent="0" lvl="0" marL="0" rtl="0" algn="l">
              <a:lnSpc>
                <a:spcPct val="70000"/>
              </a:lnSpc>
              <a:spcBef>
                <a:spcPts val="1000"/>
              </a:spcBef>
              <a:spcAft>
                <a:spcPts val="0"/>
              </a:spcAft>
              <a:buNone/>
            </a:pPr>
            <a:r>
              <a:t/>
            </a:r>
            <a:endParaRPr sz="900">
              <a:solidFill>
                <a:srgbClr val="000000"/>
              </a:solidFill>
              <a:latin typeface="Poppins"/>
              <a:ea typeface="Poppins"/>
              <a:cs typeface="Poppins"/>
              <a:sym typeface="Poppins"/>
            </a:endParaRPr>
          </a:p>
          <a:p>
            <a:pPr indent="0" lvl="0" marL="0" rtl="0" algn="l">
              <a:lnSpc>
                <a:spcPct val="70000"/>
              </a:lnSpc>
              <a:spcBef>
                <a:spcPts val="1000"/>
              </a:spcBef>
              <a:spcAft>
                <a:spcPts val="0"/>
              </a:spcAft>
              <a:buNone/>
            </a:pPr>
            <a:r>
              <a:rPr lang="en-US" sz="2500" u="sng">
                <a:solidFill>
                  <a:srgbClr val="0563C1"/>
                </a:solidFill>
                <a:latin typeface="Poppins"/>
                <a:ea typeface="Poppins"/>
                <a:cs typeface="Poppins"/>
                <a:sym typeface="Poppins"/>
                <a:hlinkClick r:id="rId3">
                  <a:extLst>
                    <a:ext uri="{A12FA001-AC4F-418D-AE19-62706E023703}">
                      <ahyp:hlinkClr val="tx"/>
                    </a:ext>
                  </a:extLst>
                </a:hlinkClick>
              </a:rPr>
              <a:t>https://www.linkedin.com/in/adityyaaa/</a:t>
            </a:r>
            <a:r>
              <a:rPr lang="en-US" sz="2500">
                <a:solidFill>
                  <a:srgbClr val="000000"/>
                </a:solidFill>
                <a:latin typeface="Poppins"/>
                <a:ea typeface="Poppins"/>
                <a:cs typeface="Poppins"/>
                <a:sym typeface="Poppins"/>
              </a:rPr>
              <a:t> </a:t>
            </a:r>
            <a:endParaRPr sz="900">
              <a:solidFill>
                <a:srgbClr val="000000"/>
              </a:solidFill>
              <a:latin typeface="Poppins"/>
              <a:ea typeface="Poppins"/>
              <a:cs typeface="Poppins"/>
              <a:sym typeface="Poppins"/>
            </a:endParaRPr>
          </a:p>
          <a:p>
            <a:pPr indent="0" lvl="0" marL="0" rtl="0" algn="l">
              <a:lnSpc>
                <a:spcPct val="70000"/>
              </a:lnSpc>
              <a:spcBef>
                <a:spcPts val="1000"/>
              </a:spcBef>
              <a:spcAft>
                <a:spcPts val="0"/>
              </a:spcAft>
              <a:buNone/>
            </a:pPr>
            <a:r>
              <a:t/>
            </a:r>
            <a:endParaRPr sz="2500">
              <a:solidFill>
                <a:srgbClr val="000000"/>
              </a:solidFill>
              <a:latin typeface="Poppins"/>
              <a:ea typeface="Poppins"/>
              <a:cs typeface="Poppins"/>
              <a:sym typeface="Poppins"/>
            </a:endParaRPr>
          </a:p>
          <a:p>
            <a:pPr indent="0" lvl="0" marL="0" rtl="0" algn="l">
              <a:lnSpc>
                <a:spcPct val="70000"/>
              </a:lnSpc>
              <a:spcBef>
                <a:spcPts val="1000"/>
              </a:spcBef>
              <a:spcAft>
                <a:spcPts val="0"/>
              </a:spcAft>
              <a:buNone/>
            </a:pPr>
            <a:r>
              <a:rPr lang="en-US" sz="2500">
                <a:latin typeface="Poppins"/>
                <a:ea typeface="Poppins"/>
                <a:cs typeface="Poppins"/>
                <a:sym typeface="Poppins"/>
              </a:rPr>
              <a:t>aditya.firman@Idn.id</a:t>
            </a:r>
            <a:endParaRPr sz="900">
              <a:solidFill>
                <a:srgbClr val="000000"/>
              </a:solidFill>
              <a:latin typeface="Poppins"/>
              <a:ea typeface="Poppins"/>
              <a:cs typeface="Poppins"/>
              <a:sym typeface="Poppins"/>
            </a:endParaRPr>
          </a:p>
          <a:p>
            <a:pPr indent="0" lvl="0" marL="0" rtl="0" algn="l">
              <a:lnSpc>
                <a:spcPct val="70000"/>
              </a:lnSpc>
              <a:spcBef>
                <a:spcPts val="1000"/>
              </a:spcBef>
              <a:spcAft>
                <a:spcPts val="0"/>
              </a:spcAft>
              <a:buNone/>
            </a:pPr>
            <a:r>
              <a:t/>
            </a:r>
            <a:endParaRPr sz="900">
              <a:solidFill>
                <a:srgbClr val="000000"/>
              </a:solidFill>
              <a:latin typeface="Poppins"/>
              <a:ea typeface="Poppins"/>
              <a:cs typeface="Poppins"/>
              <a:sym typeface="Poppins"/>
            </a:endParaRPr>
          </a:p>
        </p:txBody>
      </p:sp>
      <p:pic>
        <p:nvPicPr>
          <p:cNvPr id="125" name="Google Shape;125;p15"/>
          <p:cNvPicPr preferRelativeResize="0"/>
          <p:nvPr/>
        </p:nvPicPr>
        <p:blipFill rotWithShape="1">
          <a:blip r:embed="rId4">
            <a:alphaModFix/>
          </a:blip>
          <a:srcRect b="0" l="0" r="0" t="0"/>
          <a:stretch/>
        </p:blipFill>
        <p:spPr>
          <a:xfrm>
            <a:off x="8534460" y="2349475"/>
            <a:ext cx="2285026" cy="2736699"/>
          </a:xfrm>
          <a:prstGeom prst="rect">
            <a:avLst/>
          </a:prstGeom>
          <a:noFill/>
          <a:ln>
            <a:noFill/>
          </a:ln>
        </p:spPr>
      </p:pic>
      <p:pic>
        <p:nvPicPr>
          <p:cNvPr id="126" name="Google Shape;126;p15"/>
          <p:cNvPicPr preferRelativeResize="0"/>
          <p:nvPr/>
        </p:nvPicPr>
        <p:blipFill rotWithShape="1">
          <a:blip r:embed="rId5">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27" name="Google Shape;127;p15"/>
          <p:cNvPicPr preferRelativeResize="0"/>
          <p:nvPr/>
        </p:nvPicPr>
        <p:blipFill rotWithShape="1">
          <a:blip r:embed="rId6">
            <a:alphaModFix/>
          </a:blip>
          <a:srcRect b="31110" l="0" r="0" t="33866"/>
          <a:stretch/>
        </p:blipFill>
        <p:spPr>
          <a:xfrm>
            <a:off x="280988" y="6257925"/>
            <a:ext cx="1439863" cy="504824"/>
          </a:xfrm>
          <a:prstGeom prst="rect">
            <a:avLst/>
          </a:prstGeom>
          <a:noFill/>
          <a:ln>
            <a:noFill/>
          </a:ln>
        </p:spPr>
      </p:pic>
      <p:sp>
        <p:nvSpPr>
          <p:cNvPr id="128" name="Google Shape;128;p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6"/>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C41F2F"/>
                </a:solidFill>
                <a:latin typeface="Poppins"/>
                <a:ea typeface="Poppins"/>
                <a:cs typeface="Poppins"/>
                <a:sym typeface="Poppins"/>
              </a:rPr>
              <a:t>Outline</a:t>
            </a:r>
            <a:endParaRPr b="1" i="0" sz="3600" u="none" cap="none" strike="noStrike">
              <a:solidFill>
                <a:srgbClr val="C41F2F"/>
              </a:solidFill>
              <a:latin typeface="Poppins"/>
              <a:ea typeface="Poppins"/>
              <a:cs typeface="Poppins"/>
              <a:sym typeface="Poppins"/>
            </a:endParaRPr>
          </a:p>
        </p:txBody>
      </p:sp>
      <p:cxnSp>
        <p:nvCxnSpPr>
          <p:cNvPr id="134" name="Google Shape;134;p1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35" name="Google Shape;135;p1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36" name="Google Shape;136;p1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37" name="Google Shape;137;p1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38" name="Google Shape;138;p1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39" name="Google Shape;139;p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graphicFrame>
        <p:nvGraphicFramePr>
          <p:cNvPr id="140" name="Google Shape;140;p16"/>
          <p:cNvGraphicFramePr/>
          <p:nvPr/>
        </p:nvGraphicFramePr>
        <p:xfrm>
          <a:off x="952500" y="1547775"/>
          <a:ext cx="3000000" cy="3000000"/>
        </p:xfrm>
        <a:graphic>
          <a:graphicData uri="http://schemas.openxmlformats.org/drawingml/2006/table">
            <a:tbl>
              <a:tblPr>
                <a:noFill/>
                <a:tableStyleId>{5E9E9AE0-E05B-434B-992F-78115EA43AB1}</a:tableStyleId>
              </a:tblPr>
              <a:tblGrid>
                <a:gridCol w="2571750"/>
                <a:gridCol w="2571750"/>
                <a:gridCol w="2571750"/>
                <a:gridCol w="2571750"/>
              </a:tblGrid>
              <a:tr h="440075">
                <a:tc>
                  <a:txBody>
                    <a:bodyPr/>
                    <a:lstStyle/>
                    <a:p>
                      <a:pPr indent="0" lvl="0" marL="0" rtl="0" algn="ctr">
                        <a:spcBef>
                          <a:spcPts val="0"/>
                        </a:spcBef>
                        <a:spcAft>
                          <a:spcPts val="0"/>
                        </a:spcAft>
                        <a:buNone/>
                      </a:pPr>
                      <a:r>
                        <a:rPr lang="en-US"/>
                        <a:t>DAY 1</a:t>
                      </a:r>
                      <a:endParaRPr/>
                    </a:p>
                  </a:txBody>
                  <a:tcPr marT="91425" marB="91425" marR="91425" marL="91425">
                    <a:solidFill>
                      <a:schemeClr val="accent1"/>
                    </a:solidFill>
                  </a:tcPr>
                </a:tc>
                <a:tc>
                  <a:txBody>
                    <a:bodyPr/>
                    <a:lstStyle/>
                    <a:p>
                      <a:pPr indent="0" lvl="0" marL="0" rtl="0" algn="ctr">
                        <a:spcBef>
                          <a:spcPts val="0"/>
                        </a:spcBef>
                        <a:spcAft>
                          <a:spcPts val="0"/>
                        </a:spcAft>
                        <a:buNone/>
                      </a:pPr>
                      <a:r>
                        <a:rPr lang="en-US"/>
                        <a:t>DAY 2</a:t>
                      </a:r>
                      <a:endParaRPr/>
                    </a:p>
                  </a:txBody>
                  <a:tcPr marT="91425" marB="91425" marR="91425" marL="91425">
                    <a:solidFill>
                      <a:schemeClr val="accent1"/>
                    </a:solidFill>
                  </a:tcPr>
                </a:tc>
                <a:tc>
                  <a:txBody>
                    <a:bodyPr/>
                    <a:lstStyle/>
                    <a:p>
                      <a:pPr indent="0" lvl="0" marL="0" rtl="0" algn="ctr">
                        <a:spcBef>
                          <a:spcPts val="0"/>
                        </a:spcBef>
                        <a:spcAft>
                          <a:spcPts val="0"/>
                        </a:spcAft>
                        <a:buNone/>
                      </a:pPr>
                      <a:r>
                        <a:rPr lang="en-US"/>
                        <a:t>DAY 3</a:t>
                      </a:r>
                      <a:endParaRPr/>
                    </a:p>
                  </a:txBody>
                  <a:tcPr marT="91425" marB="91425" marR="91425" marL="91425">
                    <a:solidFill>
                      <a:schemeClr val="accent1"/>
                    </a:solidFill>
                  </a:tcPr>
                </a:tc>
                <a:tc>
                  <a:txBody>
                    <a:bodyPr/>
                    <a:lstStyle/>
                    <a:p>
                      <a:pPr indent="0" lvl="0" marL="0" rtl="0" algn="ctr">
                        <a:spcBef>
                          <a:spcPts val="0"/>
                        </a:spcBef>
                        <a:spcAft>
                          <a:spcPts val="0"/>
                        </a:spcAft>
                        <a:buNone/>
                      </a:pPr>
                      <a:r>
                        <a:rPr lang="en-US"/>
                        <a:t>DAY 4</a:t>
                      </a:r>
                      <a:endParaRPr/>
                    </a:p>
                  </a:txBody>
                  <a:tcPr marT="91425" marB="91425" marR="91425" marL="91425">
                    <a:solidFill>
                      <a:schemeClr val="accent1"/>
                    </a:solidFill>
                  </a:tcPr>
                </a:tc>
              </a:tr>
              <a:tr h="363300">
                <a:tc>
                  <a:txBody>
                    <a:bodyPr/>
                    <a:lstStyle/>
                    <a:p>
                      <a:pPr indent="0" lvl="0" marL="0" rtl="0" algn="l">
                        <a:spcBef>
                          <a:spcPts val="0"/>
                        </a:spcBef>
                        <a:spcAft>
                          <a:spcPts val="0"/>
                        </a:spcAft>
                        <a:buNone/>
                      </a:pPr>
                      <a:r>
                        <a:rPr lang="en-US"/>
                        <a:t>Fundamental Security</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Log Analysis</a:t>
                      </a:r>
                      <a:endParaRPr/>
                    </a:p>
                  </a:txBody>
                  <a:tcPr marT="91425" marB="91425" marR="91425" marL="91425"/>
                </a:tc>
                <a:tc>
                  <a:txBody>
                    <a:bodyPr/>
                    <a:lstStyle/>
                    <a:p>
                      <a:pPr indent="0" lvl="0" marL="0" rtl="0" algn="l">
                        <a:spcBef>
                          <a:spcPts val="0"/>
                        </a:spcBef>
                        <a:spcAft>
                          <a:spcPts val="0"/>
                        </a:spcAft>
                        <a:buNone/>
                      </a:pPr>
                      <a:r>
                        <a:rPr lang="en-US"/>
                        <a:t>File Integrity Monitoring</a:t>
                      </a:r>
                      <a:endParaRPr/>
                    </a:p>
                  </a:txBody>
                  <a:tcPr marT="91425" marB="91425" marR="91425" marL="91425"/>
                </a:tc>
                <a:tc>
                  <a:txBody>
                    <a:bodyPr/>
                    <a:lstStyle/>
                    <a:p>
                      <a:pPr indent="0" lvl="0" marL="0" rtl="0" algn="l">
                        <a:spcBef>
                          <a:spcPts val="0"/>
                        </a:spcBef>
                        <a:spcAft>
                          <a:spcPts val="0"/>
                        </a:spcAft>
                        <a:buNone/>
                      </a:pPr>
                      <a:r>
                        <a:rPr lang="en-US"/>
                        <a:t>MITRE ATT&amp;CK Techniques</a:t>
                      </a:r>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Introduction to Wazuh</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Wazuh Indexer and Dashboard</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US"/>
                        <a:t>Agent Inventory Collection and Vulnerability Detection</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Osquery Integration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Architecture and Secure Communication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Wazuh Ruleset</a:t>
                      </a:r>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Rootkit Detection</a:t>
                      </a:r>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Sysmon Integration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Deployment and Agent Registration Methods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Decoders and Rules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Wazuh </a:t>
                      </a:r>
                      <a:r>
                        <a:rPr lang="en-US"/>
                        <a:t>Integration</a:t>
                      </a:r>
                      <a:r>
                        <a:rPr lang="en-US"/>
                        <a:t> System</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Docker Integration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Wazuh Dashboard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CDB Lists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Active Response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Agent Push Upgrades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Wazuh Ruleset Traversal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Security Configuration Assessment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Wazuh Configuration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Indexer Advanced Pipeline Configuration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7"/>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C41F2F"/>
                </a:solidFill>
                <a:latin typeface="Poppins"/>
                <a:ea typeface="Poppins"/>
                <a:cs typeface="Poppins"/>
                <a:sym typeface="Poppins"/>
              </a:rPr>
              <a:t>Objective</a:t>
            </a:r>
            <a:endParaRPr b="1" i="0" sz="3600" u="none" cap="none" strike="noStrike">
              <a:solidFill>
                <a:srgbClr val="C41F2F"/>
              </a:solidFill>
              <a:latin typeface="Poppins"/>
              <a:ea typeface="Poppins"/>
              <a:cs typeface="Poppins"/>
              <a:sym typeface="Poppins"/>
            </a:endParaRPr>
          </a:p>
        </p:txBody>
      </p:sp>
      <p:cxnSp>
        <p:nvCxnSpPr>
          <p:cNvPr id="146" name="Google Shape;146;p1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47" name="Google Shape;147;p1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48" name="Google Shape;148;p1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49" name="Google Shape;149;p1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50" name="Google Shape;150;p1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51" name="Google Shape;151;p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2" name="Google Shape;152;p17"/>
          <p:cNvSpPr txBox="1"/>
          <p:nvPr/>
        </p:nvSpPr>
        <p:spPr>
          <a:xfrm>
            <a:off x="725325" y="1439724"/>
            <a:ext cx="10917900" cy="4380600"/>
          </a:xfrm>
          <a:prstGeom prst="rect">
            <a:avLst/>
          </a:prstGeom>
          <a:noFill/>
          <a:ln>
            <a:noFill/>
          </a:ln>
        </p:spPr>
        <p:txBody>
          <a:bodyPr anchorCtr="0" anchor="t" bIns="45700" lIns="91425" spcFirstLastPara="1" rIns="91425" wrap="square" tIns="45700">
            <a:normAutofit fontScale="70000"/>
          </a:bodyPr>
          <a:lstStyle/>
          <a:p>
            <a:pPr indent="-330835" lvl="0" marL="457200" rtl="0" algn="l">
              <a:lnSpc>
                <a:spcPct val="150000"/>
              </a:lnSpc>
              <a:spcBef>
                <a:spcPts val="0"/>
              </a:spcBef>
              <a:spcAft>
                <a:spcPts val="0"/>
              </a:spcAft>
              <a:buClr>
                <a:schemeClr val="dk1"/>
              </a:buClr>
              <a:buSzPct val="100000"/>
              <a:buFont typeface="Archivo Medium"/>
              <a:buChar char="●"/>
            </a:pPr>
            <a:r>
              <a:rPr lang="en-US" sz="2300">
                <a:solidFill>
                  <a:schemeClr val="dk1"/>
                </a:solidFill>
                <a:latin typeface="Archivo Medium"/>
                <a:ea typeface="Archivo Medium"/>
                <a:cs typeface="Archivo Medium"/>
                <a:sym typeface="Archivo Medium"/>
              </a:rPr>
              <a:t>Jelaskan fitur-fitur utama dan komponen-komponen Wazuh.</a:t>
            </a:r>
            <a:endParaRPr sz="2300">
              <a:solidFill>
                <a:schemeClr val="dk1"/>
              </a:solidFill>
              <a:latin typeface="Archivo Medium"/>
              <a:ea typeface="Archivo Medium"/>
              <a:cs typeface="Archivo Medium"/>
              <a:sym typeface="Archivo Medium"/>
            </a:endParaRPr>
          </a:p>
          <a:p>
            <a:pPr indent="-330835" lvl="0" marL="457200" rtl="0" algn="l">
              <a:lnSpc>
                <a:spcPct val="150000"/>
              </a:lnSpc>
              <a:spcBef>
                <a:spcPts val="0"/>
              </a:spcBef>
              <a:spcAft>
                <a:spcPts val="0"/>
              </a:spcAft>
              <a:buClr>
                <a:schemeClr val="dk1"/>
              </a:buClr>
              <a:buSzPct val="100000"/>
              <a:buFont typeface="Archivo Medium"/>
              <a:buChar char="●"/>
            </a:pPr>
            <a:r>
              <a:rPr lang="en-US" sz="2300">
                <a:solidFill>
                  <a:schemeClr val="dk1"/>
                </a:solidFill>
                <a:latin typeface="Archivo Medium"/>
                <a:ea typeface="Archivo Medium"/>
                <a:cs typeface="Archivo Medium"/>
                <a:sym typeface="Archivo Medium"/>
              </a:rPr>
              <a:t>Konfigurasi manajer dan agen Wazuh.</a:t>
            </a:r>
            <a:endParaRPr sz="2300">
              <a:solidFill>
                <a:schemeClr val="dk1"/>
              </a:solidFill>
              <a:latin typeface="Archivo Medium"/>
              <a:ea typeface="Archivo Medium"/>
              <a:cs typeface="Archivo Medium"/>
              <a:sym typeface="Archivo Medium"/>
            </a:endParaRPr>
          </a:p>
          <a:p>
            <a:pPr indent="-330835" lvl="0" marL="457200" rtl="0" algn="l">
              <a:lnSpc>
                <a:spcPct val="150000"/>
              </a:lnSpc>
              <a:spcBef>
                <a:spcPts val="0"/>
              </a:spcBef>
              <a:spcAft>
                <a:spcPts val="0"/>
              </a:spcAft>
              <a:buClr>
                <a:schemeClr val="dk1"/>
              </a:buClr>
              <a:buSzPct val="100000"/>
              <a:buFont typeface="Archivo Medium"/>
              <a:buChar char="●"/>
            </a:pPr>
            <a:r>
              <a:rPr lang="en-US" sz="2300">
                <a:solidFill>
                  <a:schemeClr val="dk1"/>
                </a:solidFill>
                <a:latin typeface="Archivo Medium"/>
                <a:ea typeface="Archivo Medium"/>
                <a:cs typeface="Archivo Medium"/>
                <a:sym typeface="Archivo Medium"/>
              </a:rPr>
              <a:t>Buat aturan dan dekoder baru.</a:t>
            </a:r>
            <a:endParaRPr sz="2300">
              <a:solidFill>
                <a:schemeClr val="dk1"/>
              </a:solidFill>
              <a:latin typeface="Archivo Medium"/>
              <a:ea typeface="Archivo Medium"/>
              <a:cs typeface="Archivo Medium"/>
              <a:sym typeface="Archivo Medium"/>
            </a:endParaRPr>
          </a:p>
          <a:p>
            <a:pPr indent="-330835" lvl="0" marL="457200" rtl="0" algn="l">
              <a:lnSpc>
                <a:spcPct val="150000"/>
              </a:lnSpc>
              <a:spcBef>
                <a:spcPts val="0"/>
              </a:spcBef>
              <a:spcAft>
                <a:spcPts val="0"/>
              </a:spcAft>
              <a:buClr>
                <a:schemeClr val="dk1"/>
              </a:buClr>
              <a:buSzPct val="100000"/>
              <a:buFont typeface="Archivo Medium"/>
              <a:buChar char="●"/>
            </a:pPr>
            <a:r>
              <a:rPr lang="en-US" sz="2300">
                <a:solidFill>
                  <a:schemeClr val="dk1"/>
                </a:solidFill>
                <a:latin typeface="Archivo Medium"/>
                <a:ea typeface="Archivo Medium"/>
                <a:cs typeface="Archivo Medium"/>
                <a:sym typeface="Archivo Medium"/>
              </a:rPr>
              <a:t>Pahami alur data peristiwa/peringatan Wazuh termasuk program, file data, dan jalur jaringan yang terlibat.</a:t>
            </a:r>
            <a:endParaRPr sz="2300">
              <a:solidFill>
                <a:schemeClr val="dk1"/>
              </a:solidFill>
              <a:latin typeface="Archivo Medium"/>
              <a:ea typeface="Archivo Medium"/>
              <a:cs typeface="Archivo Medium"/>
              <a:sym typeface="Archivo Medium"/>
            </a:endParaRPr>
          </a:p>
          <a:p>
            <a:pPr indent="-330835" lvl="0" marL="457200" rtl="0" algn="l">
              <a:lnSpc>
                <a:spcPct val="150000"/>
              </a:lnSpc>
              <a:spcBef>
                <a:spcPts val="0"/>
              </a:spcBef>
              <a:spcAft>
                <a:spcPts val="0"/>
              </a:spcAft>
              <a:buClr>
                <a:schemeClr val="dk1"/>
              </a:buClr>
              <a:buSzPct val="100000"/>
              <a:buFont typeface="Archivo Medium"/>
              <a:buChar char="●"/>
            </a:pPr>
            <a:r>
              <a:rPr lang="en-US" sz="2300">
                <a:solidFill>
                  <a:schemeClr val="dk1"/>
                </a:solidFill>
                <a:latin typeface="Archivo Medium"/>
                <a:ea typeface="Archivo Medium"/>
                <a:cs typeface="Archivo Medium"/>
                <a:sym typeface="Archivo Medium"/>
              </a:rPr>
              <a:t>Navigasi peringatan Wazuh melalui berbagai dasbor.</a:t>
            </a:r>
            <a:endParaRPr sz="2300">
              <a:solidFill>
                <a:schemeClr val="dk1"/>
              </a:solidFill>
              <a:latin typeface="Archivo Medium"/>
              <a:ea typeface="Archivo Medium"/>
              <a:cs typeface="Archivo Medium"/>
              <a:sym typeface="Archivo Medium"/>
            </a:endParaRPr>
          </a:p>
          <a:p>
            <a:pPr indent="-330835" lvl="0" marL="457200" rtl="0" algn="l">
              <a:lnSpc>
                <a:spcPct val="150000"/>
              </a:lnSpc>
              <a:spcBef>
                <a:spcPts val="0"/>
              </a:spcBef>
              <a:spcAft>
                <a:spcPts val="0"/>
              </a:spcAft>
              <a:buClr>
                <a:schemeClr val="dk1"/>
              </a:buClr>
              <a:buSzPct val="100000"/>
              <a:buFont typeface="Archivo Medium"/>
              <a:buChar char="●"/>
            </a:pPr>
            <a:r>
              <a:rPr lang="en-US" sz="2300">
                <a:solidFill>
                  <a:schemeClr val="dk1"/>
                </a:solidFill>
                <a:latin typeface="Archivo Medium"/>
                <a:ea typeface="Archivo Medium"/>
                <a:cs typeface="Archivo Medium"/>
                <a:sym typeface="Archivo Medium"/>
              </a:rPr>
              <a:t>Gunakan modul Wazuh untuk pemeriksaan kepatuhan konfigurasi keamanan dan penilaian kerentanan.</a:t>
            </a:r>
            <a:endParaRPr sz="2300">
              <a:solidFill>
                <a:schemeClr val="dk1"/>
              </a:solidFill>
              <a:latin typeface="Archivo Medium"/>
              <a:ea typeface="Archivo Medium"/>
              <a:cs typeface="Archivo Medium"/>
              <a:sym typeface="Archivo Medium"/>
            </a:endParaRPr>
          </a:p>
          <a:p>
            <a:pPr indent="-330835" lvl="0" marL="457200" rtl="0" algn="l">
              <a:lnSpc>
                <a:spcPct val="150000"/>
              </a:lnSpc>
              <a:spcBef>
                <a:spcPts val="0"/>
              </a:spcBef>
              <a:spcAft>
                <a:spcPts val="0"/>
              </a:spcAft>
              <a:buClr>
                <a:schemeClr val="dk1"/>
              </a:buClr>
              <a:buSzPct val="100000"/>
              <a:buFont typeface="Archivo Medium"/>
              <a:buChar char="●"/>
            </a:pPr>
            <a:r>
              <a:rPr lang="en-US" sz="2300">
                <a:solidFill>
                  <a:schemeClr val="dk1"/>
                </a:solidFill>
                <a:latin typeface="Archivo Medium"/>
                <a:ea typeface="Archivo Medium"/>
                <a:cs typeface="Archivo Medium"/>
                <a:sym typeface="Archivo Medium"/>
              </a:rPr>
              <a:t>Pantau instalasi Wazuh Anda melalui aplikasi web Wazuh.</a:t>
            </a:r>
            <a:endParaRPr sz="2300">
              <a:solidFill>
                <a:schemeClr val="dk1"/>
              </a:solidFill>
              <a:latin typeface="Archivo Medium"/>
              <a:ea typeface="Archivo Medium"/>
              <a:cs typeface="Archivo Medium"/>
              <a:sym typeface="Archivo Medium"/>
            </a:endParaRPr>
          </a:p>
          <a:p>
            <a:pPr indent="-330835" lvl="0" marL="457200" rtl="0" algn="l">
              <a:lnSpc>
                <a:spcPct val="150000"/>
              </a:lnSpc>
              <a:spcBef>
                <a:spcPts val="0"/>
              </a:spcBef>
              <a:spcAft>
                <a:spcPts val="0"/>
              </a:spcAft>
              <a:buClr>
                <a:schemeClr val="dk1"/>
              </a:buClr>
              <a:buSzPct val="100000"/>
              <a:buFont typeface="Archivo Medium"/>
              <a:buChar char="●"/>
            </a:pPr>
            <a:r>
              <a:rPr lang="en-US" sz="2300">
                <a:solidFill>
                  <a:schemeClr val="dk1"/>
                </a:solidFill>
                <a:latin typeface="Archivo Medium"/>
                <a:ea typeface="Archivo Medium"/>
                <a:cs typeface="Archivo Medium"/>
                <a:sym typeface="Archivo Medium"/>
              </a:rPr>
              <a:t>Pahami bagaimana Wazuh membantu kepatuhan peraturan (seperti PCI, SOCKS, HIPAA, GDPR, dll.).</a:t>
            </a:r>
            <a:endParaRPr sz="2300">
              <a:solidFill>
                <a:schemeClr val="dk1"/>
              </a:solidFill>
              <a:latin typeface="Archivo Medium"/>
              <a:ea typeface="Archivo Medium"/>
              <a:cs typeface="Archivo Medium"/>
              <a:sym typeface="Archivo Medium"/>
            </a:endParaRPr>
          </a:p>
          <a:p>
            <a:pPr indent="-330835" lvl="0" marL="457200" rtl="0" algn="l">
              <a:lnSpc>
                <a:spcPct val="150000"/>
              </a:lnSpc>
              <a:spcBef>
                <a:spcPts val="0"/>
              </a:spcBef>
              <a:spcAft>
                <a:spcPts val="0"/>
              </a:spcAft>
              <a:buClr>
                <a:schemeClr val="dk1"/>
              </a:buClr>
              <a:buSzPct val="100000"/>
              <a:buFont typeface="Archivo Medium"/>
              <a:buChar char="●"/>
            </a:pPr>
            <a:r>
              <a:rPr lang="en-US" sz="2300">
                <a:solidFill>
                  <a:schemeClr val="dk1"/>
                </a:solidFill>
                <a:latin typeface="Archivo Medium"/>
                <a:ea typeface="Archivo Medium"/>
                <a:cs typeface="Archivo Medium"/>
                <a:sym typeface="Archivo Medium"/>
              </a:rPr>
              <a:t>Jelajahi berbagai opsi yang tersedia untuk mendorong atau menarik konten log ke dalam Wazuh.</a:t>
            </a:r>
            <a:endParaRPr sz="2300">
              <a:solidFill>
                <a:schemeClr val="dk1"/>
              </a:solidFill>
              <a:latin typeface="Archivo Medium"/>
              <a:ea typeface="Archivo Medium"/>
              <a:cs typeface="Archivo Medium"/>
              <a:sym typeface="Archivo Medium"/>
            </a:endParaRPr>
          </a:p>
          <a:p>
            <a:pPr indent="0" lvl="0" marL="457200" rtl="0" algn="l">
              <a:lnSpc>
                <a:spcPct val="150000"/>
              </a:lnSpc>
              <a:spcBef>
                <a:spcPts val="0"/>
              </a:spcBef>
              <a:spcAft>
                <a:spcPts val="0"/>
              </a:spcAft>
              <a:buNone/>
            </a:pPr>
            <a:r>
              <a:t/>
            </a:r>
            <a:endParaRPr sz="23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156" name="Shape 156"/>
        <p:cNvGrpSpPr/>
        <p:nvPr/>
      </p:nvGrpSpPr>
      <p:grpSpPr>
        <a:xfrm>
          <a:off x="0" y="0"/>
          <a:ext cx="0" cy="0"/>
          <a:chOff x="0" y="0"/>
          <a:chExt cx="0" cy="0"/>
        </a:xfrm>
      </p:grpSpPr>
      <p:pic>
        <p:nvPicPr>
          <p:cNvPr id="157" name="Google Shape;157;p18"/>
          <p:cNvPicPr preferRelativeResize="0"/>
          <p:nvPr/>
        </p:nvPicPr>
        <p:blipFill rotWithShape="1">
          <a:blip r:embed="rId3">
            <a:alphaModFix/>
          </a:blip>
          <a:srcRect b="0" l="0" r="0" t="0"/>
          <a:stretch/>
        </p:blipFill>
        <p:spPr>
          <a:xfrm>
            <a:off x="8735306" y="4992977"/>
            <a:ext cx="1855917" cy="1473975"/>
          </a:xfrm>
          <a:prstGeom prst="rect">
            <a:avLst/>
          </a:prstGeom>
          <a:noFill/>
          <a:ln>
            <a:noFill/>
          </a:ln>
        </p:spPr>
      </p:pic>
      <p:sp>
        <p:nvSpPr>
          <p:cNvPr id="158" name="Google Shape;158;p18"/>
          <p:cNvSpPr txBox="1"/>
          <p:nvPr/>
        </p:nvSpPr>
        <p:spPr>
          <a:xfrm>
            <a:off x="842064" y="2423701"/>
            <a:ext cx="94770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chemeClr val="lt1"/>
                </a:solidFill>
                <a:latin typeface="Poppins"/>
                <a:ea typeface="Poppins"/>
                <a:cs typeface="Poppins"/>
                <a:sym typeface="Poppins"/>
              </a:rPr>
              <a:t>Day 1 </a:t>
            </a:r>
            <a:endParaRPr b="1" sz="6000">
              <a:solidFill>
                <a:schemeClr val="lt1"/>
              </a:solidFill>
              <a:latin typeface="Poppins"/>
              <a:ea typeface="Poppins"/>
              <a:cs typeface="Poppins"/>
              <a:sym typeface="Poppins"/>
            </a:endParaRPr>
          </a:p>
          <a:p>
            <a:pPr indent="0" lvl="0" marL="0" marR="0" rtl="0" algn="l">
              <a:spcBef>
                <a:spcPts val="0"/>
              </a:spcBef>
              <a:spcAft>
                <a:spcPts val="0"/>
              </a:spcAft>
              <a:buNone/>
            </a:pPr>
            <a:r>
              <a:rPr b="1" lang="en-US" sz="6000">
                <a:solidFill>
                  <a:schemeClr val="lt1"/>
                </a:solidFill>
                <a:latin typeface="Poppins"/>
                <a:ea typeface="Poppins"/>
                <a:cs typeface="Poppins"/>
                <a:sym typeface="Poppins"/>
              </a:rPr>
              <a:t>Wazuh Training</a:t>
            </a:r>
            <a:endParaRPr b="1" sz="6000">
              <a:solidFill>
                <a:schemeClr val="lt1"/>
              </a:solidFill>
              <a:latin typeface="Poppins"/>
              <a:ea typeface="Poppins"/>
              <a:cs typeface="Poppins"/>
              <a:sym typeface="Poppins"/>
            </a:endParaRPr>
          </a:p>
        </p:txBody>
      </p:sp>
      <p:sp>
        <p:nvSpPr>
          <p:cNvPr id="159" name="Google Shape;159;p18"/>
          <p:cNvSpPr txBox="1"/>
          <p:nvPr/>
        </p:nvSpPr>
        <p:spPr>
          <a:xfrm>
            <a:off x="902361" y="2056611"/>
            <a:ext cx="24240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Poppins"/>
                <a:ea typeface="Poppins"/>
                <a:cs typeface="Poppins"/>
                <a:sym typeface="Poppins"/>
              </a:rPr>
              <a:t>Cyber Security</a:t>
            </a:r>
            <a:endParaRPr/>
          </a:p>
        </p:txBody>
      </p:sp>
      <p:sp>
        <p:nvSpPr>
          <p:cNvPr id="160" name="Google Shape;160;p18"/>
          <p:cNvSpPr txBox="1"/>
          <p:nvPr/>
        </p:nvSpPr>
        <p:spPr>
          <a:xfrm>
            <a:off x="1103436" y="4459188"/>
            <a:ext cx="2735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Poppins"/>
                <a:ea typeface="Poppins"/>
                <a:cs typeface="Poppins"/>
                <a:sym typeface="Poppins"/>
              </a:rPr>
              <a:t>Aditya Firman Nugroho</a:t>
            </a:r>
            <a:br>
              <a:rPr lang="en-US" sz="1200">
                <a:solidFill>
                  <a:schemeClr val="lt1"/>
                </a:solidFill>
                <a:latin typeface="Poppins"/>
                <a:ea typeface="Poppins"/>
                <a:cs typeface="Poppins"/>
                <a:sym typeface="Poppins"/>
              </a:rPr>
            </a:br>
            <a:r>
              <a:rPr b="1" lang="en-US" sz="1200">
                <a:solidFill>
                  <a:schemeClr val="lt1"/>
                </a:solidFill>
                <a:latin typeface="Poppins"/>
                <a:ea typeface="Poppins"/>
                <a:cs typeface="Poppins"/>
                <a:sym typeface="Poppins"/>
              </a:rPr>
              <a:t>Cyber Geek</a:t>
            </a:r>
            <a:r>
              <a:rPr lang="en-US" sz="1200">
                <a:solidFill>
                  <a:schemeClr val="lt1"/>
                </a:solidFill>
                <a:latin typeface="Poppins"/>
                <a:ea typeface="Poppins"/>
                <a:cs typeface="Poppins"/>
                <a:sym typeface="Poppins"/>
              </a:rPr>
              <a:t> </a:t>
            </a:r>
            <a:endParaRPr/>
          </a:p>
        </p:txBody>
      </p:sp>
      <p:sp>
        <p:nvSpPr>
          <p:cNvPr id="161" name="Google Shape;161;p18"/>
          <p:cNvSpPr txBox="1"/>
          <p:nvPr/>
        </p:nvSpPr>
        <p:spPr>
          <a:xfrm>
            <a:off x="2045414" y="5739660"/>
            <a:ext cx="8757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oppins"/>
                <a:ea typeface="Poppins"/>
                <a:cs typeface="Poppins"/>
                <a:sym typeface="Poppins"/>
              </a:rPr>
              <a:t>www.idn.id</a:t>
            </a:r>
            <a:endParaRPr/>
          </a:p>
        </p:txBody>
      </p:sp>
      <p:pic>
        <p:nvPicPr>
          <p:cNvPr id="162" name="Google Shape;162;p18"/>
          <p:cNvPicPr preferRelativeResize="0"/>
          <p:nvPr/>
        </p:nvPicPr>
        <p:blipFill rotWithShape="1">
          <a:blip r:embed="rId4">
            <a:alphaModFix/>
          </a:blip>
          <a:srcRect b="0" l="0" r="0" t="0"/>
          <a:stretch/>
        </p:blipFill>
        <p:spPr>
          <a:xfrm>
            <a:off x="1101757" y="5716543"/>
            <a:ext cx="943658" cy="276471"/>
          </a:xfrm>
          <a:prstGeom prst="rect">
            <a:avLst/>
          </a:prstGeom>
          <a:noFill/>
          <a:ln>
            <a:noFill/>
          </a:ln>
        </p:spPr>
      </p:pic>
      <p:sp>
        <p:nvSpPr>
          <p:cNvPr id="163" name="Google Shape;163;p18"/>
          <p:cNvSpPr txBox="1"/>
          <p:nvPr/>
        </p:nvSpPr>
        <p:spPr>
          <a:xfrm>
            <a:off x="1207326" y="5740708"/>
            <a:ext cx="7377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oppins"/>
                <a:ea typeface="Poppins"/>
                <a:cs typeface="Poppins"/>
                <a:sym typeface="Poppins"/>
              </a:rPr>
              <a:t>visit now</a:t>
            </a:r>
            <a:endParaRPr/>
          </a:p>
        </p:txBody>
      </p:sp>
      <p:pic>
        <p:nvPicPr>
          <p:cNvPr id="164" name="Google Shape;164;p18"/>
          <p:cNvPicPr preferRelativeResize="0"/>
          <p:nvPr/>
        </p:nvPicPr>
        <p:blipFill rotWithShape="1">
          <a:blip r:embed="rId5">
            <a:alphaModFix/>
          </a:blip>
          <a:srcRect b="0" l="0" r="0" t="0"/>
          <a:stretch/>
        </p:blipFill>
        <p:spPr>
          <a:xfrm>
            <a:off x="7420619" y="949737"/>
            <a:ext cx="157143" cy="157143"/>
          </a:xfrm>
          <a:prstGeom prst="rect">
            <a:avLst/>
          </a:prstGeom>
          <a:noFill/>
          <a:ln>
            <a:noFill/>
          </a:ln>
        </p:spPr>
      </p:pic>
      <p:pic>
        <p:nvPicPr>
          <p:cNvPr id="165" name="Google Shape;165;p18"/>
          <p:cNvPicPr preferRelativeResize="0"/>
          <p:nvPr/>
        </p:nvPicPr>
        <p:blipFill rotWithShape="1">
          <a:blip r:embed="rId5">
            <a:alphaModFix/>
          </a:blip>
          <a:srcRect b="0" l="0" r="0" t="0"/>
          <a:stretch/>
        </p:blipFill>
        <p:spPr>
          <a:xfrm>
            <a:off x="7664459" y="949736"/>
            <a:ext cx="157143" cy="157143"/>
          </a:xfrm>
          <a:prstGeom prst="rect">
            <a:avLst/>
          </a:prstGeom>
          <a:noFill/>
          <a:ln>
            <a:noFill/>
          </a:ln>
        </p:spPr>
      </p:pic>
      <p:pic>
        <p:nvPicPr>
          <p:cNvPr id="166" name="Google Shape;166;p18"/>
          <p:cNvPicPr preferRelativeResize="0"/>
          <p:nvPr/>
        </p:nvPicPr>
        <p:blipFill rotWithShape="1">
          <a:blip r:embed="rId5">
            <a:alphaModFix/>
          </a:blip>
          <a:srcRect b="0" l="0" r="0" t="0"/>
          <a:stretch/>
        </p:blipFill>
        <p:spPr>
          <a:xfrm>
            <a:off x="7908299" y="949735"/>
            <a:ext cx="157143" cy="157143"/>
          </a:xfrm>
          <a:prstGeom prst="rect">
            <a:avLst/>
          </a:prstGeom>
          <a:noFill/>
          <a:ln>
            <a:noFill/>
          </a:ln>
        </p:spPr>
      </p:pic>
      <p:pic>
        <p:nvPicPr>
          <p:cNvPr id="167" name="Google Shape;167;p18"/>
          <p:cNvPicPr preferRelativeResize="0"/>
          <p:nvPr/>
        </p:nvPicPr>
        <p:blipFill rotWithShape="1">
          <a:blip r:embed="rId5">
            <a:alphaModFix/>
          </a:blip>
          <a:srcRect b="0" l="0" r="0" t="0"/>
          <a:stretch/>
        </p:blipFill>
        <p:spPr>
          <a:xfrm>
            <a:off x="8152139" y="949734"/>
            <a:ext cx="157143" cy="157143"/>
          </a:xfrm>
          <a:prstGeom prst="rect">
            <a:avLst/>
          </a:prstGeom>
          <a:noFill/>
          <a:ln>
            <a:noFill/>
          </a:ln>
        </p:spPr>
      </p:pic>
      <p:pic>
        <p:nvPicPr>
          <p:cNvPr id="168" name="Google Shape;168;p18"/>
          <p:cNvPicPr preferRelativeResize="0"/>
          <p:nvPr/>
        </p:nvPicPr>
        <p:blipFill rotWithShape="1">
          <a:blip r:embed="rId5">
            <a:alphaModFix/>
          </a:blip>
          <a:srcRect b="0" l="0" r="0" t="0"/>
          <a:stretch/>
        </p:blipFill>
        <p:spPr>
          <a:xfrm>
            <a:off x="8395979" y="949733"/>
            <a:ext cx="157143" cy="157143"/>
          </a:xfrm>
          <a:prstGeom prst="rect">
            <a:avLst/>
          </a:prstGeom>
          <a:noFill/>
          <a:ln>
            <a:noFill/>
          </a:ln>
        </p:spPr>
      </p:pic>
      <p:pic>
        <p:nvPicPr>
          <p:cNvPr id="169" name="Google Shape;169;p18"/>
          <p:cNvPicPr preferRelativeResize="0"/>
          <p:nvPr/>
        </p:nvPicPr>
        <p:blipFill rotWithShape="1">
          <a:blip r:embed="rId5">
            <a:alphaModFix/>
          </a:blip>
          <a:srcRect b="0" l="0" r="0" t="0"/>
          <a:stretch/>
        </p:blipFill>
        <p:spPr>
          <a:xfrm>
            <a:off x="8639819" y="949732"/>
            <a:ext cx="157143" cy="157143"/>
          </a:xfrm>
          <a:prstGeom prst="rect">
            <a:avLst/>
          </a:prstGeom>
          <a:noFill/>
          <a:ln>
            <a:noFill/>
          </a:ln>
        </p:spPr>
      </p:pic>
      <p:pic>
        <p:nvPicPr>
          <p:cNvPr id="170" name="Google Shape;170;p18"/>
          <p:cNvPicPr preferRelativeResize="0"/>
          <p:nvPr/>
        </p:nvPicPr>
        <p:blipFill rotWithShape="1">
          <a:blip r:embed="rId5">
            <a:alphaModFix/>
          </a:blip>
          <a:srcRect b="0" l="0" r="0" t="0"/>
          <a:stretch/>
        </p:blipFill>
        <p:spPr>
          <a:xfrm>
            <a:off x="7420619" y="1162524"/>
            <a:ext cx="157143" cy="157143"/>
          </a:xfrm>
          <a:prstGeom prst="rect">
            <a:avLst/>
          </a:prstGeom>
          <a:noFill/>
          <a:ln>
            <a:noFill/>
          </a:ln>
        </p:spPr>
      </p:pic>
      <p:pic>
        <p:nvPicPr>
          <p:cNvPr id="171" name="Google Shape;171;p18"/>
          <p:cNvPicPr preferRelativeResize="0"/>
          <p:nvPr/>
        </p:nvPicPr>
        <p:blipFill rotWithShape="1">
          <a:blip r:embed="rId5">
            <a:alphaModFix/>
          </a:blip>
          <a:srcRect b="0" l="0" r="0" t="0"/>
          <a:stretch/>
        </p:blipFill>
        <p:spPr>
          <a:xfrm>
            <a:off x="7664458" y="1162523"/>
            <a:ext cx="157143" cy="157143"/>
          </a:xfrm>
          <a:prstGeom prst="rect">
            <a:avLst/>
          </a:prstGeom>
          <a:noFill/>
          <a:ln>
            <a:noFill/>
          </a:ln>
        </p:spPr>
      </p:pic>
      <p:pic>
        <p:nvPicPr>
          <p:cNvPr id="172" name="Google Shape;172;p18"/>
          <p:cNvPicPr preferRelativeResize="0"/>
          <p:nvPr/>
        </p:nvPicPr>
        <p:blipFill rotWithShape="1">
          <a:blip r:embed="rId5">
            <a:alphaModFix/>
          </a:blip>
          <a:srcRect b="0" l="0" r="0" t="0"/>
          <a:stretch/>
        </p:blipFill>
        <p:spPr>
          <a:xfrm>
            <a:off x="7908297" y="1162522"/>
            <a:ext cx="157143" cy="157143"/>
          </a:xfrm>
          <a:prstGeom prst="rect">
            <a:avLst/>
          </a:prstGeom>
          <a:noFill/>
          <a:ln>
            <a:noFill/>
          </a:ln>
        </p:spPr>
      </p:pic>
      <p:pic>
        <p:nvPicPr>
          <p:cNvPr id="173" name="Google Shape;173;p18"/>
          <p:cNvPicPr preferRelativeResize="0"/>
          <p:nvPr/>
        </p:nvPicPr>
        <p:blipFill rotWithShape="1">
          <a:blip r:embed="rId5">
            <a:alphaModFix/>
          </a:blip>
          <a:srcRect b="0" l="0" r="0" t="0"/>
          <a:stretch/>
        </p:blipFill>
        <p:spPr>
          <a:xfrm>
            <a:off x="8152136" y="1162521"/>
            <a:ext cx="157143" cy="157143"/>
          </a:xfrm>
          <a:prstGeom prst="rect">
            <a:avLst/>
          </a:prstGeom>
          <a:noFill/>
          <a:ln>
            <a:noFill/>
          </a:ln>
        </p:spPr>
      </p:pic>
      <p:pic>
        <p:nvPicPr>
          <p:cNvPr id="174" name="Google Shape;174;p18"/>
          <p:cNvPicPr preferRelativeResize="0"/>
          <p:nvPr/>
        </p:nvPicPr>
        <p:blipFill rotWithShape="1">
          <a:blip r:embed="rId5">
            <a:alphaModFix/>
          </a:blip>
          <a:srcRect b="0" l="0" r="0" t="0"/>
          <a:stretch/>
        </p:blipFill>
        <p:spPr>
          <a:xfrm>
            <a:off x="8395975" y="1162520"/>
            <a:ext cx="157143" cy="157143"/>
          </a:xfrm>
          <a:prstGeom prst="rect">
            <a:avLst/>
          </a:prstGeom>
          <a:noFill/>
          <a:ln>
            <a:noFill/>
          </a:ln>
        </p:spPr>
      </p:pic>
      <p:pic>
        <p:nvPicPr>
          <p:cNvPr id="175" name="Google Shape;175;p18"/>
          <p:cNvPicPr preferRelativeResize="0"/>
          <p:nvPr/>
        </p:nvPicPr>
        <p:blipFill rotWithShape="1">
          <a:blip r:embed="rId5">
            <a:alphaModFix/>
          </a:blip>
          <a:srcRect b="0" l="0" r="0" t="0"/>
          <a:stretch/>
        </p:blipFill>
        <p:spPr>
          <a:xfrm>
            <a:off x="8639814" y="1162519"/>
            <a:ext cx="157143" cy="157143"/>
          </a:xfrm>
          <a:prstGeom prst="rect">
            <a:avLst/>
          </a:prstGeom>
          <a:noFill/>
          <a:ln>
            <a:noFill/>
          </a:ln>
        </p:spPr>
      </p:pic>
      <p:pic>
        <p:nvPicPr>
          <p:cNvPr id="176" name="Google Shape;176;p18"/>
          <p:cNvPicPr preferRelativeResize="0"/>
          <p:nvPr/>
        </p:nvPicPr>
        <p:blipFill rotWithShape="1">
          <a:blip r:embed="rId5">
            <a:alphaModFix/>
          </a:blip>
          <a:srcRect b="0" l="0" r="0" t="0"/>
          <a:stretch/>
        </p:blipFill>
        <p:spPr>
          <a:xfrm>
            <a:off x="10046787" y="5767072"/>
            <a:ext cx="157143" cy="157143"/>
          </a:xfrm>
          <a:prstGeom prst="rect">
            <a:avLst/>
          </a:prstGeom>
          <a:noFill/>
          <a:ln>
            <a:noFill/>
          </a:ln>
        </p:spPr>
      </p:pic>
      <p:pic>
        <p:nvPicPr>
          <p:cNvPr id="177" name="Google Shape;177;p18"/>
          <p:cNvPicPr preferRelativeResize="0"/>
          <p:nvPr/>
        </p:nvPicPr>
        <p:blipFill rotWithShape="1">
          <a:blip r:embed="rId5">
            <a:alphaModFix/>
          </a:blip>
          <a:srcRect b="0" l="0" r="0" t="0"/>
          <a:stretch/>
        </p:blipFill>
        <p:spPr>
          <a:xfrm>
            <a:off x="10290627" y="5767071"/>
            <a:ext cx="157143" cy="157143"/>
          </a:xfrm>
          <a:prstGeom prst="rect">
            <a:avLst/>
          </a:prstGeom>
          <a:noFill/>
          <a:ln>
            <a:noFill/>
          </a:ln>
        </p:spPr>
      </p:pic>
      <p:pic>
        <p:nvPicPr>
          <p:cNvPr id="178" name="Google Shape;178;p18"/>
          <p:cNvPicPr preferRelativeResize="0"/>
          <p:nvPr/>
        </p:nvPicPr>
        <p:blipFill rotWithShape="1">
          <a:blip r:embed="rId5">
            <a:alphaModFix/>
          </a:blip>
          <a:srcRect b="0" l="0" r="0" t="0"/>
          <a:stretch/>
        </p:blipFill>
        <p:spPr>
          <a:xfrm>
            <a:off x="10534467" y="5767070"/>
            <a:ext cx="157143" cy="157143"/>
          </a:xfrm>
          <a:prstGeom prst="rect">
            <a:avLst/>
          </a:prstGeom>
          <a:noFill/>
          <a:ln>
            <a:noFill/>
          </a:ln>
        </p:spPr>
      </p:pic>
      <p:pic>
        <p:nvPicPr>
          <p:cNvPr id="179" name="Google Shape;179;p18"/>
          <p:cNvPicPr preferRelativeResize="0"/>
          <p:nvPr/>
        </p:nvPicPr>
        <p:blipFill rotWithShape="1">
          <a:blip r:embed="rId5">
            <a:alphaModFix/>
          </a:blip>
          <a:srcRect b="0" l="0" r="0" t="0"/>
          <a:stretch/>
        </p:blipFill>
        <p:spPr>
          <a:xfrm>
            <a:off x="10778307" y="5767069"/>
            <a:ext cx="157143" cy="157143"/>
          </a:xfrm>
          <a:prstGeom prst="rect">
            <a:avLst/>
          </a:prstGeom>
          <a:noFill/>
          <a:ln>
            <a:noFill/>
          </a:ln>
        </p:spPr>
      </p:pic>
      <p:pic>
        <p:nvPicPr>
          <p:cNvPr id="180" name="Google Shape;180;p18"/>
          <p:cNvPicPr preferRelativeResize="0"/>
          <p:nvPr/>
        </p:nvPicPr>
        <p:blipFill rotWithShape="1">
          <a:blip r:embed="rId5">
            <a:alphaModFix/>
          </a:blip>
          <a:srcRect b="0" l="0" r="0" t="0"/>
          <a:stretch/>
        </p:blipFill>
        <p:spPr>
          <a:xfrm>
            <a:off x="11022147" y="5767068"/>
            <a:ext cx="157143" cy="157143"/>
          </a:xfrm>
          <a:prstGeom prst="rect">
            <a:avLst/>
          </a:prstGeom>
          <a:noFill/>
          <a:ln>
            <a:noFill/>
          </a:ln>
        </p:spPr>
      </p:pic>
      <p:pic>
        <p:nvPicPr>
          <p:cNvPr id="181" name="Google Shape;181;p18"/>
          <p:cNvPicPr preferRelativeResize="0"/>
          <p:nvPr/>
        </p:nvPicPr>
        <p:blipFill rotWithShape="1">
          <a:blip r:embed="rId5">
            <a:alphaModFix/>
          </a:blip>
          <a:srcRect b="0" l="0" r="0" t="0"/>
          <a:stretch/>
        </p:blipFill>
        <p:spPr>
          <a:xfrm>
            <a:off x="11265987" y="5767067"/>
            <a:ext cx="157143" cy="157143"/>
          </a:xfrm>
          <a:prstGeom prst="rect">
            <a:avLst/>
          </a:prstGeom>
          <a:noFill/>
          <a:ln>
            <a:noFill/>
          </a:ln>
        </p:spPr>
      </p:pic>
      <p:pic>
        <p:nvPicPr>
          <p:cNvPr id="182" name="Google Shape;182;p18"/>
          <p:cNvPicPr preferRelativeResize="0"/>
          <p:nvPr/>
        </p:nvPicPr>
        <p:blipFill rotWithShape="1">
          <a:blip r:embed="rId5">
            <a:alphaModFix/>
          </a:blip>
          <a:srcRect b="0" l="0" r="0" t="0"/>
          <a:stretch/>
        </p:blipFill>
        <p:spPr>
          <a:xfrm>
            <a:off x="10046787" y="5979859"/>
            <a:ext cx="157143" cy="157143"/>
          </a:xfrm>
          <a:prstGeom prst="rect">
            <a:avLst/>
          </a:prstGeom>
          <a:noFill/>
          <a:ln>
            <a:noFill/>
          </a:ln>
        </p:spPr>
      </p:pic>
      <p:pic>
        <p:nvPicPr>
          <p:cNvPr id="183" name="Google Shape;183;p18"/>
          <p:cNvPicPr preferRelativeResize="0"/>
          <p:nvPr/>
        </p:nvPicPr>
        <p:blipFill rotWithShape="1">
          <a:blip r:embed="rId5">
            <a:alphaModFix/>
          </a:blip>
          <a:srcRect b="0" l="0" r="0" t="0"/>
          <a:stretch/>
        </p:blipFill>
        <p:spPr>
          <a:xfrm>
            <a:off x="10290626" y="5979858"/>
            <a:ext cx="157143" cy="157143"/>
          </a:xfrm>
          <a:prstGeom prst="rect">
            <a:avLst/>
          </a:prstGeom>
          <a:noFill/>
          <a:ln>
            <a:noFill/>
          </a:ln>
        </p:spPr>
      </p:pic>
      <p:pic>
        <p:nvPicPr>
          <p:cNvPr id="184" name="Google Shape;184;p18"/>
          <p:cNvPicPr preferRelativeResize="0"/>
          <p:nvPr/>
        </p:nvPicPr>
        <p:blipFill rotWithShape="1">
          <a:blip r:embed="rId5">
            <a:alphaModFix/>
          </a:blip>
          <a:srcRect b="0" l="0" r="0" t="0"/>
          <a:stretch/>
        </p:blipFill>
        <p:spPr>
          <a:xfrm>
            <a:off x="10534465" y="5979857"/>
            <a:ext cx="157143" cy="157143"/>
          </a:xfrm>
          <a:prstGeom prst="rect">
            <a:avLst/>
          </a:prstGeom>
          <a:noFill/>
          <a:ln>
            <a:noFill/>
          </a:ln>
        </p:spPr>
      </p:pic>
      <p:pic>
        <p:nvPicPr>
          <p:cNvPr id="185" name="Google Shape;185;p18"/>
          <p:cNvPicPr preferRelativeResize="0"/>
          <p:nvPr/>
        </p:nvPicPr>
        <p:blipFill rotWithShape="1">
          <a:blip r:embed="rId5">
            <a:alphaModFix/>
          </a:blip>
          <a:srcRect b="0" l="0" r="0" t="0"/>
          <a:stretch/>
        </p:blipFill>
        <p:spPr>
          <a:xfrm>
            <a:off x="10778304" y="5979856"/>
            <a:ext cx="157143" cy="157143"/>
          </a:xfrm>
          <a:prstGeom prst="rect">
            <a:avLst/>
          </a:prstGeom>
          <a:noFill/>
          <a:ln>
            <a:noFill/>
          </a:ln>
        </p:spPr>
      </p:pic>
      <p:pic>
        <p:nvPicPr>
          <p:cNvPr id="186" name="Google Shape;186;p18"/>
          <p:cNvPicPr preferRelativeResize="0"/>
          <p:nvPr/>
        </p:nvPicPr>
        <p:blipFill rotWithShape="1">
          <a:blip r:embed="rId5">
            <a:alphaModFix/>
          </a:blip>
          <a:srcRect b="0" l="0" r="0" t="0"/>
          <a:stretch/>
        </p:blipFill>
        <p:spPr>
          <a:xfrm>
            <a:off x="11022143" y="5979855"/>
            <a:ext cx="157143" cy="157143"/>
          </a:xfrm>
          <a:prstGeom prst="rect">
            <a:avLst/>
          </a:prstGeom>
          <a:noFill/>
          <a:ln>
            <a:noFill/>
          </a:ln>
        </p:spPr>
      </p:pic>
      <p:pic>
        <p:nvPicPr>
          <p:cNvPr id="187" name="Google Shape;187;p18"/>
          <p:cNvPicPr preferRelativeResize="0"/>
          <p:nvPr/>
        </p:nvPicPr>
        <p:blipFill rotWithShape="1">
          <a:blip r:embed="rId5">
            <a:alphaModFix/>
          </a:blip>
          <a:srcRect b="0" l="0" r="0" t="0"/>
          <a:stretch/>
        </p:blipFill>
        <p:spPr>
          <a:xfrm>
            <a:off x="11265982" y="5979854"/>
            <a:ext cx="157143" cy="157143"/>
          </a:xfrm>
          <a:prstGeom prst="rect">
            <a:avLst/>
          </a:prstGeom>
          <a:noFill/>
          <a:ln>
            <a:noFill/>
          </a:ln>
        </p:spPr>
      </p:pic>
      <p:pic>
        <p:nvPicPr>
          <p:cNvPr id="188" name="Google Shape;188;p18"/>
          <p:cNvPicPr preferRelativeResize="0"/>
          <p:nvPr/>
        </p:nvPicPr>
        <p:blipFill rotWithShape="1">
          <a:blip r:embed="rId6">
            <a:alphaModFix/>
          </a:blip>
          <a:srcRect b="0" l="0" r="0" t="0"/>
          <a:stretch/>
        </p:blipFill>
        <p:spPr>
          <a:xfrm rot="6280505">
            <a:off x="9663482" y="1641145"/>
            <a:ext cx="2166077" cy="2256331"/>
          </a:xfrm>
          <a:prstGeom prst="rect">
            <a:avLst/>
          </a:prstGeom>
          <a:noFill/>
          <a:ln>
            <a:noFill/>
          </a:ln>
        </p:spPr>
      </p:pic>
      <p:pic>
        <p:nvPicPr>
          <p:cNvPr id="189" name="Google Shape;189;p18"/>
          <p:cNvPicPr preferRelativeResize="0"/>
          <p:nvPr/>
        </p:nvPicPr>
        <p:blipFill rotWithShape="1">
          <a:blip r:embed="rId7">
            <a:alphaModFix/>
          </a:blip>
          <a:srcRect b="0" l="0" r="0" t="0"/>
          <a:stretch/>
        </p:blipFill>
        <p:spPr>
          <a:xfrm>
            <a:off x="8553122" y="2267369"/>
            <a:ext cx="501941" cy="501941"/>
          </a:xfrm>
          <a:prstGeom prst="rect">
            <a:avLst/>
          </a:prstGeom>
          <a:noFill/>
          <a:ln>
            <a:noFill/>
          </a:ln>
        </p:spPr>
      </p:pic>
      <p:pic>
        <p:nvPicPr>
          <p:cNvPr id="190" name="Google Shape;190;p18"/>
          <p:cNvPicPr preferRelativeResize="0"/>
          <p:nvPr/>
        </p:nvPicPr>
        <p:blipFill rotWithShape="1">
          <a:blip r:embed="rId8">
            <a:alphaModFix/>
          </a:blip>
          <a:srcRect b="0" l="0" r="0" t="0"/>
          <a:stretch/>
        </p:blipFill>
        <p:spPr>
          <a:xfrm>
            <a:off x="8767747" y="5108544"/>
            <a:ext cx="854810" cy="854810"/>
          </a:xfrm>
          <a:prstGeom prst="rect">
            <a:avLst/>
          </a:prstGeom>
          <a:noFill/>
          <a:ln>
            <a:noFill/>
          </a:ln>
        </p:spPr>
      </p:pic>
      <p:pic>
        <p:nvPicPr>
          <p:cNvPr id="191" name="Google Shape;191;p18"/>
          <p:cNvPicPr preferRelativeResize="0"/>
          <p:nvPr/>
        </p:nvPicPr>
        <p:blipFill rotWithShape="1">
          <a:blip r:embed="rId9">
            <a:alphaModFix/>
          </a:blip>
          <a:srcRect b="0" l="0" r="0" t="0"/>
          <a:stretch/>
        </p:blipFill>
        <p:spPr>
          <a:xfrm>
            <a:off x="7426365" y="5740908"/>
            <a:ext cx="215541" cy="215541"/>
          </a:xfrm>
          <a:prstGeom prst="rect">
            <a:avLst/>
          </a:prstGeom>
          <a:noFill/>
          <a:ln>
            <a:noFill/>
          </a:ln>
        </p:spPr>
      </p:pic>
      <p:pic>
        <p:nvPicPr>
          <p:cNvPr id="192" name="Google Shape;192;p18"/>
          <p:cNvPicPr preferRelativeResize="0"/>
          <p:nvPr/>
        </p:nvPicPr>
        <p:blipFill rotWithShape="1">
          <a:blip r:embed="rId10">
            <a:alphaModFix/>
          </a:blip>
          <a:srcRect b="0" l="0" r="0" t="0"/>
          <a:stretch/>
        </p:blipFill>
        <p:spPr>
          <a:xfrm>
            <a:off x="1034046" y="4445778"/>
            <a:ext cx="67711" cy="461665"/>
          </a:xfrm>
          <a:prstGeom prst="rect">
            <a:avLst/>
          </a:prstGeom>
          <a:noFill/>
          <a:ln>
            <a:noFill/>
          </a:ln>
        </p:spPr>
      </p:pic>
      <p:pic>
        <p:nvPicPr>
          <p:cNvPr id="193" name="Google Shape;193;p18"/>
          <p:cNvPicPr preferRelativeResize="0"/>
          <p:nvPr/>
        </p:nvPicPr>
        <p:blipFill rotWithShape="1">
          <a:blip r:embed="rId11">
            <a:alphaModFix/>
          </a:blip>
          <a:srcRect b="0" l="0" r="0" t="0"/>
          <a:stretch/>
        </p:blipFill>
        <p:spPr>
          <a:xfrm>
            <a:off x="902361" y="587968"/>
            <a:ext cx="2817438" cy="88066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9"/>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Fundamental Security</a:t>
            </a:r>
            <a:endParaRPr b="1" i="0" sz="3600" u="none" cap="none" strike="noStrike">
              <a:solidFill>
                <a:schemeClr val="accent1"/>
              </a:solidFill>
              <a:latin typeface="Poppins"/>
              <a:ea typeface="Poppins"/>
              <a:cs typeface="Poppins"/>
              <a:sym typeface="Poppins"/>
            </a:endParaRPr>
          </a:p>
        </p:txBody>
      </p:sp>
      <p:cxnSp>
        <p:nvCxnSpPr>
          <p:cNvPr id="199" name="Google Shape;199;p1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00" name="Google Shape;200;p1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01" name="Google Shape;201;p1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02" name="Google Shape;202;p1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03" name="Google Shape;203;p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04" name="Google Shape;204;p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5" name="Google Shape;205;p19"/>
          <p:cNvSpPr txBox="1"/>
          <p:nvPr/>
        </p:nvSpPr>
        <p:spPr>
          <a:xfrm>
            <a:off x="1000925" y="1576175"/>
            <a:ext cx="9971700" cy="4244100"/>
          </a:xfrm>
          <a:prstGeom prst="rect">
            <a:avLst/>
          </a:prstGeom>
          <a:noFill/>
          <a:ln>
            <a:noFill/>
          </a:ln>
        </p:spPr>
        <p:txBody>
          <a:bodyPr anchorCtr="0" anchor="t" bIns="45700" lIns="91425" spcFirstLastPara="1" rIns="91425" wrap="square" tIns="45700">
            <a:normAutofit lnSpcReduction="10000"/>
          </a:bodyPr>
          <a:lstStyle/>
          <a:p>
            <a:pPr indent="-374650" lvl="0" marL="457200" rtl="0" algn="l">
              <a:spcBef>
                <a:spcPts val="0"/>
              </a:spcBef>
              <a:spcAft>
                <a:spcPts val="0"/>
              </a:spcAft>
              <a:buClr>
                <a:schemeClr val="dk1"/>
              </a:buClr>
              <a:buSzPts val="2300"/>
              <a:buFont typeface="Archivo"/>
              <a:buChar char="●"/>
            </a:pPr>
            <a:r>
              <a:rPr b="1" lang="en-US" sz="2300">
                <a:solidFill>
                  <a:schemeClr val="dk1"/>
                </a:solidFill>
                <a:latin typeface="Archivo"/>
                <a:ea typeface="Archivo"/>
                <a:cs typeface="Archivo"/>
                <a:sym typeface="Archivo"/>
              </a:rPr>
              <a:t>Kerahasiaan (Confidentiality) </a:t>
            </a:r>
            <a:r>
              <a:rPr lang="en-US" sz="2300">
                <a:solidFill>
                  <a:schemeClr val="dk1"/>
                </a:solidFill>
                <a:latin typeface="Archivo Medium"/>
                <a:ea typeface="Archivo Medium"/>
                <a:cs typeface="Archivo Medium"/>
                <a:sym typeface="Archivo Medium"/>
              </a:rPr>
              <a:t>berarti bahwa informasi hanya dapat dibaca oleh orang-orang yang secara eksplisit diberi wewenang untuk mengaksesnya.</a:t>
            </a:r>
            <a:endParaRPr sz="23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b="1" sz="2300">
              <a:solidFill>
                <a:schemeClr val="dk1"/>
              </a:solidFill>
              <a:latin typeface="Archivo"/>
              <a:ea typeface="Archivo"/>
              <a:cs typeface="Archivo"/>
              <a:sym typeface="Archivo"/>
            </a:endParaRPr>
          </a:p>
          <a:p>
            <a:pPr indent="-374650" lvl="0" marL="457200" rtl="0" algn="l">
              <a:spcBef>
                <a:spcPts val="0"/>
              </a:spcBef>
              <a:spcAft>
                <a:spcPts val="0"/>
              </a:spcAft>
              <a:buClr>
                <a:schemeClr val="dk1"/>
              </a:buClr>
              <a:buSzPts val="2300"/>
              <a:buFont typeface="Archivo"/>
              <a:buChar char="●"/>
            </a:pPr>
            <a:r>
              <a:rPr b="1" lang="en-US" sz="2300">
                <a:solidFill>
                  <a:schemeClr val="dk1"/>
                </a:solidFill>
                <a:latin typeface="Archivo"/>
                <a:ea typeface="Archivo"/>
                <a:cs typeface="Archivo"/>
                <a:sym typeface="Archivo"/>
              </a:rPr>
              <a:t>Integritas (Integrity) </a:t>
            </a:r>
            <a:r>
              <a:rPr lang="en-US" sz="2300">
                <a:solidFill>
                  <a:schemeClr val="dk1"/>
                </a:solidFill>
                <a:latin typeface="Archivo Medium"/>
                <a:ea typeface="Archivo Medium"/>
                <a:cs typeface="Archivo Medium"/>
                <a:sym typeface="Archivo Medium"/>
              </a:rPr>
              <a:t>berarti bahwa data disimpan dan ditransfer sesuai dengan yang dimaksudkan, dan setiap modifikasi dianggap tidak sah kecuali jika secara eksplisit diizinkan melalui saluran yang tepat.</a:t>
            </a:r>
            <a:endParaRPr sz="23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b="1" sz="2300">
              <a:solidFill>
                <a:schemeClr val="dk1"/>
              </a:solidFill>
              <a:latin typeface="Archivo"/>
              <a:ea typeface="Archivo"/>
              <a:cs typeface="Archivo"/>
              <a:sym typeface="Archivo"/>
            </a:endParaRPr>
          </a:p>
          <a:p>
            <a:pPr indent="-374650" lvl="0" marL="457200" rtl="0" algn="l">
              <a:spcBef>
                <a:spcPts val="0"/>
              </a:spcBef>
              <a:spcAft>
                <a:spcPts val="0"/>
              </a:spcAft>
              <a:buClr>
                <a:schemeClr val="dk1"/>
              </a:buClr>
              <a:buSzPts val="2300"/>
              <a:buFont typeface="Archivo"/>
              <a:buChar char="●"/>
            </a:pPr>
            <a:r>
              <a:rPr b="1" lang="en-US" sz="2300">
                <a:solidFill>
                  <a:schemeClr val="dk1"/>
                </a:solidFill>
                <a:latin typeface="Archivo"/>
                <a:ea typeface="Archivo"/>
                <a:cs typeface="Archivo"/>
                <a:sym typeface="Archivo"/>
              </a:rPr>
              <a:t>Ketersediaan (Availability) </a:t>
            </a:r>
            <a:r>
              <a:rPr lang="en-US" sz="2300">
                <a:solidFill>
                  <a:schemeClr val="dk1"/>
                </a:solidFill>
                <a:latin typeface="Archivo Medium"/>
                <a:ea typeface="Archivo Medium"/>
                <a:cs typeface="Archivo Medium"/>
                <a:sym typeface="Archivo Medium"/>
              </a:rPr>
              <a:t>berarti bahwa informasi dapat diakses dengan mudah oleh pihak-pihak yang berwenang untuk melihat atau memodifikasinya.</a:t>
            </a:r>
            <a:endParaRPr sz="23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b="1" sz="2300">
              <a:solidFill>
                <a:schemeClr val="dk1"/>
              </a:solidFill>
              <a:latin typeface="Archivo"/>
              <a:ea typeface="Archivo"/>
              <a:cs typeface="Archivo"/>
              <a:sym typeface="Archivo"/>
            </a:endParaRPr>
          </a:p>
          <a:p>
            <a:pPr indent="0" lvl="0" marL="0" rtl="0" algn="l">
              <a:lnSpc>
                <a:spcPct val="100000"/>
              </a:lnSpc>
              <a:spcBef>
                <a:spcPts val="0"/>
              </a:spcBef>
              <a:spcAft>
                <a:spcPts val="0"/>
              </a:spcAft>
              <a:buNone/>
            </a:pPr>
            <a:r>
              <a:t/>
            </a:r>
            <a:endParaRPr b="1" sz="2300">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0"/>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Cyber Security Framework</a:t>
            </a:r>
            <a:endParaRPr b="1" i="0" sz="3600" u="none" cap="none" strike="noStrike">
              <a:solidFill>
                <a:srgbClr val="6D9EEB"/>
              </a:solidFill>
              <a:latin typeface="Poppins"/>
              <a:ea typeface="Poppins"/>
              <a:cs typeface="Poppins"/>
              <a:sym typeface="Poppins"/>
            </a:endParaRPr>
          </a:p>
        </p:txBody>
      </p:sp>
      <p:cxnSp>
        <p:nvCxnSpPr>
          <p:cNvPr id="211" name="Google Shape;211;p2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212" name="Google Shape;212;p2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13" name="Google Shape;213;p2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14" name="Google Shape;214;p2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15" name="Google Shape;215;p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16" name="Google Shape;216;p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7" name="Google Shape;217;p20"/>
          <p:cNvSpPr txBox="1"/>
          <p:nvPr/>
        </p:nvSpPr>
        <p:spPr>
          <a:xfrm>
            <a:off x="1000925" y="1533650"/>
            <a:ext cx="9972000" cy="4286700"/>
          </a:xfrm>
          <a:prstGeom prst="rect">
            <a:avLst/>
          </a:prstGeom>
          <a:noFill/>
          <a:ln>
            <a:noFill/>
          </a:ln>
        </p:spPr>
        <p:txBody>
          <a:bodyPr anchorCtr="0" anchor="t" bIns="45700" lIns="91425" spcFirstLastPara="1" rIns="91425" wrap="square" tIns="45700">
            <a:normAutofit fontScale="70000" lnSpcReduction="20000"/>
          </a:bodyPr>
          <a:lstStyle/>
          <a:p>
            <a:pPr indent="-330835" lvl="0" marL="457200" rtl="0" algn="l">
              <a:spcBef>
                <a:spcPts val="0"/>
              </a:spcBef>
              <a:spcAft>
                <a:spcPts val="0"/>
              </a:spcAft>
              <a:buClr>
                <a:schemeClr val="dk1"/>
              </a:buClr>
              <a:buSzPct val="100000"/>
              <a:buFont typeface="Archivo"/>
              <a:buChar char="●"/>
            </a:pPr>
            <a:r>
              <a:rPr b="1" lang="en-US" sz="2300">
                <a:solidFill>
                  <a:schemeClr val="dk1"/>
                </a:solidFill>
                <a:latin typeface="Archivo"/>
                <a:ea typeface="Archivo"/>
                <a:cs typeface="Archivo"/>
                <a:sym typeface="Archivo"/>
              </a:rPr>
              <a:t>Identifikasi:</a:t>
            </a:r>
            <a:endParaRPr b="1" sz="2300">
              <a:solidFill>
                <a:schemeClr val="dk1"/>
              </a:solidFill>
              <a:latin typeface="Archivo"/>
              <a:ea typeface="Archivo"/>
              <a:cs typeface="Archivo"/>
              <a:sym typeface="Archivo"/>
            </a:endParaRPr>
          </a:p>
          <a:p>
            <a:pPr indent="0" lvl="0" marL="457200" rtl="0" algn="l">
              <a:spcBef>
                <a:spcPts val="0"/>
              </a:spcBef>
              <a:spcAft>
                <a:spcPts val="0"/>
              </a:spcAft>
              <a:buNone/>
            </a:pPr>
            <a:r>
              <a:rPr lang="en-US" sz="2300">
                <a:solidFill>
                  <a:schemeClr val="dk1"/>
                </a:solidFill>
                <a:latin typeface="Archivo Medium"/>
                <a:ea typeface="Archivo Medium"/>
                <a:cs typeface="Archivo Medium"/>
                <a:sym typeface="Archivo Medium"/>
              </a:rPr>
              <a:t>Mengembangkan kebijakan dan kapabilitas keamanan. Mengevaluasi risiko, ancaman, dan kerentanan, serta merekomendasikan kontrol keamanan untuk menguranginya.</a:t>
            </a:r>
            <a:endParaRPr sz="23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b="1" sz="2300">
              <a:solidFill>
                <a:schemeClr val="dk1"/>
              </a:solidFill>
              <a:latin typeface="Archivo"/>
              <a:ea typeface="Archivo"/>
              <a:cs typeface="Archivo"/>
              <a:sym typeface="Archivo"/>
            </a:endParaRPr>
          </a:p>
          <a:p>
            <a:pPr indent="-330835" lvl="0" marL="457200" rtl="0" algn="l">
              <a:spcBef>
                <a:spcPts val="0"/>
              </a:spcBef>
              <a:spcAft>
                <a:spcPts val="0"/>
              </a:spcAft>
              <a:buClr>
                <a:schemeClr val="dk1"/>
              </a:buClr>
              <a:buSzPct val="100000"/>
              <a:buFont typeface="Archivo"/>
              <a:buChar char="●"/>
            </a:pPr>
            <a:r>
              <a:rPr b="1" lang="en-US" sz="2300">
                <a:solidFill>
                  <a:schemeClr val="dk1"/>
                </a:solidFill>
                <a:latin typeface="Archivo"/>
                <a:ea typeface="Archivo"/>
                <a:cs typeface="Archivo"/>
                <a:sym typeface="Archivo"/>
              </a:rPr>
              <a:t>Perlindungan (Protect):</a:t>
            </a:r>
            <a:endParaRPr b="1" sz="2300">
              <a:solidFill>
                <a:schemeClr val="dk1"/>
              </a:solidFill>
              <a:latin typeface="Archivo"/>
              <a:ea typeface="Archivo"/>
              <a:cs typeface="Archivo"/>
              <a:sym typeface="Archivo"/>
            </a:endParaRPr>
          </a:p>
          <a:p>
            <a:pPr indent="0" lvl="0" marL="457200" rtl="0" algn="l">
              <a:spcBef>
                <a:spcPts val="0"/>
              </a:spcBef>
              <a:spcAft>
                <a:spcPts val="0"/>
              </a:spcAft>
              <a:buNone/>
            </a:pPr>
            <a:r>
              <a:rPr lang="en-US" sz="2300">
                <a:solidFill>
                  <a:schemeClr val="dk1"/>
                </a:solidFill>
                <a:latin typeface="Archivo Medium"/>
                <a:ea typeface="Archivo Medium"/>
                <a:cs typeface="Archivo Medium"/>
                <a:sym typeface="Archivo Medium"/>
              </a:rPr>
              <a:t>Mengadakan/pengadaan, mengembangkan, menginstal, mengoperasikan, dan menghentikan aset perangkat keras dan perangkat lunak TI dengan keamanan sebagai persyaratan yang tertanam di setiap tahap siklus hidup operasional tersebut.</a:t>
            </a:r>
            <a:endParaRPr sz="23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2300">
              <a:solidFill>
                <a:schemeClr val="dk1"/>
              </a:solidFill>
              <a:latin typeface="Archivo Medium"/>
              <a:ea typeface="Archivo Medium"/>
              <a:cs typeface="Archivo Medium"/>
              <a:sym typeface="Archivo Medium"/>
            </a:endParaRPr>
          </a:p>
          <a:p>
            <a:pPr indent="-330835" lvl="0" marL="457200" rtl="0" algn="l">
              <a:spcBef>
                <a:spcPts val="0"/>
              </a:spcBef>
              <a:spcAft>
                <a:spcPts val="0"/>
              </a:spcAft>
              <a:buClr>
                <a:schemeClr val="dk1"/>
              </a:buClr>
              <a:buSzPct val="100000"/>
              <a:buFont typeface="Archivo"/>
              <a:buChar char="●"/>
            </a:pPr>
            <a:r>
              <a:rPr b="1" lang="en-US" sz="2300">
                <a:solidFill>
                  <a:schemeClr val="dk1"/>
                </a:solidFill>
                <a:latin typeface="Archivo"/>
                <a:ea typeface="Archivo"/>
                <a:cs typeface="Archivo"/>
                <a:sym typeface="Archivo"/>
              </a:rPr>
              <a:t>Deteksi (Detect):</a:t>
            </a:r>
            <a:endParaRPr b="1" sz="2300">
              <a:solidFill>
                <a:schemeClr val="dk1"/>
              </a:solidFill>
              <a:latin typeface="Archivo"/>
              <a:ea typeface="Archivo"/>
              <a:cs typeface="Archivo"/>
              <a:sym typeface="Archivo"/>
            </a:endParaRPr>
          </a:p>
          <a:p>
            <a:pPr indent="0" lvl="0" marL="457200" rtl="0" algn="l">
              <a:spcBef>
                <a:spcPts val="0"/>
              </a:spcBef>
              <a:spcAft>
                <a:spcPts val="0"/>
              </a:spcAft>
              <a:buNone/>
            </a:pPr>
            <a:r>
              <a:rPr lang="en-US" sz="2300">
                <a:solidFill>
                  <a:schemeClr val="dk1"/>
                </a:solidFill>
                <a:latin typeface="Archivo Medium"/>
                <a:ea typeface="Archivo Medium"/>
                <a:cs typeface="Archivo Medium"/>
                <a:sym typeface="Archivo Medium"/>
              </a:rPr>
              <a:t>Melakukan pemantauan proaktif dan berkelanjutan untuk memastikan bahwa kontrol keamanan efektif dan mampu melindungi dari jenis ancaman baru.</a:t>
            </a:r>
            <a:endParaRPr sz="23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2300">
              <a:solidFill>
                <a:schemeClr val="dk1"/>
              </a:solidFill>
              <a:latin typeface="Archivo Medium"/>
              <a:ea typeface="Archivo Medium"/>
              <a:cs typeface="Archivo Medium"/>
              <a:sym typeface="Archivo Medium"/>
            </a:endParaRPr>
          </a:p>
          <a:p>
            <a:pPr indent="-330835" lvl="0" marL="457200" rtl="0" algn="l">
              <a:spcBef>
                <a:spcPts val="0"/>
              </a:spcBef>
              <a:spcAft>
                <a:spcPts val="0"/>
              </a:spcAft>
              <a:buClr>
                <a:schemeClr val="dk1"/>
              </a:buClr>
              <a:buSzPct val="100000"/>
              <a:buFont typeface="Archivo"/>
              <a:buChar char="●"/>
            </a:pPr>
            <a:r>
              <a:rPr b="1" lang="en-US" sz="2300">
                <a:solidFill>
                  <a:schemeClr val="dk1"/>
                </a:solidFill>
                <a:latin typeface="Archivo"/>
                <a:ea typeface="Archivo"/>
                <a:cs typeface="Archivo"/>
                <a:sym typeface="Archivo"/>
              </a:rPr>
              <a:t>Tanggap (Respond):</a:t>
            </a:r>
            <a:endParaRPr b="1" sz="2300">
              <a:solidFill>
                <a:schemeClr val="dk1"/>
              </a:solidFill>
              <a:latin typeface="Archivo"/>
              <a:ea typeface="Archivo"/>
              <a:cs typeface="Archivo"/>
              <a:sym typeface="Archivo"/>
            </a:endParaRPr>
          </a:p>
          <a:p>
            <a:pPr indent="0" lvl="0" marL="457200" rtl="0" algn="l">
              <a:spcBef>
                <a:spcPts val="0"/>
              </a:spcBef>
              <a:spcAft>
                <a:spcPts val="0"/>
              </a:spcAft>
              <a:buNone/>
            </a:pPr>
            <a:r>
              <a:rPr lang="en-US" sz="2300">
                <a:solidFill>
                  <a:schemeClr val="dk1"/>
                </a:solidFill>
                <a:latin typeface="Archivo Medium"/>
                <a:ea typeface="Archivo Medium"/>
                <a:cs typeface="Archivo Medium"/>
                <a:sym typeface="Archivo Medium"/>
              </a:rPr>
              <a:t>Mengidentifikasi, menganalisis, mengendalikan, dan menghapus ancaman terhadap sistem dan keamanan data.</a:t>
            </a:r>
            <a:endParaRPr sz="23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b="1" sz="2300">
              <a:solidFill>
                <a:schemeClr val="dk1"/>
              </a:solidFill>
              <a:latin typeface="Archivo"/>
              <a:ea typeface="Archivo"/>
              <a:cs typeface="Archivo"/>
              <a:sym typeface="Archivo"/>
            </a:endParaRPr>
          </a:p>
          <a:p>
            <a:pPr indent="-330835" lvl="0" marL="457200" rtl="0" algn="l">
              <a:spcBef>
                <a:spcPts val="0"/>
              </a:spcBef>
              <a:spcAft>
                <a:spcPts val="0"/>
              </a:spcAft>
              <a:buClr>
                <a:schemeClr val="dk1"/>
              </a:buClr>
              <a:buSzPct val="100000"/>
              <a:buFont typeface="Archivo"/>
              <a:buChar char="●"/>
            </a:pPr>
            <a:r>
              <a:rPr b="1" lang="en-US" sz="2300">
                <a:solidFill>
                  <a:schemeClr val="dk1"/>
                </a:solidFill>
                <a:latin typeface="Archivo"/>
                <a:ea typeface="Archivo"/>
                <a:cs typeface="Archivo"/>
                <a:sym typeface="Archivo"/>
              </a:rPr>
              <a:t>Pemulihan (Recover):</a:t>
            </a:r>
            <a:endParaRPr b="1" sz="2300">
              <a:solidFill>
                <a:schemeClr val="dk1"/>
              </a:solidFill>
              <a:latin typeface="Archivo"/>
              <a:ea typeface="Archivo"/>
              <a:cs typeface="Archivo"/>
              <a:sym typeface="Archivo"/>
            </a:endParaRPr>
          </a:p>
          <a:p>
            <a:pPr indent="0" lvl="0" marL="457200" rtl="0" algn="l">
              <a:spcBef>
                <a:spcPts val="0"/>
              </a:spcBef>
              <a:spcAft>
                <a:spcPts val="0"/>
              </a:spcAft>
              <a:buNone/>
            </a:pPr>
            <a:r>
              <a:rPr lang="en-US" sz="2300">
                <a:solidFill>
                  <a:schemeClr val="dk1"/>
                </a:solidFill>
                <a:latin typeface="Archivo Medium"/>
                <a:ea typeface="Archivo Medium"/>
                <a:cs typeface="Archivo Medium"/>
                <a:sym typeface="Archivo Medium"/>
              </a:rPr>
              <a:t>Menerapkan ketahanan siber (cybersecurity resilience) untuk memulihkan sistem dan data jika kontrol lainnya gagal mencegah serangan.</a:t>
            </a:r>
            <a:endParaRPr sz="2300">
              <a:solidFill>
                <a:schemeClr val="dk1"/>
              </a:solidFill>
              <a:latin typeface="Archivo Medium"/>
              <a:ea typeface="Archivo Medium"/>
              <a:cs typeface="Archivo Medium"/>
              <a:sym typeface="Archivo Medium"/>
            </a:endParaRPr>
          </a:p>
        </p:txBody>
      </p:sp>
      <p:cxnSp>
        <p:nvCxnSpPr>
          <p:cNvPr id="218" name="Google Shape;218;p2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1"/>
          <p:cNvSpPr txBox="1"/>
          <p:nvPr/>
        </p:nvSpPr>
        <p:spPr>
          <a:xfrm>
            <a:off x="603088" y="486375"/>
            <a:ext cx="84678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400">
                <a:solidFill>
                  <a:srgbClr val="6D9EEB"/>
                </a:solidFill>
                <a:latin typeface="Poppins"/>
                <a:ea typeface="Poppins"/>
                <a:cs typeface="Poppins"/>
                <a:sym typeface="Poppins"/>
              </a:rPr>
              <a:t>Cyber Kill Chain ( </a:t>
            </a:r>
            <a:r>
              <a:rPr b="1" lang="en-US" sz="3400">
                <a:solidFill>
                  <a:srgbClr val="6D9EEB"/>
                </a:solidFill>
                <a:latin typeface="Poppins"/>
                <a:ea typeface="Poppins"/>
                <a:cs typeface="Poppins"/>
                <a:sym typeface="Poppins"/>
              </a:rPr>
              <a:t>Lockheed</a:t>
            </a:r>
            <a:r>
              <a:rPr b="1" lang="en-US" sz="3400">
                <a:solidFill>
                  <a:srgbClr val="6D9EEB"/>
                </a:solidFill>
                <a:latin typeface="Poppins"/>
                <a:ea typeface="Poppins"/>
                <a:cs typeface="Poppins"/>
                <a:sym typeface="Poppins"/>
              </a:rPr>
              <a:t> Marthin ) </a:t>
            </a:r>
            <a:endParaRPr b="1" i="0" sz="3400" u="none" cap="none" strike="noStrike">
              <a:solidFill>
                <a:srgbClr val="6D9EEB"/>
              </a:solidFill>
              <a:latin typeface="Poppins"/>
              <a:ea typeface="Poppins"/>
              <a:cs typeface="Poppins"/>
              <a:sym typeface="Poppins"/>
            </a:endParaRPr>
          </a:p>
        </p:txBody>
      </p:sp>
      <p:cxnSp>
        <p:nvCxnSpPr>
          <p:cNvPr id="224" name="Google Shape;224;p2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225" name="Google Shape;225;p2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26" name="Google Shape;226;p2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27" name="Google Shape;227;p2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28" name="Google Shape;228;p2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29" name="Google Shape;229;p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0" name="Google Shape;230;p21"/>
          <p:cNvSpPr txBox="1"/>
          <p:nvPr/>
        </p:nvSpPr>
        <p:spPr>
          <a:xfrm>
            <a:off x="1000925" y="1533650"/>
            <a:ext cx="9972000" cy="4286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t/>
            </a:r>
            <a:endParaRPr sz="2300">
              <a:solidFill>
                <a:schemeClr val="dk1"/>
              </a:solidFill>
              <a:latin typeface="Archivo Medium"/>
              <a:ea typeface="Archivo Medium"/>
              <a:cs typeface="Archivo Medium"/>
              <a:sym typeface="Archivo Medium"/>
            </a:endParaRPr>
          </a:p>
        </p:txBody>
      </p:sp>
      <p:cxnSp>
        <p:nvCxnSpPr>
          <p:cNvPr id="231" name="Google Shape;231;p2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232" name="Google Shape;232;p21"/>
          <p:cNvPicPr preferRelativeResize="0"/>
          <p:nvPr/>
        </p:nvPicPr>
        <p:blipFill>
          <a:blip r:embed="rId6">
            <a:alphaModFix/>
          </a:blip>
          <a:stretch>
            <a:fillRect/>
          </a:stretch>
        </p:blipFill>
        <p:spPr>
          <a:xfrm>
            <a:off x="1161650" y="1309575"/>
            <a:ext cx="9868700" cy="4562800"/>
          </a:xfrm>
          <a:prstGeom prst="rect">
            <a:avLst/>
          </a:prstGeom>
          <a:noFill/>
          <a:ln>
            <a:noFill/>
          </a:ln>
          <a:effectLst>
            <a:outerShdw blurRad="57150" rotWithShape="0" algn="bl" dir="8400000" dist="19050">
              <a:srgbClr val="000000">
                <a:alpha val="80000"/>
              </a:srgbClr>
            </a:outerShdw>
          </a:effectLst>
        </p:spPr>
      </p:pic>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2"/>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Security Control Category</a:t>
            </a:r>
            <a:endParaRPr b="1" i="0" sz="3600" u="none" cap="none" strike="noStrike">
              <a:solidFill>
                <a:srgbClr val="6D9EEB"/>
              </a:solidFill>
              <a:latin typeface="Poppins"/>
              <a:ea typeface="Poppins"/>
              <a:cs typeface="Poppins"/>
              <a:sym typeface="Poppins"/>
            </a:endParaRPr>
          </a:p>
        </p:txBody>
      </p:sp>
      <p:cxnSp>
        <p:nvCxnSpPr>
          <p:cNvPr id="238" name="Google Shape;238;p2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239" name="Google Shape;239;p2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40" name="Google Shape;240;p2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41" name="Google Shape;241;p2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42" name="Google Shape;242;p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43" name="Google Shape;243;p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244" name="Google Shape;244;p2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245" name="Google Shape;245;p22"/>
          <p:cNvPicPr preferRelativeResize="0"/>
          <p:nvPr/>
        </p:nvPicPr>
        <p:blipFill rotWithShape="1">
          <a:blip r:embed="rId6">
            <a:alphaModFix/>
          </a:blip>
          <a:srcRect b="0" l="16309" r="18763" t="11590"/>
          <a:stretch/>
        </p:blipFill>
        <p:spPr>
          <a:xfrm>
            <a:off x="4855250" y="1626762"/>
            <a:ext cx="6078951" cy="4042025"/>
          </a:xfrm>
          <a:prstGeom prst="rect">
            <a:avLst/>
          </a:prstGeom>
          <a:noFill/>
          <a:ln>
            <a:noFill/>
          </a:ln>
        </p:spPr>
      </p:pic>
      <p:sp>
        <p:nvSpPr>
          <p:cNvPr id="246" name="Google Shape;246;p22"/>
          <p:cNvSpPr txBox="1"/>
          <p:nvPr/>
        </p:nvSpPr>
        <p:spPr>
          <a:xfrm>
            <a:off x="1000925" y="2063125"/>
            <a:ext cx="3722400" cy="21378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Security Control dirancang untuk memberikan pada suatu sistem atau aset data sifat-sifat kerahasiaan, integritas, ketersediaan, dan non-repudiasi.</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3"/>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Security Control </a:t>
            </a:r>
            <a:r>
              <a:rPr b="1" lang="en-US" sz="3600">
                <a:solidFill>
                  <a:srgbClr val="6D9EEB"/>
                </a:solidFill>
                <a:latin typeface="Poppins"/>
                <a:ea typeface="Poppins"/>
                <a:cs typeface="Poppins"/>
                <a:sym typeface="Poppins"/>
              </a:rPr>
              <a:t>Functional</a:t>
            </a:r>
            <a:r>
              <a:rPr b="1" lang="en-US" sz="3600">
                <a:solidFill>
                  <a:srgbClr val="6D9EEB"/>
                </a:solidFill>
                <a:latin typeface="Poppins"/>
                <a:ea typeface="Poppins"/>
                <a:cs typeface="Poppins"/>
                <a:sym typeface="Poppins"/>
              </a:rPr>
              <a:t> </a:t>
            </a:r>
            <a:endParaRPr b="1" i="0" sz="3600" u="none" cap="none" strike="noStrike">
              <a:solidFill>
                <a:srgbClr val="6D9EEB"/>
              </a:solidFill>
              <a:latin typeface="Poppins"/>
              <a:ea typeface="Poppins"/>
              <a:cs typeface="Poppins"/>
              <a:sym typeface="Poppins"/>
            </a:endParaRPr>
          </a:p>
        </p:txBody>
      </p:sp>
      <p:cxnSp>
        <p:nvCxnSpPr>
          <p:cNvPr id="252" name="Google Shape;252;p2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253" name="Google Shape;253;p2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54" name="Google Shape;254;p2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55" name="Google Shape;255;p2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56" name="Google Shape;256;p2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57" name="Google Shape;257;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8" name="Google Shape;258;p23"/>
          <p:cNvSpPr txBox="1"/>
          <p:nvPr/>
        </p:nvSpPr>
        <p:spPr>
          <a:xfrm>
            <a:off x="1000925" y="1533650"/>
            <a:ext cx="9972000" cy="4286700"/>
          </a:xfrm>
          <a:prstGeom prst="rect">
            <a:avLst/>
          </a:prstGeom>
          <a:noFill/>
          <a:ln>
            <a:noFill/>
          </a:ln>
        </p:spPr>
        <p:txBody>
          <a:bodyPr anchorCtr="0" anchor="t" bIns="45700" lIns="91425" spcFirstLastPara="1" rIns="91425" wrap="square" tIns="45700">
            <a:noAutofit/>
          </a:bodyPr>
          <a:lstStyle/>
          <a:p>
            <a:pPr indent="-354488" lvl="0" marL="457200" rtl="0" algn="l">
              <a:lnSpc>
                <a:spcPct val="80000"/>
              </a:lnSpc>
              <a:spcBef>
                <a:spcPts val="0"/>
              </a:spcBef>
              <a:spcAft>
                <a:spcPts val="0"/>
              </a:spcAft>
              <a:buClr>
                <a:schemeClr val="dk1"/>
              </a:buClr>
              <a:buSzPts val="1983"/>
              <a:buFont typeface="Archivo Medium"/>
              <a:buChar char="●"/>
            </a:pPr>
            <a:r>
              <a:rPr b="1" lang="en-US" sz="1982">
                <a:solidFill>
                  <a:schemeClr val="dk1"/>
                </a:solidFill>
                <a:latin typeface="Archivo"/>
                <a:ea typeface="Archivo"/>
                <a:cs typeface="Archivo"/>
                <a:sym typeface="Archivo"/>
              </a:rPr>
              <a:t>Preventif </a:t>
            </a:r>
            <a:r>
              <a:rPr lang="en-US" sz="1982">
                <a:solidFill>
                  <a:schemeClr val="dk1"/>
                </a:solidFill>
                <a:latin typeface="Archivo Medium"/>
                <a:ea typeface="Archivo Medium"/>
                <a:cs typeface="Archivo Medium"/>
                <a:sym typeface="Archivo Medium"/>
              </a:rPr>
              <a:t>(Preventive)</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Kontrol ini bertindak untuk menghilangkan atau mengurangi kemungkinan terjadinya serangan. Kontrol preventif bekerja sebelum serangan terjadi.</a:t>
            </a:r>
            <a:endParaRPr sz="1982">
              <a:solidFill>
                <a:schemeClr val="dk1"/>
              </a:solidFill>
              <a:latin typeface="Archivo Medium"/>
              <a:ea typeface="Archivo Medium"/>
              <a:cs typeface="Archivo Medium"/>
              <a:sym typeface="Archivo Medium"/>
            </a:endParaRPr>
          </a:p>
          <a:p>
            <a:pPr indent="457200" lvl="0" marL="45720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Contoh: firewall, otentikasi kuat, enkripsi.</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b="1" lang="en-US" sz="1982">
                <a:solidFill>
                  <a:schemeClr val="dk1"/>
                </a:solidFill>
                <a:latin typeface="Archivo"/>
                <a:ea typeface="Archivo"/>
                <a:cs typeface="Archivo"/>
                <a:sym typeface="Archivo"/>
              </a:rPr>
              <a:t>Detektif </a:t>
            </a:r>
            <a:r>
              <a:rPr lang="en-US" sz="1982">
                <a:solidFill>
                  <a:schemeClr val="dk1"/>
                </a:solidFill>
                <a:latin typeface="Archivo Medium"/>
                <a:ea typeface="Archivo Medium"/>
                <a:cs typeface="Archivo Medium"/>
                <a:sym typeface="Archivo Medium"/>
              </a:rPr>
              <a:t>(Detective)</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Kontrol ini mungkin tidak mencegah atau menghalangi akses, tetapi akan mengidentifikasi dan mencatat upaya atau keberhasilan penyusupan. Kontrol detektif bekerja saat serangan sedang berlangsung.</a:t>
            </a:r>
            <a:endParaRPr sz="1982">
              <a:solidFill>
                <a:schemeClr val="dk1"/>
              </a:solidFill>
              <a:latin typeface="Archivo Medium"/>
              <a:ea typeface="Archivo Medium"/>
              <a:cs typeface="Archivo Medium"/>
              <a:sym typeface="Archivo Medium"/>
            </a:endParaRPr>
          </a:p>
          <a:p>
            <a:pPr indent="457200" lvl="0" marL="45720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Contoh: log sistem, IDS (Intrusion Detection System), alarm keamanan.</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b="1" lang="en-US" sz="1982">
                <a:solidFill>
                  <a:schemeClr val="dk1"/>
                </a:solidFill>
                <a:latin typeface="Archivo"/>
                <a:ea typeface="Archivo"/>
                <a:cs typeface="Archivo"/>
                <a:sym typeface="Archivo"/>
              </a:rPr>
              <a:t>Korektif </a:t>
            </a:r>
            <a:r>
              <a:rPr lang="en-US" sz="1982">
                <a:solidFill>
                  <a:schemeClr val="dk1"/>
                </a:solidFill>
                <a:latin typeface="Archivo Medium"/>
                <a:ea typeface="Archivo Medium"/>
                <a:cs typeface="Archivo Medium"/>
                <a:sym typeface="Archivo Medium"/>
              </a:rPr>
              <a:t>(Corrective)</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Kontrol ini bertujuan untuk menghilangkan atau mengurangi dampak dari pelanggaran kebijakan keamanan. Kontrol korektif digunakan setelah serangan terjadi.</a:t>
            </a:r>
            <a:endParaRPr sz="1982">
              <a:solidFill>
                <a:schemeClr val="dk1"/>
              </a:solidFill>
              <a:latin typeface="Archivo Medium"/>
              <a:ea typeface="Archivo Medium"/>
              <a:cs typeface="Archivo Medium"/>
              <a:sym typeface="Archivo Medium"/>
            </a:endParaRPr>
          </a:p>
          <a:p>
            <a:pPr indent="457200" lvl="0" marL="45720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Contoh: pemulihan sistem, patch keamanan, isolasi perangkat.</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cxnSp>
        <p:nvCxnSpPr>
          <p:cNvPr id="259" name="Google Shape;259;p2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4"/>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Security Control Functional </a:t>
            </a:r>
            <a:endParaRPr b="1" i="0" sz="3600" u="none" cap="none" strike="noStrike">
              <a:solidFill>
                <a:srgbClr val="6D9EEB"/>
              </a:solidFill>
              <a:latin typeface="Poppins"/>
              <a:ea typeface="Poppins"/>
              <a:cs typeface="Poppins"/>
              <a:sym typeface="Poppins"/>
            </a:endParaRPr>
          </a:p>
        </p:txBody>
      </p:sp>
      <p:cxnSp>
        <p:nvCxnSpPr>
          <p:cNvPr id="265" name="Google Shape;265;p2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266" name="Google Shape;266;p2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67" name="Google Shape;267;p2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68" name="Google Shape;268;p2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69" name="Google Shape;269;p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70" name="Google Shape;270;p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1" name="Google Shape;271;p24"/>
          <p:cNvSpPr txBox="1"/>
          <p:nvPr/>
        </p:nvSpPr>
        <p:spPr>
          <a:xfrm>
            <a:off x="872450" y="1329675"/>
            <a:ext cx="9972000" cy="5126700"/>
          </a:xfrm>
          <a:prstGeom prst="rect">
            <a:avLst/>
          </a:prstGeom>
          <a:noFill/>
          <a:ln>
            <a:noFill/>
          </a:ln>
        </p:spPr>
        <p:txBody>
          <a:bodyPr anchorCtr="0" anchor="t" bIns="45700" lIns="91425" spcFirstLastPara="1" rIns="91425" wrap="square" tIns="45700">
            <a:noAutofit/>
          </a:bodyPr>
          <a:lstStyle/>
          <a:p>
            <a:pPr indent="-354488" lvl="0" marL="457200" rtl="0" algn="l">
              <a:lnSpc>
                <a:spcPct val="80000"/>
              </a:lnSpc>
              <a:spcBef>
                <a:spcPts val="0"/>
              </a:spcBef>
              <a:spcAft>
                <a:spcPts val="0"/>
              </a:spcAft>
              <a:buClr>
                <a:schemeClr val="dk1"/>
              </a:buClr>
              <a:buSzPts val="1983"/>
              <a:buFont typeface="Archivo Medium"/>
              <a:buChar char="●"/>
            </a:pPr>
            <a:r>
              <a:rPr b="1" lang="en-US" sz="1982">
                <a:solidFill>
                  <a:schemeClr val="dk1"/>
                </a:solidFill>
                <a:latin typeface="Archivo"/>
                <a:ea typeface="Archivo"/>
                <a:cs typeface="Archivo"/>
                <a:sym typeface="Archivo"/>
              </a:rPr>
              <a:t>Direktif (Directive)</a:t>
            </a:r>
            <a:endParaRPr b="1" sz="1982">
              <a:solidFill>
                <a:schemeClr val="dk1"/>
              </a:solidFill>
              <a:latin typeface="Archivo"/>
              <a:ea typeface="Archivo"/>
              <a:cs typeface="Archivo"/>
              <a:sym typeface="Archivo"/>
            </a:endParaRPr>
          </a:p>
          <a:p>
            <a:pPr indent="0" lvl="0" marL="45720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Kontrol ini menegakkan aturan perilaku, seperti kebijakan, standar praktik terbaik, atau prosedur operasi standar (SOP).</a:t>
            </a:r>
            <a:endParaRPr sz="1982">
              <a:solidFill>
                <a:schemeClr val="dk1"/>
              </a:solidFill>
              <a:latin typeface="Archivo Medium"/>
              <a:ea typeface="Archivo Medium"/>
              <a:cs typeface="Archivo Medium"/>
              <a:sym typeface="Archivo Medium"/>
            </a:endParaRPr>
          </a:p>
          <a:p>
            <a:pPr indent="457200" lvl="0" marL="457200" rtl="0" algn="l">
              <a:lnSpc>
                <a:spcPct val="80000"/>
              </a:lnSpc>
              <a:spcBef>
                <a:spcPts val="0"/>
              </a:spcBef>
              <a:spcAft>
                <a:spcPts val="0"/>
              </a:spcAft>
              <a:buNone/>
            </a:pPr>
            <a:r>
              <a:rPr b="1" lang="en-US" sz="1982">
                <a:solidFill>
                  <a:schemeClr val="dk1"/>
                </a:solidFill>
                <a:latin typeface="Archivo"/>
                <a:ea typeface="Archivo"/>
                <a:cs typeface="Archivo"/>
                <a:sym typeface="Archivo"/>
              </a:rPr>
              <a:t>Contoh: </a:t>
            </a:r>
            <a:r>
              <a:rPr lang="en-US" sz="1982">
                <a:solidFill>
                  <a:schemeClr val="dk1"/>
                </a:solidFill>
                <a:latin typeface="Archivo Medium"/>
                <a:ea typeface="Archivo Medium"/>
                <a:cs typeface="Archivo Medium"/>
                <a:sym typeface="Archivo Medium"/>
              </a:rPr>
              <a:t>kebijakan penggunaan perangkat, pelatihan keamanan siber, pedoman password.</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b="1" lang="en-US" sz="1982">
                <a:solidFill>
                  <a:schemeClr val="dk1"/>
                </a:solidFill>
                <a:latin typeface="Archivo"/>
                <a:ea typeface="Archivo"/>
                <a:cs typeface="Archivo"/>
                <a:sym typeface="Archivo"/>
              </a:rPr>
              <a:t>Penangkal (Deterrent)</a:t>
            </a:r>
            <a:endParaRPr b="1" sz="1982">
              <a:solidFill>
                <a:schemeClr val="dk1"/>
              </a:solidFill>
              <a:latin typeface="Archivo"/>
              <a:ea typeface="Archivo"/>
              <a:cs typeface="Archivo"/>
              <a:sym typeface="Archivo"/>
            </a:endParaRPr>
          </a:p>
          <a:p>
            <a:pPr indent="0" lvl="0" marL="45720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Kontrol ini mungkin tidak secara fisik atau logis mencegah akses, tetapi secara psikologis mencegah atau mengintimidasi penyerang agar tidak melakukan intrusi.</a:t>
            </a:r>
            <a:endParaRPr sz="1982">
              <a:solidFill>
                <a:schemeClr val="dk1"/>
              </a:solidFill>
              <a:latin typeface="Archivo Medium"/>
              <a:ea typeface="Archivo Medium"/>
              <a:cs typeface="Archivo Medium"/>
              <a:sym typeface="Archivo Medium"/>
            </a:endParaRPr>
          </a:p>
          <a:p>
            <a:pPr indent="457200" lvl="0" marL="457200" rtl="0" algn="l">
              <a:lnSpc>
                <a:spcPct val="80000"/>
              </a:lnSpc>
              <a:spcBef>
                <a:spcPts val="0"/>
              </a:spcBef>
              <a:spcAft>
                <a:spcPts val="0"/>
              </a:spcAft>
              <a:buNone/>
            </a:pPr>
            <a:r>
              <a:rPr b="1" lang="en-US" sz="1982">
                <a:solidFill>
                  <a:schemeClr val="dk1"/>
                </a:solidFill>
                <a:latin typeface="Archivo"/>
                <a:ea typeface="Archivo"/>
                <a:cs typeface="Archivo"/>
                <a:sym typeface="Archivo"/>
              </a:rPr>
              <a:t>Contoh: </a:t>
            </a:r>
            <a:r>
              <a:rPr lang="en-US" sz="1982">
                <a:solidFill>
                  <a:schemeClr val="dk1"/>
                </a:solidFill>
                <a:latin typeface="Archivo Medium"/>
                <a:ea typeface="Archivo Medium"/>
                <a:cs typeface="Archivo Medium"/>
                <a:sym typeface="Archivo Medium"/>
              </a:rPr>
              <a:t>papan peringatan “Area Diawasi CCTV”, seragam petugas keamanan, banner hukum di halaman login.</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b="1" sz="1982">
              <a:solidFill>
                <a:schemeClr val="dk1"/>
              </a:solidFill>
              <a:latin typeface="Archivo"/>
              <a:ea typeface="Archivo"/>
              <a:cs typeface="Archivo"/>
              <a:sym typeface="Archivo"/>
            </a:endParaRPr>
          </a:p>
          <a:p>
            <a:pPr indent="-354488" lvl="0" marL="457200" rtl="0" algn="l">
              <a:lnSpc>
                <a:spcPct val="80000"/>
              </a:lnSpc>
              <a:spcBef>
                <a:spcPts val="0"/>
              </a:spcBef>
              <a:spcAft>
                <a:spcPts val="0"/>
              </a:spcAft>
              <a:buClr>
                <a:schemeClr val="dk1"/>
              </a:buClr>
              <a:buSzPts val="1983"/>
              <a:buFont typeface="Archivo Medium"/>
              <a:buChar char="●"/>
            </a:pPr>
            <a:r>
              <a:rPr b="1" lang="en-US" sz="1982">
                <a:solidFill>
                  <a:schemeClr val="dk1"/>
                </a:solidFill>
                <a:latin typeface="Archivo"/>
                <a:ea typeface="Archivo"/>
                <a:cs typeface="Archivo"/>
                <a:sym typeface="Archivo"/>
              </a:rPr>
              <a:t>Pengganti (Compensating)</a:t>
            </a:r>
            <a:endParaRPr b="1" sz="1982">
              <a:solidFill>
                <a:schemeClr val="dk1"/>
              </a:solidFill>
              <a:latin typeface="Archivo"/>
              <a:ea typeface="Archivo"/>
              <a:cs typeface="Archivo"/>
              <a:sym typeface="Archivo"/>
            </a:endParaRPr>
          </a:p>
          <a:p>
            <a:pPr indent="0" lvl="0" marL="45720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Kontrol ini adalah pengganti dari kontrol utama yang disarankan oleh standar keamanan, dan memberikan tingkat perlindungan yang sama atau lebih baik, tetapi dengan metode atau teknologi yang berbeda.</a:t>
            </a:r>
            <a:endParaRPr sz="1982">
              <a:solidFill>
                <a:schemeClr val="dk1"/>
              </a:solidFill>
              <a:latin typeface="Archivo Medium"/>
              <a:ea typeface="Archivo Medium"/>
              <a:cs typeface="Archivo Medium"/>
              <a:sym typeface="Archivo Medium"/>
            </a:endParaRPr>
          </a:p>
          <a:p>
            <a:pPr indent="457200" lvl="0" marL="457200" rtl="0" algn="l">
              <a:lnSpc>
                <a:spcPct val="80000"/>
              </a:lnSpc>
              <a:spcBef>
                <a:spcPts val="0"/>
              </a:spcBef>
              <a:spcAft>
                <a:spcPts val="0"/>
              </a:spcAft>
              <a:buNone/>
            </a:pPr>
            <a:r>
              <a:rPr b="1" lang="en-US" sz="1982">
                <a:solidFill>
                  <a:schemeClr val="dk1"/>
                </a:solidFill>
                <a:latin typeface="Archivo"/>
                <a:ea typeface="Archivo"/>
                <a:cs typeface="Archivo"/>
                <a:sym typeface="Archivo"/>
              </a:rPr>
              <a:t>Contoh: </a:t>
            </a:r>
            <a:r>
              <a:rPr lang="en-US" sz="1982">
                <a:solidFill>
                  <a:schemeClr val="dk1"/>
                </a:solidFill>
                <a:latin typeface="Archivo Medium"/>
                <a:ea typeface="Archivo Medium"/>
                <a:cs typeface="Archivo Medium"/>
                <a:sym typeface="Archivo Medium"/>
              </a:rPr>
              <a:t>jika multifactor authentication tidak memungkinkan, maka penggunaan VPN dengan autentikasi ketat sebagai alternatif.</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cxnSp>
        <p:nvCxnSpPr>
          <p:cNvPr id="272" name="Google Shape;272;p2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5"/>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Information Security Business Unit</a:t>
            </a:r>
            <a:endParaRPr b="1" i="0" sz="3600" u="none" cap="none" strike="noStrike">
              <a:solidFill>
                <a:srgbClr val="6D9EEB"/>
              </a:solidFill>
              <a:latin typeface="Poppins"/>
              <a:ea typeface="Poppins"/>
              <a:cs typeface="Poppins"/>
              <a:sym typeface="Poppins"/>
            </a:endParaRPr>
          </a:p>
        </p:txBody>
      </p:sp>
      <p:cxnSp>
        <p:nvCxnSpPr>
          <p:cNvPr id="278" name="Google Shape;278;p2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279" name="Google Shape;279;p2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80" name="Google Shape;280;p2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81" name="Google Shape;281;p2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82" name="Google Shape;282;p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83" name="Google Shape;283;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4" name="Google Shape;284;p25"/>
          <p:cNvSpPr txBox="1"/>
          <p:nvPr/>
        </p:nvSpPr>
        <p:spPr>
          <a:xfrm>
            <a:off x="1000925" y="2047500"/>
            <a:ext cx="5066100" cy="3028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b="1" lang="en-US" sz="1982">
                <a:solidFill>
                  <a:schemeClr val="dk1"/>
                </a:solidFill>
                <a:latin typeface="Archivo"/>
                <a:ea typeface="Archivo"/>
                <a:cs typeface="Archivo"/>
                <a:sym typeface="Archivo"/>
              </a:rPr>
              <a:t>Pusat Operasi Keamanan (Security Operations Center / SOC)</a:t>
            </a:r>
            <a:endParaRPr b="1" sz="1982">
              <a:solidFill>
                <a:schemeClr val="dk1"/>
              </a:solidFill>
              <a:latin typeface="Archivo"/>
              <a:ea typeface="Archivo"/>
              <a:cs typeface="Archivo"/>
              <a:sym typeface="Archivo"/>
            </a:endParaRPr>
          </a:p>
          <a:p>
            <a:pPr indent="0" lvl="0" marL="457200" rtl="0" algn="l">
              <a:lnSpc>
                <a:spcPct val="80000"/>
              </a:lnSpc>
              <a:spcBef>
                <a:spcPts val="0"/>
              </a:spcBef>
              <a:spcAft>
                <a:spcPts val="0"/>
              </a:spcAft>
              <a:buNone/>
            </a:pPr>
            <a:r>
              <a:t/>
            </a:r>
            <a:endParaRPr b="1" sz="1982">
              <a:solidFill>
                <a:schemeClr val="dk1"/>
              </a:solidFill>
              <a:latin typeface="Archivo"/>
              <a:ea typeface="Archivo"/>
              <a:cs typeface="Archivo"/>
              <a:sym typeface="Archivo"/>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Pusat Operasi Keamanan (SOC) adalah suatu lokasi atau unit kerja di mana para profesional keamanan siber memantau dan melindungi aset informasi penting yang dimiliki organisasi. Pemantauan ini mencakup seluruh fungsi bisnis lainnya, seperti keuangan, operasional, penjualan/pemasaran, dan sebagainya.</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t/>
            </a:r>
            <a:endParaRPr b="1" sz="1982">
              <a:solidFill>
                <a:schemeClr val="dk1"/>
              </a:solidFill>
              <a:latin typeface="Archivo"/>
              <a:ea typeface="Archivo"/>
              <a:cs typeface="Archivo"/>
              <a:sym typeface="Archivo"/>
            </a:endParaRPr>
          </a:p>
          <a:p>
            <a:pPr indent="0" lvl="0" marL="457200" rtl="0" algn="l">
              <a:lnSpc>
                <a:spcPct val="80000"/>
              </a:lnSpc>
              <a:spcBef>
                <a:spcPts val="0"/>
              </a:spcBef>
              <a:spcAft>
                <a:spcPts val="0"/>
              </a:spcAft>
              <a:buNone/>
            </a:pPr>
            <a:r>
              <a:t/>
            </a:r>
            <a:endParaRPr b="1" sz="1982">
              <a:solidFill>
                <a:schemeClr val="dk1"/>
              </a:solidFill>
              <a:latin typeface="Archivo"/>
              <a:ea typeface="Archivo"/>
              <a:cs typeface="Archivo"/>
              <a:sym typeface="Archivo"/>
            </a:endParaRPr>
          </a:p>
        </p:txBody>
      </p:sp>
      <p:cxnSp>
        <p:nvCxnSpPr>
          <p:cNvPr id="285" name="Google Shape;285;p2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286" name="Google Shape;286;p25"/>
          <p:cNvPicPr preferRelativeResize="0"/>
          <p:nvPr/>
        </p:nvPicPr>
        <p:blipFill>
          <a:blip r:embed="rId6">
            <a:alphaModFix/>
          </a:blip>
          <a:stretch>
            <a:fillRect/>
          </a:stretch>
        </p:blipFill>
        <p:spPr>
          <a:xfrm>
            <a:off x="6192793" y="2176274"/>
            <a:ext cx="4900957" cy="3028799"/>
          </a:xfrm>
          <a:prstGeom prst="rect">
            <a:avLst/>
          </a:prstGeom>
          <a:noFill/>
          <a:ln>
            <a:noFill/>
          </a:ln>
        </p:spPr>
      </p:pic>
    </p:spTree>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6"/>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Component SOC </a:t>
            </a:r>
            <a:endParaRPr b="1" i="0" sz="3600" u="none" cap="none" strike="noStrike">
              <a:solidFill>
                <a:srgbClr val="6D9EEB"/>
              </a:solidFill>
              <a:latin typeface="Poppins"/>
              <a:ea typeface="Poppins"/>
              <a:cs typeface="Poppins"/>
              <a:sym typeface="Poppins"/>
            </a:endParaRPr>
          </a:p>
        </p:txBody>
      </p:sp>
      <p:cxnSp>
        <p:nvCxnSpPr>
          <p:cNvPr id="292" name="Google Shape;292;p2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293" name="Google Shape;293;p2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94" name="Google Shape;294;p2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95" name="Google Shape;295;p2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96" name="Google Shape;296;p2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97" name="Google Shape;297;p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298" name="Google Shape;298;p2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299" name="Google Shape;299;p26"/>
          <p:cNvPicPr preferRelativeResize="0"/>
          <p:nvPr/>
        </p:nvPicPr>
        <p:blipFill rotWithShape="1">
          <a:blip r:embed="rId6">
            <a:alphaModFix/>
          </a:blip>
          <a:srcRect b="15002" l="0" r="0" t="0"/>
          <a:stretch/>
        </p:blipFill>
        <p:spPr>
          <a:xfrm>
            <a:off x="718200" y="2430525"/>
            <a:ext cx="1714450" cy="1760063"/>
          </a:xfrm>
          <a:prstGeom prst="rect">
            <a:avLst/>
          </a:prstGeom>
          <a:noFill/>
          <a:ln>
            <a:noFill/>
          </a:ln>
        </p:spPr>
      </p:pic>
      <p:pic>
        <p:nvPicPr>
          <p:cNvPr id="300" name="Google Shape;300;p26"/>
          <p:cNvPicPr preferRelativeResize="0"/>
          <p:nvPr/>
        </p:nvPicPr>
        <p:blipFill rotWithShape="1">
          <a:blip r:embed="rId7">
            <a:alphaModFix/>
          </a:blip>
          <a:srcRect b="11047" l="0" r="0" t="0"/>
          <a:stretch/>
        </p:blipFill>
        <p:spPr>
          <a:xfrm>
            <a:off x="3214450" y="2266563"/>
            <a:ext cx="4286250" cy="2033425"/>
          </a:xfrm>
          <a:prstGeom prst="rect">
            <a:avLst/>
          </a:prstGeom>
          <a:noFill/>
          <a:ln>
            <a:noFill/>
          </a:ln>
        </p:spPr>
      </p:pic>
      <p:pic>
        <p:nvPicPr>
          <p:cNvPr id="301" name="Google Shape;301;p26"/>
          <p:cNvPicPr preferRelativeResize="0"/>
          <p:nvPr/>
        </p:nvPicPr>
        <p:blipFill rotWithShape="1">
          <a:blip r:embed="rId8">
            <a:alphaModFix/>
          </a:blip>
          <a:srcRect b="11582" l="0" r="0" t="0"/>
          <a:stretch/>
        </p:blipFill>
        <p:spPr>
          <a:xfrm>
            <a:off x="7831725" y="2247375"/>
            <a:ext cx="3752850" cy="2071800"/>
          </a:xfrm>
          <a:prstGeom prst="rect">
            <a:avLst/>
          </a:prstGeom>
          <a:noFill/>
          <a:ln>
            <a:noFill/>
          </a:ln>
        </p:spPr>
      </p:pic>
      <p:sp>
        <p:nvSpPr>
          <p:cNvPr id="302" name="Google Shape;302;p26"/>
          <p:cNvSpPr txBox="1"/>
          <p:nvPr/>
        </p:nvSpPr>
        <p:spPr>
          <a:xfrm>
            <a:off x="1720850" y="5208225"/>
            <a:ext cx="8325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latin typeface="Archivo Medium"/>
                <a:ea typeface="Archivo Medium"/>
                <a:cs typeface="Archivo Medium"/>
                <a:sym typeface="Archivo Medium"/>
              </a:rPr>
              <a:t>https://nvlpubs.nist.gov/nistpubs/SpecialPublications/NIST.SP.800-61r2.pdf</a:t>
            </a:r>
            <a:endParaRPr>
              <a:latin typeface="Archivo Medium"/>
              <a:ea typeface="Archivo Medium"/>
              <a:cs typeface="Archivo Medium"/>
              <a:sym typeface="Archivo Medium"/>
            </a:endParaRPr>
          </a:p>
        </p:txBody>
      </p:sp>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7"/>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Summary</a:t>
            </a:r>
            <a:endParaRPr b="1" i="0" sz="3600" u="none" cap="none" strike="noStrike">
              <a:solidFill>
                <a:srgbClr val="6D9EEB"/>
              </a:solidFill>
              <a:latin typeface="Poppins"/>
              <a:ea typeface="Poppins"/>
              <a:cs typeface="Poppins"/>
              <a:sym typeface="Poppins"/>
            </a:endParaRPr>
          </a:p>
        </p:txBody>
      </p:sp>
      <p:cxnSp>
        <p:nvCxnSpPr>
          <p:cNvPr id="308" name="Google Shape;308;p2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09" name="Google Shape;309;p2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10" name="Google Shape;310;p2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11" name="Google Shape;311;p2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12" name="Google Shape;312;p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13" name="Google Shape;313;p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14" name="Google Shape;314;p2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15" name="Google Shape;315;p27"/>
          <p:cNvSpPr txBox="1"/>
          <p:nvPr/>
        </p:nvSpPr>
        <p:spPr>
          <a:xfrm>
            <a:off x="800600" y="2065150"/>
            <a:ext cx="5673000" cy="2859300"/>
          </a:xfrm>
          <a:prstGeom prst="rect">
            <a:avLst/>
          </a:prstGeom>
          <a:noFill/>
          <a:ln>
            <a:noFill/>
          </a:ln>
        </p:spPr>
        <p:txBody>
          <a:bodyPr anchorCtr="0" anchor="t" bIns="45700" lIns="91425" spcFirstLastPara="1" rIns="91425" wrap="square" tIns="45700">
            <a:noAutofit/>
          </a:bodyPr>
          <a:lstStyle/>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Apa itu CIA ? Kenapa penting kita ketahui pada Information Security</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Kenapa penting Framework pada Cyber Security </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SOC Pada system Monitoring berperan sangat besar, kenapa ?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19" name="Shape 319"/>
        <p:cNvGrpSpPr/>
        <p:nvPr/>
      </p:nvGrpSpPr>
      <p:grpSpPr>
        <a:xfrm>
          <a:off x="0" y="0"/>
          <a:ext cx="0" cy="0"/>
          <a:chOff x="0" y="0"/>
          <a:chExt cx="0" cy="0"/>
        </a:xfrm>
      </p:grpSpPr>
      <p:pic>
        <p:nvPicPr>
          <p:cNvPr descr="A picture containing food, drawing, shirt&#10;&#10;Description automatically generated" id="320" name="Google Shape;320;p2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21" name="Google Shape;321;p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2" name="Google Shape;322;p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23" name="Google Shape;323;p28"/>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24" name="Google Shape;324;p2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25" name="Google Shape;325;p28"/>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26" name="Google Shape;326;p28"/>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Introduction to Wazuh.</a:t>
            </a:r>
            <a:endParaRPr sz="4800">
              <a:solidFill>
                <a:schemeClr val="lt1"/>
              </a:solidFill>
              <a:highlight>
                <a:srgbClr val="3585F9"/>
              </a:highlight>
              <a:latin typeface="Poppins"/>
              <a:ea typeface="Poppins"/>
              <a:cs typeface="Poppins"/>
              <a:sym typeface="Poppins"/>
            </a:endParaRPr>
          </a:p>
        </p:txBody>
      </p:sp>
      <p:pic>
        <p:nvPicPr>
          <p:cNvPr id="327" name="Google Shape;327;p28"/>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9"/>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333" name="Google Shape;333;p2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34" name="Google Shape;334;p2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35" name="Google Shape;335;p2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36" name="Google Shape;336;p2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37" name="Google Shape;337;p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38" name="Google Shape;338;p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39" name="Google Shape;339;p2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40" name="Google Shape;340;p29"/>
          <p:cNvSpPr txBox="1"/>
          <p:nvPr/>
        </p:nvSpPr>
        <p:spPr>
          <a:xfrm>
            <a:off x="1000925" y="1650025"/>
            <a:ext cx="9983100" cy="2859300"/>
          </a:xfrm>
          <a:prstGeom prst="rect">
            <a:avLst/>
          </a:prstGeom>
          <a:noFill/>
          <a:ln>
            <a:noFill/>
          </a:ln>
        </p:spPr>
        <p:txBody>
          <a:bodyPr anchorCtr="0" anchor="t" bIns="45700" lIns="91425" spcFirstLastPara="1" rIns="91425" wrap="square" tIns="45700">
            <a:noAutofit/>
          </a:bodyPr>
          <a:lstStyle/>
          <a:p>
            <a:pPr indent="-379888" lvl="0" marL="457200" rtl="0" algn="l">
              <a:lnSpc>
                <a:spcPct val="80000"/>
              </a:lnSpc>
              <a:spcBef>
                <a:spcPts val="0"/>
              </a:spcBef>
              <a:spcAft>
                <a:spcPts val="0"/>
              </a:spcAft>
              <a:buClr>
                <a:schemeClr val="dk1"/>
              </a:buClr>
              <a:buSzPts val="2383"/>
              <a:buFont typeface="Archivo Medium"/>
              <a:buChar char="●"/>
            </a:pPr>
            <a:r>
              <a:rPr lang="en-US" sz="2382">
                <a:solidFill>
                  <a:schemeClr val="dk1"/>
                </a:solidFill>
                <a:latin typeface="Archivo Medium"/>
                <a:ea typeface="Archivo Medium"/>
                <a:cs typeface="Archivo Medium"/>
                <a:sym typeface="Archivo Medium"/>
              </a:rPr>
              <a:t>Pengantar kursus ini memberikan gambaran umum kepada peserta.</a:t>
            </a:r>
            <a:endParaRPr sz="23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rPr lang="en-US" sz="2382">
                <a:solidFill>
                  <a:schemeClr val="dk1"/>
                </a:solidFill>
                <a:latin typeface="Archivo Medium"/>
                <a:ea typeface="Archivo Medium"/>
                <a:cs typeface="Archivo Medium"/>
                <a:sym typeface="Archivo Medium"/>
              </a:rPr>
              <a:t>Kamu akan mempelajari apa itu Wazuh dan mengapa perusahaan menggunakan alat ini.</a:t>
            </a:r>
            <a:endParaRPr sz="23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23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rPr lang="en-US" sz="2382">
                <a:solidFill>
                  <a:schemeClr val="dk1"/>
                </a:solidFill>
                <a:latin typeface="Archivo Medium"/>
                <a:ea typeface="Archivo Medium"/>
                <a:cs typeface="Archivo Medium"/>
                <a:sym typeface="Archivo Medium"/>
              </a:rPr>
              <a:t>Kamu juga akan mempelajari kapabilitas utama Wazuh dan mendapatkan latar belakang singkat mengenai proyek Wazuh itu sendiri.</a:t>
            </a:r>
            <a:endParaRPr sz="23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t/>
            </a:r>
            <a:endParaRPr sz="23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23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0"/>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Getting Started With Wazuh	</a:t>
            </a:r>
            <a:endParaRPr b="1" i="0" sz="3600" u="none" cap="none" strike="noStrike">
              <a:solidFill>
                <a:srgbClr val="6D9EEB"/>
              </a:solidFill>
              <a:latin typeface="Poppins"/>
              <a:ea typeface="Poppins"/>
              <a:cs typeface="Poppins"/>
              <a:sym typeface="Poppins"/>
            </a:endParaRPr>
          </a:p>
        </p:txBody>
      </p:sp>
      <p:cxnSp>
        <p:nvCxnSpPr>
          <p:cNvPr id="346" name="Google Shape;346;p3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47" name="Google Shape;347;p3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48" name="Google Shape;348;p3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49" name="Google Shape;349;p3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50" name="Google Shape;350;p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51" name="Google Shape;351;p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52" name="Google Shape;352;p3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53" name="Google Shape;353;p30"/>
          <p:cNvSpPr txBox="1"/>
          <p:nvPr/>
        </p:nvSpPr>
        <p:spPr>
          <a:xfrm>
            <a:off x="603100" y="2016525"/>
            <a:ext cx="4519500" cy="32625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b="1" lang="en-US" sz="1882">
                <a:solidFill>
                  <a:schemeClr val="dk1"/>
                </a:solidFill>
                <a:latin typeface="Archivo"/>
                <a:ea typeface="Archivo"/>
                <a:cs typeface="Archivo"/>
                <a:sym typeface="Archivo"/>
              </a:rPr>
              <a:t>Wazuh </a:t>
            </a:r>
            <a:r>
              <a:rPr lang="en-US" sz="1882">
                <a:solidFill>
                  <a:schemeClr val="dk1"/>
                </a:solidFill>
                <a:latin typeface="Archivo Medium"/>
                <a:ea typeface="Archivo Medium"/>
                <a:cs typeface="Archivo Medium"/>
                <a:sym typeface="Archivo Medium"/>
              </a:rPr>
              <a:t>adalah platform keamanan gratis dan open source yang menggabungkan kemampuan XDR (Extended Detection and Response) dan SIEM (Security Information and Event Management).</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882">
                <a:solidFill>
                  <a:schemeClr val="dk1"/>
                </a:solidFill>
                <a:latin typeface="Archivo Medium"/>
                <a:ea typeface="Archivo Medium"/>
                <a:cs typeface="Archivo Medium"/>
                <a:sym typeface="Archivo Medium"/>
              </a:rPr>
              <a:t>Platform ini melindungi beban kerja (workloads) di berbagai lingkungan, termasuk on-premises (lokal), virtualisasi, kontainer, dan cloud.</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882">
                <a:solidFill>
                  <a:schemeClr val="dk1"/>
                </a:solidFill>
                <a:latin typeface="Archivo Medium"/>
                <a:ea typeface="Archivo Medium"/>
                <a:cs typeface="Archivo Medium"/>
                <a:sym typeface="Archivo Medium"/>
              </a:rPr>
              <a:t>Dibuat Open Source ( GNU &amp; Apache License )</a:t>
            </a:r>
            <a:endParaRPr sz="18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t/>
            </a:r>
            <a:endParaRPr sz="18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882">
              <a:solidFill>
                <a:schemeClr val="dk1"/>
              </a:solidFill>
              <a:latin typeface="Archivo Medium"/>
              <a:ea typeface="Archivo Medium"/>
              <a:cs typeface="Archivo Medium"/>
              <a:sym typeface="Archivo Medium"/>
            </a:endParaRPr>
          </a:p>
        </p:txBody>
      </p:sp>
      <p:pic>
        <p:nvPicPr>
          <p:cNvPr id="354" name="Google Shape;354;p30"/>
          <p:cNvPicPr preferRelativeResize="0"/>
          <p:nvPr/>
        </p:nvPicPr>
        <p:blipFill>
          <a:blip r:embed="rId6">
            <a:alphaModFix/>
          </a:blip>
          <a:stretch>
            <a:fillRect/>
          </a:stretch>
        </p:blipFill>
        <p:spPr>
          <a:xfrm>
            <a:off x="5438600" y="2169663"/>
            <a:ext cx="5534198" cy="2851375"/>
          </a:xfrm>
          <a:prstGeom prst="rect">
            <a:avLst/>
          </a:prstGeom>
          <a:noFill/>
          <a:ln>
            <a:noFill/>
          </a:ln>
          <a:effectLst>
            <a:outerShdw blurRad="57150" rotWithShape="0" algn="bl" dir="11040000" dist="19050">
              <a:srgbClr val="000000">
                <a:alpha val="50000"/>
              </a:srgbClr>
            </a:outerShdw>
          </a:effectLst>
        </p:spPr>
      </p:pic>
    </p:spTree>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1"/>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A Comprehensive SIEM solution</a:t>
            </a:r>
            <a:endParaRPr b="1" i="0" sz="3600" u="none" cap="none" strike="noStrike">
              <a:solidFill>
                <a:srgbClr val="6D9EEB"/>
              </a:solidFill>
              <a:latin typeface="Poppins"/>
              <a:ea typeface="Poppins"/>
              <a:cs typeface="Poppins"/>
              <a:sym typeface="Poppins"/>
            </a:endParaRPr>
          </a:p>
        </p:txBody>
      </p:sp>
      <p:cxnSp>
        <p:nvCxnSpPr>
          <p:cNvPr id="360" name="Google Shape;360;p3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61" name="Google Shape;361;p3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62" name="Google Shape;362;p3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63" name="Google Shape;363;p3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64" name="Google Shape;364;p3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65" name="Google Shape;365;p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66" name="Google Shape;366;p3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67" name="Google Shape;367;p31"/>
          <p:cNvSpPr txBox="1"/>
          <p:nvPr/>
        </p:nvSpPr>
        <p:spPr>
          <a:xfrm>
            <a:off x="692050" y="2066625"/>
            <a:ext cx="4571700" cy="3456000"/>
          </a:xfrm>
          <a:prstGeom prst="rect">
            <a:avLst/>
          </a:prstGeom>
          <a:noFill/>
          <a:ln>
            <a:noFill/>
          </a:ln>
        </p:spPr>
        <p:txBody>
          <a:bodyPr anchorCtr="0" anchor="t" bIns="45700" lIns="91425" spcFirstLastPara="1" rIns="91425" wrap="square" tIns="45700">
            <a:noAutofit/>
          </a:bodyPr>
          <a:lstStyle/>
          <a:p>
            <a:pPr indent="-348138" lvl="0" marL="457200" rtl="0" algn="l">
              <a:lnSpc>
                <a:spcPct val="80000"/>
              </a:lnSpc>
              <a:spcBef>
                <a:spcPts val="0"/>
              </a:spcBef>
              <a:spcAft>
                <a:spcPts val="0"/>
              </a:spcAft>
              <a:buClr>
                <a:schemeClr val="dk1"/>
              </a:buClr>
              <a:buSzPts val="1883"/>
              <a:buFont typeface="Archivo Medium"/>
              <a:buChar char="●"/>
            </a:pPr>
            <a:r>
              <a:rPr lang="en-US" sz="1882">
                <a:solidFill>
                  <a:schemeClr val="dk1"/>
                </a:solidFill>
                <a:latin typeface="Archivo Medium"/>
                <a:ea typeface="Archivo Medium"/>
                <a:cs typeface="Archivo Medium"/>
                <a:sym typeface="Archivo Medium"/>
              </a:rPr>
              <a:t>Solusi Wazuh (SIEM) adalah platform terpusat untuk mengumpulkan dan menganalisis data telemetri secara real-time guna mendeteksi ancaman dan memenuhi kepatuhan (compliance).</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882">
              <a:solidFill>
                <a:schemeClr val="dk1"/>
              </a:solidFill>
              <a:latin typeface="Archivo Medium"/>
              <a:ea typeface="Archivo Medium"/>
              <a:cs typeface="Archivo Medium"/>
              <a:sym typeface="Archivo Medium"/>
            </a:endParaRPr>
          </a:p>
          <a:p>
            <a:pPr indent="-348138" lvl="0" marL="457200" rtl="0" algn="l">
              <a:lnSpc>
                <a:spcPct val="80000"/>
              </a:lnSpc>
              <a:spcBef>
                <a:spcPts val="0"/>
              </a:spcBef>
              <a:spcAft>
                <a:spcPts val="0"/>
              </a:spcAft>
              <a:buClr>
                <a:schemeClr val="dk1"/>
              </a:buClr>
              <a:buSzPts val="1883"/>
              <a:buFont typeface="Archivo Medium"/>
              <a:buChar char="●"/>
            </a:pPr>
            <a:r>
              <a:rPr lang="en-US" sz="1882">
                <a:solidFill>
                  <a:schemeClr val="dk1"/>
                </a:solidFill>
                <a:latin typeface="Archivo Medium"/>
                <a:ea typeface="Archivo Medium"/>
                <a:cs typeface="Archivo Medium"/>
                <a:sym typeface="Archivo Medium"/>
              </a:rPr>
              <a:t>Wazuh mengumpulkan data peristiwa (event data) dari berbagai sumber, seperti endpoint, perangkat jaringan, beban kerja cloud, dan aplikasi, untuk memberikan cakupan keamanan yang lebih luas.</a:t>
            </a:r>
            <a:endParaRPr sz="18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882">
              <a:solidFill>
                <a:schemeClr val="dk1"/>
              </a:solidFill>
              <a:latin typeface="Archivo Medium"/>
              <a:ea typeface="Archivo Medium"/>
              <a:cs typeface="Archivo Medium"/>
              <a:sym typeface="Archivo Medium"/>
            </a:endParaRPr>
          </a:p>
        </p:txBody>
      </p:sp>
      <p:pic>
        <p:nvPicPr>
          <p:cNvPr id="368" name="Google Shape;368;p31"/>
          <p:cNvPicPr preferRelativeResize="0"/>
          <p:nvPr/>
        </p:nvPicPr>
        <p:blipFill>
          <a:blip r:embed="rId6">
            <a:alphaModFix/>
          </a:blip>
          <a:stretch>
            <a:fillRect/>
          </a:stretch>
        </p:blipFill>
        <p:spPr>
          <a:xfrm>
            <a:off x="5804025" y="2164359"/>
            <a:ext cx="5168777" cy="3325217"/>
          </a:xfrm>
          <a:prstGeom prst="rect">
            <a:avLst/>
          </a:prstGeom>
          <a:noFill/>
          <a:ln>
            <a:noFill/>
          </a:ln>
          <a:effectLst>
            <a:outerShdw blurRad="57150" rotWithShape="0" algn="bl" dir="6600000" dist="19050">
              <a:srgbClr val="000000">
                <a:alpha val="70000"/>
              </a:srgbClr>
            </a:outerShdw>
          </a:effectLst>
        </p:spPr>
      </p:pic>
    </p:spTree>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2"/>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A Comprehensive SIEM solution </a:t>
            </a:r>
            <a:r>
              <a:rPr b="1" lang="en-US" sz="3600">
                <a:solidFill>
                  <a:srgbClr val="6D9EEB"/>
                </a:solidFill>
                <a:latin typeface="Poppins"/>
                <a:ea typeface="Poppins"/>
                <a:cs typeface="Poppins"/>
                <a:sym typeface="Poppins"/>
              </a:rPr>
              <a:t>Capabilities</a:t>
            </a:r>
            <a:r>
              <a:rPr b="1" lang="en-US" sz="3600">
                <a:solidFill>
                  <a:srgbClr val="6D9EEB"/>
                </a:solidFill>
                <a:latin typeface="Poppins"/>
                <a:ea typeface="Poppins"/>
                <a:cs typeface="Poppins"/>
                <a:sym typeface="Poppins"/>
              </a:rPr>
              <a:t> </a:t>
            </a:r>
            <a:endParaRPr b="1" i="0" sz="3600" u="none" cap="none" strike="noStrike">
              <a:solidFill>
                <a:srgbClr val="6D9EEB"/>
              </a:solidFill>
              <a:latin typeface="Poppins"/>
              <a:ea typeface="Poppins"/>
              <a:cs typeface="Poppins"/>
              <a:sym typeface="Poppins"/>
            </a:endParaRPr>
          </a:p>
        </p:txBody>
      </p:sp>
      <p:cxnSp>
        <p:nvCxnSpPr>
          <p:cNvPr id="374" name="Google Shape;374;p3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75" name="Google Shape;375;p3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76" name="Google Shape;376;p3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77" name="Google Shape;377;p3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78" name="Google Shape;378;p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79" name="Google Shape;379;p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80" name="Google Shape;380;p3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381" name="Google Shape;381;p32"/>
          <p:cNvPicPr preferRelativeResize="0"/>
          <p:nvPr/>
        </p:nvPicPr>
        <p:blipFill>
          <a:blip r:embed="rId6">
            <a:alphaModFix/>
          </a:blip>
          <a:stretch>
            <a:fillRect/>
          </a:stretch>
        </p:blipFill>
        <p:spPr>
          <a:xfrm>
            <a:off x="485600" y="1972600"/>
            <a:ext cx="3275602" cy="831900"/>
          </a:xfrm>
          <a:prstGeom prst="rect">
            <a:avLst/>
          </a:prstGeom>
          <a:noFill/>
          <a:ln>
            <a:noFill/>
          </a:ln>
          <a:effectLst>
            <a:outerShdw blurRad="342900" rotWithShape="0" algn="bl" dist="57150">
              <a:srgbClr val="000000">
                <a:alpha val="31000"/>
              </a:srgbClr>
            </a:outerShdw>
            <a:reflection blurRad="0" dir="5400000" dist="38100" endA="0" endPos="30000" fadeDir="5400012" kx="0" rotWithShape="0" algn="bl" stPos="0" sy="-100000" ky="0"/>
          </a:effectLst>
        </p:spPr>
      </p:pic>
      <p:pic>
        <p:nvPicPr>
          <p:cNvPr id="382" name="Google Shape;382;p32"/>
          <p:cNvPicPr preferRelativeResize="0"/>
          <p:nvPr/>
        </p:nvPicPr>
        <p:blipFill rotWithShape="1">
          <a:blip r:embed="rId7">
            <a:alphaModFix/>
          </a:blip>
          <a:srcRect b="66232" l="4081" r="5224" t="0"/>
          <a:stretch/>
        </p:blipFill>
        <p:spPr>
          <a:xfrm>
            <a:off x="1444225" y="3771900"/>
            <a:ext cx="2824600" cy="646500"/>
          </a:xfrm>
          <a:prstGeom prst="rect">
            <a:avLst/>
          </a:prstGeom>
          <a:noFill/>
          <a:ln>
            <a:noFill/>
          </a:ln>
          <a:effectLst>
            <a:outerShdw blurRad="342900" rotWithShape="0" algn="bl" dist="57150">
              <a:srgbClr val="000000">
                <a:alpha val="31000"/>
              </a:srgbClr>
            </a:outerShdw>
            <a:reflection blurRad="0" dir="5400000" dist="38100" endA="0" endPos="30000" fadeDir="5400012" kx="0" rotWithShape="0" algn="bl" stPos="0" sy="-100000" ky="0"/>
          </a:effectLst>
        </p:spPr>
      </p:pic>
      <p:pic>
        <p:nvPicPr>
          <p:cNvPr id="383" name="Google Shape;383;p32"/>
          <p:cNvPicPr preferRelativeResize="0"/>
          <p:nvPr/>
        </p:nvPicPr>
        <p:blipFill rotWithShape="1">
          <a:blip r:embed="rId8">
            <a:alphaModFix/>
          </a:blip>
          <a:srcRect b="0" l="0" r="0" t="66398"/>
          <a:stretch/>
        </p:blipFill>
        <p:spPr>
          <a:xfrm>
            <a:off x="1066800" y="2964950"/>
            <a:ext cx="3019425" cy="646500"/>
          </a:xfrm>
          <a:prstGeom prst="rect">
            <a:avLst/>
          </a:prstGeom>
          <a:noFill/>
          <a:ln>
            <a:noFill/>
          </a:ln>
          <a:effectLst>
            <a:outerShdw blurRad="342900" rotWithShape="0" algn="bl" dist="57150">
              <a:srgbClr val="000000">
                <a:alpha val="31000"/>
              </a:srgbClr>
            </a:outerShdw>
            <a:reflection blurRad="0" dir="5400000" dist="38100" endA="0" endPos="30000" fadeDir="5400012" kx="0" rotWithShape="0" algn="bl" stPos="0" sy="-100000" ky="0"/>
          </a:effectLst>
        </p:spPr>
      </p:pic>
      <p:pic>
        <p:nvPicPr>
          <p:cNvPr id="384" name="Google Shape;384;p32"/>
          <p:cNvPicPr preferRelativeResize="0"/>
          <p:nvPr/>
        </p:nvPicPr>
        <p:blipFill rotWithShape="1">
          <a:blip r:embed="rId8">
            <a:alphaModFix/>
          </a:blip>
          <a:srcRect b="30380" l="0" r="0" t="29697"/>
          <a:stretch/>
        </p:blipFill>
        <p:spPr>
          <a:xfrm>
            <a:off x="2027775" y="4599850"/>
            <a:ext cx="3019425" cy="768100"/>
          </a:xfrm>
          <a:prstGeom prst="rect">
            <a:avLst/>
          </a:prstGeom>
          <a:noFill/>
          <a:ln>
            <a:noFill/>
          </a:ln>
          <a:effectLst>
            <a:outerShdw blurRad="342900" rotWithShape="0" algn="bl" dist="57150">
              <a:srgbClr val="000000">
                <a:alpha val="31000"/>
              </a:srgbClr>
            </a:outerShdw>
            <a:reflection blurRad="0" dir="5400000" dist="38100" endA="0" endPos="30000" fadeDir="5400012" kx="0" rotWithShape="0" algn="bl" stPos="0" sy="-100000" ky="0"/>
          </a:effectLst>
        </p:spPr>
      </p:pic>
      <p:pic>
        <p:nvPicPr>
          <p:cNvPr id="385" name="Google Shape;385;p32"/>
          <p:cNvPicPr preferRelativeResize="0"/>
          <p:nvPr/>
        </p:nvPicPr>
        <p:blipFill>
          <a:blip r:embed="rId9">
            <a:alphaModFix/>
          </a:blip>
          <a:stretch>
            <a:fillRect/>
          </a:stretch>
        </p:blipFill>
        <p:spPr>
          <a:xfrm>
            <a:off x="6796025" y="1648174"/>
            <a:ext cx="3822602" cy="2459224"/>
          </a:xfrm>
          <a:prstGeom prst="rect">
            <a:avLst/>
          </a:prstGeom>
          <a:noFill/>
          <a:ln>
            <a:noFill/>
          </a:ln>
          <a:effectLst>
            <a:outerShdw blurRad="57150" rotWithShape="0" algn="bl" dir="5400000" dist="19050">
              <a:srgbClr val="000000">
                <a:alpha val="50000"/>
              </a:srgbClr>
            </a:outerShdw>
          </a:effectLst>
        </p:spPr>
      </p:pic>
      <p:pic>
        <p:nvPicPr>
          <p:cNvPr id="386" name="Google Shape;386;p32"/>
          <p:cNvPicPr preferRelativeResize="0"/>
          <p:nvPr/>
        </p:nvPicPr>
        <p:blipFill>
          <a:blip r:embed="rId10">
            <a:alphaModFix/>
          </a:blip>
          <a:stretch>
            <a:fillRect/>
          </a:stretch>
        </p:blipFill>
        <p:spPr>
          <a:xfrm>
            <a:off x="8610600" y="3480724"/>
            <a:ext cx="2908566" cy="1871177"/>
          </a:xfrm>
          <a:prstGeom prst="rect">
            <a:avLst/>
          </a:prstGeom>
          <a:noFill/>
          <a:ln>
            <a:noFill/>
          </a:ln>
          <a:effectLst>
            <a:outerShdw blurRad="57150" rotWithShape="0" algn="bl" dir="5400000" dist="19050">
              <a:srgbClr val="000000">
                <a:alpha val="50000"/>
              </a:srgbClr>
            </a:outerShdw>
          </a:effectLst>
        </p:spPr>
      </p:pic>
      <p:pic>
        <p:nvPicPr>
          <p:cNvPr id="387" name="Google Shape;387;p32"/>
          <p:cNvPicPr preferRelativeResize="0"/>
          <p:nvPr/>
        </p:nvPicPr>
        <p:blipFill>
          <a:blip r:embed="rId11">
            <a:alphaModFix/>
          </a:blip>
          <a:stretch>
            <a:fillRect/>
          </a:stretch>
        </p:blipFill>
        <p:spPr>
          <a:xfrm>
            <a:off x="5244825" y="3195424"/>
            <a:ext cx="2908566" cy="1871177"/>
          </a:xfrm>
          <a:prstGeom prst="rect">
            <a:avLst/>
          </a:prstGeom>
          <a:noFill/>
          <a:ln>
            <a:noFill/>
          </a:ln>
          <a:effectLst>
            <a:outerShdw blurRad="57150" rotWithShape="0" algn="bl" dir="5400000" dist="19050">
              <a:srgbClr val="000000">
                <a:alpha val="50000"/>
              </a:srgbClr>
            </a:outerShdw>
          </a:effectLst>
        </p:spPr>
      </p:pic>
      <p:sp>
        <p:nvSpPr>
          <p:cNvPr id="388" name="Google Shape;388;p32"/>
          <p:cNvSpPr txBox="1"/>
          <p:nvPr/>
        </p:nvSpPr>
        <p:spPr>
          <a:xfrm>
            <a:off x="1169850" y="5660075"/>
            <a:ext cx="9852300" cy="3057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US" sz="982">
                <a:solidFill>
                  <a:schemeClr val="dk1"/>
                </a:solidFill>
                <a:latin typeface="Archivo Medium"/>
                <a:ea typeface="Archivo Medium"/>
                <a:cs typeface="Archivo Medium"/>
                <a:sym typeface="Archivo Medium"/>
              </a:rPr>
              <a:t> Solusi Wazuh ( SIEM ) yang ditawarkan</a:t>
            </a:r>
            <a:endParaRPr sz="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3"/>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Active XDR Protection from Modern Threats</a:t>
            </a:r>
            <a:endParaRPr b="1" i="0" sz="3600" u="none" cap="none" strike="noStrike">
              <a:solidFill>
                <a:srgbClr val="6D9EEB"/>
              </a:solidFill>
              <a:latin typeface="Poppins"/>
              <a:ea typeface="Poppins"/>
              <a:cs typeface="Poppins"/>
              <a:sym typeface="Poppins"/>
            </a:endParaRPr>
          </a:p>
        </p:txBody>
      </p:sp>
      <p:cxnSp>
        <p:nvCxnSpPr>
          <p:cNvPr id="394" name="Google Shape;394;p3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395" name="Google Shape;395;p33"/>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96" name="Google Shape;396;p33"/>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397" name="Google Shape;397;p3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98" name="Google Shape;398;p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99" name="Google Shape;399;p3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00" name="Google Shape;400;p33"/>
          <p:cNvSpPr txBox="1"/>
          <p:nvPr/>
        </p:nvSpPr>
        <p:spPr>
          <a:xfrm>
            <a:off x="1000925" y="2138275"/>
            <a:ext cx="4845900" cy="3513900"/>
          </a:xfrm>
          <a:prstGeom prst="rect">
            <a:avLst/>
          </a:prstGeom>
          <a:noFill/>
          <a:ln>
            <a:noFill/>
          </a:ln>
        </p:spPr>
        <p:txBody>
          <a:bodyPr anchorCtr="0" anchor="t" bIns="45700" lIns="91425" spcFirstLastPara="1" rIns="91425" wrap="square" tIns="45700">
            <a:no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Platform Wazuh Extended Detection and Response (XDR) menyediakan solusi keamanan yang komprehensif yang mampu mendeteksi, menganalisis, dan merespons ancaman di berbagai lapisan infrastruktur TI.</a:t>
            </a:r>
            <a:endParaRPr sz="1900">
              <a:solidFill>
                <a:srgbClr val="212529"/>
              </a:solidFill>
              <a:highlight>
                <a:srgbClr val="FFFFFF"/>
              </a:highlight>
              <a:latin typeface="Archivo"/>
              <a:ea typeface="Archivo"/>
              <a:cs typeface="Archivo"/>
              <a:sym typeface="Archivo"/>
            </a:endParaRPr>
          </a:p>
        </p:txBody>
      </p:sp>
      <p:pic>
        <p:nvPicPr>
          <p:cNvPr id="401" name="Google Shape;401;p33"/>
          <p:cNvPicPr preferRelativeResize="0"/>
          <p:nvPr/>
        </p:nvPicPr>
        <p:blipFill>
          <a:blip r:embed="rId5">
            <a:alphaModFix/>
          </a:blip>
          <a:stretch>
            <a:fillRect/>
          </a:stretch>
        </p:blipFill>
        <p:spPr>
          <a:xfrm>
            <a:off x="6126900" y="2138282"/>
            <a:ext cx="4845902" cy="3117530"/>
          </a:xfrm>
          <a:prstGeom prst="rect">
            <a:avLst/>
          </a:prstGeom>
          <a:noFill/>
          <a:ln>
            <a:noFill/>
          </a:ln>
          <a:effectLst>
            <a:outerShdw blurRad="57150" rotWithShape="0" algn="bl" dir="5400000" dist="19050">
              <a:srgbClr val="000000">
                <a:alpha val="50000"/>
              </a:srgbClr>
            </a:outerShdw>
          </a:effectLst>
        </p:spPr>
      </p:pic>
    </p:spTree>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4"/>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Active XDR Protection from Modern Threats</a:t>
            </a:r>
            <a:endParaRPr b="1" i="0" sz="3600" u="none" cap="none" strike="noStrike">
              <a:solidFill>
                <a:srgbClr val="6D9EEB"/>
              </a:solidFill>
              <a:latin typeface="Poppins"/>
              <a:ea typeface="Poppins"/>
              <a:cs typeface="Poppins"/>
              <a:sym typeface="Poppins"/>
            </a:endParaRPr>
          </a:p>
        </p:txBody>
      </p:sp>
      <p:cxnSp>
        <p:nvCxnSpPr>
          <p:cNvPr id="407" name="Google Shape;407;p3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408" name="Google Shape;408;p34"/>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09" name="Google Shape;409;p34"/>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410" name="Google Shape;410;p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11" name="Google Shape;411;p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12" name="Google Shape;412;p3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413" name="Google Shape;413;p34"/>
          <p:cNvPicPr preferRelativeResize="0"/>
          <p:nvPr/>
        </p:nvPicPr>
        <p:blipFill rotWithShape="1">
          <a:blip r:embed="rId5">
            <a:alphaModFix/>
          </a:blip>
          <a:srcRect b="79665" l="0" r="0" t="0"/>
          <a:stretch/>
        </p:blipFill>
        <p:spPr>
          <a:xfrm>
            <a:off x="351325" y="2034440"/>
            <a:ext cx="2819400" cy="695325"/>
          </a:xfrm>
          <a:prstGeom prst="rect">
            <a:avLst/>
          </a:prstGeom>
          <a:noFill/>
          <a:ln>
            <a:noFill/>
          </a:ln>
          <a:effectLst>
            <a:outerShdw blurRad="57150" rotWithShape="0" algn="bl" dir="5400000" dist="19050">
              <a:srgbClr val="000000">
                <a:alpha val="30000"/>
              </a:srgbClr>
            </a:outerShdw>
          </a:effectLst>
        </p:spPr>
      </p:pic>
      <p:pic>
        <p:nvPicPr>
          <p:cNvPr id="414" name="Google Shape;414;p34"/>
          <p:cNvPicPr preferRelativeResize="0"/>
          <p:nvPr/>
        </p:nvPicPr>
        <p:blipFill rotWithShape="1">
          <a:blip r:embed="rId6">
            <a:alphaModFix/>
          </a:blip>
          <a:srcRect b="77299" l="0" r="0" t="0"/>
          <a:stretch/>
        </p:blipFill>
        <p:spPr>
          <a:xfrm>
            <a:off x="756500" y="2585892"/>
            <a:ext cx="2895600" cy="646500"/>
          </a:xfrm>
          <a:prstGeom prst="rect">
            <a:avLst/>
          </a:prstGeom>
          <a:noFill/>
          <a:ln>
            <a:noFill/>
          </a:ln>
          <a:effectLst>
            <a:outerShdw blurRad="57150" rotWithShape="0" algn="bl" dir="5400000" dist="19050">
              <a:srgbClr val="000000">
                <a:alpha val="30000"/>
              </a:srgbClr>
            </a:outerShdw>
          </a:effectLst>
        </p:spPr>
      </p:pic>
      <p:pic>
        <p:nvPicPr>
          <p:cNvPr id="415" name="Google Shape;415;p34"/>
          <p:cNvPicPr preferRelativeResize="0"/>
          <p:nvPr/>
        </p:nvPicPr>
        <p:blipFill rotWithShape="1">
          <a:blip r:embed="rId6">
            <a:alphaModFix/>
          </a:blip>
          <a:srcRect b="58729" l="0" r="0" t="16822"/>
          <a:stretch/>
        </p:blipFill>
        <p:spPr>
          <a:xfrm>
            <a:off x="1273800" y="3076698"/>
            <a:ext cx="2688600" cy="646500"/>
          </a:xfrm>
          <a:prstGeom prst="rect">
            <a:avLst/>
          </a:prstGeom>
          <a:noFill/>
          <a:ln>
            <a:noFill/>
          </a:ln>
          <a:effectLst>
            <a:outerShdw blurRad="57150" rotWithShape="0" algn="bl" dir="5400000" dist="19050">
              <a:srgbClr val="000000">
                <a:alpha val="30000"/>
              </a:srgbClr>
            </a:outerShdw>
          </a:effectLst>
        </p:spPr>
      </p:pic>
      <p:pic>
        <p:nvPicPr>
          <p:cNvPr id="416" name="Google Shape;416;p34"/>
          <p:cNvPicPr preferRelativeResize="0"/>
          <p:nvPr/>
        </p:nvPicPr>
        <p:blipFill rotWithShape="1">
          <a:blip r:embed="rId6">
            <a:alphaModFix/>
          </a:blip>
          <a:srcRect b="40982" l="0" r="0" t="36317"/>
          <a:stretch/>
        </p:blipFill>
        <p:spPr>
          <a:xfrm>
            <a:off x="1763575" y="3576347"/>
            <a:ext cx="2895600" cy="646500"/>
          </a:xfrm>
          <a:prstGeom prst="rect">
            <a:avLst/>
          </a:prstGeom>
          <a:noFill/>
          <a:ln>
            <a:noFill/>
          </a:ln>
          <a:effectLst>
            <a:outerShdw blurRad="57150" rotWithShape="0" algn="bl" dir="5400000" dist="19050">
              <a:srgbClr val="000000">
                <a:alpha val="30000"/>
              </a:srgbClr>
            </a:outerShdw>
          </a:effectLst>
        </p:spPr>
      </p:pic>
      <p:pic>
        <p:nvPicPr>
          <p:cNvPr id="417" name="Google Shape;417;p34"/>
          <p:cNvPicPr preferRelativeResize="0"/>
          <p:nvPr/>
        </p:nvPicPr>
        <p:blipFill rotWithShape="1">
          <a:blip r:embed="rId6">
            <a:alphaModFix/>
          </a:blip>
          <a:srcRect b="19832" l="0" r="0" t="57467"/>
          <a:stretch/>
        </p:blipFill>
        <p:spPr>
          <a:xfrm>
            <a:off x="2216200" y="4070125"/>
            <a:ext cx="2895600" cy="646500"/>
          </a:xfrm>
          <a:prstGeom prst="rect">
            <a:avLst/>
          </a:prstGeom>
          <a:noFill/>
          <a:ln>
            <a:noFill/>
          </a:ln>
          <a:effectLst>
            <a:outerShdw blurRad="57150" rotWithShape="0" algn="bl" dir="5400000" dist="19050">
              <a:srgbClr val="000000">
                <a:alpha val="30000"/>
              </a:srgbClr>
            </a:outerShdw>
          </a:effectLst>
        </p:spPr>
      </p:pic>
      <p:pic>
        <p:nvPicPr>
          <p:cNvPr id="418" name="Google Shape;418;p34"/>
          <p:cNvPicPr preferRelativeResize="0"/>
          <p:nvPr/>
        </p:nvPicPr>
        <p:blipFill rotWithShape="1">
          <a:blip r:embed="rId6">
            <a:alphaModFix/>
          </a:blip>
          <a:srcRect b="0" l="0" r="0" t="77949"/>
          <a:stretch/>
        </p:blipFill>
        <p:spPr>
          <a:xfrm>
            <a:off x="2784075" y="4690513"/>
            <a:ext cx="2327725" cy="504825"/>
          </a:xfrm>
          <a:prstGeom prst="rect">
            <a:avLst/>
          </a:prstGeom>
          <a:noFill/>
          <a:ln>
            <a:noFill/>
          </a:ln>
          <a:effectLst>
            <a:outerShdw blurRad="57150" rotWithShape="0" algn="bl" dir="5400000" dist="19050">
              <a:srgbClr val="000000">
                <a:alpha val="30000"/>
              </a:srgbClr>
            </a:outerShdw>
          </a:effectLst>
        </p:spPr>
      </p:pic>
      <p:pic>
        <p:nvPicPr>
          <p:cNvPr id="419" name="Google Shape;419;p34"/>
          <p:cNvPicPr preferRelativeResize="0"/>
          <p:nvPr/>
        </p:nvPicPr>
        <p:blipFill>
          <a:blip r:embed="rId7">
            <a:alphaModFix/>
          </a:blip>
          <a:stretch>
            <a:fillRect/>
          </a:stretch>
        </p:blipFill>
        <p:spPr>
          <a:xfrm>
            <a:off x="7140550" y="1706469"/>
            <a:ext cx="4114798" cy="2943180"/>
          </a:xfrm>
          <a:prstGeom prst="rect">
            <a:avLst/>
          </a:prstGeom>
          <a:noFill/>
          <a:ln>
            <a:noFill/>
          </a:ln>
          <a:effectLst>
            <a:outerShdw blurRad="57150" rotWithShape="0" algn="bl" dir="5400000" dist="19050">
              <a:srgbClr val="000000">
                <a:alpha val="50000"/>
              </a:srgbClr>
            </a:outerShdw>
          </a:effectLst>
        </p:spPr>
      </p:pic>
      <p:pic>
        <p:nvPicPr>
          <p:cNvPr id="420" name="Google Shape;420;p34"/>
          <p:cNvPicPr preferRelativeResize="0"/>
          <p:nvPr/>
        </p:nvPicPr>
        <p:blipFill>
          <a:blip r:embed="rId8">
            <a:alphaModFix/>
          </a:blip>
          <a:stretch>
            <a:fillRect/>
          </a:stretch>
        </p:blipFill>
        <p:spPr>
          <a:xfrm>
            <a:off x="5549175" y="3384800"/>
            <a:ext cx="2784596" cy="1791423"/>
          </a:xfrm>
          <a:prstGeom prst="rect">
            <a:avLst/>
          </a:prstGeom>
          <a:noFill/>
          <a:ln>
            <a:noFill/>
          </a:ln>
          <a:effectLst>
            <a:outerShdw blurRad="57150" rotWithShape="0" algn="bl" dir="5400000" dist="19050">
              <a:srgbClr val="000000">
                <a:alpha val="50000"/>
              </a:srgbClr>
            </a:outerShdw>
          </a:effectLst>
        </p:spPr>
      </p:pic>
      <p:sp>
        <p:nvSpPr>
          <p:cNvPr id="421" name="Google Shape;421;p34"/>
          <p:cNvSpPr txBox="1"/>
          <p:nvPr/>
        </p:nvSpPr>
        <p:spPr>
          <a:xfrm>
            <a:off x="1169850" y="5660075"/>
            <a:ext cx="9852300" cy="3057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US" sz="982">
                <a:solidFill>
                  <a:schemeClr val="dk1"/>
                </a:solidFill>
                <a:latin typeface="Archivo Medium"/>
                <a:ea typeface="Archivo Medium"/>
                <a:cs typeface="Archivo Medium"/>
                <a:sym typeface="Archivo Medium"/>
              </a:rPr>
              <a:t> Solusi Wazuh ( XDR ) yang ditawarkan</a:t>
            </a:r>
            <a:endParaRPr sz="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5"/>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Overview Project Wazuh Training</a:t>
            </a:r>
            <a:endParaRPr b="1" i="0" sz="3600" cap="none" strike="noStrike">
              <a:solidFill>
                <a:srgbClr val="6D9EEB"/>
              </a:solidFill>
              <a:latin typeface="Poppins"/>
              <a:ea typeface="Poppins"/>
              <a:cs typeface="Poppins"/>
              <a:sym typeface="Poppins"/>
            </a:endParaRPr>
          </a:p>
        </p:txBody>
      </p:sp>
      <p:cxnSp>
        <p:nvCxnSpPr>
          <p:cNvPr id="427" name="Google Shape;427;p3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428" name="Google Shape;428;p35"/>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29" name="Google Shape;429;p35"/>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430" name="Google Shape;430;p3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31" name="Google Shape;431;p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32" name="Google Shape;432;p3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33" name="Google Shape;433;p35"/>
          <p:cNvSpPr txBox="1"/>
          <p:nvPr/>
        </p:nvSpPr>
        <p:spPr>
          <a:xfrm>
            <a:off x="985150" y="1890825"/>
            <a:ext cx="10353000" cy="35139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Melakukan </a:t>
            </a:r>
            <a:r>
              <a:rPr lang="en-US" sz="1900">
                <a:solidFill>
                  <a:srgbClr val="212529"/>
                </a:solidFill>
                <a:highlight>
                  <a:srgbClr val="FFFFFF"/>
                </a:highlight>
                <a:latin typeface="Archivo"/>
                <a:ea typeface="Archivo"/>
                <a:cs typeface="Archivo"/>
                <a:sym typeface="Archivo"/>
              </a:rPr>
              <a:t>Konfigurasi</a:t>
            </a:r>
            <a:r>
              <a:rPr lang="en-US" sz="1900">
                <a:solidFill>
                  <a:srgbClr val="212529"/>
                </a:solidFill>
                <a:highlight>
                  <a:srgbClr val="FFFFFF"/>
                </a:highlight>
                <a:latin typeface="Archivo"/>
                <a:ea typeface="Archivo"/>
                <a:cs typeface="Archivo"/>
                <a:sym typeface="Archivo"/>
              </a:rPr>
              <a:t> File Integrity Monitoring Mendeteksi </a:t>
            </a:r>
            <a:r>
              <a:rPr lang="en-US" sz="1900">
                <a:solidFill>
                  <a:srgbClr val="212529"/>
                </a:solidFill>
                <a:highlight>
                  <a:srgbClr val="FFFFFF"/>
                </a:highlight>
                <a:latin typeface="Archivo"/>
                <a:ea typeface="Archivo"/>
                <a:cs typeface="Archivo"/>
                <a:sym typeface="Archivo"/>
              </a:rPr>
              <a:t>Malicious</a:t>
            </a:r>
            <a:r>
              <a:rPr lang="en-US" sz="1900">
                <a:solidFill>
                  <a:srgbClr val="212529"/>
                </a:solidFill>
                <a:highlight>
                  <a:srgbClr val="FFFFFF"/>
                </a:highlight>
                <a:latin typeface="Archivo"/>
                <a:ea typeface="Archivo"/>
                <a:cs typeface="Archivo"/>
                <a:sym typeface="Archivo"/>
              </a:rPr>
              <a:t> Activity  </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Deploy </a:t>
            </a:r>
            <a:r>
              <a:rPr lang="en-US" sz="1900">
                <a:solidFill>
                  <a:srgbClr val="212529"/>
                </a:solidFill>
                <a:highlight>
                  <a:srgbClr val="FFFFFF"/>
                </a:highlight>
                <a:latin typeface="Archivo"/>
                <a:ea typeface="Archivo"/>
                <a:cs typeface="Archivo"/>
                <a:sym typeface="Archivo"/>
              </a:rPr>
              <a:t>Clustering</a:t>
            </a:r>
            <a:r>
              <a:rPr lang="en-US" sz="1900">
                <a:solidFill>
                  <a:srgbClr val="212529"/>
                </a:solidFill>
                <a:highlight>
                  <a:srgbClr val="FFFFFF"/>
                </a:highlight>
                <a:latin typeface="Archivo"/>
                <a:ea typeface="Archivo"/>
                <a:cs typeface="Archivo"/>
                <a:sym typeface="Archivo"/>
              </a:rPr>
              <a:t> Wazuh System </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Malware Detection and Active </a:t>
            </a:r>
            <a:r>
              <a:rPr lang="en-US" sz="1900">
                <a:solidFill>
                  <a:srgbClr val="212529"/>
                </a:solidFill>
                <a:highlight>
                  <a:srgbClr val="FFFFFF"/>
                </a:highlight>
                <a:latin typeface="Archivo"/>
                <a:ea typeface="Archivo"/>
                <a:cs typeface="Archivo"/>
                <a:sym typeface="Archivo"/>
              </a:rPr>
              <a:t>Response</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Vulnerability Detection &amp; Configuration Assessment Dengan SCA</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Log Analyst SIEM</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Membuat Dashboard Wazuh </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Endpoint Security Monitoring</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Automation dan Manual Deploy Wazuh Agent di Windows &amp; Linux </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Melakukan Threat Hunting </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Integrasi Wazuh Dengan SOAR, Virustotal, TIA</a:t>
            </a:r>
            <a:endParaRPr sz="1900">
              <a:solidFill>
                <a:srgbClr val="212529"/>
              </a:solidFill>
              <a:highlight>
                <a:srgbClr val="FFFFFF"/>
              </a:highlight>
              <a:latin typeface="Archivo"/>
              <a:ea typeface="Archivo"/>
              <a:cs typeface="Archivo"/>
              <a:sym typeface="Archivo"/>
            </a:endParaRPr>
          </a:p>
        </p:txBody>
      </p:sp>
    </p:spTree>
  </p:cSld>
  <p:clrMapOvr>
    <a:masterClrMapping/>
  </p:clrMapOvr>
  <p:transition spd="slow">
    <p:fade thruBlk="1"/>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6"/>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Overview Project Wazuh Training</a:t>
            </a:r>
            <a:endParaRPr b="1" i="0" sz="3600" cap="none" strike="noStrike">
              <a:solidFill>
                <a:srgbClr val="6D9EEB"/>
              </a:solidFill>
              <a:latin typeface="Poppins"/>
              <a:ea typeface="Poppins"/>
              <a:cs typeface="Poppins"/>
              <a:sym typeface="Poppins"/>
            </a:endParaRPr>
          </a:p>
        </p:txBody>
      </p:sp>
      <p:cxnSp>
        <p:nvCxnSpPr>
          <p:cNvPr id="439" name="Google Shape;439;p3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440" name="Google Shape;440;p36"/>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41" name="Google Shape;441;p36"/>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442" name="Google Shape;442;p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43" name="Google Shape;443;p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44" name="Google Shape;444;p3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45" name="Google Shape;445;p36"/>
          <p:cNvSpPr txBox="1"/>
          <p:nvPr/>
        </p:nvSpPr>
        <p:spPr>
          <a:xfrm>
            <a:off x="1000925" y="2138275"/>
            <a:ext cx="10353000" cy="35139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Membuat Laporan VIA Wazuh Dashboard </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Membuat Dekoder &amp; Ruleset untuk log Analyst</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Visualisasi Hasil VIA MITRE ACC &amp; CK Module </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Implementasi Konfigurasi baseline, Inventory Asset </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Melakukan Vulnerability Management &amp; Patch Management </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Use Case : Incident Brute Force </a:t>
            </a:r>
            <a:endParaRPr sz="1900">
              <a:solidFill>
                <a:srgbClr val="212529"/>
              </a:solidFill>
              <a:highlight>
                <a:srgbClr val="FFFFFF"/>
              </a:highlight>
              <a:latin typeface="Archivo"/>
              <a:ea typeface="Archivo"/>
              <a:cs typeface="Archivo"/>
              <a:sym typeface="Archivo"/>
            </a:endParaRPr>
          </a:p>
          <a:p>
            <a:pPr indent="-349250" lvl="0" marL="457200" rtl="0" algn="l">
              <a:lnSpc>
                <a:spcPct val="115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Use Case : Malware Attack </a:t>
            </a:r>
            <a:endParaRPr sz="1900">
              <a:solidFill>
                <a:srgbClr val="212529"/>
              </a:solidFill>
              <a:highlight>
                <a:srgbClr val="FFFFFF"/>
              </a:highlight>
              <a:latin typeface="Archivo"/>
              <a:ea typeface="Archivo"/>
              <a:cs typeface="Archivo"/>
              <a:sym typeface="Archivo"/>
            </a:endParaRPr>
          </a:p>
        </p:txBody>
      </p:sp>
    </p:spTree>
  </p:cSld>
  <p:clrMapOvr>
    <a:masterClrMapping/>
  </p:clrMapOvr>
  <p:transition spd="slow">
    <p:fade thruBlk="1"/>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7"/>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Summary</a:t>
            </a:r>
            <a:endParaRPr b="1" i="0" sz="3600" u="none" cap="none" strike="noStrike">
              <a:solidFill>
                <a:srgbClr val="6D9EEB"/>
              </a:solidFill>
              <a:latin typeface="Poppins"/>
              <a:ea typeface="Poppins"/>
              <a:cs typeface="Poppins"/>
              <a:sym typeface="Poppins"/>
            </a:endParaRPr>
          </a:p>
        </p:txBody>
      </p:sp>
      <p:cxnSp>
        <p:nvCxnSpPr>
          <p:cNvPr id="451" name="Google Shape;451;p3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52" name="Google Shape;452;p3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53" name="Google Shape;453;p3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54" name="Google Shape;454;p3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55" name="Google Shape;455;p3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56" name="Google Shape;456;p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57" name="Google Shape;457;p3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58" name="Google Shape;458;p37"/>
          <p:cNvSpPr txBox="1"/>
          <p:nvPr/>
        </p:nvSpPr>
        <p:spPr>
          <a:xfrm>
            <a:off x="800600" y="2065150"/>
            <a:ext cx="5673000" cy="2859300"/>
          </a:xfrm>
          <a:prstGeom prst="rect">
            <a:avLst/>
          </a:prstGeom>
          <a:noFill/>
          <a:ln>
            <a:noFill/>
          </a:ln>
        </p:spPr>
        <p:txBody>
          <a:bodyPr anchorCtr="0" anchor="t" bIns="45700" lIns="91425" spcFirstLastPara="1" rIns="91425" wrap="square" tIns="45700">
            <a:noAutofit/>
          </a:bodyPr>
          <a:lstStyle/>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SIEM Dan XDR. Perbedaanya apa pada Wazuh ? </a:t>
            </a:r>
            <a:endParaRPr sz="19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Data Source yang bisa diterima Wazuh apa ?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62" name="Shape 462"/>
        <p:cNvGrpSpPr/>
        <p:nvPr/>
      </p:nvGrpSpPr>
      <p:grpSpPr>
        <a:xfrm>
          <a:off x="0" y="0"/>
          <a:ext cx="0" cy="0"/>
          <a:chOff x="0" y="0"/>
          <a:chExt cx="0" cy="0"/>
        </a:xfrm>
      </p:grpSpPr>
      <p:pic>
        <p:nvPicPr>
          <p:cNvPr descr="A picture containing food, drawing, shirt&#10;&#10;Description automatically generated" id="463" name="Google Shape;463;p3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64" name="Google Shape;464;p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5" name="Google Shape;465;p3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66" name="Google Shape;466;p38"/>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67" name="Google Shape;467;p3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68" name="Google Shape;468;p38"/>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69" name="Google Shape;469;p38"/>
          <p:cNvSpPr txBox="1"/>
          <p:nvPr/>
        </p:nvSpPr>
        <p:spPr>
          <a:xfrm>
            <a:off x="1357489" y="3803851"/>
            <a:ext cx="9477000" cy="156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Architecture and Secure Communication</a:t>
            </a:r>
            <a:r>
              <a:rPr lang="en-US" sz="4800">
                <a:solidFill>
                  <a:schemeClr val="lt1"/>
                </a:solidFill>
                <a:highlight>
                  <a:srgbClr val="3585F9"/>
                </a:highlight>
                <a:latin typeface="Poppins"/>
                <a:ea typeface="Poppins"/>
                <a:cs typeface="Poppins"/>
                <a:sym typeface="Poppins"/>
              </a:rPr>
              <a:t>.</a:t>
            </a:r>
            <a:endParaRPr sz="4800">
              <a:solidFill>
                <a:schemeClr val="lt1"/>
              </a:solidFill>
              <a:highlight>
                <a:srgbClr val="3585F9"/>
              </a:highlight>
              <a:latin typeface="Poppins"/>
              <a:ea typeface="Poppins"/>
              <a:cs typeface="Poppins"/>
              <a:sym typeface="Poppins"/>
            </a:endParaRPr>
          </a:p>
        </p:txBody>
      </p:sp>
      <p:pic>
        <p:nvPicPr>
          <p:cNvPr id="470" name="Google Shape;470;p38"/>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9"/>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Architecture Wazuh</a:t>
            </a:r>
            <a:endParaRPr b="1" i="0" sz="3600" u="none" cap="none" strike="noStrike">
              <a:solidFill>
                <a:srgbClr val="6D9EEB"/>
              </a:solidFill>
              <a:latin typeface="Poppins"/>
              <a:ea typeface="Poppins"/>
              <a:cs typeface="Poppins"/>
              <a:sym typeface="Poppins"/>
            </a:endParaRPr>
          </a:p>
        </p:txBody>
      </p:sp>
      <p:cxnSp>
        <p:nvCxnSpPr>
          <p:cNvPr id="476" name="Google Shape;476;p3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477" name="Google Shape;477;p39"/>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78" name="Google Shape;478;p39"/>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479" name="Google Shape;479;p3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80" name="Google Shape;480;p3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81" name="Google Shape;481;p3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82" name="Google Shape;482;p39"/>
          <p:cNvSpPr txBox="1"/>
          <p:nvPr/>
        </p:nvSpPr>
        <p:spPr>
          <a:xfrm>
            <a:off x="1000925" y="2142071"/>
            <a:ext cx="4114800" cy="2970300"/>
          </a:xfrm>
          <a:prstGeom prst="rect">
            <a:avLst/>
          </a:prstGeom>
          <a:noFill/>
          <a:ln>
            <a:noFill/>
          </a:ln>
        </p:spPr>
        <p:txBody>
          <a:bodyPr anchorCtr="0" anchor="t" bIns="45700" lIns="91425" spcFirstLastPara="1" rIns="91425" wrap="square" tIns="45700">
            <a:noAutofit/>
          </a:bodyPr>
          <a:lstStyle/>
          <a:p>
            <a:pPr indent="-330200" lvl="0" marL="457200" rtl="0" algn="l">
              <a:lnSpc>
                <a:spcPct val="80000"/>
              </a:lnSpc>
              <a:spcBef>
                <a:spcPts val="0"/>
              </a:spcBef>
              <a:spcAft>
                <a:spcPts val="0"/>
              </a:spcAft>
              <a:buClr>
                <a:srgbClr val="212529"/>
              </a:buClr>
              <a:buSzPts val="1600"/>
              <a:buFont typeface="Archivo"/>
              <a:buChar char="●"/>
            </a:pPr>
            <a:r>
              <a:rPr lang="en-US" sz="1600">
                <a:solidFill>
                  <a:srgbClr val="212529"/>
                </a:solidFill>
                <a:highlight>
                  <a:srgbClr val="FFFFFF"/>
                </a:highlight>
                <a:latin typeface="Archivo"/>
                <a:ea typeface="Archivo"/>
                <a:cs typeface="Archivo"/>
                <a:sym typeface="Archivo"/>
              </a:rPr>
              <a:t>Arsitektur Wazuh didasarkan pada agen (agent) yang berjalan di endpoint yang dimonitor, dan bertugas mengirimkan data keamanan ke server pusat Dan Wazuh Manager yang bertugas melakukan semua hal.</a:t>
            </a:r>
            <a:endParaRPr sz="1600">
              <a:solidFill>
                <a:srgbClr val="212529"/>
              </a:solidFill>
              <a:highlight>
                <a:srgbClr val="FFFFFF"/>
              </a:highlight>
              <a:latin typeface="Archivo"/>
              <a:ea typeface="Archivo"/>
              <a:cs typeface="Archivo"/>
              <a:sym typeface="Archivo"/>
            </a:endParaRPr>
          </a:p>
          <a:p>
            <a:pPr indent="0" lvl="0" marL="0" rtl="0" algn="l">
              <a:lnSpc>
                <a:spcPct val="80000"/>
              </a:lnSpc>
              <a:spcBef>
                <a:spcPts val="0"/>
              </a:spcBef>
              <a:spcAft>
                <a:spcPts val="0"/>
              </a:spcAft>
              <a:buNone/>
            </a:pPr>
            <a:r>
              <a:t/>
            </a:r>
            <a:endParaRPr sz="1600">
              <a:solidFill>
                <a:srgbClr val="212529"/>
              </a:solidFill>
              <a:highlight>
                <a:srgbClr val="FFFFFF"/>
              </a:highlight>
              <a:latin typeface="Archivo"/>
              <a:ea typeface="Archivo"/>
              <a:cs typeface="Archivo"/>
              <a:sym typeface="Archivo"/>
            </a:endParaRPr>
          </a:p>
          <a:p>
            <a:pPr indent="0" lvl="0" marL="1371600" rtl="0" algn="l">
              <a:lnSpc>
                <a:spcPct val="80000"/>
              </a:lnSpc>
              <a:spcBef>
                <a:spcPts val="0"/>
              </a:spcBef>
              <a:spcAft>
                <a:spcPts val="0"/>
              </a:spcAft>
              <a:buNone/>
            </a:pPr>
            <a:r>
              <a:t/>
            </a:r>
            <a:endParaRPr sz="1600">
              <a:solidFill>
                <a:srgbClr val="212529"/>
              </a:solidFill>
              <a:highlight>
                <a:srgbClr val="FFFFFF"/>
              </a:highlight>
              <a:latin typeface="Archivo"/>
              <a:ea typeface="Archivo"/>
              <a:cs typeface="Archivo"/>
              <a:sym typeface="Archivo"/>
            </a:endParaRPr>
          </a:p>
          <a:p>
            <a:pPr indent="-330200" lvl="0" marL="457200" rtl="0" algn="l">
              <a:lnSpc>
                <a:spcPct val="80000"/>
              </a:lnSpc>
              <a:spcBef>
                <a:spcPts val="0"/>
              </a:spcBef>
              <a:spcAft>
                <a:spcPts val="0"/>
              </a:spcAft>
              <a:buClr>
                <a:srgbClr val="212529"/>
              </a:buClr>
              <a:buSzPts val="1600"/>
              <a:buFont typeface="Archivo"/>
              <a:buChar char="●"/>
            </a:pPr>
            <a:r>
              <a:rPr lang="en-US" sz="1600">
                <a:solidFill>
                  <a:srgbClr val="212529"/>
                </a:solidFill>
                <a:highlight>
                  <a:srgbClr val="FFFFFF"/>
                </a:highlight>
                <a:latin typeface="Archivo"/>
                <a:ea typeface="Archivo"/>
                <a:cs typeface="Archivo"/>
                <a:sym typeface="Archivo"/>
              </a:rPr>
              <a:t>Untuk lingkungan produksi, disarankan agar server Wazuh dan Wazuh indexer di-deploy pada host yang berbeda, guna meningkatkan performa dan skalabilitas sistem.</a:t>
            </a:r>
            <a:endParaRPr sz="1600">
              <a:solidFill>
                <a:srgbClr val="212529"/>
              </a:solidFill>
              <a:highlight>
                <a:srgbClr val="FFFFFF"/>
              </a:highlight>
              <a:latin typeface="Archivo"/>
              <a:ea typeface="Archivo"/>
              <a:cs typeface="Archivo"/>
              <a:sym typeface="Archivo"/>
            </a:endParaRPr>
          </a:p>
        </p:txBody>
      </p:sp>
      <p:pic>
        <p:nvPicPr>
          <p:cNvPr id="483" name="Google Shape;483;p39"/>
          <p:cNvPicPr preferRelativeResize="0"/>
          <p:nvPr/>
        </p:nvPicPr>
        <p:blipFill>
          <a:blip r:embed="rId5">
            <a:alphaModFix/>
          </a:blip>
          <a:stretch>
            <a:fillRect/>
          </a:stretch>
        </p:blipFill>
        <p:spPr>
          <a:xfrm>
            <a:off x="5480925" y="2142068"/>
            <a:ext cx="5491876" cy="3011409"/>
          </a:xfrm>
          <a:prstGeom prst="rect">
            <a:avLst/>
          </a:prstGeom>
          <a:noFill/>
          <a:ln>
            <a:noFill/>
          </a:ln>
          <a:effectLst>
            <a:outerShdw blurRad="57150" rotWithShape="0" algn="bl" dir="7800000" dist="19050">
              <a:srgbClr val="000000">
                <a:alpha val="60000"/>
              </a:srgbClr>
            </a:outerShdw>
          </a:effectLst>
        </p:spPr>
      </p:pic>
      <p:sp>
        <p:nvSpPr>
          <p:cNvPr id="484" name="Google Shape;484;p39"/>
          <p:cNvSpPr txBox="1"/>
          <p:nvPr/>
        </p:nvSpPr>
        <p:spPr>
          <a:xfrm>
            <a:off x="5810525" y="5314200"/>
            <a:ext cx="4707600" cy="3057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US" sz="982">
                <a:solidFill>
                  <a:schemeClr val="dk1"/>
                </a:solidFill>
                <a:latin typeface="Archivo Medium"/>
                <a:ea typeface="Archivo Medium"/>
                <a:cs typeface="Archivo Medium"/>
                <a:sym typeface="Archivo Medium"/>
              </a:rPr>
              <a:t>Component Arsitektur Wazuh</a:t>
            </a:r>
            <a:endParaRPr sz="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0"/>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Components ( Wazuh Manager )</a:t>
            </a:r>
            <a:endParaRPr b="1" i="0" sz="3600" u="none" cap="none" strike="noStrike">
              <a:solidFill>
                <a:srgbClr val="6D9EEB"/>
              </a:solidFill>
              <a:latin typeface="Poppins"/>
              <a:ea typeface="Poppins"/>
              <a:cs typeface="Poppins"/>
              <a:sym typeface="Poppins"/>
            </a:endParaRPr>
          </a:p>
        </p:txBody>
      </p:sp>
      <p:cxnSp>
        <p:nvCxnSpPr>
          <p:cNvPr id="490" name="Google Shape;490;p4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491" name="Google Shape;491;p40"/>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92" name="Google Shape;492;p40"/>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493" name="Google Shape;493;p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94" name="Google Shape;494;p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95" name="Google Shape;495;p4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96" name="Google Shape;496;p40"/>
          <p:cNvSpPr/>
          <p:nvPr/>
        </p:nvSpPr>
        <p:spPr>
          <a:xfrm>
            <a:off x="1087862" y="2214493"/>
            <a:ext cx="3096600" cy="28152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7" name="Google Shape;497;p40"/>
          <p:cNvSpPr/>
          <p:nvPr/>
        </p:nvSpPr>
        <p:spPr>
          <a:xfrm>
            <a:off x="4411318" y="2214493"/>
            <a:ext cx="3096600" cy="28152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498" name="Google Shape;498;p40"/>
          <p:cNvSpPr/>
          <p:nvPr/>
        </p:nvSpPr>
        <p:spPr>
          <a:xfrm>
            <a:off x="7799941" y="2214493"/>
            <a:ext cx="3096600" cy="28152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9" name="Google Shape;499;p40"/>
          <p:cNvSpPr txBox="1"/>
          <p:nvPr/>
        </p:nvSpPr>
        <p:spPr>
          <a:xfrm>
            <a:off x="1715018" y="2414758"/>
            <a:ext cx="1623600" cy="312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682">
                <a:solidFill>
                  <a:schemeClr val="dk1"/>
                </a:solidFill>
                <a:latin typeface="Archivo Medium"/>
                <a:ea typeface="Archivo Medium"/>
                <a:cs typeface="Archivo Medium"/>
                <a:sym typeface="Archivo Medium"/>
              </a:rPr>
              <a:t>Wazuh Indexer</a:t>
            </a:r>
            <a:endParaRPr sz="1682">
              <a:solidFill>
                <a:schemeClr val="dk1"/>
              </a:solidFill>
              <a:latin typeface="Archivo Medium"/>
              <a:ea typeface="Archivo Medium"/>
              <a:cs typeface="Archivo Medium"/>
              <a:sym typeface="Archivo Medium"/>
            </a:endParaRPr>
          </a:p>
        </p:txBody>
      </p:sp>
      <p:sp>
        <p:nvSpPr>
          <p:cNvPr id="500" name="Google Shape;500;p40"/>
          <p:cNvSpPr txBox="1"/>
          <p:nvPr/>
        </p:nvSpPr>
        <p:spPr>
          <a:xfrm>
            <a:off x="5103650" y="2414758"/>
            <a:ext cx="1623600" cy="312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682">
                <a:solidFill>
                  <a:schemeClr val="dk1"/>
                </a:solidFill>
                <a:latin typeface="Archivo Medium"/>
                <a:ea typeface="Archivo Medium"/>
                <a:cs typeface="Archivo Medium"/>
                <a:sym typeface="Archivo Medium"/>
              </a:rPr>
              <a:t>Wazuh Server</a:t>
            </a:r>
            <a:endParaRPr sz="1682">
              <a:solidFill>
                <a:schemeClr val="dk1"/>
              </a:solidFill>
              <a:latin typeface="Archivo Medium"/>
              <a:ea typeface="Archivo Medium"/>
              <a:cs typeface="Archivo Medium"/>
              <a:sym typeface="Archivo Medium"/>
            </a:endParaRPr>
          </a:p>
        </p:txBody>
      </p:sp>
      <p:sp>
        <p:nvSpPr>
          <p:cNvPr id="501" name="Google Shape;501;p40"/>
          <p:cNvSpPr txBox="1"/>
          <p:nvPr/>
        </p:nvSpPr>
        <p:spPr>
          <a:xfrm>
            <a:off x="8492264" y="2414758"/>
            <a:ext cx="1623600" cy="3123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None/>
            </a:pPr>
            <a:r>
              <a:rPr lang="en-US" sz="1682">
                <a:solidFill>
                  <a:schemeClr val="dk1"/>
                </a:solidFill>
                <a:latin typeface="Archivo Medium"/>
                <a:ea typeface="Archivo Medium"/>
                <a:cs typeface="Archivo Medium"/>
                <a:sym typeface="Archivo Medium"/>
              </a:rPr>
              <a:t>Wazuh Dashboard</a:t>
            </a:r>
            <a:endParaRPr sz="1682">
              <a:solidFill>
                <a:schemeClr val="dk1"/>
              </a:solidFill>
              <a:latin typeface="Archivo Medium"/>
              <a:ea typeface="Archivo Medium"/>
              <a:cs typeface="Archivo Medium"/>
              <a:sym typeface="Archivo Medium"/>
            </a:endParaRPr>
          </a:p>
        </p:txBody>
      </p:sp>
      <p:sp>
        <p:nvSpPr>
          <p:cNvPr id="502" name="Google Shape;502;p40"/>
          <p:cNvSpPr txBox="1"/>
          <p:nvPr/>
        </p:nvSpPr>
        <p:spPr>
          <a:xfrm>
            <a:off x="716750" y="3042898"/>
            <a:ext cx="3359400" cy="1447200"/>
          </a:xfrm>
          <a:prstGeom prst="rect">
            <a:avLst/>
          </a:prstGeom>
          <a:noFill/>
          <a:ln>
            <a:noFill/>
          </a:ln>
        </p:spPr>
        <p:txBody>
          <a:bodyPr anchorCtr="0" anchor="t" bIns="45700" lIns="91425" spcFirstLastPara="1" rIns="91425" wrap="square" tIns="45700">
            <a:noAutofit/>
          </a:bodyPr>
          <a:lstStyle/>
          <a:p>
            <a:pPr indent="0" lvl="0" marL="457200" rtl="0" algn="ctr">
              <a:lnSpc>
                <a:spcPct val="80000"/>
              </a:lnSpc>
              <a:spcBef>
                <a:spcPts val="0"/>
              </a:spcBef>
              <a:spcAft>
                <a:spcPts val="0"/>
              </a:spcAft>
              <a:buClr>
                <a:schemeClr val="dk1"/>
              </a:buClr>
              <a:buSzPts val="1100"/>
              <a:buFont typeface="Arial"/>
              <a:buNone/>
            </a:pPr>
            <a:r>
              <a:rPr lang="en-US" sz="1600">
                <a:solidFill>
                  <a:srgbClr val="212529"/>
                </a:solidFill>
                <a:highlight>
                  <a:srgbClr val="FFFFFF"/>
                </a:highlight>
                <a:latin typeface="Archivo"/>
                <a:ea typeface="Archivo"/>
                <a:cs typeface="Archivo"/>
                <a:sym typeface="Archivo"/>
              </a:rPr>
              <a:t>Wazuh Indexer adalah mesin pencarian dan analisis full-text yang sangat skalabel.</a:t>
            </a:r>
            <a:endParaRPr sz="1600">
              <a:solidFill>
                <a:srgbClr val="212529"/>
              </a:solidFill>
              <a:highlight>
                <a:srgbClr val="FFFFFF"/>
              </a:highlight>
              <a:latin typeface="Archivo"/>
              <a:ea typeface="Archivo"/>
              <a:cs typeface="Archivo"/>
              <a:sym typeface="Archivo"/>
            </a:endParaRPr>
          </a:p>
          <a:p>
            <a:pPr indent="0" lvl="0" marL="457200" rtl="0" algn="ctr">
              <a:lnSpc>
                <a:spcPct val="80000"/>
              </a:lnSpc>
              <a:spcBef>
                <a:spcPts val="0"/>
              </a:spcBef>
              <a:spcAft>
                <a:spcPts val="0"/>
              </a:spcAft>
              <a:buClr>
                <a:schemeClr val="dk1"/>
              </a:buClr>
              <a:buSzPts val="1100"/>
              <a:buFont typeface="Arial"/>
              <a:buNone/>
            </a:pPr>
            <a:r>
              <a:rPr lang="en-US" sz="1600">
                <a:solidFill>
                  <a:srgbClr val="212529"/>
                </a:solidFill>
                <a:highlight>
                  <a:srgbClr val="FFFFFF"/>
                </a:highlight>
                <a:latin typeface="Archivo"/>
                <a:ea typeface="Archivo"/>
                <a:cs typeface="Archivo"/>
                <a:sym typeface="Archivo"/>
              </a:rPr>
              <a:t>Komponen ini bertanggung jawab untuk mengindeks dan menyimpan peringatan (alerts) yang dihasilkan oleh server Wazuh</a:t>
            </a:r>
            <a:endParaRPr sz="1600">
              <a:solidFill>
                <a:srgbClr val="212529"/>
              </a:solidFill>
              <a:highlight>
                <a:srgbClr val="FFFFFF"/>
              </a:highlight>
              <a:latin typeface="Archivo"/>
              <a:ea typeface="Archivo"/>
              <a:cs typeface="Archivo"/>
              <a:sym typeface="Archivo"/>
            </a:endParaRPr>
          </a:p>
          <a:p>
            <a:pPr indent="0" lvl="0" marL="457200" rtl="0" algn="ctr">
              <a:lnSpc>
                <a:spcPct val="80000"/>
              </a:lnSpc>
              <a:spcBef>
                <a:spcPts val="0"/>
              </a:spcBef>
              <a:spcAft>
                <a:spcPts val="0"/>
              </a:spcAft>
              <a:buNone/>
            </a:pPr>
            <a:r>
              <a:t/>
            </a:r>
            <a:endParaRPr sz="1600">
              <a:solidFill>
                <a:srgbClr val="212529"/>
              </a:solidFill>
              <a:highlight>
                <a:srgbClr val="FFFFFF"/>
              </a:highlight>
              <a:latin typeface="Archivo"/>
              <a:ea typeface="Archivo"/>
              <a:cs typeface="Archivo"/>
              <a:sym typeface="Archivo"/>
            </a:endParaRPr>
          </a:p>
        </p:txBody>
      </p:sp>
      <p:sp>
        <p:nvSpPr>
          <p:cNvPr id="503" name="Google Shape;503;p40"/>
          <p:cNvSpPr txBox="1"/>
          <p:nvPr/>
        </p:nvSpPr>
        <p:spPr>
          <a:xfrm>
            <a:off x="4038598" y="2845840"/>
            <a:ext cx="3359400" cy="1447200"/>
          </a:xfrm>
          <a:prstGeom prst="rect">
            <a:avLst/>
          </a:prstGeom>
          <a:noFill/>
          <a:ln>
            <a:noFill/>
          </a:ln>
        </p:spPr>
        <p:txBody>
          <a:bodyPr anchorCtr="0" anchor="t" bIns="45700" lIns="91425" spcFirstLastPara="1" rIns="91425" wrap="square" tIns="45700">
            <a:noAutofit/>
          </a:bodyPr>
          <a:lstStyle/>
          <a:p>
            <a:pPr indent="0" lvl="0" marL="457200" rtl="0" algn="ctr">
              <a:lnSpc>
                <a:spcPct val="80000"/>
              </a:lnSpc>
              <a:spcBef>
                <a:spcPts val="0"/>
              </a:spcBef>
              <a:spcAft>
                <a:spcPts val="0"/>
              </a:spcAft>
              <a:buClr>
                <a:schemeClr val="dk1"/>
              </a:buClr>
              <a:buSzPts val="1100"/>
              <a:buFont typeface="Arial"/>
              <a:buNone/>
            </a:pPr>
            <a:r>
              <a:rPr lang="en-US" sz="1300">
                <a:solidFill>
                  <a:srgbClr val="212529"/>
                </a:solidFill>
                <a:highlight>
                  <a:srgbClr val="FFFFFF"/>
                </a:highlight>
                <a:latin typeface="Archivo"/>
                <a:ea typeface="Archivo"/>
                <a:cs typeface="Archivo"/>
                <a:sym typeface="Archivo"/>
              </a:rPr>
              <a:t>Server Wazuh bertugas untuk mengelola agen (agents), termasuk mengonfigurasi dan memperbarui mereka dari jarak jauh jika diperlukan.</a:t>
            </a:r>
            <a:endParaRPr sz="1300">
              <a:solidFill>
                <a:srgbClr val="212529"/>
              </a:solidFill>
              <a:highlight>
                <a:srgbClr val="FFFFFF"/>
              </a:highlight>
              <a:latin typeface="Archivo"/>
              <a:ea typeface="Archivo"/>
              <a:cs typeface="Archivo"/>
              <a:sym typeface="Archivo"/>
            </a:endParaRPr>
          </a:p>
          <a:p>
            <a:pPr indent="0" lvl="0" marL="457200" rtl="0" algn="ctr">
              <a:lnSpc>
                <a:spcPct val="80000"/>
              </a:lnSpc>
              <a:spcBef>
                <a:spcPts val="0"/>
              </a:spcBef>
              <a:spcAft>
                <a:spcPts val="0"/>
              </a:spcAft>
              <a:buClr>
                <a:schemeClr val="dk1"/>
              </a:buClr>
              <a:buSzPts val="1100"/>
              <a:buFont typeface="Arial"/>
              <a:buNone/>
            </a:pPr>
            <a:r>
              <a:rPr lang="en-US" sz="1300">
                <a:solidFill>
                  <a:srgbClr val="212529"/>
                </a:solidFill>
                <a:highlight>
                  <a:srgbClr val="FFFFFF"/>
                </a:highlight>
                <a:latin typeface="Archivo"/>
                <a:ea typeface="Archivo"/>
                <a:cs typeface="Archivo"/>
                <a:sym typeface="Archivo"/>
              </a:rPr>
              <a:t>Komponen ini juga menganalisis data yang diterima dari agen, memprosesnya melalui decoder dan aturan (rules), serta menggunakan intelijen ancaman (threat intelligence) untuk mencari indikator kompromi (Indicators of Compromise/IoC).</a:t>
            </a:r>
            <a:endParaRPr sz="1300">
              <a:solidFill>
                <a:srgbClr val="212529"/>
              </a:solidFill>
              <a:highlight>
                <a:srgbClr val="FFFFFF"/>
              </a:highlight>
              <a:latin typeface="Archivo"/>
              <a:ea typeface="Archivo"/>
              <a:cs typeface="Archivo"/>
              <a:sym typeface="Archivo"/>
            </a:endParaRPr>
          </a:p>
          <a:p>
            <a:pPr indent="0" lvl="0" marL="457200" rtl="0" algn="ctr">
              <a:lnSpc>
                <a:spcPct val="80000"/>
              </a:lnSpc>
              <a:spcBef>
                <a:spcPts val="0"/>
              </a:spcBef>
              <a:spcAft>
                <a:spcPts val="0"/>
              </a:spcAft>
              <a:buNone/>
            </a:pPr>
            <a:r>
              <a:t/>
            </a:r>
            <a:endParaRPr sz="1300">
              <a:solidFill>
                <a:srgbClr val="212529"/>
              </a:solidFill>
              <a:highlight>
                <a:srgbClr val="FFFFFF"/>
              </a:highlight>
              <a:latin typeface="Archivo"/>
              <a:ea typeface="Archivo"/>
              <a:cs typeface="Archivo"/>
              <a:sym typeface="Archivo"/>
            </a:endParaRPr>
          </a:p>
        </p:txBody>
      </p:sp>
      <p:sp>
        <p:nvSpPr>
          <p:cNvPr id="504" name="Google Shape;504;p40"/>
          <p:cNvSpPr txBox="1"/>
          <p:nvPr/>
        </p:nvSpPr>
        <p:spPr>
          <a:xfrm>
            <a:off x="7507975" y="3003250"/>
            <a:ext cx="3359400" cy="2026500"/>
          </a:xfrm>
          <a:prstGeom prst="rect">
            <a:avLst/>
          </a:prstGeom>
          <a:noFill/>
          <a:ln>
            <a:noFill/>
          </a:ln>
        </p:spPr>
        <p:txBody>
          <a:bodyPr anchorCtr="0" anchor="t" bIns="45700" lIns="91425" spcFirstLastPara="1" rIns="91425" wrap="square" tIns="45700">
            <a:noAutofit/>
          </a:bodyPr>
          <a:lstStyle/>
          <a:p>
            <a:pPr indent="0" lvl="0" marL="457200" rtl="0" algn="ctr">
              <a:lnSpc>
                <a:spcPct val="80000"/>
              </a:lnSpc>
              <a:spcBef>
                <a:spcPts val="0"/>
              </a:spcBef>
              <a:spcAft>
                <a:spcPts val="0"/>
              </a:spcAft>
              <a:buClr>
                <a:schemeClr val="dk1"/>
              </a:buClr>
              <a:buSzPts val="1100"/>
              <a:buFont typeface="Arial"/>
              <a:buNone/>
            </a:pPr>
            <a:r>
              <a:rPr lang="en-US" sz="1600">
                <a:solidFill>
                  <a:srgbClr val="212529"/>
                </a:solidFill>
                <a:highlight>
                  <a:srgbClr val="FFFFFF"/>
                </a:highlight>
                <a:latin typeface="Archivo"/>
                <a:ea typeface="Archivo"/>
                <a:cs typeface="Archivo"/>
                <a:sym typeface="Archivo"/>
              </a:rPr>
              <a:t>Wazuh menyediakan antarmuka web yang fleksibel dan intuitif untuk keperluan:</a:t>
            </a:r>
            <a:endParaRPr sz="1600">
              <a:solidFill>
                <a:srgbClr val="212529"/>
              </a:solidFill>
              <a:highlight>
                <a:srgbClr val="FFFFFF"/>
              </a:highlight>
              <a:latin typeface="Archivo"/>
              <a:ea typeface="Archivo"/>
              <a:cs typeface="Archivo"/>
              <a:sym typeface="Archivo"/>
            </a:endParaRPr>
          </a:p>
          <a:p>
            <a:pPr indent="0" lvl="0" marL="457200" rtl="0" algn="ctr">
              <a:lnSpc>
                <a:spcPct val="80000"/>
              </a:lnSpc>
              <a:spcBef>
                <a:spcPts val="0"/>
              </a:spcBef>
              <a:spcAft>
                <a:spcPts val="0"/>
              </a:spcAft>
              <a:buClr>
                <a:schemeClr val="dk1"/>
              </a:buClr>
              <a:buSzPts val="1100"/>
              <a:buFont typeface="Arial"/>
              <a:buNone/>
            </a:pPr>
            <a:r>
              <a:t/>
            </a:r>
            <a:endParaRPr sz="1600">
              <a:solidFill>
                <a:srgbClr val="212529"/>
              </a:solidFill>
              <a:highlight>
                <a:srgbClr val="FFFFFF"/>
              </a:highlight>
              <a:latin typeface="Archivo"/>
              <a:ea typeface="Archivo"/>
              <a:cs typeface="Archivo"/>
              <a:sym typeface="Archivo"/>
            </a:endParaRPr>
          </a:p>
          <a:p>
            <a:pPr indent="-330200" lvl="0" marL="457200" rtl="0" algn="ctr">
              <a:lnSpc>
                <a:spcPct val="80000"/>
              </a:lnSpc>
              <a:spcBef>
                <a:spcPts val="0"/>
              </a:spcBef>
              <a:spcAft>
                <a:spcPts val="0"/>
              </a:spcAft>
              <a:buClr>
                <a:srgbClr val="212529"/>
              </a:buClr>
              <a:buSzPts val="1600"/>
              <a:buFont typeface="Archivo"/>
              <a:buChar char="●"/>
            </a:pPr>
            <a:r>
              <a:rPr lang="en-US" sz="1600">
                <a:solidFill>
                  <a:srgbClr val="212529"/>
                </a:solidFill>
                <a:highlight>
                  <a:srgbClr val="FFFFFF"/>
                </a:highlight>
                <a:latin typeface="Archivo"/>
                <a:ea typeface="Archivo"/>
                <a:cs typeface="Archivo"/>
                <a:sym typeface="Archivo"/>
              </a:rPr>
              <a:t>Penambangan Data </a:t>
            </a:r>
            <a:endParaRPr sz="1600">
              <a:solidFill>
                <a:srgbClr val="212529"/>
              </a:solidFill>
              <a:highlight>
                <a:srgbClr val="FFFFFF"/>
              </a:highlight>
              <a:latin typeface="Archivo"/>
              <a:ea typeface="Archivo"/>
              <a:cs typeface="Archivo"/>
              <a:sym typeface="Archivo"/>
            </a:endParaRPr>
          </a:p>
          <a:p>
            <a:pPr indent="-330200" lvl="0" marL="457200" rtl="0" algn="ctr">
              <a:lnSpc>
                <a:spcPct val="80000"/>
              </a:lnSpc>
              <a:spcBef>
                <a:spcPts val="0"/>
              </a:spcBef>
              <a:spcAft>
                <a:spcPts val="0"/>
              </a:spcAft>
              <a:buClr>
                <a:srgbClr val="212529"/>
              </a:buClr>
              <a:buSzPts val="1600"/>
              <a:buFont typeface="Archivo"/>
              <a:buChar char="●"/>
            </a:pPr>
            <a:r>
              <a:rPr lang="en-US" sz="1600">
                <a:solidFill>
                  <a:srgbClr val="212529"/>
                </a:solidFill>
                <a:highlight>
                  <a:srgbClr val="FFFFFF"/>
                </a:highlight>
                <a:latin typeface="Archivo"/>
                <a:ea typeface="Archivo"/>
                <a:cs typeface="Archivo"/>
                <a:sym typeface="Archivo"/>
              </a:rPr>
              <a:t>Analisis</a:t>
            </a:r>
            <a:endParaRPr sz="1600">
              <a:solidFill>
                <a:srgbClr val="212529"/>
              </a:solidFill>
              <a:highlight>
                <a:srgbClr val="FFFFFF"/>
              </a:highlight>
              <a:latin typeface="Archivo"/>
              <a:ea typeface="Archivo"/>
              <a:cs typeface="Archivo"/>
              <a:sym typeface="Archivo"/>
            </a:endParaRPr>
          </a:p>
          <a:p>
            <a:pPr indent="-330200" lvl="0" marL="457200" rtl="0" algn="ctr">
              <a:lnSpc>
                <a:spcPct val="80000"/>
              </a:lnSpc>
              <a:spcBef>
                <a:spcPts val="0"/>
              </a:spcBef>
              <a:spcAft>
                <a:spcPts val="0"/>
              </a:spcAft>
              <a:buClr>
                <a:srgbClr val="212529"/>
              </a:buClr>
              <a:buSzPts val="1600"/>
              <a:buFont typeface="Archivo"/>
              <a:buChar char="●"/>
            </a:pPr>
            <a:r>
              <a:rPr lang="en-US" sz="1600">
                <a:solidFill>
                  <a:srgbClr val="212529"/>
                </a:solidFill>
                <a:highlight>
                  <a:srgbClr val="FFFFFF"/>
                </a:highlight>
                <a:latin typeface="Archivo"/>
                <a:ea typeface="Archivo"/>
                <a:cs typeface="Archivo"/>
                <a:sym typeface="Archivo"/>
              </a:rPr>
              <a:t>Visualisasi</a:t>
            </a:r>
            <a:endParaRPr sz="1600">
              <a:solidFill>
                <a:srgbClr val="212529"/>
              </a:solidFill>
              <a:highlight>
                <a:srgbClr val="FFFFFF"/>
              </a:highlight>
              <a:latin typeface="Archivo"/>
              <a:ea typeface="Archivo"/>
              <a:cs typeface="Archivo"/>
              <a:sym typeface="Archivo"/>
            </a:endParaRPr>
          </a:p>
        </p:txBody>
      </p:sp>
    </p:spTree>
  </p:cSld>
  <p:clrMapOvr>
    <a:masterClrMapping/>
  </p:clrMapOvr>
  <p:transition spd="slow">
    <p:fade thruBlk="1"/>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1"/>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Components ( Wazuh Manager )</a:t>
            </a:r>
            <a:endParaRPr b="1" i="0" sz="3600" u="none" cap="none" strike="noStrike">
              <a:solidFill>
                <a:srgbClr val="6D9EEB"/>
              </a:solidFill>
              <a:latin typeface="Poppins"/>
              <a:ea typeface="Poppins"/>
              <a:cs typeface="Poppins"/>
              <a:sym typeface="Poppins"/>
            </a:endParaRPr>
          </a:p>
        </p:txBody>
      </p:sp>
      <p:cxnSp>
        <p:nvCxnSpPr>
          <p:cNvPr id="510" name="Google Shape;510;p4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sp>
        <p:nvSpPr>
          <p:cNvPr id="511" name="Google Shape;511;p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512" name="Google Shape;512;p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513" name="Google Shape;513;p4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514" name="Google Shape;514;p41"/>
          <p:cNvPicPr preferRelativeResize="0"/>
          <p:nvPr/>
        </p:nvPicPr>
        <p:blipFill>
          <a:blip r:embed="rId3">
            <a:alphaModFix/>
          </a:blip>
          <a:stretch>
            <a:fillRect/>
          </a:stretch>
        </p:blipFill>
        <p:spPr>
          <a:xfrm>
            <a:off x="1858125" y="1571000"/>
            <a:ext cx="9114674" cy="4114024"/>
          </a:xfrm>
          <a:prstGeom prst="rect">
            <a:avLst/>
          </a:prstGeom>
          <a:noFill/>
          <a:ln>
            <a:noFill/>
          </a:ln>
        </p:spPr>
      </p:pic>
      <p:sp>
        <p:nvSpPr>
          <p:cNvPr id="515" name="Google Shape;515;p41"/>
          <p:cNvSpPr txBox="1"/>
          <p:nvPr/>
        </p:nvSpPr>
        <p:spPr>
          <a:xfrm>
            <a:off x="3992250" y="5917000"/>
            <a:ext cx="4707600" cy="3141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US" sz="1050">
                <a:solidFill>
                  <a:schemeClr val="dk1"/>
                </a:solidFill>
                <a:latin typeface="Archivo Medium"/>
                <a:ea typeface="Archivo Medium"/>
                <a:cs typeface="Archivo Medium"/>
                <a:sym typeface="Archivo Medium"/>
              </a:rPr>
              <a:t>Wazuh components and data flow</a:t>
            </a:r>
            <a:endParaRPr sz="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42"/>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Components</a:t>
            </a:r>
            <a:endParaRPr b="1" i="0" sz="3600" u="none" cap="none" strike="noStrike">
              <a:solidFill>
                <a:srgbClr val="6D9EEB"/>
              </a:solidFill>
              <a:latin typeface="Poppins"/>
              <a:ea typeface="Poppins"/>
              <a:cs typeface="Poppins"/>
              <a:sym typeface="Poppins"/>
            </a:endParaRPr>
          </a:p>
        </p:txBody>
      </p:sp>
      <p:cxnSp>
        <p:nvCxnSpPr>
          <p:cNvPr id="521" name="Google Shape;521;p4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522" name="Google Shape;522;p42"/>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523" name="Google Shape;523;p42"/>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524" name="Google Shape;524;p4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525" name="Google Shape;525;p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526" name="Google Shape;526;p4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527" name="Google Shape;527;p42"/>
          <p:cNvSpPr/>
          <p:nvPr/>
        </p:nvSpPr>
        <p:spPr>
          <a:xfrm>
            <a:off x="975000" y="2085150"/>
            <a:ext cx="9997800" cy="30738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8" name="Google Shape;528;p42"/>
          <p:cNvSpPr txBox="1"/>
          <p:nvPr/>
        </p:nvSpPr>
        <p:spPr>
          <a:xfrm>
            <a:off x="4253100" y="2342000"/>
            <a:ext cx="3228600" cy="3651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Wazuh Agent</a:t>
            </a:r>
            <a:endParaRPr sz="1982">
              <a:solidFill>
                <a:schemeClr val="dk1"/>
              </a:solidFill>
              <a:latin typeface="Archivo Medium"/>
              <a:ea typeface="Archivo Medium"/>
              <a:cs typeface="Archivo Medium"/>
              <a:sym typeface="Archivo Medium"/>
            </a:endParaRPr>
          </a:p>
        </p:txBody>
      </p:sp>
      <p:sp>
        <p:nvSpPr>
          <p:cNvPr id="529" name="Google Shape;529;p42"/>
          <p:cNvSpPr txBox="1"/>
          <p:nvPr/>
        </p:nvSpPr>
        <p:spPr>
          <a:xfrm>
            <a:off x="1650550" y="3021650"/>
            <a:ext cx="8679600" cy="1692300"/>
          </a:xfrm>
          <a:prstGeom prst="rect">
            <a:avLst/>
          </a:prstGeom>
          <a:noFill/>
          <a:ln>
            <a:noFill/>
          </a:ln>
        </p:spPr>
        <p:txBody>
          <a:bodyPr anchorCtr="0" anchor="t" bIns="45700" lIns="91425" spcFirstLastPara="1" rIns="91425" wrap="square" tIns="45700">
            <a:noAutofit/>
          </a:bodyPr>
          <a:lstStyle/>
          <a:p>
            <a:pPr indent="0" lvl="0" marL="457200" rtl="0" algn="l">
              <a:lnSpc>
                <a:spcPct val="80000"/>
              </a:lnSpc>
              <a:spcBef>
                <a:spcPts val="0"/>
              </a:spcBef>
              <a:spcAft>
                <a:spcPts val="0"/>
              </a:spcAft>
              <a:buClr>
                <a:schemeClr val="dk1"/>
              </a:buClr>
              <a:buSzPts val="1100"/>
              <a:buFont typeface="Arial"/>
              <a:buNone/>
            </a:pPr>
            <a:r>
              <a:rPr lang="en-US" sz="1900">
                <a:solidFill>
                  <a:srgbClr val="212529"/>
                </a:solidFill>
                <a:highlight>
                  <a:srgbClr val="FFFFFF"/>
                </a:highlight>
                <a:latin typeface="Archivo"/>
                <a:ea typeface="Archivo"/>
                <a:cs typeface="Archivo"/>
                <a:sym typeface="Archivo"/>
              </a:rPr>
              <a:t>Agen Wazuh adalah komponen multi-platform yang berjalan di endpoint untuk menyediakan kemampuan pencegahan, deteksi, dan respons.</a:t>
            </a:r>
            <a:endParaRPr sz="1900">
              <a:solidFill>
                <a:srgbClr val="212529"/>
              </a:solidFill>
              <a:highlight>
                <a:srgbClr val="FFFFFF"/>
              </a:highlight>
              <a:latin typeface="Archivo"/>
              <a:ea typeface="Archivo"/>
              <a:cs typeface="Archivo"/>
              <a:sym typeface="Archivo"/>
            </a:endParaRPr>
          </a:p>
          <a:p>
            <a:pPr indent="0" lvl="0" marL="457200" rtl="0" algn="l">
              <a:lnSpc>
                <a:spcPct val="80000"/>
              </a:lnSpc>
              <a:spcBef>
                <a:spcPts val="0"/>
              </a:spcBef>
              <a:spcAft>
                <a:spcPts val="0"/>
              </a:spcAft>
              <a:buClr>
                <a:schemeClr val="dk1"/>
              </a:buClr>
              <a:buSzPts val="1100"/>
              <a:buFont typeface="Arial"/>
              <a:buNone/>
            </a:pPr>
            <a:r>
              <a:t/>
            </a:r>
            <a:endParaRPr sz="1900">
              <a:solidFill>
                <a:srgbClr val="212529"/>
              </a:solidFill>
              <a:highlight>
                <a:srgbClr val="FFFFFF"/>
              </a:highlight>
              <a:latin typeface="Archivo"/>
              <a:ea typeface="Archivo"/>
              <a:cs typeface="Archivo"/>
              <a:sym typeface="Archivo"/>
            </a:endParaRPr>
          </a:p>
          <a:p>
            <a:pPr indent="0" lvl="0" marL="457200" rtl="0" algn="l">
              <a:lnSpc>
                <a:spcPct val="80000"/>
              </a:lnSpc>
              <a:spcBef>
                <a:spcPts val="0"/>
              </a:spcBef>
              <a:spcAft>
                <a:spcPts val="0"/>
              </a:spcAft>
              <a:buClr>
                <a:schemeClr val="dk1"/>
              </a:buClr>
              <a:buSzPts val="1100"/>
              <a:buFont typeface="Arial"/>
              <a:buNone/>
            </a:pPr>
            <a:r>
              <a:t/>
            </a:r>
            <a:endParaRPr sz="1900">
              <a:solidFill>
                <a:srgbClr val="212529"/>
              </a:solidFill>
              <a:highlight>
                <a:srgbClr val="FFFFFF"/>
              </a:highlight>
              <a:latin typeface="Archivo"/>
              <a:ea typeface="Archivo"/>
              <a:cs typeface="Archivo"/>
              <a:sym typeface="Archivo"/>
            </a:endParaRPr>
          </a:p>
          <a:p>
            <a:pPr indent="0" lvl="0" marL="457200" rtl="0" algn="l">
              <a:lnSpc>
                <a:spcPct val="80000"/>
              </a:lnSpc>
              <a:spcBef>
                <a:spcPts val="0"/>
              </a:spcBef>
              <a:spcAft>
                <a:spcPts val="0"/>
              </a:spcAft>
              <a:buClr>
                <a:schemeClr val="dk1"/>
              </a:buClr>
              <a:buSzPts val="1100"/>
              <a:buFont typeface="Arial"/>
              <a:buNone/>
            </a:pPr>
            <a:r>
              <a:t/>
            </a:r>
            <a:endParaRPr sz="1900">
              <a:solidFill>
                <a:srgbClr val="212529"/>
              </a:solidFill>
              <a:highlight>
                <a:srgbClr val="FFFFFF"/>
              </a:highlight>
              <a:latin typeface="Archivo"/>
              <a:ea typeface="Archivo"/>
              <a:cs typeface="Archivo"/>
              <a:sym typeface="Archivo"/>
            </a:endParaRPr>
          </a:p>
          <a:p>
            <a:pPr indent="0" lvl="0" marL="0" rtl="0" algn="l">
              <a:lnSpc>
                <a:spcPct val="80000"/>
              </a:lnSpc>
              <a:spcBef>
                <a:spcPts val="0"/>
              </a:spcBef>
              <a:spcAft>
                <a:spcPts val="0"/>
              </a:spcAft>
              <a:buClr>
                <a:schemeClr val="dk1"/>
              </a:buClr>
              <a:buSzPts val="1100"/>
              <a:buFont typeface="Arial"/>
              <a:buNone/>
            </a:pPr>
            <a:r>
              <a:t/>
            </a:r>
            <a:endParaRPr sz="1900">
              <a:solidFill>
                <a:srgbClr val="212529"/>
              </a:solidFill>
              <a:highlight>
                <a:srgbClr val="FFFFFF"/>
              </a:highlight>
              <a:latin typeface="Archivo"/>
              <a:ea typeface="Archivo"/>
              <a:cs typeface="Archivo"/>
              <a:sym typeface="Archivo"/>
            </a:endParaRPr>
          </a:p>
          <a:p>
            <a:pPr indent="0" lvl="0" marL="457200" rtl="0" algn="l">
              <a:lnSpc>
                <a:spcPct val="80000"/>
              </a:lnSpc>
              <a:spcBef>
                <a:spcPts val="0"/>
              </a:spcBef>
              <a:spcAft>
                <a:spcPts val="0"/>
              </a:spcAft>
              <a:buClr>
                <a:schemeClr val="dk1"/>
              </a:buClr>
              <a:buSzPts val="1100"/>
              <a:buFont typeface="Arial"/>
              <a:buNone/>
            </a:pPr>
            <a:r>
              <a:t/>
            </a:r>
            <a:endParaRPr sz="1900">
              <a:solidFill>
                <a:srgbClr val="212529"/>
              </a:solidFill>
              <a:highlight>
                <a:srgbClr val="FFFFFF"/>
              </a:highlight>
              <a:latin typeface="Archivo"/>
              <a:ea typeface="Archivo"/>
              <a:cs typeface="Archivo"/>
              <a:sym typeface="Archivo"/>
            </a:endParaRPr>
          </a:p>
          <a:p>
            <a:pPr indent="0" lvl="0" marL="457200" rtl="0" algn="l">
              <a:lnSpc>
                <a:spcPct val="80000"/>
              </a:lnSpc>
              <a:spcBef>
                <a:spcPts val="0"/>
              </a:spcBef>
              <a:spcAft>
                <a:spcPts val="0"/>
              </a:spcAft>
              <a:buNone/>
            </a:pPr>
            <a:r>
              <a:t/>
            </a:r>
            <a:endParaRPr sz="1900">
              <a:solidFill>
                <a:srgbClr val="212529"/>
              </a:solidFill>
              <a:highlight>
                <a:srgbClr val="FFFFFF"/>
              </a:highlight>
              <a:latin typeface="Archivo"/>
              <a:ea typeface="Archivo"/>
              <a:cs typeface="Archivo"/>
              <a:sym typeface="Archivo"/>
            </a:endParaRPr>
          </a:p>
        </p:txBody>
      </p:sp>
      <p:pic>
        <p:nvPicPr>
          <p:cNvPr id="530" name="Google Shape;530;p42"/>
          <p:cNvPicPr preferRelativeResize="0"/>
          <p:nvPr/>
        </p:nvPicPr>
        <p:blipFill>
          <a:blip r:embed="rId5">
            <a:alphaModFix/>
          </a:blip>
          <a:stretch>
            <a:fillRect/>
          </a:stretch>
        </p:blipFill>
        <p:spPr>
          <a:xfrm>
            <a:off x="3700450" y="3780500"/>
            <a:ext cx="4791075" cy="933450"/>
          </a:xfrm>
          <a:prstGeom prst="rect">
            <a:avLst/>
          </a:prstGeom>
          <a:noFill/>
          <a:ln>
            <a:noFill/>
          </a:ln>
        </p:spPr>
      </p:pic>
    </p:spTree>
  </p:cSld>
  <p:clrMapOvr>
    <a:masterClrMapping/>
  </p:clrMapOvr>
  <p:transition spd="slow">
    <p:fade thruBlk="1"/>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3"/>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Components</a:t>
            </a:r>
            <a:endParaRPr b="1" i="0" sz="3600" u="none" cap="none" strike="noStrike">
              <a:solidFill>
                <a:srgbClr val="6D9EEB"/>
              </a:solidFill>
              <a:latin typeface="Poppins"/>
              <a:ea typeface="Poppins"/>
              <a:cs typeface="Poppins"/>
              <a:sym typeface="Poppins"/>
            </a:endParaRPr>
          </a:p>
        </p:txBody>
      </p:sp>
      <p:cxnSp>
        <p:nvCxnSpPr>
          <p:cNvPr id="536" name="Google Shape;536;p4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537" name="Google Shape;537;p43"/>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538" name="Google Shape;538;p43"/>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539" name="Google Shape;539;p4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540" name="Google Shape;540;p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541" name="Google Shape;541;p4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542" name="Google Shape;542;p43"/>
          <p:cNvSpPr/>
          <p:nvPr/>
        </p:nvSpPr>
        <p:spPr>
          <a:xfrm>
            <a:off x="1003925" y="2093625"/>
            <a:ext cx="9969000" cy="30570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3" name="Google Shape;543;p43"/>
          <p:cNvSpPr txBox="1"/>
          <p:nvPr/>
        </p:nvSpPr>
        <p:spPr>
          <a:xfrm>
            <a:off x="4253100" y="2342000"/>
            <a:ext cx="3228600" cy="3651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Wazuh Filebeat</a:t>
            </a:r>
            <a:endParaRPr sz="1982">
              <a:solidFill>
                <a:schemeClr val="dk1"/>
              </a:solidFill>
              <a:latin typeface="Archivo Medium"/>
              <a:ea typeface="Archivo Medium"/>
              <a:cs typeface="Archivo Medium"/>
              <a:sym typeface="Archivo Medium"/>
            </a:endParaRPr>
          </a:p>
        </p:txBody>
      </p:sp>
      <p:sp>
        <p:nvSpPr>
          <p:cNvPr id="544" name="Google Shape;544;p43"/>
          <p:cNvSpPr txBox="1"/>
          <p:nvPr/>
        </p:nvSpPr>
        <p:spPr>
          <a:xfrm>
            <a:off x="1650550" y="3021650"/>
            <a:ext cx="8679600" cy="1692300"/>
          </a:xfrm>
          <a:prstGeom prst="rect">
            <a:avLst/>
          </a:prstGeom>
          <a:noFill/>
          <a:ln>
            <a:noFill/>
          </a:ln>
        </p:spPr>
        <p:txBody>
          <a:bodyPr anchorCtr="0" anchor="t" bIns="45700" lIns="91425" spcFirstLastPara="1" rIns="91425" wrap="square" tIns="45700">
            <a:noAutofit/>
          </a:bodyPr>
          <a:lstStyle/>
          <a:p>
            <a:pPr indent="0" lvl="0" marL="457200" rtl="0" algn="ctr">
              <a:lnSpc>
                <a:spcPct val="80000"/>
              </a:lnSpc>
              <a:spcBef>
                <a:spcPts val="0"/>
              </a:spcBef>
              <a:spcAft>
                <a:spcPts val="0"/>
              </a:spcAft>
              <a:buClr>
                <a:schemeClr val="dk1"/>
              </a:buClr>
              <a:buSzPts val="1100"/>
              <a:buFont typeface="Arial"/>
              <a:buNone/>
            </a:pPr>
            <a:r>
              <a:rPr lang="en-US" sz="1900">
                <a:solidFill>
                  <a:srgbClr val="212529"/>
                </a:solidFill>
                <a:highlight>
                  <a:srgbClr val="FFFFFF"/>
                </a:highlight>
                <a:latin typeface="Archivo"/>
                <a:ea typeface="Archivo"/>
                <a:cs typeface="Archivo"/>
                <a:sym typeface="Archivo"/>
              </a:rPr>
              <a:t>Filebeat dapat digunakan bersama Wazuh Manager untuk mengirim event dan alert ke Wazuh Indexer; peran ini akan menginstal Filebeat, dan instalasi dapat disesuaikan dengan variabel-variabel berikut.</a:t>
            </a:r>
            <a:endParaRPr sz="1900">
              <a:solidFill>
                <a:srgbClr val="212529"/>
              </a:solidFill>
              <a:highlight>
                <a:srgbClr val="FFFFFF"/>
              </a:highlight>
              <a:latin typeface="Archivo"/>
              <a:ea typeface="Archivo"/>
              <a:cs typeface="Archivo"/>
              <a:sym typeface="Archivo"/>
            </a:endParaRPr>
          </a:p>
          <a:p>
            <a:pPr indent="0" lvl="0" marL="457200" rtl="0" algn="ctr">
              <a:lnSpc>
                <a:spcPct val="80000"/>
              </a:lnSpc>
              <a:spcBef>
                <a:spcPts val="0"/>
              </a:spcBef>
              <a:spcAft>
                <a:spcPts val="0"/>
              </a:spcAft>
              <a:buClr>
                <a:schemeClr val="dk1"/>
              </a:buClr>
              <a:buSzPts val="1100"/>
              <a:buFont typeface="Arial"/>
              <a:buNone/>
            </a:pPr>
            <a:r>
              <a:t/>
            </a:r>
            <a:endParaRPr sz="1900">
              <a:solidFill>
                <a:srgbClr val="212529"/>
              </a:solidFill>
              <a:highlight>
                <a:srgbClr val="FFFFFF"/>
              </a:highlight>
              <a:latin typeface="Archivo"/>
              <a:ea typeface="Archivo"/>
              <a:cs typeface="Archivo"/>
              <a:sym typeface="Archivo"/>
            </a:endParaRPr>
          </a:p>
          <a:p>
            <a:pPr indent="0" lvl="0" marL="457200" rtl="0" algn="ctr">
              <a:lnSpc>
                <a:spcPct val="80000"/>
              </a:lnSpc>
              <a:spcBef>
                <a:spcPts val="0"/>
              </a:spcBef>
              <a:spcAft>
                <a:spcPts val="0"/>
              </a:spcAft>
              <a:buClr>
                <a:schemeClr val="dk1"/>
              </a:buClr>
              <a:buSzPts val="1100"/>
              <a:buFont typeface="Arial"/>
              <a:buNone/>
            </a:pPr>
            <a:r>
              <a:t/>
            </a:r>
            <a:endParaRPr sz="1900">
              <a:solidFill>
                <a:srgbClr val="212529"/>
              </a:solidFill>
              <a:highlight>
                <a:srgbClr val="FFFFFF"/>
              </a:highlight>
              <a:latin typeface="Archivo"/>
              <a:ea typeface="Archivo"/>
              <a:cs typeface="Archivo"/>
              <a:sym typeface="Archivo"/>
            </a:endParaRPr>
          </a:p>
          <a:p>
            <a:pPr indent="0" lvl="0" marL="457200" rtl="0" algn="ctr">
              <a:lnSpc>
                <a:spcPct val="80000"/>
              </a:lnSpc>
              <a:spcBef>
                <a:spcPts val="0"/>
              </a:spcBef>
              <a:spcAft>
                <a:spcPts val="0"/>
              </a:spcAft>
              <a:buClr>
                <a:schemeClr val="dk1"/>
              </a:buClr>
              <a:buSzPts val="1100"/>
              <a:buFont typeface="Arial"/>
              <a:buNone/>
            </a:pPr>
            <a:r>
              <a:t/>
            </a:r>
            <a:endParaRPr sz="1900">
              <a:solidFill>
                <a:srgbClr val="212529"/>
              </a:solidFill>
              <a:highlight>
                <a:srgbClr val="FFFFFF"/>
              </a:highlight>
              <a:latin typeface="Archivo"/>
              <a:ea typeface="Archivo"/>
              <a:cs typeface="Archivo"/>
              <a:sym typeface="Archivo"/>
            </a:endParaRPr>
          </a:p>
          <a:p>
            <a:pPr indent="0" lvl="0" marL="457200" rtl="0" algn="ctr">
              <a:lnSpc>
                <a:spcPct val="80000"/>
              </a:lnSpc>
              <a:spcBef>
                <a:spcPts val="0"/>
              </a:spcBef>
              <a:spcAft>
                <a:spcPts val="0"/>
              </a:spcAft>
              <a:buClr>
                <a:schemeClr val="dk1"/>
              </a:buClr>
              <a:buSzPts val="1100"/>
              <a:buFont typeface="Arial"/>
              <a:buNone/>
            </a:pPr>
            <a:r>
              <a:t/>
            </a:r>
            <a:endParaRPr sz="1900">
              <a:solidFill>
                <a:srgbClr val="212529"/>
              </a:solidFill>
              <a:highlight>
                <a:srgbClr val="FFFFFF"/>
              </a:highlight>
              <a:latin typeface="Archivo"/>
              <a:ea typeface="Archivo"/>
              <a:cs typeface="Archivo"/>
              <a:sym typeface="Archivo"/>
            </a:endParaRPr>
          </a:p>
          <a:p>
            <a:pPr indent="0" lvl="0" marL="457200" rtl="0" algn="ctr">
              <a:lnSpc>
                <a:spcPct val="80000"/>
              </a:lnSpc>
              <a:spcBef>
                <a:spcPts val="0"/>
              </a:spcBef>
              <a:spcAft>
                <a:spcPts val="0"/>
              </a:spcAft>
              <a:buClr>
                <a:schemeClr val="dk1"/>
              </a:buClr>
              <a:buSzPts val="1100"/>
              <a:buFont typeface="Arial"/>
              <a:buNone/>
            </a:pPr>
            <a:r>
              <a:t/>
            </a:r>
            <a:endParaRPr sz="1900">
              <a:solidFill>
                <a:srgbClr val="212529"/>
              </a:solidFill>
              <a:highlight>
                <a:srgbClr val="FFFFFF"/>
              </a:highlight>
              <a:latin typeface="Archivo"/>
              <a:ea typeface="Archivo"/>
              <a:cs typeface="Archivo"/>
              <a:sym typeface="Archivo"/>
            </a:endParaRPr>
          </a:p>
          <a:p>
            <a:pPr indent="0" lvl="0" marL="457200" rtl="0" algn="ctr">
              <a:lnSpc>
                <a:spcPct val="80000"/>
              </a:lnSpc>
              <a:spcBef>
                <a:spcPts val="0"/>
              </a:spcBef>
              <a:spcAft>
                <a:spcPts val="0"/>
              </a:spcAft>
              <a:buNone/>
            </a:pPr>
            <a:r>
              <a:t/>
            </a:r>
            <a:endParaRPr sz="1900">
              <a:solidFill>
                <a:srgbClr val="212529"/>
              </a:solidFill>
              <a:highlight>
                <a:srgbClr val="FFFFFF"/>
              </a:highlight>
              <a:latin typeface="Archivo"/>
              <a:ea typeface="Archivo"/>
              <a:cs typeface="Archivo"/>
              <a:sym typeface="Archivo"/>
            </a:endParaRPr>
          </a:p>
        </p:txBody>
      </p:sp>
      <p:pic>
        <p:nvPicPr>
          <p:cNvPr id="545" name="Google Shape;545;p43"/>
          <p:cNvPicPr preferRelativeResize="0"/>
          <p:nvPr/>
        </p:nvPicPr>
        <p:blipFill>
          <a:blip r:embed="rId5">
            <a:alphaModFix/>
          </a:blip>
          <a:stretch>
            <a:fillRect/>
          </a:stretch>
        </p:blipFill>
        <p:spPr>
          <a:xfrm>
            <a:off x="3700450" y="3780500"/>
            <a:ext cx="4791075" cy="933450"/>
          </a:xfrm>
          <a:prstGeom prst="rect">
            <a:avLst/>
          </a:prstGeom>
          <a:noFill/>
          <a:ln>
            <a:noFill/>
          </a:ln>
        </p:spPr>
      </p:pic>
    </p:spTree>
  </p:cSld>
  <p:clrMapOvr>
    <a:masterClrMapping/>
  </p:clrMapOvr>
  <p:transition spd="slow">
    <p:fade thruBlk="1"/>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4"/>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Components</a:t>
            </a:r>
            <a:endParaRPr b="1" i="0" sz="3600" u="none" cap="none" strike="noStrike">
              <a:solidFill>
                <a:srgbClr val="6D9EEB"/>
              </a:solidFill>
              <a:latin typeface="Poppins"/>
              <a:ea typeface="Poppins"/>
              <a:cs typeface="Poppins"/>
              <a:sym typeface="Poppins"/>
            </a:endParaRPr>
          </a:p>
        </p:txBody>
      </p:sp>
      <p:cxnSp>
        <p:nvCxnSpPr>
          <p:cNvPr id="551" name="Google Shape;551;p4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552" name="Google Shape;552;p44"/>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553" name="Google Shape;553;p44"/>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554" name="Google Shape;554;p4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555" name="Google Shape;555;p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556" name="Google Shape;556;p4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557" name="Google Shape;557;p44"/>
          <p:cNvPicPr preferRelativeResize="0"/>
          <p:nvPr/>
        </p:nvPicPr>
        <p:blipFill>
          <a:blip r:embed="rId5">
            <a:alphaModFix/>
          </a:blip>
          <a:stretch>
            <a:fillRect/>
          </a:stretch>
        </p:blipFill>
        <p:spPr>
          <a:xfrm>
            <a:off x="474175" y="1445263"/>
            <a:ext cx="11091250" cy="4252625"/>
          </a:xfrm>
          <a:prstGeom prst="rect">
            <a:avLst/>
          </a:prstGeom>
          <a:noFill/>
          <a:ln>
            <a:noFill/>
          </a:ln>
        </p:spPr>
      </p:pic>
    </p:spTree>
  </p:cSld>
  <p:clrMapOvr>
    <a:masterClrMapping/>
  </p:clrMapOvr>
  <p:transition spd="slow">
    <p:fade thruBlk="1"/>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5"/>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Secure Communication </a:t>
            </a:r>
            <a:endParaRPr b="1" i="0" sz="3600" u="none" cap="none" strike="noStrike">
              <a:solidFill>
                <a:srgbClr val="6D9EEB"/>
              </a:solidFill>
              <a:latin typeface="Poppins"/>
              <a:ea typeface="Poppins"/>
              <a:cs typeface="Poppins"/>
              <a:sym typeface="Poppins"/>
            </a:endParaRPr>
          </a:p>
        </p:txBody>
      </p:sp>
      <p:cxnSp>
        <p:nvCxnSpPr>
          <p:cNvPr id="563" name="Google Shape;563;p4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564" name="Google Shape;564;p45"/>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565" name="Google Shape;565;p45"/>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566" name="Google Shape;566;p4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567" name="Google Shape;567;p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568" name="Google Shape;568;p4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569" name="Google Shape;569;p45"/>
          <p:cNvSpPr/>
          <p:nvPr/>
        </p:nvSpPr>
        <p:spPr>
          <a:xfrm>
            <a:off x="1980500" y="2254425"/>
            <a:ext cx="1587300" cy="69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Archivo"/>
                <a:ea typeface="Archivo"/>
                <a:cs typeface="Archivo"/>
                <a:sym typeface="Archivo"/>
              </a:rPr>
              <a:t>Wazuh Agent</a:t>
            </a:r>
            <a:endParaRPr>
              <a:latin typeface="Archivo"/>
              <a:ea typeface="Archivo"/>
              <a:cs typeface="Archivo"/>
              <a:sym typeface="Archivo"/>
            </a:endParaRPr>
          </a:p>
        </p:txBody>
      </p:sp>
      <p:sp>
        <p:nvSpPr>
          <p:cNvPr id="570" name="Google Shape;570;p45"/>
          <p:cNvSpPr/>
          <p:nvPr/>
        </p:nvSpPr>
        <p:spPr>
          <a:xfrm>
            <a:off x="4952300" y="2254425"/>
            <a:ext cx="1587300" cy="69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Archivo"/>
                <a:ea typeface="Archivo"/>
                <a:cs typeface="Archivo"/>
                <a:sym typeface="Archivo"/>
              </a:rPr>
              <a:t>Wazuh Server</a:t>
            </a:r>
            <a:endParaRPr>
              <a:latin typeface="Archivo"/>
              <a:ea typeface="Archivo"/>
              <a:cs typeface="Archivo"/>
              <a:sym typeface="Archivo"/>
            </a:endParaRPr>
          </a:p>
        </p:txBody>
      </p:sp>
      <p:sp>
        <p:nvSpPr>
          <p:cNvPr id="571" name="Google Shape;571;p45"/>
          <p:cNvSpPr/>
          <p:nvPr/>
        </p:nvSpPr>
        <p:spPr>
          <a:xfrm>
            <a:off x="8099000" y="2254425"/>
            <a:ext cx="1587300" cy="69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Archivo"/>
                <a:ea typeface="Archivo"/>
                <a:cs typeface="Archivo"/>
                <a:sym typeface="Archivo"/>
              </a:rPr>
              <a:t>Wazuh Indexer</a:t>
            </a:r>
            <a:endParaRPr>
              <a:latin typeface="Archivo"/>
              <a:ea typeface="Archivo"/>
              <a:cs typeface="Archivo"/>
              <a:sym typeface="Archivo"/>
            </a:endParaRPr>
          </a:p>
        </p:txBody>
      </p:sp>
      <p:cxnSp>
        <p:nvCxnSpPr>
          <p:cNvPr id="572" name="Google Shape;572;p45"/>
          <p:cNvCxnSpPr>
            <a:endCxn id="570" idx="1"/>
          </p:cNvCxnSpPr>
          <p:nvPr/>
        </p:nvCxnSpPr>
        <p:spPr>
          <a:xfrm>
            <a:off x="3567800" y="2602125"/>
            <a:ext cx="1384500" cy="0"/>
          </a:xfrm>
          <a:prstGeom prst="straightConnector1">
            <a:avLst/>
          </a:prstGeom>
          <a:noFill/>
          <a:ln cap="flat" cmpd="sng" w="28575">
            <a:solidFill>
              <a:schemeClr val="dk2"/>
            </a:solidFill>
            <a:prstDash val="solid"/>
            <a:round/>
            <a:headEnd len="med" w="med" type="none"/>
            <a:tailEnd len="med" w="med" type="triangle"/>
          </a:ln>
        </p:spPr>
      </p:cxnSp>
      <p:cxnSp>
        <p:nvCxnSpPr>
          <p:cNvPr id="573" name="Google Shape;573;p45"/>
          <p:cNvCxnSpPr>
            <a:stCxn id="570" idx="3"/>
            <a:endCxn id="574" idx="1"/>
          </p:cNvCxnSpPr>
          <p:nvPr/>
        </p:nvCxnSpPr>
        <p:spPr>
          <a:xfrm>
            <a:off x="6539600" y="2602125"/>
            <a:ext cx="1559400" cy="0"/>
          </a:xfrm>
          <a:prstGeom prst="straightConnector1">
            <a:avLst/>
          </a:prstGeom>
          <a:noFill/>
          <a:ln cap="flat" cmpd="sng" w="38100">
            <a:solidFill>
              <a:schemeClr val="dk2"/>
            </a:solidFill>
            <a:prstDash val="solid"/>
            <a:round/>
            <a:headEnd len="med" w="med" type="none"/>
            <a:tailEnd len="med" w="med" type="stealth"/>
          </a:ln>
        </p:spPr>
      </p:cxnSp>
      <p:sp>
        <p:nvSpPr>
          <p:cNvPr id="575" name="Google Shape;575;p45"/>
          <p:cNvSpPr txBox="1"/>
          <p:nvPr/>
        </p:nvSpPr>
        <p:spPr>
          <a:xfrm>
            <a:off x="1000925" y="3537975"/>
            <a:ext cx="9972000" cy="2511000"/>
          </a:xfrm>
          <a:prstGeom prst="rect">
            <a:avLst/>
          </a:prstGeom>
          <a:noFill/>
          <a:ln>
            <a:noFill/>
          </a:ln>
        </p:spPr>
        <p:txBody>
          <a:bodyPr anchorCtr="0" anchor="t" bIns="45700" lIns="91425" spcFirstLastPara="1" rIns="91425" wrap="square" tIns="45700">
            <a:no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Agen Wazuh mengirimkan event ke Server Wazuh untuk dianalisis dan mendeteksi ancaman, listening pada port </a:t>
            </a:r>
            <a:r>
              <a:rPr b="1" lang="en-US" sz="1900">
                <a:solidFill>
                  <a:srgbClr val="212529"/>
                </a:solidFill>
                <a:highlight>
                  <a:srgbClr val="FFFFFF"/>
                </a:highlight>
                <a:latin typeface="Archivo"/>
                <a:ea typeface="Archivo"/>
                <a:cs typeface="Archivo"/>
                <a:sym typeface="Archivo"/>
              </a:rPr>
              <a:t>1514 </a:t>
            </a:r>
            <a:r>
              <a:rPr lang="en-US" sz="1900">
                <a:solidFill>
                  <a:srgbClr val="212529"/>
                </a:solidFill>
                <a:highlight>
                  <a:srgbClr val="FFFFFF"/>
                </a:highlight>
                <a:latin typeface="Archivo"/>
                <a:ea typeface="Archivo"/>
                <a:cs typeface="Archivo"/>
                <a:sym typeface="Archivo"/>
              </a:rPr>
              <a:t>(dapat dikonfigurasi).</a:t>
            </a:r>
            <a:endParaRPr sz="1900">
              <a:solidFill>
                <a:srgbClr val="212529"/>
              </a:solidFill>
              <a:highlight>
                <a:srgbClr val="FFFFFF"/>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Server Wazuh menggunakan Filebeat untuk mentransmisikan data alert dan event secara aman ke Wazuh Indexer, yang listening pada port </a:t>
            </a:r>
            <a:r>
              <a:rPr b="1" lang="en-US" sz="1900">
                <a:solidFill>
                  <a:srgbClr val="212529"/>
                </a:solidFill>
                <a:highlight>
                  <a:srgbClr val="FFFFFF"/>
                </a:highlight>
                <a:latin typeface="Archivo"/>
                <a:ea typeface="Archivo"/>
                <a:cs typeface="Archivo"/>
                <a:sym typeface="Archivo"/>
              </a:rPr>
              <a:t>9200</a:t>
            </a:r>
            <a:r>
              <a:rPr lang="en-US" sz="1900">
                <a:solidFill>
                  <a:srgbClr val="212529"/>
                </a:solidFill>
                <a:highlight>
                  <a:srgbClr val="FFFFFF"/>
                </a:highlight>
                <a:latin typeface="Archivo"/>
                <a:ea typeface="Archivo"/>
                <a:cs typeface="Archivo"/>
                <a:sym typeface="Archivo"/>
              </a:rPr>
              <a:t>/TCP.</a:t>
            </a:r>
            <a:endParaRPr sz="1900">
              <a:solidFill>
                <a:srgbClr val="212529"/>
              </a:solidFill>
              <a:highlight>
                <a:srgbClr val="FFFFFF"/>
              </a:highlight>
              <a:latin typeface="Archivo"/>
              <a:ea typeface="Archivo"/>
              <a:cs typeface="Archivo"/>
              <a:sym typeface="Archivo"/>
            </a:endParaRPr>
          </a:p>
          <a:p>
            <a:pPr indent="0" lvl="0" marL="0" rtl="0" algn="l">
              <a:lnSpc>
                <a:spcPct val="80000"/>
              </a:lnSpc>
              <a:spcBef>
                <a:spcPts val="0"/>
              </a:spcBef>
              <a:spcAft>
                <a:spcPts val="0"/>
              </a:spcAft>
              <a:buNone/>
            </a:pPr>
            <a:r>
              <a:t/>
            </a:r>
            <a:endParaRPr sz="1900">
              <a:solidFill>
                <a:srgbClr val="212529"/>
              </a:solidFill>
              <a:highlight>
                <a:srgbClr val="FFFFFF"/>
              </a:highlight>
              <a:latin typeface="Archivo"/>
              <a:ea typeface="Archivo"/>
              <a:cs typeface="Archivo"/>
              <a:sym typeface="Archivo"/>
            </a:endParaRPr>
          </a:p>
        </p:txBody>
      </p:sp>
    </p:spTree>
  </p:cSld>
  <p:clrMapOvr>
    <a:masterClrMapping/>
  </p:clrMapOvr>
  <p:transition spd="slow">
    <p:fade thruBlk="1"/>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46"/>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Secure Communication Server - Agent</a:t>
            </a:r>
            <a:endParaRPr b="1" i="0" sz="3600" u="none" cap="none" strike="noStrike">
              <a:solidFill>
                <a:srgbClr val="6D9EEB"/>
              </a:solidFill>
              <a:latin typeface="Poppins"/>
              <a:ea typeface="Poppins"/>
              <a:cs typeface="Poppins"/>
              <a:sym typeface="Poppins"/>
            </a:endParaRPr>
          </a:p>
        </p:txBody>
      </p:sp>
      <p:cxnSp>
        <p:nvCxnSpPr>
          <p:cNvPr id="581" name="Google Shape;581;p4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582" name="Google Shape;582;p46"/>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583" name="Google Shape;583;p46"/>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584" name="Google Shape;584;p4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585" name="Google Shape;585;p4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586" name="Google Shape;586;p4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587" name="Google Shape;587;p46"/>
          <p:cNvSpPr/>
          <p:nvPr/>
        </p:nvSpPr>
        <p:spPr>
          <a:xfrm>
            <a:off x="1980500" y="2254425"/>
            <a:ext cx="1587300" cy="69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Archivo"/>
                <a:ea typeface="Archivo"/>
                <a:cs typeface="Archivo"/>
                <a:sym typeface="Archivo"/>
              </a:rPr>
              <a:t>Wazuh Agent</a:t>
            </a:r>
            <a:endParaRPr>
              <a:latin typeface="Archivo"/>
              <a:ea typeface="Archivo"/>
              <a:cs typeface="Archivo"/>
              <a:sym typeface="Archivo"/>
            </a:endParaRPr>
          </a:p>
        </p:txBody>
      </p:sp>
      <p:sp>
        <p:nvSpPr>
          <p:cNvPr id="588" name="Google Shape;588;p46"/>
          <p:cNvSpPr/>
          <p:nvPr/>
        </p:nvSpPr>
        <p:spPr>
          <a:xfrm>
            <a:off x="4952300" y="2254425"/>
            <a:ext cx="1587300" cy="69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Archivo"/>
                <a:ea typeface="Archivo"/>
                <a:cs typeface="Archivo"/>
                <a:sym typeface="Archivo"/>
              </a:rPr>
              <a:t>Wazuh Server</a:t>
            </a:r>
            <a:endParaRPr>
              <a:latin typeface="Archivo"/>
              <a:ea typeface="Archivo"/>
              <a:cs typeface="Archivo"/>
              <a:sym typeface="Archivo"/>
            </a:endParaRPr>
          </a:p>
        </p:txBody>
      </p:sp>
      <p:sp>
        <p:nvSpPr>
          <p:cNvPr id="589" name="Google Shape;589;p46"/>
          <p:cNvSpPr/>
          <p:nvPr/>
        </p:nvSpPr>
        <p:spPr>
          <a:xfrm>
            <a:off x="8099000" y="2254425"/>
            <a:ext cx="1587300" cy="69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Archivo"/>
                <a:ea typeface="Archivo"/>
                <a:cs typeface="Archivo"/>
                <a:sym typeface="Archivo"/>
              </a:rPr>
              <a:t>Wazuh Indexer</a:t>
            </a:r>
            <a:endParaRPr>
              <a:latin typeface="Archivo"/>
              <a:ea typeface="Archivo"/>
              <a:cs typeface="Archivo"/>
              <a:sym typeface="Archivo"/>
            </a:endParaRPr>
          </a:p>
        </p:txBody>
      </p:sp>
      <p:cxnSp>
        <p:nvCxnSpPr>
          <p:cNvPr id="590" name="Google Shape;590;p46"/>
          <p:cNvCxnSpPr>
            <a:endCxn id="588" idx="1"/>
          </p:cNvCxnSpPr>
          <p:nvPr/>
        </p:nvCxnSpPr>
        <p:spPr>
          <a:xfrm>
            <a:off x="3567800" y="2602125"/>
            <a:ext cx="1384500" cy="0"/>
          </a:xfrm>
          <a:prstGeom prst="straightConnector1">
            <a:avLst/>
          </a:prstGeom>
          <a:noFill/>
          <a:ln cap="flat" cmpd="sng" w="28575">
            <a:solidFill>
              <a:schemeClr val="dk2"/>
            </a:solidFill>
            <a:prstDash val="solid"/>
            <a:round/>
            <a:headEnd len="med" w="med" type="none"/>
            <a:tailEnd len="med" w="med" type="triangle"/>
          </a:ln>
        </p:spPr>
      </p:cxnSp>
      <p:cxnSp>
        <p:nvCxnSpPr>
          <p:cNvPr id="591" name="Google Shape;591;p46"/>
          <p:cNvCxnSpPr>
            <a:stCxn id="588" idx="3"/>
            <a:endCxn id="592" idx="1"/>
          </p:cNvCxnSpPr>
          <p:nvPr/>
        </p:nvCxnSpPr>
        <p:spPr>
          <a:xfrm>
            <a:off x="6539600" y="2602125"/>
            <a:ext cx="1559400" cy="0"/>
          </a:xfrm>
          <a:prstGeom prst="straightConnector1">
            <a:avLst/>
          </a:prstGeom>
          <a:noFill/>
          <a:ln cap="flat" cmpd="sng" w="38100">
            <a:solidFill>
              <a:schemeClr val="dk2"/>
            </a:solidFill>
            <a:prstDash val="solid"/>
            <a:round/>
            <a:headEnd len="med" w="med" type="none"/>
            <a:tailEnd len="med" w="med" type="stealth"/>
          </a:ln>
        </p:spPr>
      </p:cxnSp>
      <p:sp>
        <p:nvSpPr>
          <p:cNvPr id="593" name="Google Shape;593;p46"/>
          <p:cNvSpPr txBox="1"/>
          <p:nvPr/>
        </p:nvSpPr>
        <p:spPr>
          <a:xfrm>
            <a:off x="1000925" y="3537975"/>
            <a:ext cx="9972000" cy="2511000"/>
          </a:xfrm>
          <a:prstGeom prst="rect">
            <a:avLst/>
          </a:prstGeom>
          <a:noFill/>
          <a:ln>
            <a:noFill/>
          </a:ln>
        </p:spPr>
        <p:txBody>
          <a:bodyPr anchorCtr="0" anchor="t" bIns="45700" lIns="91425" spcFirstLastPara="1" rIns="91425" wrap="square" tIns="45700">
            <a:no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File </a:t>
            </a:r>
            <a:r>
              <a:rPr b="1" lang="en-US" sz="1900">
                <a:solidFill>
                  <a:srgbClr val="212529"/>
                </a:solidFill>
                <a:highlight>
                  <a:srgbClr val="FFFFFF"/>
                </a:highlight>
                <a:latin typeface="Archivo"/>
                <a:ea typeface="Archivo"/>
                <a:cs typeface="Archivo"/>
                <a:sym typeface="Archivo"/>
              </a:rPr>
              <a:t>/var/ossec/logs/archives/archives.json</a:t>
            </a:r>
            <a:r>
              <a:rPr lang="en-US" sz="1900">
                <a:solidFill>
                  <a:srgbClr val="212529"/>
                </a:solidFill>
                <a:highlight>
                  <a:srgbClr val="FFFFFF"/>
                </a:highlight>
                <a:latin typeface="Archivo"/>
                <a:ea typeface="Archivo"/>
                <a:cs typeface="Archivo"/>
                <a:sym typeface="Archivo"/>
              </a:rPr>
              <a:t> berisi semua event, baik yang memicu rule maupun tidak.</a:t>
            </a:r>
            <a:endParaRPr sz="1900">
              <a:solidFill>
                <a:srgbClr val="212529"/>
              </a:solidFill>
              <a:highlight>
                <a:srgbClr val="FFFFFF"/>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File </a:t>
            </a:r>
            <a:r>
              <a:rPr b="1" lang="en-US" sz="1900">
                <a:solidFill>
                  <a:srgbClr val="212529"/>
                </a:solidFill>
                <a:highlight>
                  <a:srgbClr val="FFFFFF"/>
                </a:highlight>
                <a:latin typeface="Archivo"/>
                <a:ea typeface="Archivo"/>
                <a:cs typeface="Archivo"/>
                <a:sym typeface="Archivo"/>
              </a:rPr>
              <a:t>/var/ossec/logs/alerts/alerts.json</a:t>
            </a:r>
            <a:r>
              <a:rPr lang="en-US" sz="1900">
                <a:solidFill>
                  <a:srgbClr val="212529"/>
                </a:solidFill>
                <a:highlight>
                  <a:srgbClr val="FFFFFF"/>
                </a:highlight>
                <a:latin typeface="Archivo"/>
                <a:ea typeface="Archivo"/>
                <a:cs typeface="Archivo"/>
                <a:sym typeface="Archivo"/>
              </a:rPr>
              <a:t> hanya berisi event yang memicu rule dengan prioritas yang cukup tinggi (ambang batas ini dapat dikonfigurasi).</a:t>
            </a:r>
            <a:endParaRPr sz="1900">
              <a:solidFill>
                <a:srgbClr val="212529"/>
              </a:solidFill>
              <a:highlight>
                <a:srgbClr val="FFFFFF"/>
              </a:highlight>
              <a:latin typeface="Archivo"/>
              <a:ea typeface="Archivo"/>
              <a:cs typeface="Archivo"/>
              <a:sym typeface="Archivo"/>
            </a:endParaRPr>
          </a:p>
          <a:p>
            <a:pPr indent="0" lvl="0" marL="457200" rtl="0" algn="l">
              <a:lnSpc>
                <a:spcPct val="80000"/>
              </a:lnSpc>
              <a:spcBef>
                <a:spcPts val="0"/>
              </a:spcBef>
              <a:spcAft>
                <a:spcPts val="0"/>
              </a:spcAft>
              <a:buNone/>
            </a:pPr>
            <a:r>
              <a:t/>
            </a:r>
            <a:endParaRPr sz="1900">
              <a:solidFill>
                <a:srgbClr val="212529"/>
              </a:solidFill>
              <a:highlight>
                <a:srgbClr val="FFFFFF"/>
              </a:highlight>
              <a:latin typeface="Archivo"/>
              <a:ea typeface="Archivo"/>
              <a:cs typeface="Archivo"/>
              <a:sym typeface="Archivo"/>
            </a:endParaRPr>
          </a:p>
        </p:txBody>
      </p:sp>
    </p:spTree>
  </p:cSld>
  <p:clrMapOvr>
    <a:masterClrMapping/>
  </p:clrMapOvr>
  <p:transition spd="slow">
    <p:fade thruBlk="1"/>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47"/>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Secure Communication Server - Indexer</a:t>
            </a:r>
            <a:endParaRPr b="1" i="0" sz="3600" u="none" cap="none" strike="noStrike">
              <a:solidFill>
                <a:srgbClr val="6D9EEB"/>
              </a:solidFill>
              <a:latin typeface="Poppins"/>
              <a:ea typeface="Poppins"/>
              <a:cs typeface="Poppins"/>
              <a:sym typeface="Poppins"/>
            </a:endParaRPr>
          </a:p>
        </p:txBody>
      </p:sp>
      <p:cxnSp>
        <p:nvCxnSpPr>
          <p:cNvPr id="599" name="Google Shape;599;p4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600" name="Google Shape;600;p47"/>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601" name="Google Shape;601;p47"/>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602" name="Google Shape;602;p4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603" name="Google Shape;603;p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604" name="Google Shape;604;p4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605" name="Google Shape;605;p47"/>
          <p:cNvSpPr/>
          <p:nvPr/>
        </p:nvSpPr>
        <p:spPr>
          <a:xfrm>
            <a:off x="1980500" y="2254425"/>
            <a:ext cx="1587300" cy="69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Archivo"/>
                <a:ea typeface="Archivo"/>
                <a:cs typeface="Archivo"/>
                <a:sym typeface="Archivo"/>
              </a:rPr>
              <a:t>Wazuh Indexer</a:t>
            </a:r>
            <a:endParaRPr>
              <a:latin typeface="Archivo"/>
              <a:ea typeface="Archivo"/>
              <a:cs typeface="Archivo"/>
              <a:sym typeface="Archivo"/>
            </a:endParaRPr>
          </a:p>
        </p:txBody>
      </p:sp>
      <p:sp>
        <p:nvSpPr>
          <p:cNvPr id="606" name="Google Shape;606;p47"/>
          <p:cNvSpPr/>
          <p:nvPr/>
        </p:nvSpPr>
        <p:spPr>
          <a:xfrm>
            <a:off x="4952300" y="2254425"/>
            <a:ext cx="1587300" cy="69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Archivo"/>
                <a:ea typeface="Archivo"/>
                <a:cs typeface="Archivo"/>
                <a:sym typeface="Archivo"/>
              </a:rPr>
              <a:t>Wazuh RESTful API </a:t>
            </a:r>
            <a:endParaRPr>
              <a:latin typeface="Archivo"/>
              <a:ea typeface="Archivo"/>
              <a:cs typeface="Archivo"/>
              <a:sym typeface="Archivo"/>
            </a:endParaRPr>
          </a:p>
        </p:txBody>
      </p:sp>
      <p:sp>
        <p:nvSpPr>
          <p:cNvPr id="607" name="Google Shape;607;p47"/>
          <p:cNvSpPr/>
          <p:nvPr/>
        </p:nvSpPr>
        <p:spPr>
          <a:xfrm>
            <a:off x="8099000" y="2254425"/>
            <a:ext cx="1587300" cy="69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Archivo"/>
                <a:ea typeface="Archivo"/>
                <a:cs typeface="Archivo"/>
                <a:sym typeface="Archivo"/>
              </a:rPr>
              <a:t>Wazuh Dashboard</a:t>
            </a:r>
            <a:endParaRPr>
              <a:latin typeface="Archivo"/>
              <a:ea typeface="Archivo"/>
              <a:cs typeface="Archivo"/>
              <a:sym typeface="Archivo"/>
            </a:endParaRPr>
          </a:p>
        </p:txBody>
      </p:sp>
      <p:cxnSp>
        <p:nvCxnSpPr>
          <p:cNvPr id="608" name="Google Shape;608;p47"/>
          <p:cNvCxnSpPr>
            <a:endCxn id="606" idx="1"/>
          </p:cNvCxnSpPr>
          <p:nvPr/>
        </p:nvCxnSpPr>
        <p:spPr>
          <a:xfrm>
            <a:off x="3567800" y="2602125"/>
            <a:ext cx="1384500" cy="0"/>
          </a:xfrm>
          <a:prstGeom prst="straightConnector1">
            <a:avLst/>
          </a:prstGeom>
          <a:noFill/>
          <a:ln cap="flat" cmpd="sng" w="28575">
            <a:solidFill>
              <a:schemeClr val="dk2"/>
            </a:solidFill>
            <a:prstDash val="solid"/>
            <a:round/>
            <a:headEnd len="med" w="med" type="none"/>
            <a:tailEnd len="med" w="med" type="triangle"/>
          </a:ln>
        </p:spPr>
      </p:cxnSp>
      <p:cxnSp>
        <p:nvCxnSpPr>
          <p:cNvPr id="609" name="Google Shape;609;p47"/>
          <p:cNvCxnSpPr>
            <a:stCxn id="606" idx="3"/>
            <a:endCxn id="610" idx="1"/>
          </p:cNvCxnSpPr>
          <p:nvPr/>
        </p:nvCxnSpPr>
        <p:spPr>
          <a:xfrm>
            <a:off x="6539600" y="2602125"/>
            <a:ext cx="1559400" cy="0"/>
          </a:xfrm>
          <a:prstGeom prst="straightConnector1">
            <a:avLst/>
          </a:prstGeom>
          <a:noFill/>
          <a:ln cap="flat" cmpd="sng" w="38100">
            <a:solidFill>
              <a:schemeClr val="dk2"/>
            </a:solidFill>
            <a:prstDash val="solid"/>
            <a:round/>
            <a:headEnd len="med" w="med" type="none"/>
            <a:tailEnd len="med" w="med" type="stealth"/>
          </a:ln>
        </p:spPr>
      </p:cxnSp>
      <p:sp>
        <p:nvSpPr>
          <p:cNvPr id="611" name="Google Shape;611;p47"/>
          <p:cNvSpPr txBox="1"/>
          <p:nvPr/>
        </p:nvSpPr>
        <p:spPr>
          <a:xfrm>
            <a:off x="1000925" y="3537975"/>
            <a:ext cx="9972000" cy="2511000"/>
          </a:xfrm>
          <a:prstGeom prst="rect">
            <a:avLst/>
          </a:prstGeom>
          <a:noFill/>
          <a:ln>
            <a:noFill/>
          </a:ln>
        </p:spPr>
        <p:txBody>
          <a:bodyPr anchorCtr="0" anchor="t" bIns="45700" lIns="91425" spcFirstLastPara="1" rIns="91425" wrap="square" tIns="45700">
            <a:no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Wazuh Indexer (port 9200/TCP): Setelah data diindeks, kamu dapat menganalisis dan memvisualisasikannya melalui Wazuh Dashboard.</a:t>
            </a:r>
            <a:endParaRPr sz="1900">
              <a:solidFill>
                <a:srgbClr val="212529"/>
              </a:solidFill>
              <a:highlight>
                <a:srgbClr val="FFFFFF"/>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rgbClr val="FFFFFF"/>
                </a:highlight>
                <a:latin typeface="Archivo"/>
                <a:ea typeface="Archivo"/>
                <a:cs typeface="Archivo"/>
                <a:sym typeface="Archivo"/>
              </a:rPr>
              <a:t>Wazuh Dashboard melakukan query ke Wazuh RESTful API (secara default mendengarkan pada port 55000/TCP di server Wazuh) untuk menampilkan informasi terkait konfigurasi dan status dari server dan agen Wazuh.</a:t>
            </a:r>
            <a:endParaRPr sz="1900">
              <a:solidFill>
                <a:srgbClr val="212529"/>
              </a:solidFill>
              <a:highlight>
                <a:srgbClr val="FFFFFF"/>
              </a:highlight>
              <a:latin typeface="Archivo"/>
              <a:ea typeface="Archivo"/>
              <a:cs typeface="Archivo"/>
              <a:sym typeface="Archivo"/>
            </a:endParaRPr>
          </a:p>
          <a:p>
            <a:pPr indent="0" lvl="0" marL="0" rtl="0" algn="l">
              <a:lnSpc>
                <a:spcPct val="80000"/>
              </a:lnSpc>
              <a:spcBef>
                <a:spcPts val="0"/>
              </a:spcBef>
              <a:spcAft>
                <a:spcPts val="0"/>
              </a:spcAft>
              <a:buNone/>
            </a:pPr>
            <a:r>
              <a:t/>
            </a:r>
            <a:endParaRPr sz="1900">
              <a:solidFill>
                <a:srgbClr val="212529"/>
              </a:solidFill>
              <a:highlight>
                <a:srgbClr val="FFFFFF"/>
              </a:highlight>
              <a:latin typeface="Archivo"/>
              <a:ea typeface="Archivo"/>
              <a:cs typeface="Archivo"/>
              <a:sym typeface="Archivo"/>
            </a:endParaRPr>
          </a:p>
        </p:txBody>
      </p:sp>
    </p:spTree>
  </p:cSld>
  <p:clrMapOvr>
    <a:masterClrMapping/>
  </p:clrMapOvr>
  <p:transition spd="slow">
    <p:fade thruBlk="1"/>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48"/>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Secure Communication </a:t>
            </a:r>
            <a:endParaRPr b="1" i="0" sz="3600" u="none" cap="none" strike="noStrike">
              <a:solidFill>
                <a:srgbClr val="6D9EEB"/>
              </a:solidFill>
              <a:latin typeface="Poppins"/>
              <a:ea typeface="Poppins"/>
              <a:cs typeface="Poppins"/>
              <a:sym typeface="Poppins"/>
            </a:endParaRPr>
          </a:p>
        </p:txBody>
      </p:sp>
      <p:cxnSp>
        <p:nvCxnSpPr>
          <p:cNvPr id="617" name="Google Shape;617;p4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618" name="Google Shape;618;p48"/>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619" name="Google Shape;619;p48"/>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620" name="Google Shape;620;p4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621" name="Google Shape;621;p4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622" name="Google Shape;622;p4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623" name="Google Shape;623;p48"/>
          <p:cNvPicPr preferRelativeResize="0"/>
          <p:nvPr/>
        </p:nvPicPr>
        <p:blipFill>
          <a:blip r:embed="rId5">
            <a:alphaModFix/>
          </a:blip>
          <a:stretch>
            <a:fillRect/>
          </a:stretch>
        </p:blipFill>
        <p:spPr>
          <a:xfrm>
            <a:off x="936500" y="1451100"/>
            <a:ext cx="9997703" cy="4488601"/>
          </a:xfrm>
          <a:prstGeom prst="rect">
            <a:avLst/>
          </a:prstGeom>
          <a:noFill/>
          <a:ln>
            <a:noFill/>
          </a:ln>
          <a:effectLst>
            <a:outerShdw blurRad="57150" rotWithShape="0" algn="bl" dir="5400000" dist="19050">
              <a:srgbClr val="000000">
                <a:alpha val="50000"/>
              </a:srgbClr>
            </a:outerShdw>
          </a:effectLst>
        </p:spPr>
      </p:pic>
    </p:spTree>
  </p:cSld>
  <p:clrMapOvr>
    <a:masterClrMapping/>
  </p:clrMapOvr>
  <p:transition spd="slow">
    <p:fade thruBlk="1"/>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49"/>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Required Port for Wazuh</a:t>
            </a:r>
            <a:endParaRPr b="1" i="0" sz="3600" u="none" cap="none" strike="noStrike">
              <a:solidFill>
                <a:srgbClr val="6D9EEB"/>
              </a:solidFill>
              <a:latin typeface="Poppins"/>
              <a:ea typeface="Poppins"/>
              <a:cs typeface="Poppins"/>
              <a:sym typeface="Poppins"/>
            </a:endParaRPr>
          </a:p>
        </p:txBody>
      </p:sp>
      <p:cxnSp>
        <p:nvCxnSpPr>
          <p:cNvPr id="629" name="Google Shape;629;p4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630" name="Google Shape;630;p49"/>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631" name="Google Shape;631;p49"/>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632" name="Google Shape;632;p4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633" name="Google Shape;633;p4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634" name="Google Shape;634;p4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635" name="Google Shape;635;p49"/>
          <p:cNvPicPr preferRelativeResize="0"/>
          <p:nvPr/>
        </p:nvPicPr>
        <p:blipFill>
          <a:blip r:embed="rId5">
            <a:alphaModFix/>
          </a:blip>
          <a:stretch>
            <a:fillRect/>
          </a:stretch>
        </p:blipFill>
        <p:spPr>
          <a:xfrm>
            <a:off x="5815275" y="1543861"/>
            <a:ext cx="5349180" cy="4207849"/>
          </a:xfrm>
          <a:prstGeom prst="rect">
            <a:avLst/>
          </a:prstGeom>
          <a:noFill/>
          <a:ln>
            <a:noFill/>
          </a:ln>
        </p:spPr>
      </p:pic>
      <p:sp>
        <p:nvSpPr>
          <p:cNvPr id="636" name="Google Shape;636;p49"/>
          <p:cNvSpPr txBox="1"/>
          <p:nvPr/>
        </p:nvSpPr>
        <p:spPr>
          <a:xfrm>
            <a:off x="455575" y="2312150"/>
            <a:ext cx="4776600" cy="193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latin typeface="Archivo"/>
                <a:ea typeface="Archivo"/>
                <a:cs typeface="Archivo"/>
                <a:sym typeface="Archivo"/>
              </a:rPr>
              <a:t>Beberapa layanan digunakan untuk komunikasi antar komponen Wazuh. Di Pinggir ini adalah daftar port default yang digunakan oleh layanan-layanan tersebut. Pengguna dapat mengubah nomor port ini jika diperlukan.</a:t>
            </a:r>
            <a:endParaRPr sz="1900">
              <a:latin typeface="Archivo"/>
              <a:ea typeface="Archivo"/>
              <a:cs typeface="Archivo"/>
              <a:sym typeface="Archivo"/>
            </a:endParaRPr>
          </a:p>
        </p:txBody>
      </p:sp>
    </p:spTree>
  </p:cSld>
  <p:clrMapOvr>
    <a:masterClrMapping/>
  </p:clrMapOvr>
  <p:transition spd="slow">
    <p:fade thruBlk="1"/>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50"/>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Summary</a:t>
            </a:r>
            <a:endParaRPr b="1" i="0" sz="3600" u="none" cap="none" strike="noStrike">
              <a:solidFill>
                <a:srgbClr val="6D9EEB"/>
              </a:solidFill>
              <a:latin typeface="Poppins"/>
              <a:ea typeface="Poppins"/>
              <a:cs typeface="Poppins"/>
              <a:sym typeface="Poppins"/>
            </a:endParaRPr>
          </a:p>
        </p:txBody>
      </p:sp>
      <p:cxnSp>
        <p:nvCxnSpPr>
          <p:cNvPr id="642" name="Google Shape;642;p5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643" name="Google Shape;643;p5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644" name="Google Shape;644;p5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645" name="Google Shape;645;p5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646" name="Google Shape;646;p5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647" name="Google Shape;647;p5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648" name="Google Shape;648;p5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649" name="Google Shape;649;p50"/>
          <p:cNvSpPr txBox="1"/>
          <p:nvPr/>
        </p:nvSpPr>
        <p:spPr>
          <a:xfrm>
            <a:off x="800600" y="2065150"/>
            <a:ext cx="5673000" cy="2859300"/>
          </a:xfrm>
          <a:prstGeom prst="rect">
            <a:avLst/>
          </a:prstGeom>
          <a:noFill/>
          <a:ln>
            <a:noFill/>
          </a:ln>
        </p:spPr>
        <p:txBody>
          <a:bodyPr anchorCtr="0" anchor="t" bIns="45700" lIns="91425" spcFirstLastPara="1" rIns="91425" wrap="square" tIns="45700">
            <a:noAutofit/>
          </a:bodyPr>
          <a:lstStyle/>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Pada </a:t>
            </a:r>
            <a:r>
              <a:rPr lang="en-US" sz="1982">
                <a:solidFill>
                  <a:schemeClr val="dk1"/>
                </a:solidFill>
                <a:latin typeface="Archivo Medium"/>
                <a:ea typeface="Archivo Medium"/>
                <a:cs typeface="Archivo Medium"/>
                <a:sym typeface="Archivo Medium"/>
              </a:rPr>
              <a:t>Component Dalam</a:t>
            </a:r>
            <a:r>
              <a:rPr lang="en-US" sz="1982">
                <a:solidFill>
                  <a:schemeClr val="dk1"/>
                </a:solidFill>
                <a:latin typeface="Archivo Medium"/>
                <a:ea typeface="Archivo Medium"/>
                <a:cs typeface="Archivo Medium"/>
                <a:sym typeface="Archivo Medium"/>
              </a:rPr>
              <a:t> Wazuh, Agent dan Agentless Perbedaanya pada cara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Filebeat ada di antara ? dan perbedaanya apa dengan agent.</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53" name="Shape 653"/>
        <p:cNvGrpSpPr/>
        <p:nvPr/>
      </p:nvGrpSpPr>
      <p:grpSpPr>
        <a:xfrm>
          <a:off x="0" y="0"/>
          <a:ext cx="0" cy="0"/>
          <a:chOff x="0" y="0"/>
          <a:chExt cx="0" cy="0"/>
        </a:xfrm>
      </p:grpSpPr>
      <p:pic>
        <p:nvPicPr>
          <p:cNvPr descr="A picture containing food, drawing, shirt&#10;&#10;Description automatically generated" id="654" name="Google Shape;654;p5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655" name="Google Shape;655;p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56" name="Google Shape;656;p5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657" name="Google Shape;657;p51"/>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658" name="Google Shape;658;p5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659" name="Google Shape;659;p51"/>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660" name="Google Shape;660;p51"/>
          <p:cNvSpPr txBox="1"/>
          <p:nvPr/>
        </p:nvSpPr>
        <p:spPr>
          <a:xfrm>
            <a:off x="1357489" y="3803851"/>
            <a:ext cx="9477000" cy="156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Deployment and Agent Registration Methods</a:t>
            </a:r>
            <a:endParaRPr sz="4800">
              <a:solidFill>
                <a:schemeClr val="lt1"/>
              </a:solidFill>
              <a:highlight>
                <a:srgbClr val="3585F9"/>
              </a:highlight>
              <a:latin typeface="Poppins"/>
              <a:ea typeface="Poppins"/>
              <a:cs typeface="Poppins"/>
              <a:sym typeface="Poppins"/>
            </a:endParaRPr>
          </a:p>
        </p:txBody>
      </p:sp>
      <p:pic>
        <p:nvPicPr>
          <p:cNvPr id="661" name="Google Shape;661;p51"/>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52"/>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Konsep Dasar Agent Wazuh</a:t>
            </a:r>
            <a:endParaRPr b="1" i="0" sz="3600" u="none" cap="none" strike="noStrike">
              <a:solidFill>
                <a:srgbClr val="6D9EEB"/>
              </a:solidFill>
              <a:latin typeface="Poppins"/>
              <a:ea typeface="Poppins"/>
              <a:cs typeface="Poppins"/>
              <a:sym typeface="Poppins"/>
            </a:endParaRPr>
          </a:p>
        </p:txBody>
      </p:sp>
      <p:cxnSp>
        <p:nvCxnSpPr>
          <p:cNvPr id="667" name="Google Shape;667;p5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668" name="Google Shape;668;p52"/>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669" name="Google Shape;669;p52"/>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670" name="Google Shape;670;p5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671" name="Google Shape;671;p5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672" name="Google Shape;672;p5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673" name="Google Shape;673;p52"/>
          <p:cNvSpPr txBox="1"/>
          <p:nvPr/>
        </p:nvSpPr>
        <p:spPr>
          <a:xfrm>
            <a:off x="866825" y="2476500"/>
            <a:ext cx="4960800" cy="1354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Client - Server Model </a:t>
            </a:r>
            <a:endParaRPr sz="1900">
              <a:solidFill>
                <a:srgbClr val="212529"/>
              </a:solidFill>
              <a:highlight>
                <a:schemeClr val="lt1"/>
              </a:highlight>
              <a:latin typeface="Archivo"/>
              <a:ea typeface="Archivo"/>
              <a:cs typeface="Archivo"/>
              <a:sym typeface="Archivo"/>
            </a:endParaRPr>
          </a:p>
          <a:p>
            <a:pPr indent="-349250" lvl="1" marL="13716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Agent Mengumpulkan Log dan dikirimkan melalui port 1514</a:t>
            </a:r>
            <a:endParaRPr sz="1900">
              <a:solidFill>
                <a:srgbClr val="212529"/>
              </a:solidFill>
              <a:highlight>
                <a:schemeClr val="lt1"/>
              </a:highlight>
              <a:latin typeface="Archivo"/>
              <a:ea typeface="Archivo"/>
              <a:cs typeface="Archivo"/>
              <a:sym typeface="Archivo"/>
            </a:endParaRPr>
          </a:p>
          <a:p>
            <a:pPr indent="-349250" lvl="1" marL="13716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Manager Bertugas Menerima, Menganalisa, Mengelola data </a:t>
            </a:r>
            <a:endParaRPr sz="1900">
              <a:solidFill>
                <a:srgbClr val="212529"/>
              </a:solidFill>
              <a:highlight>
                <a:schemeClr val="lt1"/>
              </a:highlight>
              <a:latin typeface="Archivo"/>
              <a:ea typeface="Archivo"/>
              <a:cs typeface="Archivo"/>
              <a:sym typeface="Archivo"/>
            </a:endParaRPr>
          </a:p>
        </p:txBody>
      </p:sp>
      <p:pic>
        <p:nvPicPr>
          <p:cNvPr id="674" name="Google Shape;674;p52"/>
          <p:cNvPicPr preferRelativeResize="0"/>
          <p:nvPr/>
        </p:nvPicPr>
        <p:blipFill>
          <a:blip r:embed="rId5">
            <a:alphaModFix/>
          </a:blip>
          <a:stretch>
            <a:fillRect/>
          </a:stretch>
        </p:blipFill>
        <p:spPr>
          <a:xfrm>
            <a:off x="7436178" y="1801676"/>
            <a:ext cx="3973424" cy="2556224"/>
          </a:xfrm>
          <a:prstGeom prst="rect">
            <a:avLst/>
          </a:prstGeom>
          <a:noFill/>
          <a:ln>
            <a:noFill/>
          </a:ln>
          <a:effectLst>
            <a:outerShdw blurRad="57150" rotWithShape="0" algn="bl" dir="5400000" dist="19050">
              <a:srgbClr val="000000">
                <a:alpha val="50000"/>
              </a:srgbClr>
            </a:outerShdw>
          </a:effectLst>
        </p:spPr>
      </p:pic>
      <p:pic>
        <p:nvPicPr>
          <p:cNvPr id="675" name="Google Shape;675;p52"/>
          <p:cNvPicPr preferRelativeResize="0"/>
          <p:nvPr/>
        </p:nvPicPr>
        <p:blipFill>
          <a:blip r:embed="rId6">
            <a:alphaModFix/>
          </a:blip>
          <a:stretch>
            <a:fillRect/>
          </a:stretch>
        </p:blipFill>
        <p:spPr>
          <a:xfrm>
            <a:off x="9807550" y="3284750"/>
            <a:ext cx="2668325" cy="2279650"/>
          </a:xfrm>
          <a:prstGeom prst="rect">
            <a:avLst/>
          </a:prstGeom>
          <a:noFill/>
          <a:ln>
            <a:noFill/>
          </a:ln>
        </p:spPr>
      </p:pic>
    </p:spTree>
  </p:cSld>
  <p:clrMapOvr>
    <a:masterClrMapping/>
  </p:clrMapOvr>
  <p:transition spd="slow">
    <p:fade thruBlk="1"/>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53"/>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Fungsi Wazuh Agent ( OSSEC )</a:t>
            </a:r>
            <a:endParaRPr b="1" i="0" sz="3600" u="none" cap="none" strike="noStrike">
              <a:solidFill>
                <a:srgbClr val="6D9EEB"/>
              </a:solidFill>
              <a:latin typeface="Poppins"/>
              <a:ea typeface="Poppins"/>
              <a:cs typeface="Poppins"/>
              <a:sym typeface="Poppins"/>
            </a:endParaRPr>
          </a:p>
        </p:txBody>
      </p:sp>
      <p:cxnSp>
        <p:nvCxnSpPr>
          <p:cNvPr id="681" name="Google Shape;681;p5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682" name="Google Shape;682;p53"/>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683" name="Google Shape;683;p53"/>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684" name="Google Shape;684;p5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685" name="Google Shape;685;p5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686" name="Google Shape;686;p5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graphicFrame>
        <p:nvGraphicFramePr>
          <p:cNvPr id="687" name="Google Shape;687;p53"/>
          <p:cNvGraphicFramePr/>
          <p:nvPr/>
        </p:nvGraphicFramePr>
        <p:xfrm>
          <a:off x="4108650" y="1377150"/>
          <a:ext cx="3000000" cy="3000000"/>
        </p:xfrm>
        <a:graphic>
          <a:graphicData uri="http://schemas.openxmlformats.org/drawingml/2006/table">
            <a:tbl>
              <a:tblPr>
                <a:noFill/>
                <a:tableStyleId>{46616233-9F48-4773-A8E8-B958FCE2834E}</a:tableStyleId>
              </a:tblPr>
              <a:tblGrid>
                <a:gridCol w="2095500"/>
                <a:gridCol w="6296025"/>
              </a:tblGrid>
              <a:tr h="100000">
                <a:tc>
                  <a:txBody>
                    <a:bodyPr/>
                    <a:lstStyle/>
                    <a:p>
                      <a:pPr indent="0" lvl="0" marL="0" rtl="0" algn="ctr">
                        <a:lnSpc>
                          <a:spcPct val="115000"/>
                        </a:lnSpc>
                        <a:spcBef>
                          <a:spcPts val="0"/>
                        </a:spcBef>
                        <a:spcAft>
                          <a:spcPts val="0"/>
                        </a:spcAft>
                        <a:buNone/>
                      </a:pPr>
                      <a:r>
                        <a:rPr b="1" lang="en-US" sz="1100"/>
                        <a:t>Fitur</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Deskripsi</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US" sz="1100"/>
                        <a:t>File Integrity Monitoring (FIM)</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100"/>
                        <a:t>Memantau perubahan file kritis (misalnya </a:t>
                      </a:r>
                      <a:r>
                        <a:rPr lang="en-US" sz="1100">
                          <a:solidFill>
                            <a:srgbClr val="D61F64"/>
                          </a:solidFill>
                          <a:latin typeface="Roboto Mono"/>
                          <a:ea typeface="Roboto Mono"/>
                          <a:cs typeface="Roboto Mono"/>
                          <a:sym typeface="Roboto Mono"/>
                        </a:rPr>
                        <a:t>/etc/passwd</a:t>
                      </a:r>
                      <a:r>
                        <a:rPr lang="en-US" sz="1100"/>
                        <a:t>, registry Windows).</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US" sz="1100"/>
                        <a:t>Log Collection &amp; Forwarding</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Mengambil log dari sistem (syslog, event viewer) dan mengirimkannya ke Manager.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US" sz="1100"/>
                        <a:t>Process &amp; Service Monitoring</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Memantau proses berjalan, services, dan anomali.</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US" sz="1100"/>
                        <a:t>Rootkit Detection</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Mendeteksi aktivitas mencurigakan atau rootkit di sistem.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US" sz="1100"/>
                        <a:t>Active Response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Menjalankan tindakan otomatis (misalnya blokir IP) saat ancaman terdeteksi.</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US" sz="1100"/>
                        <a:t>Windows Registry Monitoring</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(untuk Windows) Memantau perubahan pada key registry tertentu.</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US" sz="1100"/>
                        <a:t>Configuration Assessment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Audit konfigurasi sistem terhadap kebijakan keamanan (CIS benchmark, dsb).</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US" sz="1100"/>
                        <a:t>Vulnerability Detection</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Mendeteksi kerentanan software yang terpasang menggunakan integrasi Wazuh Vulnerability Detector.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688" name="Google Shape;688;p53"/>
          <p:cNvSpPr txBox="1"/>
          <p:nvPr/>
        </p:nvSpPr>
        <p:spPr>
          <a:xfrm>
            <a:off x="603100" y="1815450"/>
            <a:ext cx="3094800" cy="1588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highlight>
                  <a:schemeClr val="lt1"/>
                </a:highlight>
                <a:latin typeface="Archivo"/>
                <a:ea typeface="Archivo"/>
                <a:cs typeface="Archivo"/>
                <a:sym typeface="Archivo"/>
              </a:rPr>
              <a:t>Fungsi Utama agent wazuh adalah mengirimakan log, tapi ada beberapa hal yang bisa membantu kita melakukan analisa akibat dari agent tersebut</a:t>
            </a:r>
            <a:endParaRPr sz="1900">
              <a:solidFill>
                <a:srgbClr val="212529"/>
              </a:solidFill>
              <a:highlight>
                <a:schemeClr val="lt1"/>
              </a:highlight>
              <a:latin typeface="Archivo"/>
              <a:ea typeface="Archivo"/>
              <a:cs typeface="Archivo"/>
              <a:sym typeface="Archivo"/>
            </a:endParaRPr>
          </a:p>
        </p:txBody>
      </p:sp>
    </p:spTree>
  </p:cSld>
  <p:clrMapOvr>
    <a:masterClrMapping/>
  </p:clrMapOvr>
  <p:transition spd="slow">
    <p:fade thruBlk="1"/>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54"/>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Requirements Hardware </a:t>
            </a:r>
            <a:endParaRPr b="1" i="0" sz="3600" u="none" cap="none" strike="noStrike">
              <a:solidFill>
                <a:srgbClr val="6D9EEB"/>
              </a:solidFill>
              <a:latin typeface="Poppins"/>
              <a:ea typeface="Poppins"/>
              <a:cs typeface="Poppins"/>
              <a:sym typeface="Poppins"/>
            </a:endParaRPr>
          </a:p>
        </p:txBody>
      </p:sp>
      <p:cxnSp>
        <p:nvCxnSpPr>
          <p:cNvPr id="694" name="Google Shape;694;p5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695" name="Google Shape;695;p54"/>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696" name="Google Shape;696;p54"/>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697" name="Google Shape;697;p5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698" name="Google Shape;698;p5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699" name="Google Shape;699;p5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700" name="Google Shape;700;p54"/>
          <p:cNvSpPr txBox="1"/>
          <p:nvPr/>
        </p:nvSpPr>
        <p:spPr>
          <a:xfrm>
            <a:off x="1018150" y="1631600"/>
            <a:ext cx="9954600" cy="8136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20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Kebutuhan perangkat keras sangat bergantung pada jumlah endpoint yang dilindungi dan beban kerja cloud. </a:t>
            </a:r>
            <a:endParaRPr sz="1900">
              <a:solidFill>
                <a:srgbClr val="212529"/>
              </a:solidFill>
              <a:highlight>
                <a:schemeClr val="lt1"/>
              </a:highlight>
              <a:latin typeface="Archivo"/>
              <a:ea typeface="Archivo"/>
              <a:cs typeface="Archivo"/>
              <a:sym typeface="Archivo"/>
            </a:endParaRPr>
          </a:p>
        </p:txBody>
      </p:sp>
      <p:graphicFrame>
        <p:nvGraphicFramePr>
          <p:cNvPr id="701" name="Google Shape;701;p54"/>
          <p:cNvGraphicFramePr/>
          <p:nvPr/>
        </p:nvGraphicFramePr>
        <p:xfrm>
          <a:off x="1018150" y="2656025"/>
          <a:ext cx="3000000" cy="3000000"/>
        </p:xfrm>
        <a:graphic>
          <a:graphicData uri="http://schemas.openxmlformats.org/drawingml/2006/table">
            <a:tbl>
              <a:tblPr>
                <a:noFill/>
                <a:tableStyleId>{5E9E9AE0-E05B-434B-992F-78115EA43AB1}</a:tableStyleId>
              </a:tblPr>
              <a:tblGrid>
                <a:gridCol w="2488650"/>
                <a:gridCol w="2488650"/>
                <a:gridCol w="2488650"/>
                <a:gridCol w="2488650"/>
              </a:tblGrid>
              <a:tr h="440075">
                <a:tc>
                  <a:txBody>
                    <a:bodyPr/>
                    <a:lstStyle/>
                    <a:p>
                      <a:pPr indent="0" lvl="0" marL="0" rtl="0" algn="ctr">
                        <a:spcBef>
                          <a:spcPts val="0"/>
                        </a:spcBef>
                        <a:spcAft>
                          <a:spcPts val="0"/>
                        </a:spcAft>
                        <a:buNone/>
                      </a:pPr>
                      <a:r>
                        <a:rPr lang="en-US"/>
                        <a:t>Agent</a:t>
                      </a:r>
                      <a:endParaRPr/>
                    </a:p>
                  </a:txBody>
                  <a:tcPr marT="91425" marB="91425" marR="91425" marL="91425">
                    <a:solidFill>
                      <a:schemeClr val="accent1"/>
                    </a:solidFill>
                  </a:tcPr>
                </a:tc>
                <a:tc>
                  <a:txBody>
                    <a:bodyPr/>
                    <a:lstStyle/>
                    <a:p>
                      <a:pPr indent="0" lvl="0" marL="0" rtl="0" algn="ctr">
                        <a:spcBef>
                          <a:spcPts val="0"/>
                        </a:spcBef>
                        <a:spcAft>
                          <a:spcPts val="0"/>
                        </a:spcAft>
                        <a:buNone/>
                      </a:pPr>
                      <a:r>
                        <a:rPr lang="en-US"/>
                        <a:t>CPU</a:t>
                      </a:r>
                      <a:endParaRPr/>
                    </a:p>
                  </a:txBody>
                  <a:tcPr marT="91425" marB="91425" marR="91425" marL="91425">
                    <a:solidFill>
                      <a:schemeClr val="accent1"/>
                    </a:solidFill>
                  </a:tcPr>
                </a:tc>
                <a:tc>
                  <a:txBody>
                    <a:bodyPr/>
                    <a:lstStyle/>
                    <a:p>
                      <a:pPr indent="0" lvl="0" marL="0" rtl="0" algn="ctr">
                        <a:spcBef>
                          <a:spcPts val="0"/>
                        </a:spcBef>
                        <a:spcAft>
                          <a:spcPts val="0"/>
                        </a:spcAft>
                        <a:buNone/>
                      </a:pPr>
                      <a:r>
                        <a:rPr lang="en-US"/>
                        <a:t>RAM</a:t>
                      </a:r>
                      <a:endParaRPr/>
                    </a:p>
                  </a:txBody>
                  <a:tcPr marT="91425" marB="91425" marR="91425" marL="91425">
                    <a:solidFill>
                      <a:schemeClr val="accent1"/>
                    </a:solidFill>
                  </a:tcPr>
                </a:tc>
                <a:tc>
                  <a:txBody>
                    <a:bodyPr/>
                    <a:lstStyle/>
                    <a:p>
                      <a:pPr indent="0" lvl="0" marL="0" rtl="0" algn="ctr">
                        <a:spcBef>
                          <a:spcPts val="0"/>
                        </a:spcBef>
                        <a:spcAft>
                          <a:spcPts val="0"/>
                        </a:spcAft>
                        <a:buNone/>
                      </a:pPr>
                      <a:r>
                        <a:rPr lang="en-US"/>
                        <a:t>STORAGE ( 90 Days ) </a:t>
                      </a:r>
                      <a:endParaRPr/>
                    </a:p>
                  </a:txBody>
                  <a:tcPr marT="91425" marB="91425" marR="91425" marL="91425">
                    <a:solidFill>
                      <a:schemeClr val="accent1"/>
                    </a:solidFill>
                  </a:tcPr>
                </a:tc>
              </a:tr>
              <a:tr h="381000">
                <a:tc>
                  <a:txBody>
                    <a:bodyPr/>
                    <a:lstStyle/>
                    <a:p>
                      <a:pPr indent="0" lvl="0" marL="0" rtl="0" algn="l">
                        <a:spcBef>
                          <a:spcPts val="0"/>
                        </a:spcBef>
                        <a:spcAft>
                          <a:spcPts val="0"/>
                        </a:spcAft>
                        <a:buNone/>
                      </a:pPr>
                      <a:r>
                        <a:rPr lang="en-US"/>
                        <a:t>1 - 25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4 vCPU</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8 GiB</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50 GB</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r>
              <a:tr h="381000">
                <a:tc>
                  <a:txBody>
                    <a:bodyPr/>
                    <a:lstStyle/>
                    <a:p>
                      <a:pPr indent="0" lvl="0" marL="0" rtl="0" algn="l">
                        <a:spcBef>
                          <a:spcPts val="0"/>
                        </a:spcBef>
                        <a:spcAft>
                          <a:spcPts val="0"/>
                        </a:spcAft>
                        <a:buNone/>
                      </a:pPr>
                      <a:r>
                        <a:rPr lang="en-US"/>
                        <a:t>25-50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8 vCPU</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8 GiB</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t>100 GB</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r>
              <a:tr h="381000">
                <a:tc>
                  <a:txBody>
                    <a:bodyPr/>
                    <a:lstStyle/>
                    <a:p>
                      <a:pPr indent="0" lvl="0" marL="0" rtl="0" algn="l">
                        <a:spcBef>
                          <a:spcPts val="0"/>
                        </a:spcBef>
                        <a:spcAft>
                          <a:spcPts val="0"/>
                        </a:spcAft>
                        <a:buNone/>
                      </a:pPr>
                      <a:r>
                        <a:rPr lang="en-US"/>
                        <a:t>50-100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8 vCPU</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8 GiB</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200 GB</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r>
            </a:tbl>
          </a:graphicData>
        </a:graphic>
      </p:graphicFrame>
      <p:sp>
        <p:nvSpPr>
          <p:cNvPr id="702" name="Google Shape;702;p54"/>
          <p:cNvSpPr txBox="1"/>
          <p:nvPr/>
        </p:nvSpPr>
        <p:spPr>
          <a:xfrm>
            <a:off x="1000925" y="4812475"/>
            <a:ext cx="9972000" cy="652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Ini biasanya sudah cukup untuk memantau hingga 100 endpoint dan menyimpan data peringatan yang dapat dicari/diindeks selama 90 hari.</a:t>
            </a:r>
            <a:endParaRPr sz="1900">
              <a:solidFill>
                <a:srgbClr val="212529"/>
              </a:solidFill>
              <a:highlight>
                <a:schemeClr val="lt1"/>
              </a:highlight>
              <a:latin typeface="Archivo"/>
              <a:ea typeface="Archivo"/>
              <a:cs typeface="Archivo"/>
              <a:sym typeface="Archivo"/>
            </a:endParaRPr>
          </a:p>
        </p:txBody>
      </p:sp>
    </p:spTree>
  </p:cSld>
  <p:clrMapOvr>
    <a:masterClrMapping/>
  </p:clrMapOvr>
  <p:transition spd="slow">
    <p:fade thruBlk="1"/>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55"/>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Operating System ( Recommends ) </a:t>
            </a:r>
            <a:endParaRPr b="1" i="0" sz="3600" u="none" cap="none" strike="noStrike">
              <a:solidFill>
                <a:srgbClr val="6D9EEB"/>
              </a:solidFill>
              <a:latin typeface="Poppins"/>
              <a:ea typeface="Poppins"/>
              <a:cs typeface="Poppins"/>
              <a:sym typeface="Poppins"/>
            </a:endParaRPr>
          </a:p>
        </p:txBody>
      </p:sp>
      <p:cxnSp>
        <p:nvCxnSpPr>
          <p:cNvPr id="708" name="Google Shape;708;p5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709" name="Google Shape;709;p55"/>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710" name="Google Shape;710;p55"/>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711" name="Google Shape;711;p5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712" name="Google Shape;712;p5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713" name="Google Shape;713;p5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714" name="Google Shape;714;p55"/>
          <p:cNvSpPr txBox="1"/>
          <p:nvPr/>
        </p:nvSpPr>
        <p:spPr>
          <a:xfrm>
            <a:off x="866825" y="2476500"/>
            <a:ext cx="4960800" cy="1120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Komponen pusat Wazuh dapat diinstal pada sistem operasi Linux 64-bit. Wazuh merekomendasikan salah satu dari versi sistem operasi berikut</a:t>
            </a:r>
            <a:endParaRPr sz="1900">
              <a:solidFill>
                <a:srgbClr val="212529"/>
              </a:solidFill>
              <a:highlight>
                <a:schemeClr val="lt1"/>
              </a:highlight>
              <a:latin typeface="Archivo"/>
              <a:ea typeface="Archivo"/>
              <a:cs typeface="Archivo"/>
              <a:sym typeface="Archivo"/>
            </a:endParaRPr>
          </a:p>
        </p:txBody>
      </p:sp>
      <p:graphicFrame>
        <p:nvGraphicFramePr>
          <p:cNvPr id="715" name="Google Shape;715;p55"/>
          <p:cNvGraphicFramePr/>
          <p:nvPr/>
        </p:nvGraphicFramePr>
        <p:xfrm>
          <a:off x="6724000" y="2416563"/>
          <a:ext cx="3000000" cy="3000000"/>
        </p:xfrm>
        <a:graphic>
          <a:graphicData uri="http://schemas.openxmlformats.org/drawingml/2006/table">
            <a:tbl>
              <a:tblPr>
                <a:noFill/>
                <a:tableStyleId>{5E9E9AE0-E05B-434B-992F-78115EA43AB1}</a:tableStyleId>
              </a:tblPr>
              <a:tblGrid>
                <a:gridCol w="4261575"/>
              </a:tblGrid>
              <a:tr h="440075">
                <a:tc>
                  <a:txBody>
                    <a:bodyPr/>
                    <a:lstStyle/>
                    <a:p>
                      <a:pPr indent="0" lvl="0" marL="0" rtl="0" algn="ctr">
                        <a:spcBef>
                          <a:spcPts val="0"/>
                        </a:spcBef>
                        <a:spcAft>
                          <a:spcPts val="0"/>
                        </a:spcAft>
                        <a:buNone/>
                      </a:pPr>
                      <a:r>
                        <a:rPr lang="en-US"/>
                        <a:t>Operating System</a:t>
                      </a:r>
                      <a:endParaRPr/>
                    </a:p>
                  </a:txBody>
                  <a:tcPr marT="91425" marB="91425" marR="91425" marL="91425">
                    <a:solidFill>
                      <a:schemeClr val="accent1"/>
                    </a:solidFill>
                  </a:tcPr>
                </a:tc>
              </a:tr>
              <a:tr h="381000">
                <a:tc>
                  <a:txBody>
                    <a:bodyPr/>
                    <a:lstStyle/>
                    <a:p>
                      <a:pPr indent="0" lvl="0" marL="0" rtl="0" algn="l">
                        <a:spcBef>
                          <a:spcPts val="0"/>
                        </a:spcBef>
                        <a:spcAft>
                          <a:spcPts val="0"/>
                        </a:spcAft>
                        <a:buNone/>
                      </a:pPr>
                      <a:r>
                        <a:rPr lang="en-US"/>
                        <a:t>Amazon Linux 2, Amazon Linux 2023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r>
              <a:tr h="381000">
                <a:tc>
                  <a:txBody>
                    <a:bodyPr/>
                    <a:lstStyle/>
                    <a:p>
                      <a:pPr indent="0" lvl="0" marL="0" rtl="0" algn="l">
                        <a:spcBef>
                          <a:spcPts val="0"/>
                        </a:spcBef>
                        <a:spcAft>
                          <a:spcPts val="0"/>
                        </a:spcAft>
                        <a:buNone/>
                      </a:pPr>
                      <a:r>
                        <a:rPr lang="en-US"/>
                        <a:t>Red Hat Enterprise Linux 7,8,9]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r>
              <a:tr h="381000">
                <a:tc>
                  <a:txBody>
                    <a:bodyPr/>
                    <a:lstStyle/>
                    <a:p>
                      <a:pPr indent="0" lvl="0" marL="0" rtl="0" algn="l">
                        <a:spcBef>
                          <a:spcPts val="0"/>
                        </a:spcBef>
                        <a:spcAft>
                          <a:spcPts val="0"/>
                        </a:spcAft>
                        <a:buNone/>
                      </a:pPr>
                      <a:r>
                        <a:rPr lang="en-US"/>
                        <a:t>CentOS 7,8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r>
              <a:tr h="381000">
                <a:tc>
                  <a:txBody>
                    <a:bodyPr/>
                    <a:lstStyle/>
                    <a:p>
                      <a:pPr indent="0" lvl="0" marL="0" rtl="0" algn="l">
                        <a:spcBef>
                          <a:spcPts val="0"/>
                        </a:spcBef>
                        <a:spcAft>
                          <a:spcPts val="0"/>
                        </a:spcAft>
                        <a:buNone/>
                      </a:pPr>
                      <a:r>
                        <a:rPr lang="en-US"/>
                        <a:t>Ubuntu 16.04,18.04,20.04,22.04,24.04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r>
            </a:tbl>
          </a:graphicData>
        </a:graphic>
      </p:graphicFrame>
    </p:spTree>
  </p:cSld>
  <p:clrMapOvr>
    <a:masterClrMapping/>
  </p:clrMapOvr>
  <p:transition spd="slow">
    <p:fade thruBlk="1"/>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56"/>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Deployment ( Quickstart ) </a:t>
            </a:r>
            <a:endParaRPr b="1" i="0" sz="3600" u="none" cap="none" strike="noStrike">
              <a:solidFill>
                <a:srgbClr val="6D9EEB"/>
              </a:solidFill>
              <a:latin typeface="Poppins"/>
              <a:ea typeface="Poppins"/>
              <a:cs typeface="Poppins"/>
              <a:sym typeface="Poppins"/>
            </a:endParaRPr>
          </a:p>
        </p:txBody>
      </p:sp>
      <p:cxnSp>
        <p:nvCxnSpPr>
          <p:cNvPr id="721" name="Google Shape;721;p5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722" name="Google Shape;722;p56"/>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723" name="Google Shape;723;p56"/>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724" name="Google Shape;724;p5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725" name="Google Shape;725;p5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726" name="Google Shape;726;p5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727" name="Google Shape;727;p56"/>
          <p:cNvSpPr txBox="1"/>
          <p:nvPr/>
        </p:nvSpPr>
        <p:spPr>
          <a:xfrm>
            <a:off x="1000925" y="1565750"/>
            <a:ext cx="9972000" cy="4770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20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Ini adalah Quickstart (Tidak Disarankan untuk Produksi).</a:t>
            </a:r>
            <a:endParaRPr sz="1900">
              <a:solidFill>
                <a:srgbClr val="212529"/>
              </a:solidFill>
              <a:highlight>
                <a:schemeClr val="lt1"/>
              </a:highlight>
              <a:latin typeface="Archivo"/>
              <a:ea typeface="Archivo"/>
              <a:cs typeface="Archivo"/>
              <a:sym typeface="Archivo"/>
            </a:endParaRPr>
          </a:p>
        </p:txBody>
      </p:sp>
      <p:graphicFrame>
        <p:nvGraphicFramePr>
          <p:cNvPr id="728" name="Google Shape;728;p56"/>
          <p:cNvGraphicFramePr/>
          <p:nvPr/>
        </p:nvGraphicFramePr>
        <p:xfrm>
          <a:off x="1064450" y="2614063"/>
          <a:ext cx="3000000" cy="3000000"/>
        </p:xfrm>
        <a:graphic>
          <a:graphicData uri="http://schemas.openxmlformats.org/drawingml/2006/table">
            <a:tbl>
              <a:tblPr>
                <a:noFill/>
                <a:tableStyleId>{5E9E9AE0-E05B-434B-992F-78115EA43AB1}</a:tableStyleId>
              </a:tblPr>
              <a:tblGrid>
                <a:gridCol w="9908350"/>
              </a:tblGrid>
              <a:tr h="2527175">
                <a:tc>
                  <a:txBody>
                    <a:bodyPr/>
                    <a:lstStyle/>
                    <a:p>
                      <a:pPr indent="0" lvl="0" marL="0" rtl="0" algn="ctr">
                        <a:spcBef>
                          <a:spcPts val="0"/>
                        </a:spcBef>
                        <a:spcAft>
                          <a:spcPts val="0"/>
                        </a:spcAft>
                        <a:buNone/>
                      </a:pPr>
                      <a:r>
                        <a:rPr lang="en-US" sz="1800">
                          <a:latin typeface="Archivo Medium"/>
                          <a:ea typeface="Archivo Medium"/>
                          <a:cs typeface="Archivo Medium"/>
                          <a:sym typeface="Archivo Medium"/>
                        </a:rPr>
                        <a:t>Installing</a:t>
                      </a:r>
                      <a:r>
                        <a:rPr lang="en-US" sz="1800">
                          <a:latin typeface="Archivo Medium"/>
                          <a:ea typeface="Archivo Medium"/>
                          <a:cs typeface="Archivo Medium"/>
                          <a:sym typeface="Archivo Medium"/>
                        </a:rPr>
                        <a:t> Wazuh ( All In One ) </a:t>
                      </a:r>
                      <a:endParaRPr sz="1800">
                        <a:latin typeface="Archivo Medium"/>
                        <a:ea typeface="Archivo Medium"/>
                        <a:cs typeface="Archivo Medium"/>
                        <a:sym typeface="Archivo Medium"/>
                      </a:endParaRPr>
                    </a:p>
                    <a:p>
                      <a:pPr indent="0" lvl="0" marL="0" rtl="0" algn="ctr">
                        <a:spcBef>
                          <a:spcPts val="0"/>
                        </a:spcBef>
                        <a:spcAft>
                          <a:spcPts val="0"/>
                        </a:spcAft>
                        <a:buNone/>
                      </a:pPr>
                      <a:r>
                        <a:t/>
                      </a:r>
                      <a:endParaRPr sz="1800">
                        <a:latin typeface="Archivo Medium"/>
                        <a:ea typeface="Archivo Medium"/>
                        <a:cs typeface="Archivo Medium"/>
                        <a:sym typeface="Archivo Medium"/>
                      </a:endParaRPr>
                    </a:p>
                    <a:p>
                      <a:pPr indent="-342900" lvl="0" marL="457200" rtl="0" algn="ctr">
                        <a:spcBef>
                          <a:spcPts val="0"/>
                        </a:spcBef>
                        <a:spcAft>
                          <a:spcPts val="0"/>
                        </a:spcAft>
                        <a:buSzPts val="1800"/>
                        <a:buFont typeface="Archivo Medium"/>
                        <a:buAutoNum type="arabicPeriod"/>
                      </a:pPr>
                      <a:r>
                        <a:rPr lang="en-US" sz="1800">
                          <a:latin typeface="Archivo Medium"/>
                          <a:ea typeface="Archivo Medium"/>
                          <a:cs typeface="Archivo Medium"/>
                          <a:sym typeface="Archivo Medium"/>
                        </a:rPr>
                        <a:t>Download</a:t>
                      </a:r>
                      <a:r>
                        <a:rPr lang="en-US" sz="1800">
                          <a:latin typeface="Archivo Medium"/>
                          <a:ea typeface="Archivo Medium"/>
                          <a:cs typeface="Archivo Medium"/>
                          <a:sym typeface="Archivo Medium"/>
                        </a:rPr>
                        <a:t> and run the wazuh installation assistant.</a:t>
                      </a:r>
                      <a:endParaRPr sz="1800">
                        <a:latin typeface="Archivo Medium"/>
                        <a:ea typeface="Archivo Medium"/>
                        <a:cs typeface="Archivo Medium"/>
                        <a:sym typeface="Archivo Medium"/>
                      </a:endParaRPr>
                    </a:p>
                    <a:p>
                      <a:pPr indent="0" lvl="0" marL="0" rtl="0" algn="ctr">
                        <a:spcBef>
                          <a:spcPts val="0"/>
                        </a:spcBef>
                        <a:spcAft>
                          <a:spcPts val="0"/>
                        </a:spcAft>
                        <a:buNone/>
                      </a:pPr>
                      <a:r>
                        <a:t/>
                      </a:r>
                      <a:endParaRPr sz="1800">
                        <a:latin typeface="Archivo Medium"/>
                        <a:ea typeface="Archivo Medium"/>
                        <a:cs typeface="Archivo Medium"/>
                        <a:sym typeface="Archivo Medium"/>
                      </a:endParaRPr>
                    </a:p>
                    <a:p>
                      <a:pPr indent="0" lvl="0" marL="0" rtl="0" algn="ctr">
                        <a:spcBef>
                          <a:spcPts val="0"/>
                        </a:spcBef>
                        <a:spcAft>
                          <a:spcPts val="0"/>
                        </a:spcAft>
                        <a:buNone/>
                      </a:pPr>
                      <a:r>
                        <a:rPr lang="en-US" sz="1800">
                          <a:latin typeface="Archivo Medium"/>
                          <a:ea typeface="Archivo Medium"/>
                          <a:cs typeface="Archivo Medium"/>
                          <a:sym typeface="Archivo Medium"/>
                        </a:rPr>
                        <a:t>curl -sO https://packages.wazuh.com/4.(ganti-version)/wazuh-install.sh &amp;&amp; sudo bash ./wazuh-install.sh -a</a:t>
                      </a:r>
                      <a:endParaRPr sz="1800">
                        <a:latin typeface="Archivo Medium"/>
                        <a:ea typeface="Archivo Medium"/>
                        <a:cs typeface="Archivo Medium"/>
                        <a:sym typeface="Archivo Medium"/>
                      </a:endParaRPr>
                    </a:p>
                    <a:p>
                      <a:pPr indent="0" lvl="0" marL="0" rtl="0" algn="ctr">
                        <a:spcBef>
                          <a:spcPts val="0"/>
                        </a:spcBef>
                        <a:spcAft>
                          <a:spcPts val="0"/>
                        </a:spcAft>
                        <a:buNone/>
                      </a:pPr>
                      <a:r>
                        <a:t/>
                      </a:r>
                      <a:endParaRPr sz="1800">
                        <a:latin typeface="Archivo Medium"/>
                        <a:ea typeface="Archivo Medium"/>
                        <a:cs typeface="Archivo Medium"/>
                        <a:sym typeface="Archivo Medium"/>
                      </a:endParaRPr>
                    </a:p>
                    <a:p>
                      <a:pPr indent="-342900" lvl="0" marL="457200" rtl="0" algn="ctr">
                        <a:spcBef>
                          <a:spcPts val="0"/>
                        </a:spcBef>
                        <a:spcAft>
                          <a:spcPts val="0"/>
                        </a:spcAft>
                        <a:buSzPts val="1800"/>
                        <a:buFont typeface="Archivo Medium"/>
                        <a:buAutoNum type="arabicPeriod"/>
                      </a:pPr>
                      <a:r>
                        <a:rPr lang="en-US" sz="1800">
                          <a:latin typeface="Archivo Medium"/>
                          <a:ea typeface="Archivo Medium"/>
                          <a:cs typeface="Archivo Medium"/>
                          <a:sym typeface="Archivo Medium"/>
                        </a:rPr>
                        <a:t>Access the Wazuh web interface with https://&lt;</a:t>
                      </a:r>
                      <a:r>
                        <a:rPr b="1" lang="en-US" sz="1800">
                          <a:latin typeface="Archivo"/>
                          <a:ea typeface="Archivo"/>
                          <a:cs typeface="Archivo"/>
                          <a:sym typeface="Archivo"/>
                        </a:rPr>
                        <a:t>wazuh-server-ip</a:t>
                      </a:r>
                      <a:r>
                        <a:rPr lang="en-US" sz="1800">
                          <a:latin typeface="Archivo Medium"/>
                          <a:ea typeface="Archivo Medium"/>
                          <a:cs typeface="Archivo Medium"/>
                          <a:sym typeface="Archivo Medium"/>
                        </a:rPr>
                        <a:t>&gt; </a:t>
                      </a:r>
                      <a:endParaRPr sz="1800">
                        <a:latin typeface="Archivo Medium"/>
                        <a:ea typeface="Archivo Medium"/>
                        <a:cs typeface="Archivo Medium"/>
                        <a:sym typeface="Archivo Medium"/>
                      </a:endParaRPr>
                    </a:p>
                  </a:txBody>
                  <a:tcPr marT="91425" marB="91425" marR="91425" marL="91425" anchor="ctr">
                    <a:lnL cap="flat" cmpd="sng" w="9525">
                      <a:solidFill>
                        <a:srgbClr val="C41F2F"/>
                      </a:solidFill>
                      <a:prstDash val="solid"/>
                      <a:round/>
                      <a:headEnd len="sm" w="sm" type="none"/>
                      <a:tailEnd len="sm" w="sm" type="none"/>
                    </a:lnL>
                    <a:lnR cap="flat" cmpd="sng" w="9525">
                      <a:solidFill>
                        <a:srgbClr val="C41F2F"/>
                      </a:solidFill>
                      <a:prstDash val="solid"/>
                      <a:round/>
                      <a:headEnd len="sm" w="sm" type="none"/>
                      <a:tailEnd len="sm" w="sm" type="none"/>
                    </a:lnR>
                    <a:lnT cap="flat" cmpd="sng" w="9525">
                      <a:solidFill>
                        <a:srgbClr val="C41F2F"/>
                      </a:solidFill>
                      <a:prstDash val="solid"/>
                      <a:round/>
                      <a:headEnd len="sm" w="sm" type="none"/>
                      <a:tailEnd len="sm" w="sm" type="none"/>
                    </a:lnT>
                    <a:lnB cap="flat" cmpd="sng" w="9525">
                      <a:solidFill>
                        <a:srgbClr val="C41F2F"/>
                      </a:solidFill>
                      <a:prstDash val="solid"/>
                      <a:round/>
                      <a:headEnd len="sm" w="sm" type="none"/>
                      <a:tailEnd len="sm" w="sm" type="none"/>
                    </a:lnB>
                  </a:tcPr>
                </a:tc>
              </a:tr>
            </a:tbl>
          </a:graphicData>
        </a:graphic>
      </p:graphicFrame>
    </p:spTree>
  </p:cSld>
  <p:clrMapOvr>
    <a:masterClrMapping/>
  </p:clrMapOvr>
  <p:transition spd="slow">
    <p:fade thruBlk="1"/>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7"/>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Deployment ( Agent )  </a:t>
            </a:r>
            <a:endParaRPr b="1" i="0" sz="3600" u="none" cap="none" strike="noStrike">
              <a:solidFill>
                <a:srgbClr val="6D9EEB"/>
              </a:solidFill>
              <a:latin typeface="Poppins"/>
              <a:ea typeface="Poppins"/>
              <a:cs typeface="Poppins"/>
              <a:sym typeface="Poppins"/>
            </a:endParaRPr>
          </a:p>
        </p:txBody>
      </p:sp>
      <p:cxnSp>
        <p:nvCxnSpPr>
          <p:cNvPr id="734" name="Google Shape;734;p5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735" name="Google Shape;735;p57"/>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736" name="Google Shape;736;p57"/>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737" name="Google Shape;737;p5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738" name="Google Shape;738;p5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739" name="Google Shape;739;p5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740" name="Google Shape;740;p57"/>
          <p:cNvSpPr txBox="1"/>
          <p:nvPr/>
        </p:nvSpPr>
        <p:spPr>
          <a:xfrm>
            <a:off x="967775" y="1650600"/>
            <a:ext cx="4804800" cy="408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US" sz="1900">
                <a:solidFill>
                  <a:srgbClr val="212529"/>
                </a:solidFill>
                <a:highlight>
                  <a:schemeClr val="lt1"/>
                </a:highlight>
                <a:latin typeface="Archivo"/>
                <a:ea typeface="Archivo"/>
                <a:cs typeface="Archivo"/>
                <a:sym typeface="Archivo"/>
              </a:rPr>
              <a:t>Agen Wazuh bersifat multi-platform dan berjalan pada endpoint yang ingin dimonitor oleh pengguna. Agen ini berkomunikasi dengan server Wazuh, mengirimkan data hampir secara real-time melalui saluran yang terenkripsi dan terautentikasi.</a:t>
            </a:r>
            <a:endParaRPr sz="1900">
              <a:solidFill>
                <a:srgbClr val="212529"/>
              </a:solidFill>
              <a:highlight>
                <a:schemeClr val="lt1"/>
              </a:highlight>
              <a:latin typeface="Archivo"/>
              <a:ea typeface="Archivo"/>
              <a:cs typeface="Archivo"/>
              <a:sym typeface="Archivo"/>
            </a:endParaRPr>
          </a:p>
          <a:p>
            <a:pPr indent="0" lvl="0" marL="0" rtl="0" algn="l">
              <a:lnSpc>
                <a:spcPct val="115000"/>
              </a:lnSpc>
              <a:spcBef>
                <a:spcPts val="1200"/>
              </a:spcBef>
              <a:spcAft>
                <a:spcPts val="0"/>
              </a:spcAft>
              <a:buClr>
                <a:schemeClr val="dk1"/>
              </a:buClr>
              <a:buSzPts val="1100"/>
              <a:buFont typeface="Arial"/>
              <a:buNone/>
            </a:pPr>
            <a:r>
              <a:rPr lang="en-US" sz="1900">
                <a:solidFill>
                  <a:srgbClr val="212529"/>
                </a:solidFill>
                <a:highlight>
                  <a:schemeClr val="lt1"/>
                </a:highlight>
                <a:latin typeface="Archivo"/>
                <a:ea typeface="Archivo"/>
                <a:cs typeface="Archivo"/>
                <a:sym typeface="Archivo"/>
              </a:rPr>
              <a:t>Agen Wazuh menyediakan fitur-fitur penting untuk meningkatkan keamanan sistem Anda.</a:t>
            </a:r>
            <a:endParaRPr sz="1900">
              <a:solidFill>
                <a:srgbClr val="212529"/>
              </a:solidFill>
              <a:highlight>
                <a:schemeClr val="lt1"/>
              </a:highlight>
              <a:latin typeface="Archivo"/>
              <a:ea typeface="Archivo"/>
              <a:cs typeface="Archivo"/>
              <a:sym typeface="Archivo"/>
            </a:endParaRPr>
          </a:p>
          <a:p>
            <a:pPr indent="0" lvl="0" marL="914400" rtl="0" algn="l">
              <a:lnSpc>
                <a:spcPct val="80000"/>
              </a:lnSpc>
              <a:spcBef>
                <a:spcPts val="1200"/>
              </a:spcBef>
              <a:spcAft>
                <a:spcPts val="0"/>
              </a:spcAft>
              <a:buNone/>
            </a:pPr>
            <a:r>
              <a:t/>
            </a:r>
            <a:endParaRPr sz="1900">
              <a:solidFill>
                <a:srgbClr val="212529"/>
              </a:solidFill>
              <a:highlight>
                <a:schemeClr val="lt1"/>
              </a:highlight>
              <a:latin typeface="Archivo"/>
              <a:ea typeface="Archivo"/>
              <a:cs typeface="Archivo"/>
              <a:sym typeface="Archivo"/>
            </a:endParaRPr>
          </a:p>
        </p:txBody>
      </p:sp>
      <p:graphicFrame>
        <p:nvGraphicFramePr>
          <p:cNvPr id="741" name="Google Shape;741;p57"/>
          <p:cNvGraphicFramePr/>
          <p:nvPr/>
        </p:nvGraphicFramePr>
        <p:xfrm>
          <a:off x="6912150" y="1209413"/>
          <a:ext cx="3000000" cy="3000000"/>
        </p:xfrm>
        <a:graphic>
          <a:graphicData uri="http://schemas.openxmlformats.org/drawingml/2006/table">
            <a:tbl>
              <a:tblPr>
                <a:noFill/>
                <a:tableStyleId>{5E9E9AE0-E05B-434B-992F-78115EA43AB1}</a:tableStyleId>
              </a:tblPr>
              <a:tblGrid>
                <a:gridCol w="4012625"/>
              </a:tblGrid>
              <a:tr h="416600">
                <a:tc>
                  <a:txBody>
                    <a:bodyPr/>
                    <a:lstStyle/>
                    <a:p>
                      <a:pPr indent="0" lvl="0" marL="0" rtl="0" algn="ctr">
                        <a:spcBef>
                          <a:spcPts val="0"/>
                        </a:spcBef>
                        <a:spcAft>
                          <a:spcPts val="0"/>
                        </a:spcAft>
                        <a:buNone/>
                      </a:pPr>
                      <a:r>
                        <a:rPr lang="en-US"/>
                        <a:t>Key Features</a:t>
                      </a:r>
                      <a:endParaRPr/>
                    </a:p>
                  </a:txBody>
                  <a:tcPr marT="91425" marB="91425" marR="91425" marL="91425">
                    <a:solidFill>
                      <a:schemeClr val="accent1"/>
                    </a:solidFill>
                  </a:tcPr>
                </a:tc>
              </a:tr>
              <a:tr h="3808675">
                <a:tc>
                  <a:txBody>
                    <a:bodyPr/>
                    <a:lstStyle/>
                    <a:p>
                      <a:pPr indent="0" lvl="0" marL="0" rtl="0" algn="l">
                        <a:spcBef>
                          <a:spcPts val="0"/>
                        </a:spcBef>
                        <a:spcAft>
                          <a:spcPts val="0"/>
                        </a:spcAft>
                        <a:buClr>
                          <a:schemeClr val="dk1"/>
                        </a:buClr>
                        <a:buSzPts val="1100"/>
                        <a:buFont typeface="Arial"/>
                        <a:buNone/>
                      </a:pPr>
                      <a:r>
                        <a:rPr lang="en-US"/>
                        <a:t>Log collector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Command execution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File integrity monitoring (FIM)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Security configuration assessment (SCA)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System inventory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Malware detection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Active response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Container security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Cloud security</a:t>
                      </a:r>
                      <a:endParaRPr/>
                    </a:p>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r>
            </a:tbl>
          </a:graphicData>
        </a:graphic>
      </p:graphicFrame>
    </p:spTree>
  </p:cSld>
  <p:clrMapOvr>
    <a:masterClrMapping/>
  </p:clrMapOvr>
  <p:transition spd="slow">
    <p:fade thruBlk="1"/>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58"/>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Multi Method Agent </a:t>
            </a:r>
            <a:r>
              <a:rPr b="1" lang="en-US" sz="3600">
                <a:solidFill>
                  <a:srgbClr val="6D9EEB"/>
                </a:solidFill>
                <a:latin typeface="Poppins"/>
                <a:ea typeface="Poppins"/>
                <a:cs typeface="Poppins"/>
                <a:sym typeface="Poppins"/>
              </a:rPr>
              <a:t>Installation</a:t>
            </a:r>
            <a:r>
              <a:rPr b="1" lang="en-US" sz="3600">
                <a:solidFill>
                  <a:srgbClr val="6D9EEB"/>
                </a:solidFill>
                <a:latin typeface="Poppins"/>
                <a:ea typeface="Poppins"/>
                <a:cs typeface="Poppins"/>
                <a:sym typeface="Poppins"/>
              </a:rPr>
              <a:t> </a:t>
            </a:r>
            <a:endParaRPr b="1" i="0" sz="3600" u="none" cap="none" strike="noStrike">
              <a:solidFill>
                <a:srgbClr val="6D9EEB"/>
              </a:solidFill>
              <a:latin typeface="Poppins"/>
              <a:ea typeface="Poppins"/>
              <a:cs typeface="Poppins"/>
              <a:sym typeface="Poppins"/>
            </a:endParaRPr>
          </a:p>
        </p:txBody>
      </p:sp>
      <p:cxnSp>
        <p:nvCxnSpPr>
          <p:cNvPr id="747" name="Google Shape;747;p5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748" name="Google Shape;748;p58"/>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749" name="Google Shape;749;p58"/>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750" name="Google Shape;750;p5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751" name="Google Shape;751;p5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752" name="Google Shape;752;p5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753" name="Google Shape;753;p58"/>
          <p:cNvSpPr txBox="1"/>
          <p:nvPr/>
        </p:nvSpPr>
        <p:spPr>
          <a:xfrm>
            <a:off x="923475" y="1472625"/>
            <a:ext cx="10154100" cy="4913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1. Self-enrollment (Pendaftaran Otomatis)</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Manager	: Aktifkan self-enrollment dengan mengatur </a:t>
            </a:r>
            <a:r>
              <a:rPr lang="en-US" sz="1600">
                <a:solidFill>
                  <a:srgbClr val="FF0000"/>
                </a:solidFill>
                <a:latin typeface="Archivo Medium"/>
                <a:ea typeface="Archivo Medium"/>
                <a:cs typeface="Archivo Medium"/>
                <a:sym typeface="Archivo Medium"/>
              </a:rPr>
              <a:t>auto_accept </a:t>
            </a:r>
            <a:r>
              <a:rPr lang="en-US" sz="1600">
                <a:solidFill>
                  <a:schemeClr val="dk1"/>
                </a:solidFill>
                <a:latin typeface="Archivo Medium"/>
                <a:ea typeface="Archivo Medium"/>
                <a:cs typeface="Archivo Medium"/>
                <a:sym typeface="Archivo Medium"/>
              </a:rPr>
              <a:t>menjadi </a:t>
            </a:r>
            <a:r>
              <a:rPr lang="en-US" sz="1600">
                <a:solidFill>
                  <a:srgbClr val="FF0000"/>
                </a:solidFill>
                <a:latin typeface="Archivo Medium"/>
                <a:ea typeface="Archivo Medium"/>
                <a:cs typeface="Archivo Medium"/>
                <a:sym typeface="Archivo Medium"/>
              </a:rPr>
              <a:t>"yes" </a:t>
            </a:r>
            <a:r>
              <a:rPr lang="en-US" sz="1600">
                <a:solidFill>
                  <a:schemeClr val="dk1"/>
                </a:solidFill>
                <a:latin typeface="Archivo Medium"/>
                <a:ea typeface="Archivo Medium"/>
                <a:cs typeface="Archivo Medium"/>
                <a:sym typeface="Archivo Medium"/>
              </a:rPr>
              <a:t>di file ossec.conf pada bagian &lt;auth&gt;.</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Agent	: Atur IP address server manager di file </a:t>
            </a:r>
            <a:r>
              <a:rPr lang="en-US" sz="1600">
                <a:solidFill>
                  <a:srgbClr val="FF0000"/>
                </a:solidFill>
                <a:latin typeface="Archivo Medium"/>
                <a:ea typeface="Archivo Medium"/>
                <a:cs typeface="Archivo Medium"/>
                <a:sym typeface="Archivo Medium"/>
              </a:rPr>
              <a:t>ossec.conf</a:t>
            </a:r>
            <a:r>
              <a:rPr lang="en-US" sz="1600">
                <a:solidFill>
                  <a:schemeClr val="dk1"/>
                </a:solidFill>
                <a:latin typeface="Archivo Medium"/>
                <a:ea typeface="Archivo Medium"/>
                <a:cs typeface="Archivo Medium"/>
                <a:sym typeface="Archivo Medium"/>
              </a:rPr>
              <a:t>, lalu jalankan agen untuk melakukan pendaftaran otomatis.</a:t>
            </a:r>
            <a:endParaRPr sz="1600">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Clr>
                <a:schemeClr val="dk1"/>
              </a:buClr>
              <a:buSzPts val="1100"/>
              <a:buFont typeface="Arial"/>
              <a:buNone/>
            </a:pPr>
            <a:r>
              <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2. Password Authentication (Otentikasi dengan Password)</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Manager	: Tambahkan password di bagian &lt;auth&gt; dalam file </a:t>
            </a:r>
            <a:r>
              <a:rPr lang="en-US" sz="1600">
                <a:solidFill>
                  <a:srgbClr val="FF0000"/>
                </a:solidFill>
                <a:latin typeface="Archivo Medium"/>
                <a:ea typeface="Archivo Medium"/>
                <a:cs typeface="Archivo Medium"/>
                <a:sym typeface="Archivo Medium"/>
              </a:rPr>
              <a:t>ossec.conf</a:t>
            </a:r>
            <a:r>
              <a:rPr lang="en-US" sz="1600">
                <a:solidFill>
                  <a:schemeClr val="dk1"/>
                </a:solidFill>
                <a:latin typeface="Archivo Medium"/>
                <a:ea typeface="Archivo Medium"/>
                <a:cs typeface="Archivo Medium"/>
                <a:sym typeface="Archivo Medium"/>
              </a:rPr>
              <a:t>.</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Agent	: Gunakan password yang sama di konfigurasi agent, lalu restart agent untuk mendaftar ke manager.</a:t>
            </a:r>
            <a:endParaRPr sz="1600">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Clr>
                <a:schemeClr val="dk1"/>
              </a:buClr>
              <a:buSzPts val="1100"/>
              <a:buFont typeface="Arial"/>
              <a:buNone/>
            </a:pPr>
            <a:r>
              <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3. Agent_auth CLI Tool</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Manager	: Jalankan perintah agent-auth dengan opsi seperti -m </a:t>
            </a:r>
            <a:r>
              <a:rPr lang="en-US" sz="1600">
                <a:solidFill>
                  <a:srgbClr val="FF0000"/>
                </a:solidFill>
                <a:latin typeface="Archivo Medium"/>
                <a:ea typeface="Archivo Medium"/>
                <a:cs typeface="Archivo Medium"/>
                <a:sym typeface="Archivo Medium"/>
              </a:rPr>
              <a:t>&lt;IP manager&gt;</a:t>
            </a:r>
            <a:r>
              <a:rPr lang="en-US" sz="1600">
                <a:solidFill>
                  <a:schemeClr val="dk1"/>
                </a:solidFill>
                <a:latin typeface="Archivo Medium"/>
                <a:ea typeface="Archivo Medium"/>
                <a:cs typeface="Archivo Medium"/>
                <a:sym typeface="Archivo Medium"/>
              </a:rPr>
              <a:t>.</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Agent	: Eksekusi perintah agent-auth untuk mendaftar ke server menggunakan token yang dihasilkan.</a:t>
            </a:r>
            <a:endParaRPr sz="1600">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Clr>
                <a:schemeClr val="dk1"/>
              </a:buClr>
              <a:buSzPts val="1100"/>
              <a:buFont typeface="Arial"/>
              <a:buNone/>
            </a:pPr>
            <a:r>
              <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4. Wazuh Dashboard</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Manager	: Gunakan wizard </a:t>
            </a:r>
            <a:r>
              <a:rPr lang="en-US" sz="1600">
                <a:solidFill>
                  <a:srgbClr val="FF0000"/>
                </a:solidFill>
                <a:latin typeface="Archivo Medium"/>
                <a:ea typeface="Archivo Medium"/>
                <a:cs typeface="Archivo Medium"/>
                <a:sym typeface="Archivo Medium"/>
              </a:rPr>
              <a:t>Dashboard </a:t>
            </a:r>
            <a:r>
              <a:rPr lang="en-US" sz="1600">
                <a:solidFill>
                  <a:schemeClr val="dk1"/>
                </a:solidFill>
                <a:latin typeface="Archivo Medium"/>
                <a:ea typeface="Archivo Medium"/>
                <a:cs typeface="Archivo Medium"/>
                <a:sym typeface="Archivo Medium"/>
              </a:rPr>
              <a:t>&gt; </a:t>
            </a:r>
            <a:r>
              <a:rPr lang="en-US" sz="1600">
                <a:solidFill>
                  <a:srgbClr val="FF0000"/>
                </a:solidFill>
                <a:latin typeface="Archivo Medium"/>
                <a:ea typeface="Archivo Medium"/>
                <a:cs typeface="Archivo Medium"/>
                <a:sym typeface="Archivo Medium"/>
              </a:rPr>
              <a:t>Agents </a:t>
            </a:r>
            <a:r>
              <a:rPr lang="en-US" sz="1600">
                <a:solidFill>
                  <a:schemeClr val="dk1"/>
                </a:solidFill>
                <a:latin typeface="Archivo Medium"/>
                <a:ea typeface="Archivo Medium"/>
                <a:cs typeface="Archivo Medium"/>
                <a:sym typeface="Archivo Medium"/>
              </a:rPr>
              <a:t>&gt; </a:t>
            </a:r>
            <a:r>
              <a:rPr lang="en-US" sz="1600">
                <a:solidFill>
                  <a:srgbClr val="FF0000"/>
                </a:solidFill>
                <a:latin typeface="Archivo Medium"/>
                <a:ea typeface="Archivo Medium"/>
                <a:cs typeface="Archivo Medium"/>
                <a:sym typeface="Archivo Medium"/>
              </a:rPr>
              <a:t>Add Agent</a:t>
            </a:r>
            <a:r>
              <a:rPr lang="en-US" sz="1600">
                <a:solidFill>
                  <a:schemeClr val="dk1"/>
                </a:solidFill>
                <a:latin typeface="Archivo Medium"/>
                <a:ea typeface="Archivo Medium"/>
                <a:cs typeface="Archivo Medium"/>
                <a:sym typeface="Archivo Medium"/>
              </a:rPr>
              <a:t> untuk menghasilkan konfigurasi agen.</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Agent	: Ikuti instruksi yang diberikan oleh dashboard untuk menyambungkan dan </a:t>
            </a:r>
            <a:r>
              <a:rPr lang="en-US" sz="1600">
                <a:solidFill>
                  <a:schemeClr val="dk1"/>
                </a:solidFill>
                <a:latin typeface="Archivo Medium"/>
                <a:ea typeface="Archivo Medium"/>
                <a:cs typeface="Archivo Medium"/>
                <a:sym typeface="Archivo Medium"/>
              </a:rPr>
              <a:t>mengkonfirmasi</a:t>
            </a:r>
            <a:r>
              <a:rPr lang="en-US" sz="1600">
                <a:solidFill>
                  <a:schemeClr val="dk1"/>
                </a:solidFill>
                <a:latin typeface="Archivo Medium"/>
                <a:ea typeface="Archivo Medium"/>
                <a:cs typeface="Archivo Medium"/>
                <a:sym typeface="Archivo Medium"/>
              </a:rPr>
              <a:t> pendaftaran.</a:t>
            </a:r>
            <a:endParaRPr sz="1600">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Clr>
                <a:schemeClr val="dk1"/>
              </a:buClr>
              <a:buSzPts val="1100"/>
              <a:buFont typeface="Arial"/>
              <a:buNone/>
            </a:pPr>
            <a:r>
              <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5. Deployment Scripts (Skrip Otomatisasi)</a:t>
            </a:r>
            <a:endParaRPr sz="16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Gunakan skrip shell (bash) untuk mengotomatisasi proses instalasi dan pendaftaran agen, termasuk pengaturan IP manager, password, atau token—cocok untuk penerapan skala besar.</a:t>
            </a:r>
            <a:endParaRPr sz="1600">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Clr>
                <a:schemeClr val="dk1"/>
              </a:buClr>
              <a:buSzPts val="1100"/>
              <a:buFont typeface="Arial"/>
              <a:buNone/>
            </a:pPr>
            <a:r>
              <a:t/>
            </a:r>
            <a:endParaRPr sz="1600">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t/>
            </a:r>
            <a:endParaRPr sz="16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59"/>
          <p:cNvSpPr/>
          <p:nvPr/>
        </p:nvSpPr>
        <p:spPr>
          <a:xfrm>
            <a:off x="679300" y="1202325"/>
            <a:ext cx="4715100" cy="3191700"/>
          </a:xfrm>
          <a:prstGeom prst="roundRect">
            <a:avLst>
              <a:gd fmla="val 16667" name="adj"/>
            </a:avLst>
          </a:prstGeom>
          <a:noFill/>
          <a:ln cap="flat" cmpd="sng" w="2857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59" name="Google Shape;759;p59"/>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Self-enrollment</a:t>
            </a:r>
            <a:endParaRPr b="1" i="0" sz="3600" u="none" cap="none" strike="noStrike">
              <a:solidFill>
                <a:srgbClr val="6D9EEB"/>
              </a:solidFill>
              <a:latin typeface="Poppins"/>
              <a:ea typeface="Poppins"/>
              <a:cs typeface="Poppins"/>
              <a:sym typeface="Poppins"/>
            </a:endParaRPr>
          </a:p>
        </p:txBody>
      </p:sp>
      <p:cxnSp>
        <p:nvCxnSpPr>
          <p:cNvPr id="760" name="Google Shape;760;p5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761" name="Google Shape;761;p59"/>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762" name="Google Shape;762;p59"/>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763" name="Google Shape;763;p5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764" name="Google Shape;764;p5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765" name="Google Shape;765;p5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766" name="Google Shape;766;p59"/>
          <p:cNvSpPr txBox="1"/>
          <p:nvPr/>
        </p:nvSpPr>
        <p:spPr>
          <a:xfrm>
            <a:off x="842025" y="1286400"/>
            <a:ext cx="4590900" cy="32262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highlight>
                  <a:schemeClr val="lt1"/>
                </a:highlight>
                <a:latin typeface="Archivo Medium"/>
                <a:ea typeface="Archivo Medium"/>
                <a:cs typeface="Archivo Medium"/>
                <a:sym typeface="Archivo Medium"/>
              </a:rPr>
              <a:t>On the Wazuh </a:t>
            </a:r>
            <a:r>
              <a:rPr lang="en-US" sz="1900">
                <a:solidFill>
                  <a:srgbClr val="212529"/>
                </a:solidFill>
                <a:highlight>
                  <a:schemeClr val="lt1"/>
                </a:highlight>
                <a:latin typeface="Archivo Medium"/>
                <a:ea typeface="Archivo Medium"/>
                <a:cs typeface="Archivo Medium"/>
                <a:sym typeface="Archivo Medium"/>
              </a:rPr>
              <a:t>Server </a:t>
            </a:r>
            <a:r>
              <a:rPr lang="en-US" sz="1900">
                <a:solidFill>
                  <a:srgbClr val="212529"/>
                </a:solidFill>
                <a:highlight>
                  <a:schemeClr val="lt1"/>
                </a:highlight>
                <a:latin typeface="Courier New"/>
                <a:ea typeface="Courier New"/>
                <a:cs typeface="Courier New"/>
                <a:sym typeface="Courier New"/>
              </a:rPr>
              <a:t>ossec.conf</a:t>
            </a:r>
            <a:endParaRPr sz="19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rgbClr val="212529"/>
                </a:solidFill>
                <a:highlight>
                  <a:schemeClr val="lt1"/>
                </a:highlight>
                <a:latin typeface="Courier New"/>
                <a:ea typeface="Courier New"/>
                <a:cs typeface="Courier New"/>
                <a:sym typeface="Courier New"/>
              </a:rPr>
              <a:t>&lt;auth&gt;</a:t>
            </a:r>
            <a:endParaRPr sz="19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rgbClr val="212529"/>
                </a:solidFill>
                <a:highlight>
                  <a:schemeClr val="lt1"/>
                </a:highlight>
                <a:latin typeface="Courier New"/>
                <a:ea typeface="Courier New"/>
                <a:cs typeface="Courier New"/>
                <a:sym typeface="Courier New"/>
              </a:rPr>
              <a:t>   &lt;disabled&gt;no&lt;/disabled&gt;</a:t>
            </a:r>
            <a:endParaRPr sz="19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rgbClr val="212529"/>
                </a:solidFill>
                <a:highlight>
                  <a:schemeClr val="lt1"/>
                </a:highlight>
                <a:latin typeface="Courier New"/>
                <a:ea typeface="Courier New"/>
                <a:cs typeface="Courier New"/>
                <a:sym typeface="Courier New"/>
              </a:rPr>
              <a:t>   &lt;port&gt;1515&lt;/port&gt;</a:t>
            </a:r>
            <a:endParaRPr sz="19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rgbClr val="212529"/>
                </a:solidFill>
                <a:highlight>
                  <a:schemeClr val="lt1"/>
                </a:highlight>
                <a:latin typeface="Courier New"/>
                <a:ea typeface="Courier New"/>
                <a:cs typeface="Courier New"/>
                <a:sym typeface="Courier New"/>
              </a:rPr>
              <a:t>   </a:t>
            </a:r>
            <a:r>
              <a:rPr b="1" lang="en-US" sz="1900">
                <a:solidFill>
                  <a:srgbClr val="212529"/>
                </a:solidFill>
                <a:highlight>
                  <a:schemeClr val="lt1"/>
                </a:highlight>
                <a:latin typeface="Courier New"/>
                <a:ea typeface="Courier New"/>
                <a:cs typeface="Courier New"/>
                <a:sym typeface="Courier New"/>
              </a:rPr>
              <a:t>&lt;auto_accept&gt;yes&lt;/auto_accept&gt; </a:t>
            </a:r>
            <a:endParaRPr b="1" sz="19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rgbClr val="212529"/>
                </a:solidFill>
                <a:highlight>
                  <a:schemeClr val="lt1"/>
                </a:highlight>
                <a:latin typeface="Courier New"/>
                <a:ea typeface="Courier New"/>
                <a:cs typeface="Courier New"/>
                <a:sym typeface="Courier New"/>
              </a:rPr>
              <a:t>&lt;/auth&gt;</a:t>
            </a:r>
            <a:endParaRPr sz="19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rgbClr val="212529"/>
                </a:solidFill>
                <a:highlight>
                  <a:schemeClr val="lt1"/>
                </a:highlight>
                <a:latin typeface="Courier New"/>
                <a:ea typeface="Courier New"/>
                <a:cs typeface="Courier New"/>
                <a:sym typeface="Courier New"/>
              </a:rPr>
              <a:t>sudo systemctl restart wazuh-manager</a:t>
            </a:r>
            <a:endParaRPr sz="19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rgbClr val="212529"/>
              </a:solidFill>
              <a:highlight>
                <a:schemeClr val="lt1"/>
              </a:highlight>
              <a:latin typeface="Courier New"/>
              <a:ea typeface="Courier New"/>
              <a:cs typeface="Courier New"/>
              <a:sym typeface="Courier New"/>
            </a:endParaRPr>
          </a:p>
        </p:txBody>
      </p:sp>
      <p:sp>
        <p:nvSpPr>
          <p:cNvPr id="767" name="Google Shape;767;p59"/>
          <p:cNvSpPr txBox="1"/>
          <p:nvPr/>
        </p:nvSpPr>
        <p:spPr>
          <a:xfrm>
            <a:off x="5572700" y="3473875"/>
            <a:ext cx="6665100" cy="2647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2000">
                <a:solidFill>
                  <a:srgbClr val="212529"/>
                </a:solidFill>
                <a:highlight>
                  <a:schemeClr val="lt1"/>
                </a:highlight>
                <a:latin typeface="Archivo Medium"/>
                <a:ea typeface="Archivo Medium"/>
                <a:cs typeface="Archivo Medium"/>
                <a:sym typeface="Archivo Medium"/>
              </a:rPr>
              <a:t>in agent </a:t>
            </a:r>
            <a:endParaRPr sz="20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0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000">
                <a:solidFill>
                  <a:srgbClr val="212529"/>
                </a:solidFill>
                <a:highlight>
                  <a:schemeClr val="lt1"/>
                </a:highlight>
                <a:latin typeface="Archivo Medium"/>
                <a:ea typeface="Archivo Medium"/>
                <a:cs typeface="Archivo Medium"/>
                <a:sym typeface="Archivo Medium"/>
              </a:rPr>
              <a:t>sudo apt install wazuh-agent  → ossec.conf</a:t>
            </a:r>
            <a:endParaRPr sz="20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0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000">
                <a:solidFill>
                  <a:srgbClr val="212529"/>
                </a:solidFill>
                <a:highlight>
                  <a:schemeClr val="lt1"/>
                </a:highlight>
                <a:latin typeface="Courier New"/>
                <a:ea typeface="Courier New"/>
                <a:cs typeface="Courier New"/>
                <a:sym typeface="Courier New"/>
              </a:rPr>
              <a:t>&lt;server&gt;</a:t>
            </a:r>
            <a:endParaRPr sz="20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000">
                <a:solidFill>
                  <a:srgbClr val="212529"/>
                </a:solidFill>
                <a:highlight>
                  <a:schemeClr val="lt1"/>
                </a:highlight>
                <a:latin typeface="Courier New"/>
                <a:ea typeface="Courier New"/>
                <a:cs typeface="Courier New"/>
                <a:sym typeface="Courier New"/>
              </a:rPr>
              <a:t>&lt;address&gt;MANAGER_IP_ADDRESS&lt;/address&gt;</a:t>
            </a:r>
            <a:endParaRPr sz="20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000">
                <a:solidFill>
                  <a:srgbClr val="212529"/>
                </a:solidFill>
                <a:highlight>
                  <a:schemeClr val="lt1"/>
                </a:highlight>
                <a:latin typeface="Courier New"/>
                <a:ea typeface="Courier New"/>
                <a:cs typeface="Courier New"/>
                <a:sym typeface="Courier New"/>
              </a:rPr>
              <a:t>&lt;/server&gt;</a:t>
            </a:r>
            <a:endParaRPr sz="20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20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000">
                <a:solidFill>
                  <a:srgbClr val="212529"/>
                </a:solidFill>
                <a:highlight>
                  <a:schemeClr val="lt1"/>
                </a:highlight>
                <a:latin typeface="Archivo Medium"/>
                <a:ea typeface="Archivo Medium"/>
                <a:cs typeface="Archivo Medium"/>
                <a:sym typeface="Archivo Medium"/>
              </a:rPr>
              <a:t>sudo systemctl start wazuh-agent</a:t>
            </a:r>
            <a:endParaRPr sz="20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000">
              <a:solidFill>
                <a:srgbClr val="212529"/>
              </a:solidFill>
              <a:highlight>
                <a:schemeClr val="lt1"/>
              </a:highlight>
              <a:latin typeface="Archivo Medium"/>
              <a:ea typeface="Archivo Medium"/>
              <a:cs typeface="Archivo Medium"/>
              <a:sym typeface="Archivo Medium"/>
            </a:endParaRPr>
          </a:p>
        </p:txBody>
      </p:sp>
      <p:cxnSp>
        <p:nvCxnSpPr>
          <p:cNvPr id="768" name="Google Shape;768;p59"/>
          <p:cNvCxnSpPr>
            <a:stCxn id="766" idx="3"/>
            <a:endCxn id="767" idx="0"/>
          </p:cNvCxnSpPr>
          <p:nvPr/>
        </p:nvCxnSpPr>
        <p:spPr>
          <a:xfrm>
            <a:off x="5432925" y="2899500"/>
            <a:ext cx="3472200" cy="574500"/>
          </a:xfrm>
          <a:prstGeom prst="curvedConnector2">
            <a:avLst/>
          </a:prstGeom>
          <a:noFill/>
          <a:ln cap="flat" cmpd="sng" w="9525">
            <a:solidFill>
              <a:schemeClr val="dk2"/>
            </a:solidFill>
            <a:prstDash val="solid"/>
            <a:round/>
            <a:headEnd len="med" w="med" type="none"/>
            <a:tailEnd len="med" w="med" type="none"/>
          </a:ln>
        </p:spPr>
      </p:cxnSp>
    </p:spTree>
  </p:cSld>
  <p:clrMapOvr>
    <a:masterClrMapping/>
  </p:clrMapOvr>
  <p:transition spd="slow">
    <p:fade thruBlk="1"/>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0"/>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Password Authentication </a:t>
            </a:r>
            <a:endParaRPr b="1" i="0" sz="3600" u="none" cap="none" strike="noStrike">
              <a:solidFill>
                <a:srgbClr val="6D9EEB"/>
              </a:solidFill>
              <a:latin typeface="Poppins"/>
              <a:ea typeface="Poppins"/>
              <a:cs typeface="Poppins"/>
              <a:sym typeface="Poppins"/>
            </a:endParaRPr>
          </a:p>
        </p:txBody>
      </p:sp>
      <p:cxnSp>
        <p:nvCxnSpPr>
          <p:cNvPr id="774" name="Google Shape;774;p6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775" name="Google Shape;775;p60"/>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776" name="Google Shape;776;p60"/>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777" name="Google Shape;777;p6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778" name="Google Shape;778;p6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779" name="Google Shape;779;p6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780" name="Google Shape;780;p60"/>
          <p:cNvSpPr txBox="1"/>
          <p:nvPr/>
        </p:nvSpPr>
        <p:spPr>
          <a:xfrm>
            <a:off x="914600" y="1537525"/>
            <a:ext cx="9933600" cy="9606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2100">
                <a:solidFill>
                  <a:schemeClr val="dk1"/>
                </a:solidFill>
                <a:latin typeface="Archivo Medium"/>
                <a:ea typeface="Archivo Medium"/>
                <a:cs typeface="Archivo Medium"/>
                <a:sym typeface="Archivo Medium"/>
              </a:rPr>
              <a:t>Otentikasi menggunakan password untuk agen Wazuh umumnya digunakan di lingkungan yang memerlukan tingkat keamanan lebih tinggi, seperti jaringan sensitif atau yang memiliki kebutuhan kepatuhan (compliance) yang ketat</a:t>
            </a:r>
            <a:endParaRPr sz="3000">
              <a:solidFill>
                <a:srgbClr val="212529"/>
              </a:solidFill>
              <a:highlight>
                <a:schemeClr val="lt1"/>
              </a:highlight>
              <a:latin typeface="Archivo Medium"/>
              <a:ea typeface="Archivo Medium"/>
              <a:cs typeface="Archivo Medium"/>
              <a:sym typeface="Archivo Medium"/>
            </a:endParaRPr>
          </a:p>
        </p:txBody>
      </p:sp>
      <p:sp>
        <p:nvSpPr>
          <p:cNvPr id="781" name="Google Shape;781;p60"/>
          <p:cNvSpPr txBox="1"/>
          <p:nvPr/>
        </p:nvSpPr>
        <p:spPr>
          <a:xfrm>
            <a:off x="755500" y="2735950"/>
            <a:ext cx="4940700" cy="34233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800">
                <a:solidFill>
                  <a:srgbClr val="212529"/>
                </a:solidFill>
                <a:highlight>
                  <a:schemeClr val="lt1"/>
                </a:highlight>
                <a:latin typeface="Archivo Medium"/>
                <a:ea typeface="Archivo Medium"/>
                <a:cs typeface="Archivo Medium"/>
                <a:sym typeface="Archivo Medium"/>
              </a:rPr>
              <a:t>On the Wazuh Server </a:t>
            </a:r>
            <a:r>
              <a:rPr lang="en-US" sz="1800">
                <a:solidFill>
                  <a:srgbClr val="212529"/>
                </a:solidFill>
                <a:highlight>
                  <a:schemeClr val="lt1"/>
                </a:highlight>
                <a:latin typeface="Courier New"/>
                <a:ea typeface="Courier New"/>
                <a:cs typeface="Courier New"/>
                <a:sym typeface="Courier New"/>
              </a:rPr>
              <a:t>ossec.conf</a:t>
            </a:r>
            <a:endParaRPr sz="18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8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rgbClr val="212529"/>
                </a:solidFill>
                <a:highlight>
                  <a:schemeClr val="lt1"/>
                </a:highlight>
                <a:latin typeface="Courier New"/>
                <a:ea typeface="Courier New"/>
                <a:cs typeface="Courier New"/>
                <a:sym typeface="Courier New"/>
              </a:rPr>
              <a:t>&lt;</a:t>
            </a:r>
            <a:r>
              <a:rPr lang="en-US" sz="1600">
                <a:solidFill>
                  <a:srgbClr val="212529"/>
                </a:solidFill>
                <a:highlight>
                  <a:schemeClr val="lt1"/>
                </a:highlight>
                <a:latin typeface="Courier New"/>
                <a:ea typeface="Courier New"/>
                <a:cs typeface="Courier New"/>
                <a:sym typeface="Courier New"/>
              </a:rPr>
              <a:t>auth&gt;</a:t>
            </a:r>
            <a:r>
              <a:rPr b="1" lang="en-US" sz="1600">
                <a:solidFill>
                  <a:srgbClr val="212529"/>
                </a:solidFill>
                <a:highlight>
                  <a:schemeClr val="lt1"/>
                </a:highlight>
                <a:latin typeface="Courier New"/>
                <a:ea typeface="Courier New"/>
                <a:cs typeface="Courier New"/>
                <a:sym typeface="Courier New"/>
              </a:rPr>
              <a:t> </a:t>
            </a:r>
            <a:endParaRPr b="1" sz="1600">
              <a:solidFill>
                <a:srgbClr val="212529"/>
              </a:solidFill>
              <a:highlight>
                <a:schemeClr val="lt1"/>
              </a:highlight>
              <a:latin typeface="Courier New"/>
              <a:ea typeface="Courier New"/>
              <a:cs typeface="Courier New"/>
              <a:sym typeface="Courier New"/>
            </a:endParaRPr>
          </a:p>
          <a:p>
            <a:pPr indent="457200" lvl="0" marL="0" rtl="0" algn="l">
              <a:lnSpc>
                <a:spcPct val="80000"/>
              </a:lnSpc>
              <a:spcBef>
                <a:spcPts val="0"/>
              </a:spcBef>
              <a:spcAft>
                <a:spcPts val="0"/>
              </a:spcAft>
              <a:buNone/>
            </a:pPr>
            <a:r>
              <a:rPr b="1" lang="en-US" sz="1600">
                <a:solidFill>
                  <a:srgbClr val="212529"/>
                </a:solidFill>
                <a:highlight>
                  <a:schemeClr val="lt1"/>
                </a:highlight>
                <a:latin typeface="Courier New"/>
                <a:ea typeface="Courier New"/>
                <a:cs typeface="Courier New"/>
                <a:sym typeface="Courier New"/>
              </a:rPr>
              <a:t>&lt;use_password&gt;yes&lt;/use_password&gt;</a:t>
            </a:r>
            <a:endParaRPr b="1" sz="16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sz="1600">
                <a:solidFill>
                  <a:srgbClr val="212529"/>
                </a:solidFill>
                <a:highlight>
                  <a:schemeClr val="lt1"/>
                </a:highlight>
                <a:latin typeface="Courier New"/>
                <a:ea typeface="Courier New"/>
                <a:cs typeface="Courier New"/>
                <a:sym typeface="Courier New"/>
              </a:rPr>
              <a:t>&lt;/auth&gt;</a:t>
            </a:r>
            <a:endParaRPr sz="16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6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sz="1600">
                <a:solidFill>
                  <a:srgbClr val="212529"/>
                </a:solidFill>
                <a:highlight>
                  <a:schemeClr val="lt1"/>
                </a:highlight>
                <a:latin typeface="Archivo Medium"/>
                <a:ea typeface="Archivo Medium"/>
                <a:cs typeface="Archivo Medium"/>
                <a:sym typeface="Archivo Medium"/>
              </a:rPr>
              <a:t>create a file authd.pass</a:t>
            </a:r>
            <a:endParaRPr sz="16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6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a:solidFill>
                  <a:srgbClr val="212529"/>
                </a:solidFill>
                <a:highlight>
                  <a:schemeClr val="lt1"/>
                </a:highlight>
                <a:latin typeface="Courier New"/>
                <a:ea typeface="Courier New"/>
                <a:cs typeface="Courier New"/>
                <a:sym typeface="Courier New"/>
              </a:rPr>
              <a:t>echo “example-password” &gt; /var/ossec/etc/authd.pass</a:t>
            </a:r>
            <a:endParaRPr>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a:solidFill>
                  <a:srgbClr val="212529"/>
                </a:solidFill>
                <a:highlight>
                  <a:schemeClr val="lt1"/>
                </a:highlight>
                <a:latin typeface="Courier New"/>
                <a:ea typeface="Courier New"/>
                <a:cs typeface="Courier New"/>
                <a:sym typeface="Courier New"/>
              </a:rPr>
              <a:t>chmod 640 /var/ossec/etc/authd.pass</a:t>
            </a:r>
            <a:endParaRPr>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a:solidFill>
                  <a:srgbClr val="212529"/>
                </a:solidFill>
                <a:highlight>
                  <a:schemeClr val="lt1"/>
                </a:highlight>
                <a:latin typeface="Courier New"/>
                <a:ea typeface="Courier New"/>
                <a:cs typeface="Courier New"/>
                <a:sym typeface="Courier New"/>
              </a:rPr>
              <a:t>chown root:wazuh /var/ossec/etc/authd.pass</a:t>
            </a:r>
            <a:endParaRPr>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8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sz="1800">
                <a:solidFill>
                  <a:srgbClr val="212529"/>
                </a:solidFill>
                <a:highlight>
                  <a:schemeClr val="lt1"/>
                </a:highlight>
                <a:latin typeface="Archivo"/>
                <a:ea typeface="Archivo"/>
                <a:cs typeface="Archivo"/>
                <a:sym typeface="Archivo"/>
              </a:rPr>
              <a:t>sudo systemctl restart wazuh-manager</a:t>
            </a:r>
            <a:endParaRPr sz="1800">
              <a:solidFill>
                <a:srgbClr val="212529"/>
              </a:solidFill>
              <a:highlight>
                <a:schemeClr val="lt1"/>
              </a:highlight>
              <a:latin typeface="Archivo"/>
              <a:ea typeface="Archivo"/>
              <a:cs typeface="Archivo"/>
              <a:sym typeface="Archivo"/>
            </a:endParaRPr>
          </a:p>
          <a:p>
            <a:pPr indent="0" lvl="0" marL="0" rtl="0" algn="l">
              <a:lnSpc>
                <a:spcPct val="80000"/>
              </a:lnSpc>
              <a:spcBef>
                <a:spcPts val="0"/>
              </a:spcBef>
              <a:spcAft>
                <a:spcPts val="0"/>
              </a:spcAft>
              <a:buNone/>
            </a:pPr>
            <a:r>
              <a:t/>
            </a:r>
            <a:endParaRPr sz="18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800">
              <a:solidFill>
                <a:srgbClr val="212529"/>
              </a:solidFill>
              <a:highlight>
                <a:schemeClr val="lt1"/>
              </a:highlight>
              <a:latin typeface="Courier New"/>
              <a:ea typeface="Courier New"/>
              <a:cs typeface="Courier New"/>
              <a:sym typeface="Courier New"/>
            </a:endParaRPr>
          </a:p>
        </p:txBody>
      </p:sp>
      <p:sp>
        <p:nvSpPr>
          <p:cNvPr id="782" name="Google Shape;782;p60"/>
          <p:cNvSpPr txBox="1"/>
          <p:nvPr/>
        </p:nvSpPr>
        <p:spPr>
          <a:xfrm>
            <a:off x="5801850" y="2658075"/>
            <a:ext cx="6665100" cy="32016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2000">
                <a:solidFill>
                  <a:srgbClr val="212529"/>
                </a:solidFill>
                <a:highlight>
                  <a:schemeClr val="lt1"/>
                </a:highlight>
                <a:latin typeface="Archivo Medium"/>
                <a:ea typeface="Archivo Medium"/>
                <a:cs typeface="Archivo Medium"/>
                <a:sym typeface="Archivo Medium"/>
              </a:rPr>
              <a:t>in agent </a:t>
            </a:r>
            <a:r>
              <a:rPr lang="en-US" sz="1800">
                <a:solidFill>
                  <a:srgbClr val="212529"/>
                </a:solidFill>
                <a:highlight>
                  <a:schemeClr val="lt1"/>
                </a:highlight>
                <a:latin typeface="Courier New"/>
                <a:ea typeface="Courier New"/>
                <a:cs typeface="Courier New"/>
                <a:sym typeface="Courier New"/>
              </a:rPr>
              <a:t>ossec.conf</a:t>
            </a:r>
            <a:endParaRPr sz="20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0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800">
                <a:solidFill>
                  <a:srgbClr val="212529"/>
                </a:solidFill>
                <a:highlight>
                  <a:schemeClr val="lt1"/>
                </a:highlight>
                <a:latin typeface="Archivo Medium"/>
                <a:ea typeface="Archivo Medium"/>
                <a:cs typeface="Archivo Medium"/>
                <a:sym typeface="Archivo Medium"/>
              </a:rPr>
              <a:t>create a file authd.pass</a:t>
            </a:r>
            <a:endParaRPr sz="18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8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00">
                <a:solidFill>
                  <a:srgbClr val="212529"/>
                </a:solidFill>
                <a:highlight>
                  <a:schemeClr val="lt1"/>
                </a:highlight>
                <a:latin typeface="Courier New"/>
                <a:ea typeface="Courier New"/>
                <a:cs typeface="Courier New"/>
                <a:sym typeface="Courier New"/>
              </a:rPr>
              <a:t>echo “example-password” &gt; /var/ossec/etc/authd.pass</a:t>
            </a:r>
            <a:endParaRPr sz="16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600">
                <a:solidFill>
                  <a:srgbClr val="212529"/>
                </a:solidFill>
                <a:highlight>
                  <a:schemeClr val="lt1"/>
                </a:highlight>
                <a:latin typeface="Courier New"/>
                <a:ea typeface="Courier New"/>
                <a:cs typeface="Courier New"/>
                <a:sym typeface="Courier New"/>
              </a:rPr>
              <a:t>chmod 640 /var/ossec/etc/authd.pass</a:t>
            </a:r>
            <a:endParaRPr sz="16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sz="1600">
                <a:solidFill>
                  <a:srgbClr val="212529"/>
                </a:solidFill>
                <a:highlight>
                  <a:schemeClr val="lt1"/>
                </a:highlight>
                <a:latin typeface="Courier New"/>
                <a:ea typeface="Courier New"/>
                <a:cs typeface="Courier New"/>
                <a:sym typeface="Courier New"/>
              </a:rPr>
              <a:t>chown root:wazuh /var/ossec/etc/authd.pass</a:t>
            </a:r>
            <a:endParaRPr sz="16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6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sz="1500">
                <a:solidFill>
                  <a:srgbClr val="212529"/>
                </a:solidFill>
                <a:highlight>
                  <a:schemeClr val="lt1"/>
                </a:highlight>
                <a:latin typeface="Courier New"/>
                <a:ea typeface="Courier New"/>
                <a:cs typeface="Courier New"/>
                <a:sym typeface="Courier New"/>
              </a:rPr>
              <a:t>&lt;server&gt;</a:t>
            </a:r>
            <a:endParaRPr sz="15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sz="1500">
                <a:solidFill>
                  <a:srgbClr val="212529"/>
                </a:solidFill>
                <a:highlight>
                  <a:schemeClr val="lt1"/>
                </a:highlight>
                <a:latin typeface="Courier New"/>
                <a:ea typeface="Courier New"/>
                <a:cs typeface="Courier New"/>
                <a:sym typeface="Courier New"/>
              </a:rPr>
              <a:t>&lt;address&gt;MANAGER_IP_ADDRESS&lt;/address&gt;</a:t>
            </a:r>
            <a:endParaRPr sz="15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sz="1500">
                <a:solidFill>
                  <a:srgbClr val="212529"/>
                </a:solidFill>
                <a:highlight>
                  <a:schemeClr val="lt1"/>
                </a:highlight>
                <a:latin typeface="Courier New"/>
                <a:ea typeface="Courier New"/>
                <a:cs typeface="Courier New"/>
                <a:sym typeface="Courier New"/>
              </a:rPr>
              <a:t>&lt;/server&gt;</a:t>
            </a:r>
            <a:endParaRPr sz="15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20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000">
                <a:solidFill>
                  <a:srgbClr val="212529"/>
                </a:solidFill>
                <a:highlight>
                  <a:schemeClr val="lt1"/>
                </a:highlight>
                <a:latin typeface="Archivo Medium"/>
                <a:ea typeface="Archivo Medium"/>
                <a:cs typeface="Archivo Medium"/>
                <a:sym typeface="Archivo Medium"/>
              </a:rPr>
              <a:t>sudo systemctl start wazuh-agent</a:t>
            </a:r>
            <a:endParaRPr sz="16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2000">
              <a:solidFill>
                <a:srgbClr val="212529"/>
              </a:solidFill>
              <a:highlight>
                <a:schemeClr val="lt1"/>
              </a:highlight>
              <a:latin typeface="Archivo Medium"/>
              <a:ea typeface="Archivo Medium"/>
              <a:cs typeface="Archivo Medium"/>
              <a:sym typeface="Archivo Medium"/>
            </a:endParaRPr>
          </a:p>
        </p:txBody>
      </p:sp>
    </p:spTree>
  </p:cSld>
  <p:clrMapOvr>
    <a:masterClrMapping/>
  </p:clrMapOvr>
  <p:transition spd="slow">
    <p:fade thruBlk="1"/>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61"/>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Agent_Auth CLI</a:t>
            </a:r>
            <a:endParaRPr b="1" i="0" sz="3600" u="none" cap="none" strike="noStrike">
              <a:solidFill>
                <a:srgbClr val="6D9EEB"/>
              </a:solidFill>
              <a:latin typeface="Poppins"/>
              <a:ea typeface="Poppins"/>
              <a:cs typeface="Poppins"/>
              <a:sym typeface="Poppins"/>
            </a:endParaRPr>
          </a:p>
        </p:txBody>
      </p:sp>
      <p:cxnSp>
        <p:nvCxnSpPr>
          <p:cNvPr id="788" name="Google Shape;788;p6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789" name="Google Shape;789;p61"/>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790" name="Google Shape;790;p61"/>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791" name="Google Shape;791;p6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792" name="Google Shape;792;p6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793" name="Google Shape;793;p6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794" name="Google Shape;794;p61"/>
          <p:cNvSpPr txBox="1"/>
          <p:nvPr/>
        </p:nvSpPr>
        <p:spPr>
          <a:xfrm>
            <a:off x="914600" y="1537525"/>
            <a:ext cx="9933600" cy="94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lang="en-US" sz="1800">
                <a:solidFill>
                  <a:schemeClr val="dk1"/>
                </a:solidFill>
                <a:latin typeface="Archivo Medium"/>
                <a:ea typeface="Archivo Medium"/>
                <a:cs typeface="Archivo Medium"/>
                <a:sym typeface="Archivo Medium"/>
              </a:rPr>
              <a:t>Agent_auth CLI Tool</a:t>
            </a:r>
            <a:endParaRPr>
              <a:solidFill>
                <a:schemeClr val="dk1"/>
              </a:solidFill>
              <a:latin typeface="Archivo Medium"/>
              <a:ea typeface="Archivo Medium"/>
              <a:cs typeface="Archivo Medium"/>
              <a:sym typeface="Archivo Medium"/>
            </a:endParaRPr>
          </a:p>
          <a:p>
            <a:pPr indent="-330200" lvl="0" marL="457200" rtl="0" algn="l">
              <a:lnSpc>
                <a:spcPct val="80000"/>
              </a:lnSpc>
              <a:spcBef>
                <a:spcPts val="400"/>
              </a:spcBef>
              <a:spcAft>
                <a:spcPts val="0"/>
              </a:spcAft>
              <a:buClr>
                <a:schemeClr val="dk1"/>
              </a:buClr>
              <a:buSzPts val="1600"/>
              <a:buChar char="●"/>
            </a:pPr>
            <a:r>
              <a:rPr lang="en-US">
                <a:solidFill>
                  <a:schemeClr val="dk1"/>
                </a:solidFill>
                <a:latin typeface="Archivo Medium"/>
                <a:ea typeface="Archivo Medium"/>
                <a:cs typeface="Archivo Medium"/>
                <a:sym typeface="Archivo Medium"/>
              </a:rPr>
              <a:t>Manager	: Jalankan perintah agent-auth dengan opsi seperti -m </a:t>
            </a:r>
            <a:r>
              <a:rPr lang="en-US">
                <a:solidFill>
                  <a:srgbClr val="FF0000"/>
                </a:solidFill>
                <a:latin typeface="Archivo Medium"/>
                <a:ea typeface="Archivo Medium"/>
                <a:cs typeface="Archivo Medium"/>
                <a:sym typeface="Archivo Medium"/>
              </a:rPr>
              <a:t>&lt;IP manager&gt;</a:t>
            </a:r>
            <a:r>
              <a:rPr lang="en-US">
                <a:solidFill>
                  <a:schemeClr val="dk1"/>
                </a:solidFill>
                <a:latin typeface="Archivo Medium"/>
                <a:ea typeface="Archivo Medium"/>
                <a:cs typeface="Archivo Medium"/>
                <a:sym typeface="Archivo Medium"/>
              </a:rPr>
              <a:t>.</a:t>
            </a:r>
            <a:endParaRPr>
              <a:solidFill>
                <a:schemeClr val="dk1"/>
              </a:solidFill>
              <a:latin typeface="Archivo Medium"/>
              <a:ea typeface="Archivo Medium"/>
              <a:cs typeface="Archivo Medium"/>
              <a:sym typeface="Archivo Medium"/>
            </a:endParaRPr>
          </a:p>
          <a:p>
            <a:pPr indent="-330200" lvl="0" marL="457200" rtl="0" algn="l">
              <a:lnSpc>
                <a:spcPct val="80000"/>
              </a:lnSpc>
              <a:spcBef>
                <a:spcPts val="0"/>
              </a:spcBef>
              <a:spcAft>
                <a:spcPts val="0"/>
              </a:spcAft>
              <a:buClr>
                <a:schemeClr val="dk1"/>
              </a:buClr>
              <a:buSzPts val="1600"/>
              <a:buChar char="●"/>
            </a:pPr>
            <a:r>
              <a:rPr lang="en-US">
                <a:solidFill>
                  <a:schemeClr val="dk1"/>
                </a:solidFill>
                <a:latin typeface="Archivo Medium"/>
                <a:ea typeface="Archivo Medium"/>
                <a:cs typeface="Archivo Medium"/>
                <a:sym typeface="Archivo Medium"/>
              </a:rPr>
              <a:t>Agent	: Eksekusi perintah agent-auth untuk mendaftar ke server menggunakan token yang dihasilkan.</a:t>
            </a:r>
            <a:endParaRPr sz="2600">
              <a:solidFill>
                <a:schemeClr val="dk1"/>
              </a:solidFill>
              <a:latin typeface="Archivo Medium"/>
              <a:ea typeface="Archivo Medium"/>
              <a:cs typeface="Archivo Medium"/>
              <a:sym typeface="Archivo Medium"/>
            </a:endParaRPr>
          </a:p>
        </p:txBody>
      </p:sp>
      <p:sp>
        <p:nvSpPr>
          <p:cNvPr id="795" name="Google Shape;795;p61"/>
          <p:cNvSpPr txBox="1"/>
          <p:nvPr/>
        </p:nvSpPr>
        <p:spPr>
          <a:xfrm>
            <a:off x="755500" y="2735950"/>
            <a:ext cx="4940700" cy="431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t/>
            </a:r>
            <a:endParaRPr sz="2000">
              <a:solidFill>
                <a:srgbClr val="212529"/>
              </a:solidFill>
              <a:highlight>
                <a:schemeClr val="lt1"/>
              </a:highlight>
              <a:latin typeface="Courier New"/>
              <a:ea typeface="Courier New"/>
              <a:cs typeface="Courier New"/>
              <a:sym typeface="Courier New"/>
            </a:endParaRPr>
          </a:p>
        </p:txBody>
      </p:sp>
      <p:sp>
        <p:nvSpPr>
          <p:cNvPr id="796" name="Google Shape;796;p61"/>
          <p:cNvSpPr txBox="1"/>
          <p:nvPr/>
        </p:nvSpPr>
        <p:spPr>
          <a:xfrm>
            <a:off x="5891150" y="2771038"/>
            <a:ext cx="6665100" cy="15393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2000">
                <a:solidFill>
                  <a:srgbClr val="212529"/>
                </a:solidFill>
                <a:highlight>
                  <a:schemeClr val="lt1"/>
                </a:highlight>
                <a:latin typeface="Archivo Medium"/>
                <a:ea typeface="Archivo Medium"/>
                <a:cs typeface="Archivo Medium"/>
                <a:sym typeface="Archivo Medium"/>
              </a:rPr>
              <a:t>in agent </a:t>
            </a:r>
            <a:endParaRPr sz="20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0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500">
                <a:solidFill>
                  <a:srgbClr val="212529"/>
                </a:solidFill>
                <a:highlight>
                  <a:schemeClr val="lt1"/>
                </a:highlight>
                <a:latin typeface="Courier New"/>
                <a:ea typeface="Courier New"/>
                <a:cs typeface="Courier New"/>
                <a:sym typeface="Courier New"/>
              </a:rPr>
              <a:t>sudo /var/ossec/bin/agent-auth -m MANAGER_IP -P Example-Password</a:t>
            </a:r>
            <a:endParaRPr sz="15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20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2000">
                <a:solidFill>
                  <a:srgbClr val="212529"/>
                </a:solidFill>
                <a:highlight>
                  <a:schemeClr val="lt1"/>
                </a:highlight>
                <a:latin typeface="Archivo Medium"/>
                <a:ea typeface="Archivo Medium"/>
                <a:cs typeface="Archivo Medium"/>
                <a:sym typeface="Archivo Medium"/>
              </a:rPr>
              <a:t>sudo systemctl start wazuh-agent</a:t>
            </a:r>
            <a:endParaRPr sz="2000">
              <a:solidFill>
                <a:srgbClr val="212529"/>
              </a:solidFill>
              <a:highlight>
                <a:schemeClr val="lt1"/>
              </a:highlight>
              <a:latin typeface="Archivo Medium"/>
              <a:ea typeface="Archivo Medium"/>
              <a:cs typeface="Archivo Medium"/>
              <a:sym typeface="Archivo Medium"/>
            </a:endParaRPr>
          </a:p>
        </p:txBody>
      </p:sp>
      <p:sp>
        <p:nvSpPr>
          <p:cNvPr id="797" name="Google Shape;797;p61"/>
          <p:cNvSpPr txBox="1"/>
          <p:nvPr/>
        </p:nvSpPr>
        <p:spPr>
          <a:xfrm>
            <a:off x="692525" y="2735950"/>
            <a:ext cx="4940700" cy="32016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800">
                <a:solidFill>
                  <a:srgbClr val="212529"/>
                </a:solidFill>
                <a:highlight>
                  <a:schemeClr val="lt1"/>
                </a:highlight>
                <a:latin typeface="Archivo Medium"/>
                <a:ea typeface="Archivo Medium"/>
                <a:cs typeface="Archivo Medium"/>
                <a:sym typeface="Archivo Medium"/>
              </a:rPr>
              <a:t>On the Wazuh Server </a:t>
            </a:r>
            <a:r>
              <a:rPr lang="en-US" sz="1800">
                <a:solidFill>
                  <a:srgbClr val="212529"/>
                </a:solidFill>
                <a:highlight>
                  <a:schemeClr val="lt1"/>
                </a:highlight>
                <a:latin typeface="Courier New"/>
                <a:ea typeface="Courier New"/>
                <a:cs typeface="Courier New"/>
                <a:sym typeface="Courier New"/>
              </a:rPr>
              <a:t>ossec.conf</a:t>
            </a:r>
            <a:endParaRPr sz="18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8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rgbClr val="212529"/>
                </a:solidFill>
                <a:highlight>
                  <a:schemeClr val="lt1"/>
                </a:highlight>
                <a:latin typeface="Courier New"/>
                <a:ea typeface="Courier New"/>
                <a:cs typeface="Courier New"/>
                <a:sym typeface="Courier New"/>
              </a:rPr>
              <a:t>&lt;</a:t>
            </a:r>
            <a:r>
              <a:rPr lang="en-US" sz="1600">
                <a:solidFill>
                  <a:srgbClr val="212529"/>
                </a:solidFill>
                <a:highlight>
                  <a:schemeClr val="lt1"/>
                </a:highlight>
                <a:latin typeface="Courier New"/>
                <a:ea typeface="Courier New"/>
                <a:cs typeface="Courier New"/>
                <a:sym typeface="Courier New"/>
              </a:rPr>
              <a:t>auth&gt;</a:t>
            </a:r>
            <a:r>
              <a:rPr b="1" lang="en-US" sz="1600">
                <a:solidFill>
                  <a:srgbClr val="212529"/>
                </a:solidFill>
                <a:highlight>
                  <a:schemeClr val="lt1"/>
                </a:highlight>
                <a:latin typeface="Courier New"/>
                <a:ea typeface="Courier New"/>
                <a:cs typeface="Courier New"/>
                <a:sym typeface="Courier New"/>
              </a:rPr>
              <a:t> </a:t>
            </a:r>
            <a:endParaRPr b="1" sz="1600">
              <a:solidFill>
                <a:srgbClr val="212529"/>
              </a:solidFill>
              <a:highlight>
                <a:schemeClr val="lt1"/>
              </a:highlight>
              <a:latin typeface="Courier New"/>
              <a:ea typeface="Courier New"/>
              <a:cs typeface="Courier New"/>
              <a:sym typeface="Courier New"/>
            </a:endParaRPr>
          </a:p>
          <a:p>
            <a:pPr indent="457200" lvl="0" marL="0" rtl="0" algn="l">
              <a:lnSpc>
                <a:spcPct val="80000"/>
              </a:lnSpc>
              <a:spcBef>
                <a:spcPts val="0"/>
              </a:spcBef>
              <a:spcAft>
                <a:spcPts val="0"/>
              </a:spcAft>
              <a:buNone/>
            </a:pPr>
            <a:r>
              <a:rPr b="1" lang="en-US" sz="1600">
                <a:solidFill>
                  <a:srgbClr val="212529"/>
                </a:solidFill>
                <a:highlight>
                  <a:schemeClr val="lt1"/>
                </a:highlight>
                <a:latin typeface="Courier New"/>
                <a:ea typeface="Courier New"/>
                <a:cs typeface="Courier New"/>
                <a:sym typeface="Courier New"/>
              </a:rPr>
              <a:t>&lt;use_password&gt;Yes&lt;/use_password&gt;</a:t>
            </a:r>
            <a:endParaRPr b="1" sz="16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sz="1600">
                <a:solidFill>
                  <a:srgbClr val="212529"/>
                </a:solidFill>
                <a:highlight>
                  <a:schemeClr val="lt1"/>
                </a:highlight>
                <a:latin typeface="Courier New"/>
                <a:ea typeface="Courier New"/>
                <a:cs typeface="Courier New"/>
                <a:sym typeface="Courier New"/>
              </a:rPr>
              <a:t>&lt;/auth&gt;</a:t>
            </a:r>
            <a:endParaRPr sz="16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6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sz="1600">
                <a:solidFill>
                  <a:srgbClr val="212529"/>
                </a:solidFill>
                <a:highlight>
                  <a:schemeClr val="lt1"/>
                </a:highlight>
                <a:latin typeface="Archivo Medium"/>
                <a:ea typeface="Archivo Medium"/>
                <a:cs typeface="Archivo Medium"/>
                <a:sym typeface="Archivo Medium"/>
              </a:rPr>
              <a:t>create a file authd.pass</a:t>
            </a:r>
            <a:endParaRPr sz="16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600">
              <a:solidFill>
                <a:srgbClr val="212529"/>
              </a:solidFill>
              <a:highlight>
                <a:schemeClr val="lt1"/>
              </a:highlight>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a:solidFill>
                  <a:srgbClr val="212529"/>
                </a:solidFill>
                <a:highlight>
                  <a:schemeClr val="lt1"/>
                </a:highlight>
                <a:latin typeface="Courier New"/>
                <a:ea typeface="Courier New"/>
                <a:cs typeface="Courier New"/>
                <a:sym typeface="Courier New"/>
              </a:rPr>
              <a:t>echo “example-password” &gt; /var/ossec/etc/authd.pass</a:t>
            </a:r>
            <a:endParaRPr>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a:solidFill>
                  <a:srgbClr val="212529"/>
                </a:solidFill>
                <a:highlight>
                  <a:schemeClr val="lt1"/>
                </a:highlight>
                <a:latin typeface="Courier New"/>
                <a:ea typeface="Courier New"/>
                <a:cs typeface="Courier New"/>
                <a:sym typeface="Courier New"/>
              </a:rPr>
              <a:t>chmod 640 /var/ossec/etc/authd.pass</a:t>
            </a:r>
            <a:endParaRPr>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a:solidFill>
                  <a:srgbClr val="212529"/>
                </a:solidFill>
                <a:highlight>
                  <a:schemeClr val="lt1"/>
                </a:highlight>
                <a:latin typeface="Courier New"/>
                <a:ea typeface="Courier New"/>
                <a:cs typeface="Courier New"/>
                <a:sym typeface="Courier New"/>
              </a:rPr>
              <a:t>chown root:wazuh /var/ossec/etc/authd.pass</a:t>
            </a:r>
            <a:endParaRPr>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800">
              <a:solidFill>
                <a:srgbClr val="212529"/>
              </a:solidFill>
              <a:highlight>
                <a:schemeClr val="lt1"/>
              </a:highlight>
              <a:latin typeface="Courier New"/>
              <a:ea typeface="Courier New"/>
              <a:cs typeface="Courier New"/>
              <a:sym typeface="Courier New"/>
            </a:endParaRPr>
          </a:p>
          <a:p>
            <a:pPr indent="0" lvl="0" marL="0" rtl="0" algn="l">
              <a:lnSpc>
                <a:spcPct val="80000"/>
              </a:lnSpc>
              <a:spcBef>
                <a:spcPts val="0"/>
              </a:spcBef>
              <a:spcAft>
                <a:spcPts val="0"/>
              </a:spcAft>
              <a:buNone/>
            </a:pPr>
            <a:r>
              <a:rPr lang="en-US" sz="1800">
                <a:solidFill>
                  <a:srgbClr val="212529"/>
                </a:solidFill>
                <a:highlight>
                  <a:schemeClr val="lt1"/>
                </a:highlight>
                <a:latin typeface="Courier New"/>
                <a:ea typeface="Courier New"/>
                <a:cs typeface="Courier New"/>
                <a:sym typeface="Courier New"/>
              </a:rPr>
              <a:t>sudo systemctl restart wazuh-manager</a:t>
            </a:r>
            <a:endParaRPr sz="1800">
              <a:solidFill>
                <a:srgbClr val="212529"/>
              </a:solidFill>
              <a:highlight>
                <a:schemeClr val="lt1"/>
              </a:highlight>
              <a:latin typeface="Courier New"/>
              <a:ea typeface="Courier New"/>
              <a:cs typeface="Courier New"/>
              <a:sym typeface="Courier New"/>
            </a:endParaRPr>
          </a:p>
        </p:txBody>
      </p:sp>
    </p:spTree>
  </p:cSld>
  <p:clrMapOvr>
    <a:masterClrMapping/>
  </p:clrMapOvr>
  <p:transition spd="slow">
    <p:fade thruBlk="1"/>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01" name="Shape 801"/>
        <p:cNvGrpSpPr/>
        <p:nvPr/>
      </p:nvGrpSpPr>
      <p:grpSpPr>
        <a:xfrm>
          <a:off x="0" y="0"/>
          <a:ext cx="0" cy="0"/>
          <a:chOff x="0" y="0"/>
          <a:chExt cx="0" cy="0"/>
        </a:xfrm>
      </p:grpSpPr>
      <p:pic>
        <p:nvPicPr>
          <p:cNvPr descr="A picture containing food, drawing, shirt&#10;&#10;Description automatically generated" id="802" name="Google Shape;802;p6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803" name="Google Shape;803;p6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04" name="Google Shape;804;p6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805" name="Google Shape;805;p62"/>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806" name="Google Shape;806;p6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807" name="Google Shape;807;p62"/>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808" name="Google Shape;808;p62"/>
          <p:cNvSpPr txBox="1"/>
          <p:nvPr/>
        </p:nvSpPr>
        <p:spPr>
          <a:xfrm>
            <a:off x="1357489" y="3803851"/>
            <a:ext cx="9477000" cy="156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Labs Deployment Wazuh Agent </a:t>
            </a:r>
            <a:endParaRPr sz="4800">
              <a:solidFill>
                <a:schemeClr val="lt1"/>
              </a:solidFill>
              <a:highlight>
                <a:srgbClr val="3585F9"/>
              </a:highlight>
              <a:latin typeface="Poppins"/>
              <a:ea typeface="Poppins"/>
              <a:cs typeface="Poppins"/>
              <a:sym typeface="Poppins"/>
            </a:endParaRPr>
          </a:p>
        </p:txBody>
      </p:sp>
      <p:pic>
        <p:nvPicPr>
          <p:cNvPr id="809" name="Google Shape;809;p62"/>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63"/>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Topology and Objective</a:t>
            </a:r>
            <a:endParaRPr b="1" i="0" sz="3600" u="none" cap="none" strike="noStrike">
              <a:solidFill>
                <a:srgbClr val="6D9EEB"/>
              </a:solidFill>
              <a:latin typeface="Poppins"/>
              <a:ea typeface="Poppins"/>
              <a:cs typeface="Poppins"/>
              <a:sym typeface="Poppins"/>
            </a:endParaRPr>
          </a:p>
        </p:txBody>
      </p:sp>
      <p:cxnSp>
        <p:nvCxnSpPr>
          <p:cNvPr id="815" name="Google Shape;815;p6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816" name="Google Shape;816;p63"/>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817" name="Google Shape;817;p63"/>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818" name="Google Shape;818;p6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819" name="Google Shape;819;p6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820" name="Google Shape;820;p6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821" name="Google Shape;821;p63"/>
          <p:cNvPicPr preferRelativeResize="0"/>
          <p:nvPr/>
        </p:nvPicPr>
        <p:blipFill>
          <a:blip r:embed="rId5">
            <a:alphaModFix/>
          </a:blip>
          <a:stretch>
            <a:fillRect/>
          </a:stretch>
        </p:blipFill>
        <p:spPr>
          <a:xfrm>
            <a:off x="7925725" y="1640675"/>
            <a:ext cx="3047071" cy="4207862"/>
          </a:xfrm>
          <a:prstGeom prst="rect">
            <a:avLst/>
          </a:prstGeom>
          <a:noFill/>
          <a:ln>
            <a:noFill/>
          </a:ln>
        </p:spPr>
      </p:pic>
      <p:sp>
        <p:nvSpPr>
          <p:cNvPr id="822" name="Google Shape;822;p63"/>
          <p:cNvSpPr txBox="1"/>
          <p:nvPr/>
        </p:nvSpPr>
        <p:spPr>
          <a:xfrm>
            <a:off x="1000925" y="1949100"/>
            <a:ext cx="6368100" cy="1588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Objective </a:t>
            </a:r>
            <a:endParaRPr sz="1900">
              <a:solidFill>
                <a:srgbClr val="212529"/>
              </a:solidFill>
              <a:highlight>
                <a:schemeClr val="lt1"/>
              </a:highlight>
              <a:latin typeface="Archivo"/>
              <a:ea typeface="Archivo"/>
              <a:cs typeface="Archivo"/>
              <a:sym typeface="Archivo"/>
            </a:endParaRPr>
          </a:p>
          <a:p>
            <a:pPr indent="-349250" lvl="1" marL="9144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Melakukan instalasi agent di Linux &amp; Windows</a:t>
            </a:r>
            <a:endParaRPr sz="1900">
              <a:solidFill>
                <a:srgbClr val="212529"/>
              </a:solidFill>
              <a:highlight>
                <a:schemeClr val="lt1"/>
              </a:highlight>
              <a:latin typeface="Archivo"/>
              <a:ea typeface="Archivo"/>
              <a:cs typeface="Archivo"/>
              <a:sym typeface="Archivo"/>
            </a:endParaRPr>
          </a:p>
          <a:p>
            <a:pPr indent="-349250" lvl="1" marL="9144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Configurasi </a:t>
            </a:r>
            <a:r>
              <a:rPr lang="en-US" sz="1900">
                <a:solidFill>
                  <a:srgbClr val="FF0000"/>
                </a:solidFill>
                <a:highlight>
                  <a:schemeClr val="lt1"/>
                </a:highlight>
                <a:latin typeface="Archivo"/>
                <a:ea typeface="Archivo"/>
                <a:cs typeface="Archivo"/>
                <a:sym typeface="Archivo"/>
              </a:rPr>
              <a:t>&lt;localfile&gt;</a:t>
            </a:r>
            <a:r>
              <a:rPr lang="en-US" sz="1900">
                <a:solidFill>
                  <a:srgbClr val="212529"/>
                </a:solidFill>
                <a:highlight>
                  <a:schemeClr val="lt1"/>
                </a:highlight>
                <a:latin typeface="Archivo"/>
                <a:ea typeface="Archivo"/>
                <a:cs typeface="Archivo"/>
                <a:sym typeface="Archivo"/>
              </a:rPr>
              <a:t> untuk log event</a:t>
            </a:r>
            <a:endParaRPr sz="1900">
              <a:solidFill>
                <a:srgbClr val="212529"/>
              </a:solidFill>
              <a:highlight>
                <a:schemeClr val="lt1"/>
              </a:highlight>
              <a:latin typeface="Archivo"/>
              <a:ea typeface="Archivo"/>
              <a:cs typeface="Archivo"/>
              <a:sym typeface="Archivo"/>
            </a:endParaRPr>
          </a:p>
          <a:p>
            <a:pPr indent="-349250" lvl="1" marL="9144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Menampilkan event di dashboard.</a:t>
            </a:r>
            <a:endParaRPr sz="1900">
              <a:solidFill>
                <a:srgbClr val="212529"/>
              </a:solidFill>
              <a:highlight>
                <a:schemeClr val="lt1"/>
              </a:highlight>
              <a:latin typeface="Archivo"/>
              <a:ea typeface="Archivo"/>
              <a:cs typeface="Archivo"/>
              <a:sym typeface="Archivo"/>
            </a:endParaRPr>
          </a:p>
          <a:p>
            <a:pPr indent="0" lvl="0" marL="0" rtl="0" algn="l">
              <a:lnSpc>
                <a:spcPct val="80000"/>
              </a:lnSpc>
              <a:spcBef>
                <a:spcPts val="0"/>
              </a:spcBef>
              <a:spcAft>
                <a:spcPts val="0"/>
              </a:spcAft>
              <a:buNone/>
            </a:pPr>
            <a:r>
              <a:t/>
            </a:r>
            <a:endParaRPr sz="1900">
              <a:solidFill>
                <a:srgbClr val="212529"/>
              </a:solidFill>
              <a:highlight>
                <a:schemeClr val="lt1"/>
              </a:highlight>
              <a:latin typeface="Archivo"/>
              <a:ea typeface="Archivo"/>
              <a:cs typeface="Archivo"/>
              <a:sym typeface="Archivo"/>
            </a:endParaRPr>
          </a:p>
          <a:p>
            <a:pPr indent="0" lvl="0" marL="0" rtl="0" algn="l">
              <a:lnSpc>
                <a:spcPct val="80000"/>
              </a:lnSpc>
              <a:spcBef>
                <a:spcPts val="0"/>
              </a:spcBef>
              <a:spcAft>
                <a:spcPts val="0"/>
              </a:spcAft>
              <a:buNone/>
            </a:pPr>
            <a:r>
              <a:rPr lang="en-US" sz="1900">
                <a:solidFill>
                  <a:srgbClr val="212529"/>
                </a:solidFill>
                <a:highlight>
                  <a:schemeClr val="lt1"/>
                </a:highlight>
                <a:latin typeface="Archivo"/>
                <a:ea typeface="Archivo"/>
                <a:cs typeface="Archivo"/>
                <a:sym typeface="Archivo"/>
              </a:rPr>
              <a:t>information : </a:t>
            </a:r>
            <a:endParaRPr sz="1900">
              <a:solidFill>
                <a:srgbClr val="212529"/>
              </a:solidFill>
              <a:highlight>
                <a:schemeClr val="lt1"/>
              </a:highlight>
              <a:latin typeface="Archivo"/>
              <a:ea typeface="Archivo"/>
              <a:cs typeface="Archivo"/>
              <a:sym typeface="Archivo"/>
            </a:endParaRPr>
          </a:p>
        </p:txBody>
      </p:sp>
      <p:graphicFrame>
        <p:nvGraphicFramePr>
          <p:cNvPr id="823" name="Google Shape;823;p63"/>
          <p:cNvGraphicFramePr/>
          <p:nvPr/>
        </p:nvGraphicFramePr>
        <p:xfrm>
          <a:off x="1087950" y="3785325"/>
          <a:ext cx="3000000" cy="3000000"/>
        </p:xfrm>
        <a:graphic>
          <a:graphicData uri="http://schemas.openxmlformats.org/drawingml/2006/table">
            <a:tbl>
              <a:tblPr>
                <a:noFill/>
                <a:tableStyleId>{5E9E9AE0-E05B-434B-992F-78115EA43AB1}</a:tableStyleId>
              </a:tblPr>
              <a:tblGrid>
                <a:gridCol w="4012625"/>
              </a:tblGrid>
              <a:tr h="295950">
                <a:tc>
                  <a:txBody>
                    <a:bodyPr/>
                    <a:lstStyle/>
                    <a:p>
                      <a:pPr indent="0" lvl="0" marL="0" rtl="0" algn="ctr">
                        <a:spcBef>
                          <a:spcPts val="0"/>
                        </a:spcBef>
                        <a:spcAft>
                          <a:spcPts val="0"/>
                        </a:spcAft>
                        <a:buNone/>
                      </a:pPr>
                      <a:r>
                        <a:rPr lang="en-US"/>
                        <a:t>Resource Server</a:t>
                      </a:r>
                      <a:endParaRPr/>
                    </a:p>
                  </a:txBody>
                  <a:tcPr marT="91425" marB="91425" marR="91425" marL="91425">
                    <a:solidFill>
                      <a:schemeClr val="accent1"/>
                    </a:solidFill>
                  </a:tcPr>
                </a:tc>
              </a:tr>
              <a:tr h="1365475">
                <a:tc>
                  <a:txBody>
                    <a:bodyPr/>
                    <a:lstStyle/>
                    <a:p>
                      <a:pPr indent="0" lvl="0" marL="0" rtl="0" algn="l">
                        <a:spcBef>
                          <a:spcPts val="0"/>
                        </a:spcBef>
                        <a:spcAft>
                          <a:spcPts val="0"/>
                        </a:spcAft>
                        <a:buNone/>
                      </a:pPr>
                      <a:r>
                        <a:rPr lang="en-US"/>
                        <a:t>Agent-1 ( Ubuntu ) </a:t>
                      </a:r>
                      <a:endParaRPr/>
                    </a:p>
                    <a:p>
                      <a:pPr indent="0" lvl="0" marL="0" rtl="0" algn="l">
                        <a:spcBef>
                          <a:spcPts val="0"/>
                        </a:spcBef>
                        <a:spcAft>
                          <a:spcPts val="0"/>
                        </a:spcAft>
                        <a:buNone/>
                      </a:pPr>
                      <a:r>
                        <a:rPr lang="en-US"/>
                        <a:t>ip address : IP-Client → X/Client</a:t>
                      </a:r>
                      <a:endParaRPr/>
                    </a:p>
                    <a:p>
                      <a:pPr indent="0" lvl="0" marL="0" rtl="0" algn="l">
                        <a:spcBef>
                          <a:spcPts val="0"/>
                        </a:spcBef>
                        <a:spcAft>
                          <a:spcPts val="0"/>
                        </a:spcAft>
                        <a:buNone/>
                      </a:pPr>
                      <a:r>
                        <a:rPr lang="en-US"/>
                        <a:t>Agent-2 ( Windows ) </a:t>
                      </a:r>
                      <a:endParaRPr/>
                    </a:p>
                    <a:p>
                      <a:pPr indent="0" lvl="0" marL="0" rtl="0" algn="l">
                        <a:spcBef>
                          <a:spcPts val="0"/>
                        </a:spcBef>
                        <a:spcAft>
                          <a:spcPts val="0"/>
                        </a:spcAft>
                        <a:buNone/>
                      </a:pPr>
                      <a:r>
                        <a:rPr lang="en-US"/>
                        <a:t>ip address : i</a:t>
                      </a:r>
                      <a:r>
                        <a:rPr lang="en-US">
                          <a:solidFill>
                            <a:schemeClr val="dk1"/>
                          </a:solidFill>
                        </a:rPr>
                        <a:t>P-Laptop</a:t>
                      </a:r>
                      <a:r>
                        <a:rPr lang="en-US"/>
                        <a:t>→ X/Client</a:t>
                      </a:r>
                      <a:endParaRPr/>
                    </a:p>
                    <a:p>
                      <a:pPr indent="0" lvl="0" marL="0" rtl="0" algn="l">
                        <a:spcBef>
                          <a:spcPts val="0"/>
                        </a:spcBef>
                        <a:spcAft>
                          <a:spcPts val="0"/>
                        </a:spcAft>
                        <a:buNone/>
                      </a:pPr>
                      <a:r>
                        <a:rPr lang="en-US"/>
                        <a:t>Wazuh-server</a:t>
                      </a:r>
                      <a:endParaRPr/>
                    </a:p>
                    <a:p>
                      <a:pPr indent="0" lvl="0" marL="0" rtl="0" algn="l">
                        <a:spcBef>
                          <a:spcPts val="0"/>
                        </a:spcBef>
                        <a:spcAft>
                          <a:spcPts val="0"/>
                        </a:spcAft>
                        <a:buNone/>
                      </a:pPr>
                      <a:r>
                        <a:rPr lang="en-US"/>
                        <a:t>ip address : IP-Wazuh → X/Client</a:t>
                      </a:r>
                      <a:endParaRPr/>
                    </a:p>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r>
            </a:tbl>
          </a:graphicData>
        </a:graphic>
      </p:graphicFrame>
    </p:spTree>
  </p:cSld>
  <p:clrMapOvr>
    <a:masterClrMapping/>
  </p:clrMapOvr>
  <p:transition spd="slow">
    <p:fade thruBlk="1"/>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64"/>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Deployment Wazuh Server </a:t>
            </a:r>
            <a:endParaRPr b="1" i="0" sz="3600" u="none" cap="none" strike="noStrike">
              <a:solidFill>
                <a:srgbClr val="6D9EEB"/>
              </a:solidFill>
              <a:latin typeface="Poppins"/>
              <a:ea typeface="Poppins"/>
              <a:cs typeface="Poppins"/>
              <a:sym typeface="Poppins"/>
            </a:endParaRPr>
          </a:p>
        </p:txBody>
      </p:sp>
      <p:cxnSp>
        <p:nvCxnSpPr>
          <p:cNvPr id="829" name="Google Shape;829;p6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830" name="Google Shape;830;p64"/>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831" name="Google Shape;831;p64"/>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832" name="Google Shape;832;p6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833" name="Google Shape;833;p6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834" name="Google Shape;834;p6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835" name="Google Shape;835;p64"/>
          <p:cNvSpPr txBox="1"/>
          <p:nvPr/>
        </p:nvSpPr>
        <p:spPr>
          <a:xfrm>
            <a:off x="1000925" y="1664225"/>
            <a:ext cx="10104600" cy="418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This is </a:t>
            </a:r>
            <a:r>
              <a:rPr b="1" lang="en-US" sz="1900">
                <a:solidFill>
                  <a:srgbClr val="212529"/>
                </a:solidFill>
                <a:highlight>
                  <a:schemeClr val="lt1"/>
                </a:highlight>
                <a:latin typeface="Archivo"/>
                <a:ea typeface="Archivo"/>
                <a:cs typeface="Archivo"/>
                <a:sym typeface="Archivo"/>
              </a:rPr>
              <a:t>Quickstart </a:t>
            </a:r>
            <a:r>
              <a:rPr lang="en-US" sz="1900">
                <a:solidFill>
                  <a:srgbClr val="212529"/>
                </a:solidFill>
                <a:highlight>
                  <a:schemeClr val="lt1"/>
                </a:highlight>
                <a:latin typeface="Archivo"/>
                <a:ea typeface="Archivo"/>
                <a:cs typeface="Archivo"/>
                <a:sym typeface="Archivo"/>
              </a:rPr>
              <a:t>( Not Recommended for Production ) </a:t>
            </a:r>
            <a:endParaRPr sz="1900">
              <a:solidFill>
                <a:srgbClr val="212529"/>
              </a:solidFill>
              <a:highlight>
                <a:schemeClr val="lt1"/>
              </a:highlight>
              <a:latin typeface="Archivo"/>
              <a:ea typeface="Archivo"/>
              <a:cs typeface="Archivo"/>
              <a:sym typeface="Archivo"/>
            </a:endParaRPr>
          </a:p>
        </p:txBody>
      </p:sp>
      <p:graphicFrame>
        <p:nvGraphicFramePr>
          <p:cNvPr id="836" name="Google Shape;836;p64"/>
          <p:cNvGraphicFramePr/>
          <p:nvPr/>
        </p:nvGraphicFramePr>
        <p:xfrm>
          <a:off x="1000925" y="2614063"/>
          <a:ext cx="3000000" cy="3000000"/>
        </p:xfrm>
        <a:graphic>
          <a:graphicData uri="http://schemas.openxmlformats.org/drawingml/2006/table">
            <a:tbl>
              <a:tblPr>
                <a:noFill/>
                <a:tableStyleId>{5E9E9AE0-E05B-434B-992F-78115EA43AB1}</a:tableStyleId>
              </a:tblPr>
              <a:tblGrid>
                <a:gridCol w="9971875"/>
              </a:tblGrid>
              <a:tr h="2527175">
                <a:tc>
                  <a:txBody>
                    <a:bodyPr/>
                    <a:lstStyle/>
                    <a:p>
                      <a:pPr indent="0" lvl="0" marL="0" rtl="0" algn="ctr">
                        <a:spcBef>
                          <a:spcPts val="0"/>
                        </a:spcBef>
                        <a:spcAft>
                          <a:spcPts val="0"/>
                        </a:spcAft>
                        <a:buNone/>
                      </a:pPr>
                      <a:r>
                        <a:rPr lang="en-US" sz="1800">
                          <a:latin typeface="Archivo Medium"/>
                          <a:ea typeface="Archivo Medium"/>
                          <a:cs typeface="Archivo Medium"/>
                          <a:sym typeface="Archivo Medium"/>
                        </a:rPr>
                        <a:t>Installing Wazuh ( All In One ) </a:t>
                      </a:r>
                      <a:endParaRPr sz="1800">
                        <a:latin typeface="Archivo Medium"/>
                        <a:ea typeface="Archivo Medium"/>
                        <a:cs typeface="Archivo Medium"/>
                        <a:sym typeface="Archivo Medium"/>
                      </a:endParaRPr>
                    </a:p>
                    <a:p>
                      <a:pPr indent="0" lvl="0" marL="0" rtl="0" algn="ctr">
                        <a:spcBef>
                          <a:spcPts val="0"/>
                        </a:spcBef>
                        <a:spcAft>
                          <a:spcPts val="0"/>
                        </a:spcAft>
                        <a:buNone/>
                      </a:pPr>
                      <a:r>
                        <a:t/>
                      </a:r>
                      <a:endParaRPr sz="1800">
                        <a:latin typeface="Archivo Medium"/>
                        <a:ea typeface="Archivo Medium"/>
                        <a:cs typeface="Archivo Medium"/>
                        <a:sym typeface="Archivo Medium"/>
                      </a:endParaRPr>
                    </a:p>
                    <a:p>
                      <a:pPr indent="-342900" lvl="0" marL="457200" rtl="0" algn="ctr">
                        <a:spcBef>
                          <a:spcPts val="0"/>
                        </a:spcBef>
                        <a:spcAft>
                          <a:spcPts val="0"/>
                        </a:spcAft>
                        <a:buSzPts val="1800"/>
                        <a:buFont typeface="Archivo Medium"/>
                        <a:buAutoNum type="arabicPeriod"/>
                      </a:pPr>
                      <a:r>
                        <a:rPr lang="en-US" sz="1800">
                          <a:latin typeface="Archivo Medium"/>
                          <a:ea typeface="Archivo Medium"/>
                          <a:cs typeface="Archivo Medium"/>
                          <a:sym typeface="Archivo Medium"/>
                        </a:rPr>
                        <a:t>Download and run the wazuh installation assistant.</a:t>
                      </a:r>
                      <a:endParaRPr sz="1800">
                        <a:latin typeface="Archivo Medium"/>
                        <a:ea typeface="Archivo Medium"/>
                        <a:cs typeface="Archivo Medium"/>
                        <a:sym typeface="Archivo Medium"/>
                      </a:endParaRPr>
                    </a:p>
                    <a:p>
                      <a:pPr indent="0" lvl="0" marL="0" rtl="0" algn="ctr">
                        <a:spcBef>
                          <a:spcPts val="0"/>
                        </a:spcBef>
                        <a:spcAft>
                          <a:spcPts val="0"/>
                        </a:spcAft>
                        <a:buNone/>
                      </a:pPr>
                      <a:r>
                        <a:t/>
                      </a:r>
                      <a:endParaRPr sz="1800">
                        <a:latin typeface="Archivo Medium"/>
                        <a:ea typeface="Archivo Medium"/>
                        <a:cs typeface="Archivo Medium"/>
                        <a:sym typeface="Archivo Medium"/>
                      </a:endParaRPr>
                    </a:p>
                    <a:p>
                      <a:pPr indent="0" lvl="0" marL="0" rtl="0" algn="ctr">
                        <a:spcBef>
                          <a:spcPts val="0"/>
                        </a:spcBef>
                        <a:spcAft>
                          <a:spcPts val="0"/>
                        </a:spcAft>
                        <a:buNone/>
                      </a:pPr>
                      <a:r>
                        <a:rPr lang="en-US" sz="1800">
                          <a:latin typeface="Courier New"/>
                          <a:ea typeface="Courier New"/>
                          <a:cs typeface="Courier New"/>
                          <a:sym typeface="Courier New"/>
                        </a:rPr>
                        <a:t>curl -sO https://packages.wazuh.com/4.9/wazuh-install.sh &amp;&amp; sudo bash ./wazuh-install.sh -a</a:t>
                      </a:r>
                      <a:endParaRPr sz="1800">
                        <a:latin typeface="Courier New"/>
                        <a:ea typeface="Courier New"/>
                        <a:cs typeface="Courier New"/>
                        <a:sym typeface="Courier New"/>
                      </a:endParaRPr>
                    </a:p>
                    <a:p>
                      <a:pPr indent="0" lvl="0" marL="0" rtl="0" algn="ctr">
                        <a:spcBef>
                          <a:spcPts val="0"/>
                        </a:spcBef>
                        <a:spcAft>
                          <a:spcPts val="0"/>
                        </a:spcAft>
                        <a:buNone/>
                      </a:pPr>
                      <a:r>
                        <a:t/>
                      </a:r>
                      <a:endParaRPr sz="1800">
                        <a:latin typeface="Archivo Medium"/>
                        <a:ea typeface="Archivo Medium"/>
                        <a:cs typeface="Archivo Medium"/>
                        <a:sym typeface="Archivo Medium"/>
                      </a:endParaRPr>
                    </a:p>
                    <a:p>
                      <a:pPr indent="-342900" lvl="0" marL="457200" rtl="0" algn="ctr">
                        <a:spcBef>
                          <a:spcPts val="0"/>
                        </a:spcBef>
                        <a:spcAft>
                          <a:spcPts val="0"/>
                        </a:spcAft>
                        <a:buSzPts val="1800"/>
                        <a:buFont typeface="Archivo Medium"/>
                        <a:buAutoNum type="arabicPeriod"/>
                      </a:pPr>
                      <a:r>
                        <a:rPr lang="en-US" sz="1800">
                          <a:latin typeface="Archivo Medium"/>
                          <a:ea typeface="Archivo Medium"/>
                          <a:cs typeface="Archivo Medium"/>
                          <a:sym typeface="Archivo Medium"/>
                        </a:rPr>
                        <a:t>Access the Wazuh web interface with https://&lt;</a:t>
                      </a:r>
                      <a:r>
                        <a:rPr b="1" lang="en-US" sz="1800">
                          <a:latin typeface="Archivo"/>
                          <a:ea typeface="Archivo"/>
                          <a:cs typeface="Archivo"/>
                          <a:sym typeface="Archivo"/>
                        </a:rPr>
                        <a:t>wazuh-server-ip</a:t>
                      </a:r>
                      <a:r>
                        <a:rPr lang="en-US" sz="1800">
                          <a:latin typeface="Archivo Medium"/>
                          <a:ea typeface="Archivo Medium"/>
                          <a:cs typeface="Archivo Medium"/>
                          <a:sym typeface="Archivo Medium"/>
                        </a:rPr>
                        <a:t>&gt; </a:t>
                      </a:r>
                      <a:endParaRPr sz="1800">
                        <a:latin typeface="Archivo Medium"/>
                        <a:ea typeface="Archivo Medium"/>
                        <a:cs typeface="Archivo Medium"/>
                        <a:sym typeface="Archivo Medium"/>
                      </a:endParaRPr>
                    </a:p>
                  </a:txBody>
                  <a:tcPr marT="91425" marB="91425" marR="91425" marL="91425" anchor="ctr">
                    <a:lnL cap="flat" cmpd="sng" w="9525">
                      <a:solidFill>
                        <a:srgbClr val="C41F2F"/>
                      </a:solidFill>
                      <a:prstDash val="solid"/>
                      <a:round/>
                      <a:headEnd len="sm" w="sm" type="none"/>
                      <a:tailEnd len="sm" w="sm" type="none"/>
                    </a:lnL>
                    <a:lnR cap="flat" cmpd="sng" w="9525">
                      <a:solidFill>
                        <a:srgbClr val="C41F2F"/>
                      </a:solidFill>
                      <a:prstDash val="solid"/>
                      <a:round/>
                      <a:headEnd len="sm" w="sm" type="none"/>
                      <a:tailEnd len="sm" w="sm" type="none"/>
                    </a:lnR>
                    <a:lnT cap="flat" cmpd="sng" w="9525">
                      <a:solidFill>
                        <a:srgbClr val="C41F2F"/>
                      </a:solidFill>
                      <a:prstDash val="solid"/>
                      <a:round/>
                      <a:headEnd len="sm" w="sm" type="none"/>
                      <a:tailEnd len="sm" w="sm" type="none"/>
                    </a:lnT>
                    <a:lnB cap="flat" cmpd="sng" w="9525">
                      <a:solidFill>
                        <a:srgbClr val="C41F2F"/>
                      </a:solidFill>
                      <a:prstDash val="solid"/>
                      <a:round/>
                      <a:headEnd len="sm" w="sm" type="none"/>
                      <a:tailEnd len="sm" w="sm" type="none"/>
                    </a:lnB>
                  </a:tcPr>
                </a:tc>
              </a:tr>
            </a:tbl>
          </a:graphicData>
        </a:graphic>
      </p:graphicFrame>
    </p:spTree>
  </p:cSld>
  <p:clrMapOvr>
    <a:masterClrMapping/>
  </p:clrMapOvr>
  <p:transition spd="slow">
    <p:fade thruBlk="1"/>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65"/>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Deployment ( Group Agent)  </a:t>
            </a:r>
            <a:endParaRPr b="1" i="0" sz="3600" u="none" cap="none" strike="noStrike">
              <a:solidFill>
                <a:srgbClr val="6D9EEB"/>
              </a:solidFill>
              <a:latin typeface="Poppins"/>
              <a:ea typeface="Poppins"/>
              <a:cs typeface="Poppins"/>
              <a:sym typeface="Poppins"/>
            </a:endParaRPr>
          </a:p>
        </p:txBody>
      </p:sp>
      <p:cxnSp>
        <p:nvCxnSpPr>
          <p:cNvPr id="842" name="Google Shape;842;p6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843" name="Google Shape;843;p65"/>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844" name="Google Shape;844;p65"/>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845" name="Google Shape;845;p6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846" name="Google Shape;846;p6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847" name="Google Shape;847;p6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848" name="Google Shape;848;p65"/>
          <p:cNvPicPr preferRelativeResize="0"/>
          <p:nvPr/>
        </p:nvPicPr>
        <p:blipFill>
          <a:blip r:embed="rId5">
            <a:alphaModFix/>
          </a:blip>
          <a:stretch>
            <a:fillRect/>
          </a:stretch>
        </p:blipFill>
        <p:spPr>
          <a:xfrm>
            <a:off x="1467350" y="1864225"/>
            <a:ext cx="9137849" cy="2561750"/>
          </a:xfrm>
          <a:prstGeom prst="rect">
            <a:avLst/>
          </a:prstGeom>
          <a:noFill/>
          <a:ln>
            <a:noFill/>
          </a:ln>
          <a:effectLst>
            <a:outerShdw blurRad="57150" rotWithShape="0" algn="bl" dir="8400000" dist="19050">
              <a:srgbClr val="000000">
                <a:alpha val="50000"/>
              </a:srgbClr>
            </a:outerShdw>
          </a:effectLst>
        </p:spPr>
      </p:pic>
      <p:sp>
        <p:nvSpPr>
          <p:cNvPr id="849" name="Google Shape;849;p65"/>
          <p:cNvSpPr txBox="1"/>
          <p:nvPr/>
        </p:nvSpPr>
        <p:spPr>
          <a:xfrm>
            <a:off x="1414875" y="4596913"/>
            <a:ext cx="9604200" cy="418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latin typeface="Archivo"/>
                <a:ea typeface="Archivo"/>
                <a:cs typeface="Archivo"/>
                <a:sym typeface="Archivo"/>
              </a:rPr>
              <a:t>Add New Group → HQ-SRV </a:t>
            </a:r>
            <a:endParaRPr sz="1900">
              <a:solidFill>
                <a:srgbClr val="212529"/>
              </a:solidFill>
              <a:latin typeface="Archivo"/>
              <a:ea typeface="Archivo"/>
              <a:cs typeface="Archivo"/>
              <a:sym typeface="Archivo"/>
            </a:endParaRPr>
          </a:p>
        </p:txBody>
      </p:sp>
      <p:sp>
        <p:nvSpPr>
          <p:cNvPr id="850" name="Google Shape;850;p65"/>
          <p:cNvSpPr/>
          <p:nvPr/>
        </p:nvSpPr>
        <p:spPr>
          <a:xfrm>
            <a:off x="7986525" y="2507850"/>
            <a:ext cx="1234800" cy="646500"/>
          </a:xfrm>
          <a:prstGeom prst="rect">
            <a:avLst/>
          </a:prstGeom>
          <a:noFill/>
          <a:ln cap="flat" cmpd="sng" w="9525">
            <a:solidFill>
              <a:srgbClr val="C41F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851" name="Google Shape;851;p65"/>
          <p:cNvCxnSpPr>
            <a:stCxn id="850" idx="2"/>
          </p:cNvCxnSpPr>
          <p:nvPr/>
        </p:nvCxnSpPr>
        <p:spPr>
          <a:xfrm rot="5400000">
            <a:off x="5792325" y="1982250"/>
            <a:ext cx="1639500" cy="3983700"/>
          </a:xfrm>
          <a:prstGeom prst="curvedConnector2">
            <a:avLst/>
          </a:prstGeom>
          <a:noFill/>
          <a:ln cap="flat" cmpd="sng" w="28575">
            <a:solidFill>
              <a:srgbClr val="FF0000"/>
            </a:solidFill>
            <a:prstDash val="solid"/>
            <a:round/>
            <a:headEnd len="med" w="med" type="none"/>
            <a:tailEnd len="med" w="med" type="triangle"/>
          </a:ln>
        </p:spPr>
      </p:cxnSp>
      <p:sp>
        <p:nvSpPr>
          <p:cNvPr id="852" name="Google Shape;852;p65"/>
          <p:cNvSpPr txBox="1"/>
          <p:nvPr/>
        </p:nvSpPr>
        <p:spPr>
          <a:xfrm>
            <a:off x="1362300" y="5269013"/>
            <a:ext cx="7986600" cy="418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klik </a:t>
            </a:r>
            <a:r>
              <a:rPr b="1" lang="en-US" sz="1900">
                <a:solidFill>
                  <a:srgbClr val="212529"/>
                </a:solidFill>
                <a:highlight>
                  <a:schemeClr val="lt1"/>
                </a:highlight>
                <a:latin typeface="Archivo"/>
                <a:ea typeface="Archivo"/>
                <a:cs typeface="Archivo"/>
                <a:sym typeface="Archivo"/>
              </a:rPr>
              <a:t>S</a:t>
            </a:r>
            <a:r>
              <a:rPr b="1" lang="en-US" sz="1900">
                <a:solidFill>
                  <a:srgbClr val="212529"/>
                </a:solidFill>
                <a:highlight>
                  <a:schemeClr val="lt1"/>
                </a:highlight>
                <a:latin typeface="Archivo"/>
                <a:ea typeface="Archivo"/>
                <a:cs typeface="Archivo"/>
                <a:sym typeface="Archivo"/>
              </a:rPr>
              <a:t>erver management</a:t>
            </a:r>
            <a:r>
              <a:rPr lang="en-US" sz="1900">
                <a:solidFill>
                  <a:srgbClr val="212529"/>
                </a:solidFill>
                <a:highlight>
                  <a:schemeClr val="lt1"/>
                </a:highlight>
                <a:latin typeface="Archivo"/>
                <a:ea typeface="Archivo"/>
                <a:cs typeface="Archivo"/>
                <a:sym typeface="Archivo"/>
              </a:rPr>
              <a:t> &gt; </a:t>
            </a:r>
            <a:r>
              <a:rPr b="1" lang="en-US" sz="1900">
                <a:solidFill>
                  <a:srgbClr val="212529"/>
                </a:solidFill>
                <a:highlight>
                  <a:schemeClr val="lt1"/>
                </a:highlight>
                <a:latin typeface="Archivo"/>
                <a:ea typeface="Archivo"/>
                <a:cs typeface="Archivo"/>
                <a:sym typeface="Archivo"/>
              </a:rPr>
              <a:t>A</a:t>
            </a:r>
            <a:r>
              <a:rPr b="1" lang="en-US" sz="1900">
                <a:solidFill>
                  <a:srgbClr val="212529"/>
                </a:solidFill>
                <a:highlight>
                  <a:schemeClr val="lt1"/>
                </a:highlight>
                <a:latin typeface="Archivo"/>
                <a:ea typeface="Archivo"/>
                <a:cs typeface="Archivo"/>
                <a:sym typeface="Archivo"/>
              </a:rPr>
              <a:t>ccess endpoint Group</a:t>
            </a:r>
            <a:endParaRPr/>
          </a:p>
        </p:txBody>
      </p:sp>
    </p:spTree>
  </p:cSld>
  <p:clrMapOvr>
    <a:masterClrMapping/>
  </p:clrMapOvr>
  <p:transition spd="slow">
    <p:fade thruBlk="1"/>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66"/>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Deployment Agent  </a:t>
            </a:r>
            <a:endParaRPr b="1" i="0" sz="3600" u="none" cap="none" strike="noStrike">
              <a:solidFill>
                <a:srgbClr val="6D9EEB"/>
              </a:solidFill>
              <a:latin typeface="Poppins"/>
              <a:ea typeface="Poppins"/>
              <a:cs typeface="Poppins"/>
              <a:sym typeface="Poppins"/>
            </a:endParaRPr>
          </a:p>
        </p:txBody>
      </p:sp>
      <p:cxnSp>
        <p:nvCxnSpPr>
          <p:cNvPr id="858" name="Google Shape;858;p6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859" name="Google Shape;859;p66"/>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860" name="Google Shape;860;p66"/>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861" name="Google Shape;861;p6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862" name="Google Shape;862;p6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863" name="Google Shape;863;p6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864" name="Google Shape;864;p66"/>
          <p:cNvSpPr txBox="1"/>
          <p:nvPr/>
        </p:nvSpPr>
        <p:spPr>
          <a:xfrm>
            <a:off x="1056400" y="2029175"/>
            <a:ext cx="3492000" cy="1822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access wazuh di browser https://&lt;ip-wazuh-server&gt; dan klik </a:t>
            </a:r>
            <a:r>
              <a:rPr b="1" lang="en-US" sz="1900">
                <a:solidFill>
                  <a:srgbClr val="212529"/>
                </a:solidFill>
                <a:highlight>
                  <a:schemeClr val="lt1"/>
                </a:highlight>
                <a:latin typeface="Archivo"/>
                <a:ea typeface="Archivo"/>
                <a:cs typeface="Archivo"/>
                <a:sym typeface="Archivo"/>
              </a:rPr>
              <a:t>server management</a:t>
            </a:r>
            <a:r>
              <a:rPr lang="en-US" sz="1900">
                <a:solidFill>
                  <a:srgbClr val="212529"/>
                </a:solidFill>
                <a:highlight>
                  <a:schemeClr val="lt1"/>
                </a:highlight>
                <a:latin typeface="Archivo"/>
                <a:ea typeface="Archivo"/>
                <a:cs typeface="Archivo"/>
                <a:sym typeface="Archivo"/>
              </a:rPr>
              <a:t> &gt; </a:t>
            </a:r>
            <a:r>
              <a:rPr b="1" lang="en-US" sz="1900">
                <a:solidFill>
                  <a:srgbClr val="212529"/>
                </a:solidFill>
                <a:highlight>
                  <a:schemeClr val="lt1"/>
                </a:highlight>
                <a:latin typeface="Archivo"/>
                <a:ea typeface="Archivo"/>
                <a:cs typeface="Archivo"/>
                <a:sym typeface="Archivo"/>
              </a:rPr>
              <a:t>access endpoint summary</a:t>
            </a:r>
            <a:r>
              <a:rPr lang="en-US" sz="1900">
                <a:solidFill>
                  <a:srgbClr val="212529"/>
                </a:solidFill>
                <a:highlight>
                  <a:schemeClr val="lt1"/>
                </a:highlight>
                <a:latin typeface="Archivo"/>
                <a:ea typeface="Archivo"/>
                <a:cs typeface="Archivo"/>
                <a:sym typeface="Archivo"/>
              </a:rPr>
              <a:t> </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Deploy New </a:t>
            </a:r>
            <a:r>
              <a:rPr b="1" lang="en-US" sz="1900">
                <a:solidFill>
                  <a:srgbClr val="212529"/>
                </a:solidFill>
                <a:highlight>
                  <a:schemeClr val="lt1"/>
                </a:highlight>
                <a:latin typeface="Archivo"/>
                <a:ea typeface="Archivo"/>
                <a:cs typeface="Archivo"/>
                <a:sym typeface="Archivo"/>
              </a:rPr>
              <a:t>Agents</a:t>
            </a:r>
            <a:endParaRPr b="1" sz="1900">
              <a:solidFill>
                <a:srgbClr val="212529"/>
              </a:solidFill>
              <a:highlight>
                <a:schemeClr val="lt1"/>
              </a:highlight>
              <a:latin typeface="Archivo"/>
              <a:ea typeface="Archivo"/>
              <a:cs typeface="Archivo"/>
              <a:sym typeface="Archivo"/>
            </a:endParaRPr>
          </a:p>
          <a:p>
            <a:pPr indent="0" lvl="0" marL="0" rtl="0" algn="l">
              <a:lnSpc>
                <a:spcPct val="80000"/>
              </a:lnSpc>
              <a:spcBef>
                <a:spcPts val="0"/>
              </a:spcBef>
              <a:spcAft>
                <a:spcPts val="0"/>
              </a:spcAft>
              <a:buNone/>
            </a:pPr>
            <a:r>
              <a:t/>
            </a:r>
            <a:endParaRPr sz="1900">
              <a:solidFill>
                <a:srgbClr val="212529"/>
              </a:solidFill>
              <a:highlight>
                <a:schemeClr val="lt1"/>
              </a:highlight>
              <a:latin typeface="Archivo"/>
              <a:ea typeface="Archivo"/>
              <a:cs typeface="Archivo"/>
              <a:sym typeface="Archivo"/>
            </a:endParaRPr>
          </a:p>
        </p:txBody>
      </p:sp>
      <p:pic>
        <p:nvPicPr>
          <p:cNvPr id="865" name="Google Shape;865;p66"/>
          <p:cNvPicPr preferRelativeResize="0"/>
          <p:nvPr/>
        </p:nvPicPr>
        <p:blipFill>
          <a:blip r:embed="rId5">
            <a:alphaModFix/>
          </a:blip>
          <a:stretch>
            <a:fillRect/>
          </a:stretch>
        </p:blipFill>
        <p:spPr>
          <a:xfrm>
            <a:off x="4904200" y="1726188"/>
            <a:ext cx="6573486" cy="3405625"/>
          </a:xfrm>
          <a:prstGeom prst="rect">
            <a:avLst/>
          </a:prstGeom>
          <a:noFill/>
          <a:ln>
            <a:noFill/>
          </a:ln>
        </p:spPr>
      </p:pic>
      <p:sp>
        <p:nvSpPr>
          <p:cNvPr id="866" name="Google Shape;866;p66"/>
          <p:cNvSpPr/>
          <p:nvPr/>
        </p:nvSpPr>
        <p:spPr>
          <a:xfrm>
            <a:off x="4904200" y="3145725"/>
            <a:ext cx="996000" cy="121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ransition spd="slow">
    <p:fade thruBlk="1"/>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67"/>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Deployment Agent  </a:t>
            </a:r>
            <a:endParaRPr b="1" i="0" sz="3600" u="none" cap="none" strike="noStrike">
              <a:solidFill>
                <a:srgbClr val="6D9EEB"/>
              </a:solidFill>
              <a:latin typeface="Poppins"/>
              <a:ea typeface="Poppins"/>
              <a:cs typeface="Poppins"/>
              <a:sym typeface="Poppins"/>
            </a:endParaRPr>
          </a:p>
        </p:txBody>
      </p:sp>
      <p:cxnSp>
        <p:nvCxnSpPr>
          <p:cNvPr id="872" name="Google Shape;872;p6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873" name="Google Shape;873;p67"/>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874" name="Google Shape;874;p67"/>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875" name="Google Shape;875;p6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876" name="Google Shape;876;p6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877" name="Google Shape;877;p6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878" name="Google Shape;878;p67"/>
          <p:cNvSpPr txBox="1"/>
          <p:nvPr/>
        </p:nvSpPr>
        <p:spPr>
          <a:xfrm>
            <a:off x="1000925" y="1619150"/>
            <a:ext cx="10353000" cy="418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Pilih packet dan donwload selanjutnya install di system client : </a:t>
            </a:r>
            <a:endParaRPr sz="1900">
              <a:solidFill>
                <a:srgbClr val="212529"/>
              </a:solidFill>
              <a:highlight>
                <a:schemeClr val="lt1"/>
              </a:highlight>
              <a:latin typeface="Archivo"/>
              <a:ea typeface="Archivo"/>
              <a:cs typeface="Archivo"/>
              <a:sym typeface="Archivo"/>
            </a:endParaRPr>
          </a:p>
        </p:txBody>
      </p:sp>
      <p:pic>
        <p:nvPicPr>
          <p:cNvPr id="879" name="Google Shape;879;p67"/>
          <p:cNvPicPr preferRelativeResize="0"/>
          <p:nvPr/>
        </p:nvPicPr>
        <p:blipFill>
          <a:blip r:embed="rId5">
            <a:alphaModFix/>
          </a:blip>
          <a:stretch>
            <a:fillRect/>
          </a:stretch>
        </p:blipFill>
        <p:spPr>
          <a:xfrm>
            <a:off x="1558975" y="2400200"/>
            <a:ext cx="8772525" cy="3228975"/>
          </a:xfrm>
          <a:prstGeom prst="rect">
            <a:avLst/>
          </a:prstGeom>
          <a:noFill/>
          <a:ln>
            <a:noFill/>
          </a:ln>
          <a:effectLst>
            <a:outerShdw blurRad="57150" rotWithShape="0" algn="bl" dir="7800000" dist="19050">
              <a:srgbClr val="000000">
                <a:alpha val="70000"/>
              </a:srgbClr>
            </a:outerShdw>
          </a:effectLst>
        </p:spPr>
      </p:pic>
      <p:sp>
        <p:nvSpPr>
          <p:cNvPr id="880" name="Google Shape;880;p67"/>
          <p:cNvSpPr/>
          <p:nvPr/>
        </p:nvSpPr>
        <p:spPr>
          <a:xfrm>
            <a:off x="2257125" y="4011375"/>
            <a:ext cx="2130600" cy="695400"/>
          </a:xfrm>
          <a:prstGeom prst="roundRect">
            <a:avLst>
              <a:gd fmla="val 16667" name="adj"/>
            </a:avLst>
          </a:prstGeom>
          <a:noFill/>
          <a:ln cap="flat" cmpd="sng" w="9525">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81" name="Google Shape;881;p67"/>
          <p:cNvSpPr/>
          <p:nvPr/>
        </p:nvSpPr>
        <p:spPr>
          <a:xfrm>
            <a:off x="4771725" y="4011375"/>
            <a:ext cx="2130600" cy="695400"/>
          </a:xfrm>
          <a:prstGeom prst="roundRect">
            <a:avLst>
              <a:gd fmla="val 16667" name="adj"/>
            </a:avLst>
          </a:prstGeom>
          <a:noFill/>
          <a:ln cap="flat" cmpd="sng" w="9525">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ransition spd="slow">
    <p:fade thruBlk="1"/>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68"/>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Deployment Agent  </a:t>
            </a:r>
            <a:endParaRPr b="1" i="0" sz="3600" u="none" cap="none" strike="noStrike">
              <a:solidFill>
                <a:srgbClr val="6D9EEB"/>
              </a:solidFill>
              <a:latin typeface="Poppins"/>
              <a:ea typeface="Poppins"/>
              <a:cs typeface="Poppins"/>
              <a:sym typeface="Poppins"/>
            </a:endParaRPr>
          </a:p>
        </p:txBody>
      </p:sp>
      <p:cxnSp>
        <p:nvCxnSpPr>
          <p:cNvPr id="887" name="Google Shape;887;p6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888" name="Google Shape;888;p68"/>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889" name="Google Shape;889;p68"/>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890" name="Google Shape;890;p6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891" name="Google Shape;891;p6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892" name="Google Shape;892;p6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893" name="Google Shape;893;p68"/>
          <p:cNvSpPr txBox="1"/>
          <p:nvPr/>
        </p:nvSpPr>
        <p:spPr>
          <a:xfrm>
            <a:off x="713225" y="1565750"/>
            <a:ext cx="10640700" cy="418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Server</a:t>
            </a:r>
            <a:r>
              <a:rPr lang="en-US" sz="1900">
                <a:solidFill>
                  <a:srgbClr val="212529"/>
                </a:solidFill>
                <a:highlight>
                  <a:schemeClr val="lt1"/>
                </a:highlight>
                <a:latin typeface="Archivo"/>
                <a:ea typeface="Archivo"/>
                <a:cs typeface="Archivo"/>
                <a:sym typeface="Archivo"/>
              </a:rPr>
              <a:t> address is</a:t>
            </a:r>
            <a:r>
              <a:rPr b="1" lang="en-US" sz="1900">
                <a:solidFill>
                  <a:srgbClr val="212529"/>
                </a:solidFill>
                <a:highlight>
                  <a:schemeClr val="lt1"/>
                </a:highlight>
                <a:latin typeface="Archivo"/>
                <a:ea typeface="Archivo"/>
                <a:cs typeface="Archivo"/>
                <a:sym typeface="Archivo"/>
              </a:rPr>
              <a:t> ip-wazuh </a:t>
            </a:r>
            <a:endParaRPr b="1" sz="1900">
              <a:solidFill>
                <a:srgbClr val="212529"/>
              </a:solidFill>
              <a:highlight>
                <a:schemeClr val="lt1"/>
              </a:highlight>
              <a:latin typeface="Archivo"/>
              <a:ea typeface="Archivo"/>
              <a:cs typeface="Archivo"/>
              <a:sym typeface="Archivo"/>
            </a:endParaRPr>
          </a:p>
        </p:txBody>
      </p:sp>
      <p:pic>
        <p:nvPicPr>
          <p:cNvPr id="894" name="Google Shape;894;p68"/>
          <p:cNvPicPr preferRelativeResize="0"/>
          <p:nvPr/>
        </p:nvPicPr>
        <p:blipFill>
          <a:blip r:embed="rId5">
            <a:alphaModFix/>
          </a:blip>
          <a:stretch>
            <a:fillRect/>
          </a:stretch>
        </p:blipFill>
        <p:spPr>
          <a:xfrm>
            <a:off x="1857375" y="2262188"/>
            <a:ext cx="8324850" cy="2486025"/>
          </a:xfrm>
          <a:prstGeom prst="rect">
            <a:avLst/>
          </a:prstGeom>
          <a:noFill/>
          <a:ln>
            <a:noFill/>
          </a:ln>
          <a:effectLst>
            <a:outerShdw blurRad="57150" rotWithShape="0" algn="bl" dir="9000000" dist="19050">
              <a:srgbClr val="000000">
                <a:alpha val="80000"/>
              </a:srgbClr>
            </a:outerShdw>
          </a:effectLst>
        </p:spPr>
      </p:pic>
      <p:sp>
        <p:nvSpPr>
          <p:cNvPr id="895" name="Google Shape;895;p68"/>
          <p:cNvSpPr/>
          <p:nvPr/>
        </p:nvSpPr>
        <p:spPr>
          <a:xfrm>
            <a:off x="2506800" y="3544650"/>
            <a:ext cx="4336500" cy="1169100"/>
          </a:xfrm>
          <a:prstGeom prst="roundRect">
            <a:avLst>
              <a:gd fmla="val 16667" name="adj"/>
            </a:avLst>
          </a:prstGeom>
          <a:noFill/>
          <a:ln cap="flat" cmpd="sng" w="9525">
            <a:solidFill>
              <a:srgbClr val="C41F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ransition spd="slow">
    <p:fade thruBlk="1"/>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69"/>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Deployment Agent  </a:t>
            </a:r>
            <a:endParaRPr b="1" i="0" sz="3600" u="none" cap="none" strike="noStrike">
              <a:solidFill>
                <a:srgbClr val="6D9EEB"/>
              </a:solidFill>
              <a:latin typeface="Poppins"/>
              <a:ea typeface="Poppins"/>
              <a:cs typeface="Poppins"/>
              <a:sym typeface="Poppins"/>
            </a:endParaRPr>
          </a:p>
        </p:txBody>
      </p:sp>
      <p:cxnSp>
        <p:nvCxnSpPr>
          <p:cNvPr id="901" name="Google Shape;901;p6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902" name="Google Shape;902;p69"/>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903" name="Google Shape;903;p69"/>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904" name="Google Shape;904;p6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905" name="Google Shape;905;p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906" name="Google Shape;906;p6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907" name="Google Shape;907;p69"/>
          <p:cNvSpPr txBox="1"/>
          <p:nvPr/>
        </p:nvSpPr>
        <p:spPr>
          <a:xfrm>
            <a:off x="1000925" y="1565750"/>
            <a:ext cx="10353000" cy="418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Donwload &amp; Install </a:t>
            </a:r>
            <a:endParaRPr b="1" sz="1900">
              <a:solidFill>
                <a:srgbClr val="212529"/>
              </a:solidFill>
              <a:highlight>
                <a:schemeClr val="lt1"/>
              </a:highlight>
              <a:latin typeface="Archivo"/>
              <a:ea typeface="Archivo"/>
              <a:cs typeface="Archivo"/>
              <a:sym typeface="Archivo"/>
            </a:endParaRPr>
          </a:p>
        </p:txBody>
      </p:sp>
      <p:pic>
        <p:nvPicPr>
          <p:cNvPr id="908" name="Google Shape;908;p69"/>
          <p:cNvPicPr preferRelativeResize="0"/>
          <p:nvPr/>
        </p:nvPicPr>
        <p:blipFill>
          <a:blip r:embed="rId5">
            <a:alphaModFix/>
          </a:blip>
          <a:stretch>
            <a:fillRect/>
          </a:stretch>
        </p:blipFill>
        <p:spPr>
          <a:xfrm>
            <a:off x="1000925" y="2230625"/>
            <a:ext cx="4557924" cy="3219026"/>
          </a:xfrm>
          <a:prstGeom prst="rect">
            <a:avLst/>
          </a:prstGeom>
          <a:noFill/>
          <a:ln>
            <a:noFill/>
          </a:ln>
          <a:effectLst>
            <a:outerShdw blurRad="57150" rotWithShape="0" algn="bl" dir="9600000" dist="19050">
              <a:srgbClr val="000000">
                <a:alpha val="70000"/>
              </a:srgbClr>
            </a:outerShdw>
          </a:effectLst>
        </p:spPr>
      </p:pic>
      <p:pic>
        <p:nvPicPr>
          <p:cNvPr id="909" name="Google Shape;909;p69"/>
          <p:cNvPicPr preferRelativeResize="0"/>
          <p:nvPr/>
        </p:nvPicPr>
        <p:blipFill>
          <a:blip r:embed="rId6">
            <a:alphaModFix/>
          </a:blip>
          <a:stretch>
            <a:fillRect/>
          </a:stretch>
        </p:blipFill>
        <p:spPr>
          <a:xfrm>
            <a:off x="6098928" y="2230625"/>
            <a:ext cx="4899948" cy="3219025"/>
          </a:xfrm>
          <a:prstGeom prst="rect">
            <a:avLst/>
          </a:prstGeom>
          <a:noFill/>
          <a:ln>
            <a:noFill/>
          </a:ln>
          <a:effectLst>
            <a:outerShdw blurRad="57150" rotWithShape="0" algn="bl" dir="9600000" dist="19050">
              <a:srgbClr val="000000">
                <a:alpha val="70000"/>
              </a:srgbClr>
            </a:outerShdw>
          </a:effectLst>
        </p:spPr>
      </p:pic>
      <p:sp>
        <p:nvSpPr>
          <p:cNvPr id="910" name="Google Shape;910;p69"/>
          <p:cNvSpPr txBox="1"/>
          <p:nvPr/>
        </p:nvSpPr>
        <p:spPr>
          <a:xfrm>
            <a:off x="2244250" y="5574725"/>
            <a:ext cx="1040400" cy="418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highlight>
                  <a:schemeClr val="lt1"/>
                </a:highlight>
                <a:latin typeface="Archivo"/>
                <a:ea typeface="Archivo"/>
                <a:cs typeface="Archivo"/>
                <a:sym typeface="Archivo"/>
              </a:rPr>
              <a:t>Ubuntu</a:t>
            </a:r>
            <a:endParaRPr sz="1900">
              <a:solidFill>
                <a:srgbClr val="212529"/>
              </a:solidFill>
              <a:highlight>
                <a:schemeClr val="lt1"/>
              </a:highlight>
              <a:latin typeface="Archivo"/>
              <a:ea typeface="Archivo"/>
              <a:cs typeface="Archivo"/>
              <a:sym typeface="Archivo"/>
            </a:endParaRPr>
          </a:p>
        </p:txBody>
      </p:sp>
      <p:sp>
        <p:nvSpPr>
          <p:cNvPr id="911" name="Google Shape;911;p69"/>
          <p:cNvSpPr txBox="1"/>
          <p:nvPr/>
        </p:nvSpPr>
        <p:spPr>
          <a:xfrm>
            <a:off x="8020050" y="5574725"/>
            <a:ext cx="1230300" cy="418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highlight>
                  <a:schemeClr val="lt1"/>
                </a:highlight>
                <a:latin typeface="Archivo"/>
                <a:ea typeface="Archivo"/>
                <a:cs typeface="Archivo"/>
                <a:sym typeface="Archivo"/>
              </a:rPr>
              <a:t>Windows</a:t>
            </a:r>
            <a:endParaRPr sz="1900">
              <a:solidFill>
                <a:srgbClr val="212529"/>
              </a:solidFill>
              <a:highlight>
                <a:schemeClr val="lt1"/>
              </a:highlight>
              <a:latin typeface="Archivo"/>
              <a:ea typeface="Archivo"/>
              <a:cs typeface="Archivo"/>
              <a:sym typeface="Archivo"/>
            </a:endParaRPr>
          </a:p>
        </p:txBody>
      </p:sp>
    </p:spTree>
  </p:cSld>
  <p:clrMapOvr>
    <a:masterClrMapping/>
  </p:clrMapOvr>
  <p:transition spd="slow">
    <p:fade thruBlk="1"/>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70"/>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Verify Agent</a:t>
            </a:r>
            <a:endParaRPr b="1" i="0" sz="3600" u="none" cap="none" strike="noStrike">
              <a:solidFill>
                <a:srgbClr val="6D9EEB"/>
              </a:solidFill>
              <a:latin typeface="Poppins"/>
              <a:ea typeface="Poppins"/>
              <a:cs typeface="Poppins"/>
              <a:sym typeface="Poppins"/>
            </a:endParaRPr>
          </a:p>
        </p:txBody>
      </p:sp>
      <p:cxnSp>
        <p:nvCxnSpPr>
          <p:cNvPr id="917" name="Google Shape;917;p7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918" name="Google Shape;918;p70"/>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919" name="Google Shape;919;p70"/>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920" name="Google Shape;920;p7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921" name="Google Shape;921;p7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922" name="Google Shape;922;p7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923" name="Google Shape;923;p70"/>
          <p:cNvSpPr txBox="1"/>
          <p:nvPr/>
        </p:nvSpPr>
        <p:spPr>
          <a:xfrm>
            <a:off x="713225" y="1565750"/>
            <a:ext cx="10640700" cy="418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Summary endpoint </a:t>
            </a:r>
            <a:endParaRPr b="1" sz="1900">
              <a:solidFill>
                <a:srgbClr val="212529"/>
              </a:solidFill>
              <a:highlight>
                <a:schemeClr val="lt1"/>
              </a:highlight>
              <a:latin typeface="Archivo"/>
              <a:ea typeface="Archivo"/>
              <a:cs typeface="Archivo"/>
              <a:sym typeface="Archivo"/>
            </a:endParaRPr>
          </a:p>
        </p:txBody>
      </p:sp>
      <p:pic>
        <p:nvPicPr>
          <p:cNvPr id="924" name="Google Shape;924;p70"/>
          <p:cNvPicPr preferRelativeResize="0"/>
          <p:nvPr/>
        </p:nvPicPr>
        <p:blipFill>
          <a:blip r:embed="rId5">
            <a:alphaModFix/>
          </a:blip>
          <a:stretch>
            <a:fillRect/>
          </a:stretch>
        </p:blipFill>
        <p:spPr>
          <a:xfrm>
            <a:off x="152400" y="2186775"/>
            <a:ext cx="11887200" cy="1858184"/>
          </a:xfrm>
          <a:prstGeom prst="rect">
            <a:avLst/>
          </a:prstGeom>
          <a:noFill/>
          <a:ln>
            <a:noFill/>
          </a:ln>
          <a:effectLst>
            <a:outerShdw blurRad="57150" rotWithShape="0" algn="bl" dir="9000000" dist="19050">
              <a:srgbClr val="000000">
                <a:alpha val="80000"/>
              </a:srgbClr>
            </a:outerShdw>
          </a:effectLst>
        </p:spPr>
      </p:pic>
      <p:sp>
        <p:nvSpPr>
          <p:cNvPr id="925" name="Google Shape;925;p70"/>
          <p:cNvSpPr txBox="1"/>
          <p:nvPr/>
        </p:nvSpPr>
        <p:spPr>
          <a:xfrm>
            <a:off x="775325" y="5348825"/>
            <a:ext cx="105165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700">
                <a:latin typeface="Archivo"/>
                <a:ea typeface="Archivo"/>
                <a:cs typeface="Archivo"/>
                <a:sym typeface="Archivo"/>
              </a:rPr>
              <a:t>https://documentation.wazuh.com/current/installation-guide/packages-list.html</a:t>
            </a:r>
            <a:endParaRPr sz="1700">
              <a:latin typeface="Archivo"/>
              <a:ea typeface="Archivo"/>
              <a:cs typeface="Archivo"/>
              <a:sym typeface="Archivo"/>
            </a:endParaRPr>
          </a:p>
        </p:txBody>
      </p:sp>
    </p:spTree>
  </p:cSld>
  <p:clrMapOvr>
    <a:masterClrMapping/>
  </p:clrMapOvr>
  <p:transition spd="slow">
    <p:fade thruBlk="1"/>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71"/>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Summary</a:t>
            </a:r>
            <a:endParaRPr b="1" i="0" sz="3600" u="none" cap="none" strike="noStrike">
              <a:solidFill>
                <a:srgbClr val="6D9EEB"/>
              </a:solidFill>
              <a:latin typeface="Poppins"/>
              <a:ea typeface="Poppins"/>
              <a:cs typeface="Poppins"/>
              <a:sym typeface="Poppins"/>
            </a:endParaRPr>
          </a:p>
        </p:txBody>
      </p:sp>
      <p:cxnSp>
        <p:nvCxnSpPr>
          <p:cNvPr id="931" name="Google Shape;931;p7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932" name="Google Shape;932;p7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933" name="Google Shape;933;p7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934" name="Google Shape;934;p7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935" name="Google Shape;935;p7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936" name="Google Shape;936;p7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937" name="Google Shape;937;p7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938" name="Google Shape;938;p71"/>
          <p:cNvSpPr txBox="1"/>
          <p:nvPr/>
        </p:nvSpPr>
        <p:spPr>
          <a:xfrm>
            <a:off x="778450" y="1710750"/>
            <a:ext cx="9471900" cy="2859300"/>
          </a:xfrm>
          <a:prstGeom prst="rect">
            <a:avLst/>
          </a:prstGeom>
          <a:noFill/>
          <a:ln>
            <a:noFill/>
          </a:ln>
        </p:spPr>
        <p:txBody>
          <a:bodyPr anchorCtr="0" anchor="t" bIns="45700" lIns="91425" spcFirstLastPara="1" rIns="91425" wrap="square" tIns="45700">
            <a:noAutofit/>
          </a:bodyPr>
          <a:lstStyle/>
          <a:p>
            <a:pPr indent="-354488" lvl="0" marL="457200" rtl="0" algn="l">
              <a:lnSpc>
                <a:spcPct val="115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Agent Wazuh disebut aman karena ada kemampuan terhadap </a:t>
            </a:r>
            <a:r>
              <a:rPr lang="en-US" sz="1982">
                <a:solidFill>
                  <a:schemeClr val="dk1"/>
                </a:solidFill>
                <a:latin typeface="Archivo Medium"/>
                <a:ea typeface="Archivo Medium"/>
                <a:cs typeface="Archivo Medium"/>
                <a:sym typeface="Archivo Medium"/>
              </a:rPr>
              <a:t>komunikasi</a:t>
            </a:r>
            <a:r>
              <a:rPr lang="en-US" sz="1982">
                <a:solidFill>
                  <a:schemeClr val="dk1"/>
                </a:solidFill>
                <a:latin typeface="Archivo Medium"/>
                <a:ea typeface="Archivo Medium"/>
                <a:cs typeface="Archivo Medium"/>
                <a:sym typeface="Archivo Medium"/>
              </a:rPr>
              <a:t> </a:t>
            </a:r>
            <a:r>
              <a:rPr lang="en-US" sz="1982">
                <a:solidFill>
                  <a:schemeClr val="dk1"/>
                </a:solidFill>
                <a:latin typeface="Archivo Medium"/>
                <a:ea typeface="Archivo Medium"/>
                <a:cs typeface="Archivo Medium"/>
                <a:sym typeface="Archivo Medium"/>
              </a:rPr>
              <a:t>encryption</a:t>
            </a:r>
            <a:r>
              <a:rPr lang="en-US" sz="1982">
                <a:solidFill>
                  <a:schemeClr val="dk1"/>
                </a:solidFill>
                <a:latin typeface="Archivo Medium"/>
                <a:ea typeface="Archivo Medium"/>
                <a:cs typeface="Archivo Medium"/>
                <a:sym typeface="Archivo Medium"/>
              </a:rPr>
              <a:t> pada </a:t>
            </a:r>
            <a:r>
              <a:rPr lang="en-US" sz="1982">
                <a:solidFill>
                  <a:schemeClr val="dk1"/>
                </a:solidFill>
                <a:latin typeface="Archivo Medium"/>
                <a:ea typeface="Archivo Medium"/>
                <a:cs typeface="Archivo Medium"/>
                <a:sym typeface="Archivo Medium"/>
              </a:rPr>
              <a:t>agent</a:t>
            </a:r>
            <a:endParaRPr sz="1982">
              <a:solidFill>
                <a:schemeClr val="dk1"/>
              </a:solidFill>
              <a:latin typeface="Archivo Medium"/>
              <a:ea typeface="Archivo Medium"/>
              <a:cs typeface="Archivo Medium"/>
              <a:sym typeface="Archivo Medium"/>
            </a:endParaRPr>
          </a:p>
          <a:p>
            <a:pPr indent="-354488" lvl="0" marL="457200" rtl="0" algn="l">
              <a:lnSpc>
                <a:spcPct val="115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Component Wazuh ada Dashboard, Indexer, Server, Agent, Filebeat </a:t>
            </a:r>
            <a:endParaRPr sz="1982">
              <a:solidFill>
                <a:schemeClr val="dk1"/>
              </a:solidFill>
              <a:latin typeface="Archivo Medium"/>
              <a:ea typeface="Archivo Medium"/>
              <a:cs typeface="Archivo Medium"/>
              <a:sym typeface="Archivo Medium"/>
            </a:endParaRPr>
          </a:p>
          <a:p>
            <a:pPr indent="-354488" lvl="0" marL="457200" rtl="0" algn="l">
              <a:lnSpc>
                <a:spcPct val="115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Setiap Komponen memiliki fungsi sendiri, pada indexer digunakan untuk analisa, server log management, dashboard visualisasi, agent mengumpulkan event pada sisi client, filebeat digunakan di antara manager dan indexer </a:t>
            </a:r>
            <a:endParaRPr sz="1982">
              <a:solidFill>
                <a:schemeClr val="dk1"/>
              </a:solidFill>
              <a:latin typeface="Archivo Medium"/>
              <a:ea typeface="Archivo Medium"/>
              <a:cs typeface="Archivo Medium"/>
              <a:sym typeface="Archivo Medium"/>
            </a:endParaRPr>
          </a:p>
          <a:p>
            <a:pPr indent="-354488" lvl="0" marL="457200" rtl="0" algn="l">
              <a:lnSpc>
                <a:spcPct val="115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Pada dashboard banyak sekali hal-hal yang bisa kita explore terkait SIEM dan XDR</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42" name="Shape 942"/>
        <p:cNvGrpSpPr/>
        <p:nvPr/>
      </p:nvGrpSpPr>
      <p:grpSpPr>
        <a:xfrm>
          <a:off x="0" y="0"/>
          <a:ext cx="0" cy="0"/>
          <a:chOff x="0" y="0"/>
          <a:chExt cx="0" cy="0"/>
        </a:xfrm>
      </p:grpSpPr>
      <p:pic>
        <p:nvPicPr>
          <p:cNvPr descr="A picture containing food, drawing, shirt&#10;&#10;Description automatically generated" id="943" name="Google Shape;943;p7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944" name="Google Shape;944;p7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45" name="Google Shape;945;p7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946" name="Google Shape;946;p72"/>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947" name="Google Shape;947;p7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948" name="Google Shape;948;p72"/>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949" name="Google Shape;949;p72"/>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a:t>
            </a:r>
            <a:endParaRPr sz="4800">
              <a:solidFill>
                <a:schemeClr val="lt1"/>
              </a:solidFill>
              <a:highlight>
                <a:srgbClr val="3585F9"/>
              </a:highlight>
              <a:latin typeface="Poppins"/>
              <a:ea typeface="Poppins"/>
              <a:cs typeface="Poppins"/>
              <a:sym typeface="Poppins"/>
            </a:endParaRPr>
          </a:p>
        </p:txBody>
      </p:sp>
      <p:pic>
        <p:nvPicPr>
          <p:cNvPr id="950" name="Google Shape;950;p72"/>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73"/>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Agent </a:t>
            </a:r>
            <a:r>
              <a:rPr b="1" lang="en-US" sz="3600">
                <a:solidFill>
                  <a:srgbClr val="6D9EEB"/>
                </a:solidFill>
                <a:latin typeface="Poppins"/>
                <a:ea typeface="Poppins"/>
                <a:cs typeface="Poppins"/>
                <a:sym typeface="Poppins"/>
              </a:rPr>
              <a:t>Enrollment</a:t>
            </a:r>
            <a:r>
              <a:rPr b="1" lang="en-US" sz="3600">
                <a:solidFill>
                  <a:srgbClr val="6D9EEB"/>
                </a:solidFill>
                <a:latin typeface="Poppins"/>
                <a:ea typeface="Poppins"/>
                <a:cs typeface="Poppins"/>
                <a:sym typeface="Poppins"/>
              </a:rPr>
              <a:t> Configuration </a:t>
            </a:r>
            <a:endParaRPr b="1" i="0" sz="3600" u="none" cap="none" strike="noStrike">
              <a:solidFill>
                <a:srgbClr val="6D9EEB"/>
              </a:solidFill>
              <a:latin typeface="Poppins"/>
              <a:ea typeface="Poppins"/>
              <a:cs typeface="Poppins"/>
              <a:sym typeface="Poppins"/>
            </a:endParaRPr>
          </a:p>
        </p:txBody>
      </p:sp>
      <p:cxnSp>
        <p:nvCxnSpPr>
          <p:cNvPr id="956" name="Google Shape;956;p7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957" name="Google Shape;957;p73"/>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958" name="Google Shape;958;p73"/>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959" name="Google Shape;959;p7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960" name="Google Shape;960;p7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961" name="Google Shape;961;p7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962" name="Google Shape;962;p73"/>
          <p:cNvSpPr txBox="1"/>
          <p:nvPr/>
        </p:nvSpPr>
        <p:spPr>
          <a:xfrm>
            <a:off x="985150" y="1650025"/>
            <a:ext cx="10353000" cy="418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/var/ossec/etc/ossec.conf</a:t>
            </a:r>
            <a:endParaRPr b="1" sz="1900">
              <a:solidFill>
                <a:srgbClr val="212529"/>
              </a:solidFill>
              <a:highlight>
                <a:schemeClr val="lt1"/>
              </a:highlight>
              <a:latin typeface="Archivo"/>
              <a:ea typeface="Archivo"/>
              <a:cs typeface="Archivo"/>
              <a:sym typeface="Archivo"/>
            </a:endParaRPr>
          </a:p>
        </p:txBody>
      </p:sp>
      <p:pic>
        <p:nvPicPr>
          <p:cNvPr id="963" name="Google Shape;963;p73"/>
          <p:cNvPicPr preferRelativeResize="0"/>
          <p:nvPr/>
        </p:nvPicPr>
        <p:blipFill rotWithShape="1">
          <a:blip r:embed="rId5">
            <a:alphaModFix/>
          </a:blip>
          <a:srcRect b="9259" l="7326" r="7283" t="10637"/>
          <a:stretch/>
        </p:blipFill>
        <p:spPr>
          <a:xfrm>
            <a:off x="1261575" y="2311638"/>
            <a:ext cx="5194173" cy="3607926"/>
          </a:xfrm>
          <a:prstGeom prst="rect">
            <a:avLst/>
          </a:prstGeom>
          <a:noFill/>
          <a:ln>
            <a:noFill/>
          </a:ln>
          <a:effectLst>
            <a:outerShdw blurRad="57150" rotWithShape="0" algn="bl" dir="9000000" dist="19050">
              <a:srgbClr val="000000">
                <a:alpha val="80000"/>
              </a:srgbClr>
            </a:outerShdw>
          </a:effectLst>
        </p:spPr>
      </p:pic>
      <p:sp>
        <p:nvSpPr>
          <p:cNvPr id="964" name="Google Shape;964;p73"/>
          <p:cNvSpPr/>
          <p:nvPr/>
        </p:nvSpPr>
        <p:spPr>
          <a:xfrm>
            <a:off x="1542550" y="2933375"/>
            <a:ext cx="3076800" cy="269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65" name="Google Shape;965;p73"/>
          <p:cNvSpPr txBox="1"/>
          <p:nvPr/>
        </p:nvSpPr>
        <p:spPr>
          <a:xfrm>
            <a:off x="7687000" y="2736525"/>
            <a:ext cx="3178200" cy="1822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highlight>
                  <a:schemeClr val="lt1"/>
                </a:highlight>
                <a:latin typeface="Archivo"/>
                <a:ea typeface="Archivo"/>
                <a:cs typeface="Archivo"/>
                <a:sym typeface="Archivo"/>
              </a:rPr>
              <a:t>Dari konfigurasi ini, kita bisa </a:t>
            </a:r>
            <a:r>
              <a:rPr lang="en-US" sz="1900">
                <a:solidFill>
                  <a:srgbClr val="212529"/>
                </a:solidFill>
                <a:highlight>
                  <a:schemeClr val="lt1"/>
                </a:highlight>
                <a:latin typeface="Archivo"/>
                <a:ea typeface="Archivo"/>
                <a:cs typeface="Archivo"/>
                <a:sym typeface="Archivo"/>
              </a:rPr>
              <a:t>menyatakan</a:t>
            </a:r>
            <a:r>
              <a:rPr lang="en-US" sz="1900">
                <a:solidFill>
                  <a:srgbClr val="212529"/>
                </a:solidFill>
                <a:highlight>
                  <a:schemeClr val="lt1"/>
                </a:highlight>
                <a:latin typeface="Archivo"/>
                <a:ea typeface="Archivo"/>
                <a:cs typeface="Archivo"/>
                <a:sym typeface="Archivo"/>
              </a:rPr>
              <a:t> untuk agent bisa mengatur sendiri untuk bisa integrasi pada wazuh manager , event yang akan di share sebagai data source </a:t>
            </a:r>
            <a:endParaRPr b="1" sz="1900">
              <a:solidFill>
                <a:srgbClr val="212529"/>
              </a:solidFill>
              <a:highlight>
                <a:schemeClr val="lt1"/>
              </a:highlight>
              <a:latin typeface="Archivo"/>
              <a:ea typeface="Archivo"/>
              <a:cs typeface="Archivo"/>
              <a:sym typeface="Archivo"/>
            </a:endParaRPr>
          </a:p>
        </p:txBody>
      </p:sp>
    </p:spTree>
  </p:cSld>
  <p:clrMapOvr>
    <a:masterClrMapping/>
  </p:clrMapOvr>
  <p:transition spd="slow">
    <p:fade thruBlk="1"/>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74"/>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Mess </a:t>
            </a:r>
            <a:r>
              <a:rPr b="1" lang="en-US" sz="3600">
                <a:solidFill>
                  <a:srgbClr val="6D9EEB"/>
                </a:solidFill>
                <a:latin typeface="Poppins"/>
                <a:ea typeface="Poppins"/>
                <a:cs typeface="Poppins"/>
                <a:sym typeface="Poppins"/>
              </a:rPr>
              <a:t>Installation</a:t>
            </a:r>
            <a:r>
              <a:rPr b="1" lang="en-US" sz="3600">
                <a:solidFill>
                  <a:srgbClr val="6D9EEB"/>
                </a:solidFill>
                <a:latin typeface="Poppins"/>
                <a:ea typeface="Poppins"/>
                <a:cs typeface="Poppins"/>
                <a:sym typeface="Poppins"/>
              </a:rPr>
              <a:t> and Auto-</a:t>
            </a:r>
            <a:r>
              <a:rPr b="1" lang="en-US" sz="3600">
                <a:solidFill>
                  <a:srgbClr val="6D9EEB"/>
                </a:solidFill>
                <a:latin typeface="Poppins"/>
                <a:ea typeface="Poppins"/>
                <a:cs typeface="Poppins"/>
                <a:sym typeface="Poppins"/>
              </a:rPr>
              <a:t>registration</a:t>
            </a:r>
            <a:r>
              <a:rPr b="1" lang="en-US" sz="3600">
                <a:solidFill>
                  <a:srgbClr val="6D9EEB"/>
                </a:solidFill>
                <a:latin typeface="Poppins"/>
                <a:ea typeface="Poppins"/>
                <a:cs typeface="Poppins"/>
                <a:sym typeface="Poppins"/>
              </a:rPr>
              <a:t> agent</a:t>
            </a:r>
            <a:endParaRPr b="1" i="0" sz="3600" u="none" cap="none" strike="noStrike">
              <a:solidFill>
                <a:srgbClr val="6D9EEB"/>
              </a:solidFill>
              <a:latin typeface="Poppins"/>
              <a:ea typeface="Poppins"/>
              <a:cs typeface="Poppins"/>
              <a:sym typeface="Poppins"/>
            </a:endParaRPr>
          </a:p>
        </p:txBody>
      </p:sp>
      <p:cxnSp>
        <p:nvCxnSpPr>
          <p:cNvPr id="971" name="Google Shape;971;p7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972" name="Google Shape;972;p74"/>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973" name="Google Shape;973;p74"/>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974" name="Google Shape;974;p7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975" name="Google Shape;975;p7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976" name="Google Shape;976;p7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977" name="Google Shape;977;p74"/>
          <p:cNvSpPr txBox="1"/>
          <p:nvPr/>
        </p:nvSpPr>
        <p:spPr>
          <a:xfrm>
            <a:off x="1000925" y="1664225"/>
            <a:ext cx="10104600" cy="418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Mess Installation Linux ( bash file )  </a:t>
            </a:r>
            <a:endParaRPr sz="1900">
              <a:solidFill>
                <a:srgbClr val="212529"/>
              </a:solidFill>
              <a:highlight>
                <a:schemeClr val="lt1"/>
              </a:highlight>
              <a:latin typeface="Archivo"/>
              <a:ea typeface="Archivo"/>
              <a:cs typeface="Archivo"/>
              <a:sym typeface="Archivo"/>
            </a:endParaRPr>
          </a:p>
        </p:txBody>
      </p:sp>
      <p:pic>
        <p:nvPicPr>
          <p:cNvPr id="978" name="Google Shape;978;p74"/>
          <p:cNvPicPr preferRelativeResize="0"/>
          <p:nvPr/>
        </p:nvPicPr>
        <p:blipFill rotWithShape="1">
          <a:blip r:embed="rId5">
            <a:alphaModFix/>
          </a:blip>
          <a:srcRect b="11439" l="5408" r="5345" t="10471"/>
          <a:stretch/>
        </p:blipFill>
        <p:spPr>
          <a:xfrm>
            <a:off x="1241925" y="2221352"/>
            <a:ext cx="6751426" cy="2948100"/>
          </a:xfrm>
          <a:prstGeom prst="rect">
            <a:avLst/>
          </a:prstGeom>
          <a:noFill/>
          <a:ln>
            <a:noFill/>
          </a:ln>
          <a:effectLst>
            <a:outerShdw blurRad="57150" rotWithShape="0" algn="bl" dir="10200000" dist="19050">
              <a:srgbClr val="000000">
                <a:alpha val="80000"/>
              </a:srgbClr>
            </a:outerShdw>
          </a:effectLst>
        </p:spPr>
      </p:pic>
      <p:sp>
        <p:nvSpPr>
          <p:cNvPr id="979" name="Google Shape;979;p74"/>
          <p:cNvSpPr txBox="1"/>
          <p:nvPr/>
        </p:nvSpPr>
        <p:spPr>
          <a:xfrm>
            <a:off x="8462500" y="2833363"/>
            <a:ext cx="3178200" cy="1120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highlight>
                  <a:schemeClr val="lt1"/>
                </a:highlight>
                <a:latin typeface="Archivo"/>
                <a:ea typeface="Archivo"/>
                <a:cs typeface="Archivo"/>
                <a:sym typeface="Archivo"/>
              </a:rPr>
              <a:t>Scripting di pinggir bisa digunakan untuk melakukan instalasi di tiap agent, dan sifatnya orchestration</a:t>
            </a:r>
            <a:endParaRPr b="1" sz="1900">
              <a:solidFill>
                <a:srgbClr val="212529"/>
              </a:solidFill>
              <a:highlight>
                <a:schemeClr val="lt1"/>
              </a:highlight>
              <a:latin typeface="Archivo"/>
              <a:ea typeface="Archivo"/>
              <a:cs typeface="Archivo"/>
              <a:sym typeface="Archivo"/>
            </a:endParaRPr>
          </a:p>
        </p:txBody>
      </p:sp>
    </p:spTree>
  </p:cSld>
  <p:clrMapOvr>
    <a:masterClrMapping/>
  </p:clrMapOvr>
  <p:transition spd="slow">
    <p:fade thruBlk="1"/>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75"/>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Mess Installation and Auto-registration agent</a:t>
            </a:r>
            <a:endParaRPr b="1" i="0" sz="3600" u="none" cap="none" strike="noStrike">
              <a:solidFill>
                <a:srgbClr val="6D9EEB"/>
              </a:solidFill>
              <a:latin typeface="Poppins"/>
              <a:ea typeface="Poppins"/>
              <a:cs typeface="Poppins"/>
              <a:sym typeface="Poppins"/>
            </a:endParaRPr>
          </a:p>
        </p:txBody>
      </p:sp>
      <p:cxnSp>
        <p:nvCxnSpPr>
          <p:cNvPr id="985" name="Google Shape;985;p7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986" name="Google Shape;986;p75"/>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987" name="Google Shape;987;p75"/>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988" name="Google Shape;988;p7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989" name="Google Shape;989;p7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990" name="Google Shape;990;p7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991" name="Google Shape;991;p75"/>
          <p:cNvSpPr txBox="1"/>
          <p:nvPr/>
        </p:nvSpPr>
        <p:spPr>
          <a:xfrm>
            <a:off x="1000925" y="1664225"/>
            <a:ext cx="10104600" cy="418500"/>
          </a:xfrm>
          <a:prstGeom prst="rect">
            <a:avLst/>
          </a:prstGeom>
          <a:noFill/>
          <a:ln>
            <a:noFill/>
          </a:ln>
        </p:spPr>
        <p:txBody>
          <a:bodyPr anchorCtr="0" anchor="t" bIns="91425" lIns="91425" spcFirstLastPara="1" rIns="91425" wrap="square" tIns="91425">
            <a:spAutoFit/>
          </a:bodyPr>
          <a:lstStyle/>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Ansible ( </a:t>
            </a:r>
            <a:r>
              <a:rPr lang="en-US" sz="1900">
                <a:solidFill>
                  <a:srgbClr val="212529"/>
                </a:solidFill>
                <a:highlight>
                  <a:schemeClr val="lt1"/>
                </a:highlight>
                <a:latin typeface="Archivo"/>
                <a:ea typeface="Archivo"/>
                <a:cs typeface="Archivo"/>
                <a:sym typeface="Archivo"/>
              </a:rPr>
              <a:t>Distribution</a:t>
            </a:r>
            <a:r>
              <a:rPr lang="en-US" sz="1900">
                <a:solidFill>
                  <a:srgbClr val="212529"/>
                </a:solidFill>
                <a:highlight>
                  <a:schemeClr val="lt1"/>
                </a:highlight>
                <a:latin typeface="Archivo"/>
                <a:ea typeface="Archivo"/>
                <a:cs typeface="Archivo"/>
                <a:sym typeface="Archivo"/>
              </a:rPr>
              <a:t> script )</a:t>
            </a:r>
            <a:endParaRPr sz="1900">
              <a:solidFill>
                <a:srgbClr val="212529"/>
              </a:solidFill>
              <a:highlight>
                <a:schemeClr val="lt1"/>
              </a:highlight>
              <a:latin typeface="Archivo"/>
              <a:ea typeface="Archivo"/>
              <a:cs typeface="Archivo"/>
              <a:sym typeface="Archivo"/>
            </a:endParaRPr>
          </a:p>
        </p:txBody>
      </p:sp>
      <p:pic>
        <p:nvPicPr>
          <p:cNvPr id="992" name="Google Shape;992;p75"/>
          <p:cNvPicPr preferRelativeResize="0"/>
          <p:nvPr/>
        </p:nvPicPr>
        <p:blipFill rotWithShape="1">
          <a:blip r:embed="rId5">
            <a:alphaModFix/>
          </a:blip>
          <a:srcRect b="13531" l="7678" r="7381" t="14609"/>
          <a:stretch/>
        </p:blipFill>
        <p:spPr>
          <a:xfrm>
            <a:off x="1395625" y="2233425"/>
            <a:ext cx="5621951" cy="2533001"/>
          </a:xfrm>
          <a:prstGeom prst="rect">
            <a:avLst/>
          </a:prstGeom>
          <a:noFill/>
          <a:ln>
            <a:noFill/>
          </a:ln>
          <a:effectLst>
            <a:outerShdw blurRad="57150" rotWithShape="0" algn="bl" dir="9600000" dist="19050">
              <a:srgbClr val="000000">
                <a:alpha val="90000"/>
              </a:srgbClr>
            </a:outerShdw>
          </a:effectLst>
        </p:spPr>
      </p:pic>
      <p:sp>
        <p:nvSpPr>
          <p:cNvPr id="993" name="Google Shape;993;p75"/>
          <p:cNvSpPr txBox="1"/>
          <p:nvPr/>
        </p:nvSpPr>
        <p:spPr>
          <a:xfrm>
            <a:off x="7687000" y="2736525"/>
            <a:ext cx="3178200" cy="652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highlight>
                  <a:schemeClr val="lt1"/>
                </a:highlight>
                <a:latin typeface="Archivo"/>
                <a:ea typeface="Archivo"/>
                <a:cs typeface="Archivo"/>
                <a:sym typeface="Archivo"/>
              </a:rPr>
              <a:t>Scripting untuk memberikan file di semua endpoint.</a:t>
            </a:r>
            <a:endParaRPr b="1" sz="1900">
              <a:solidFill>
                <a:srgbClr val="212529"/>
              </a:solidFill>
              <a:highlight>
                <a:schemeClr val="lt1"/>
              </a:highlight>
              <a:latin typeface="Archivo"/>
              <a:ea typeface="Archivo"/>
              <a:cs typeface="Archivo"/>
              <a:sym typeface="Archivo"/>
            </a:endParaRPr>
          </a:p>
        </p:txBody>
      </p:sp>
    </p:spTree>
  </p:cSld>
  <p:clrMapOvr>
    <a:masterClrMapping/>
  </p:clrMapOvr>
  <p:transition spd="slow">
    <p:fade thruBlk="1"/>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97" name="Shape 997"/>
        <p:cNvGrpSpPr/>
        <p:nvPr/>
      </p:nvGrpSpPr>
      <p:grpSpPr>
        <a:xfrm>
          <a:off x="0" y="0"/>
          <a:ext cx="0" cy="0"/>
          <a:chOff x="0" y="0"/>
          <a:chExt cx="0" cy="0"/>
        </a:xfrm>
      </p:grpSpPr>
      <p:pic>
        <p:nvPicPr>
          <p:cNvPr descr="A picture containing food, drawing, shirt&#10;&#10;Description automatically generated" id="998" name="Google Shape;998;p7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999" name="Google Shape;999;p7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00" name="Google Shape;1000;p7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001" name="Google Shape;1001;p76"/>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002" name="Google Shape;1002;p7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003" name="Google Shape;1003;p76"/>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004" name="Google Shape;1004;p76"/>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Wazuh Dashboard</a:t>
            </a:r>
            <a:endParaRPr sz="4800">
              <a:solidFill>
                <a:schemeClr val="lt1"/>
              </a:solidFill>
              <a:highlight>
                <a:srgbClr val="3585F9"/>
              </a:highlight>
              <a:latin typeface="Poppins"/>
              <a:ea typeface="Poppins"/>
              <a:cs typeface="Poppins"/>
              <a:sym typeface="Poppins"/>
            </a:endParaRPr>
          </a:p>
        </p:txBody>
      </p:sp>
      <p:pic>
        <p:nvPicPr>
          <p:cNvPr id="1005" name="Google Shape;1005;p76"/>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77"/>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Dashboard </a:t>
            </a:r>
            <a:endParaRPr b="1" i="0" sz="3600" u="none" cap="none" strike="noStrike">
              <a:solidFill>
                <a:srgbClr val="6D9EEB"/>
              </a:solidFill>
              <a:latin typeface="Poppins"/>
              <a:ea typeface="Poppins"/>
              <a:cs typeface="Poppins"/>
              <a:sym typeface="Poppins"/>
            </a:endParaRPr>
          </a:p>
        </p:txBody>
      </p:sp>
      <p:cxnSp>
        <p:nvCxnSpPr>
          <p:cNvPr id="1011" name="Google Shape;1011;p7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1012" name="Google Shape;1012;p77"/>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013" name="Google Shape;1013;p77"/>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1014" name="Google Shape;1014;p7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015" name="Google Shape;1015;p7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016" name="Google Shape;1016;p7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017" name="Google Shape;1017;p77"/>
          <p:cNvSpPr txBox="1"/>
          <p:nvPr/>
        </p:nvSpPr>
        <p:spPr>
          <a:xfrm>
            <a:off x="1000925" y="2166900"/>
            <a:ext cx="4751100" cy="25242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highlight>
                  <a:schemeClr val="lt1"/>
                </a:highlight>
                <a:latin typeface="Archivo"/>
                <a:ea typeface="Archivo"/>
                <a:cs typeface="Archivo"/>
                <a:sym typeface="Archivo"/>
              </a:rPr>
              <a:t>Wazuh Dashboard adalah antarmuka web yang fleksibel dan intuitif untuk menelusuri, </a:t>
            </a:r>
            <a:r>
              <a:rPr b="1" lang="en-US" sz="1900">
                <a:solidFill>
                  <a:srgbClr val="212529"/>
                </a:solidFill>
                <a:highlight>
                  <a:schemeClr val="lt1"/>
                </a:highlight>
                <a:latin typeface="Archivo"/>
                <a:ea typeface="Archivo"/>
                <a:cs typeface="Archivo"/>
                <a:sym typeface="Archivo"/>
              </a:rPr>
              <a:t>menganalisis</a:t>
            </a:r>
            <a:r>
              <a:rPr lang="en-US" sz="1900">
                <a:solidFill>
                  <a:srgbClr val="212529"/>
                </a:solidFill>
                <a:highlight>
                  <a:schemeClr val="lt1"/>
                </a:highlight>
                <a:latin typeface="Archivo"/>
                <a:ea typeface="Archivo"/>
                <a:cs typeface="Archivo"/>
                <a:sym typeface="Archivo"/>
              </a:rPr>
              <a:t>, dan </a:t>
            </a:r>
            <a:r>
              <a:rPr b="1" lang="en-US" sz="1900">
                <a:solidFill>
                  <a:srgbClr val="212529"/>
                </a:solidFill>
                <a:highlight>
                  <a:schemeClr val="lt1"/>
                </a:highlight>
                <a:latin typeface="Archivo"/>
                <a:ea typeface="Archivo"/>
                <a:cs typeface="Archivo"/>
                <a:sym typeface="Archivo"/>
              </a:rPr>
              <a:t>memvisualisasikan data kejadian</a:t>
            </a:r>
            <a:r>
              <a:rPr lang="en-US" sz="1900">
                <a:solidFill>
                  <a:srgbClr val="212529"/>
                </a:solidFill>
                <a:highlight>
                  <a:schemeClr val="lt1"/>
                </a:highlight>
                <a:latin typeface="Archivo"/>
                <a:ea typeface="Archivo"/>
                <a:cs typeface="Archivo"/>
                <a:sym typeface="Archivo"/>
              </a:rPr>
              <a:t> dan . </a:t>
            </a:r>
            <a:r>
              <a:rPr b="1" lang="en-US" sz="1900">
                <a:solidFill>
                  <a:srgbClr val="212529"/>
                </a:solidFill>
                <a:highlight>
                  <a:schemeClr val="lt1"/>
                </a:highlight>
                <a:latin typeface="Archivo"/>
                <a:ea typeface="Archivo"/>
                <a:cs typeface="Archivo"/>
                <a:sym typeface="Archivo"/>
              </a:rPr>
              <a:t>peringatan keamanan</a:t>
            </a:r>
            <a:r>
              <a:rPr lang="en-US" sz="1900">
                <a:solidFill>
                  <a:srgbClr val="212529"/>
                </a:solidFill>
                <a:highlight>
                  <a:schemeClr val="lt1"/>
                </a:highlight>
                <a:latin typeface="Archivo"/>
                <a:ea typeface="Archivo"/>
                <a:cs typeface="Archivo"/>
                <a:sym typeface="Archivo"/>
              </a:rPr>
              <a:t>Dashboard ini juga digunakan untuk mengelola dan memantau platform Wazuh. Selain itu, dashboard ini menyediakan fitur kontrol akses berbasis peran (RBAC) dan autentikasi tunggal (SSO).</a:t>
            </a:r>
            <a:endParaRPr sz="1900">
              <a:solidFill>
                <a:srgbClr val="212529"/>
              </a:solidFill>
              <a:highlight>
                <a:schemeClr val="lt1"/>
              </a:highlight>
              <a:latin typeface="Archivo"/>
              <a:ea typeface="Archivo"/>
              <a:cs typeface="Archivo"/>
              <a:sym typeface="Archivo"/>
            </a:endParaRPr>
          </a:p>
        </p:txBody>
      </p:sp>
      <p:pic>
        <p:nvPicPr>
          <p:cNvPr id="1018" name="Google Shape;1018;p77"/>
          <p:cNvPicPr preferRelativeResize="0"/>
          <p:nvPr/>
        </p:nvPicPr>
        <p:blipFill>
          <a:blip r:embed="rId5">
            <a:alphaModFix/>
          </a:blip>
          <a:stretch>
            <a:fillRect/>
          </a:stretch>
        </p:blipFill>
        <p:spPr>
          <a:xfrm>
            <a:off x="6032000" y="2247875"/>
            <a:ext cx="4875767" cy="2524201"/>
          </a:xfrm>
          <a:prstGeom prst="rect">
            <a:avLst/>
          </a:prstGeom>
          <a:noFill/>
          <a:ln>
            <a:noFill/>
          </a:ln>
          <a:effectLst>
            <a:outerShdw blurRad="57150" rotWithShape="0" algn="bl" dir="9000000" dist="19050">
              <a:srgbClr val="000000">
                <a:alpha val="80000"/>
              </a:srgbClr>
            </a:outerShdw>
          </a:effectLst>
        </p:spPr>
      </p:pic>
    </p:spTree>
  </p:cSld>
  <p:clrMapOvr>
    <a:masterClrMapping/>
  </p:clrMapOvr>
  <p:transition spd="slow">
    <p:fade thruBlk="1"/>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78"/>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Endpoint Security</a:t>
            </a:r>
            <a:endParaRPr b="1" i="0" sz="3600" u="none" cap="none" strike="noStrike">
              <a:solidFill>
                <a:srgbClr val="6D9EEB"/>
              </a:solidFill>
              <a:latin typeface="Poppins"/>
              <a:ea typeface="Poppins"/>
              <a:cs typeface="Poppins"/>
              <a:sym typeface="Poppins"/>
            </a:endParaRPr>
          </a:p>
        </p:txBody>
      </p:sp>
      <p:cxnSp>
        <p:nvCxnSpPr>
          <p:cNvPr id="1024" name="Google Shape;1024;p7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1025" name="Google Shape;1025;p78"/>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026" name="Google Shape;1026;p78"/>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1027" name="Google Shape;1027;p7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028" name="Google Shape;1028;p7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029" name="Google Shape;1029;p7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030" name="Google Shape;1030;p78"/>
          <p:cNvSpPr txBox="1"/>
          <p:nvPr/>
        </p:nvSpPr>
        <p:spPr>
          <a:xfrm>
            <a:off x="1000925" y="2103425"/>
            <a:ext cx="3958800" cy="34602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highlight>
                  <a:schemeClr val="lt1"/>
                </a:highlight>
                <a:latin typeface="Archivo"/>
                <a:ea typeface="Archivo"/>
                <a:cs typeface="Archivo"/>
                <a:sym typeface="Archivo"/>
              </a:rPr>
              <a:t>pada kesempatan ini, kita akan fokus di endpoint security </a:t>
            </a:r>
            <a:r>
              <a:rPr lang="en-US" sz="1900">
                <a:solidFill>
                  <a:srgbClr val="212529"/>
                </a:solidFill>
                <a:highlight>
                  <a:schemeClr val="lt1"/>
                </a:highlight>
                <a:latin typeface="Archivo"/>
                <a:ea typeface="Archivo"/>
                <a:cs typeface="Archivo"/>
                <a:sym typeface="Archivo"/>
              </a:rPr>
              <a:t>: </a:t>
            </a:r>
            <a:endParaRPr sz="1900">
              <a:solidFill>
                <a:srgbClr val="212529"/>
              </a:solidFill>
              <a:highlight>
                <a:schemeClr val="lt1"/>
              </a:highlight>
              <a:latin typeface="Archivo"/>
              <a:ea typeface="Archivo"/>
              <a:cs typeface="Archivo"/>
              <a:sym typeface="Archivo"/>
            </a:endParaRPr>
          </a:p>
          <a:p>
            <a:pPr indent="0" lvl="0" marL="457200" rtl="0" algn="l">
              <a:lnSpc>
                <a:spcPct val="80000"/>
              </a:lnSpc>
              <a:spcBef>
                <a:spcPts val="0"/>
              </a:spcBef>
              <a:spcAft>
                <a:spcPts val="0"/>
              </a:spcAft>
              <a:buNone/>
            </a:pPr>
            <a:r>
              <a:t/>
            </a:r>
            <a:endParaRPr sz="1900">
              <a:solidFill>
                <a:srgbClr val="212529"/>
              </a:solidFill>
              <a:highlight>
                <a:schemeClr val="lt1"/>
              </a:highlight>
              <a:latin typeface="Archivo"/>
              <a:ea typeface="Archivo"/>
              <a:cs typeface="Archivo"/>
              <a:sym typeface="Archivo"/>
            </a:endParaRPr>
          </a:p>
          <a:p>
            <a:pPr indent="0" lvl="0" marL="457200" rtl="0" algn="l">
              <a:lnSpc>
                <a:spcPct val="80000"/>
              </a:lnSpc>
              <a:spcBef>
                <a:spcPts val="0"/>
              </a:spcBef>
              <a:spcAft>
                <a:spcPts val="0"/>
              </a:spcAft>
              <a:buNone/>
            </a:pPr>
            <a:r>
              <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Configuring Assessment </a:t>
            </a:r>
            <a:endParaRPr sz="1900">
              <a:solidFill>
                <a:srgbClr val="212529"/>
              </a:solidFill>
              <a:highlight>
                <a:schemeClr val="lt1"/>
              </a:highlight>
              <a:latin typeface="Archivo"/>
              <a:ea typeface="Archivo"/>
              <a:cs typeface="Archivo"/>
              <a:sym typeface="Archivo"/>
            </a:endParaRPr>
          </a:p>
          <a:p>
            <a:pPr indent="-349250" lvl="1" marL="914400" rtl="0" algn="l">
              <a:lnSpc>
                <a:spcPct val="80000"/>
              </a:lnSpc>
              <a:spcBef>
                <a:spcPts val="0"/>
              </a:spcBef>
              <a:spcAft>
                <a:spcPts val="0"/>
              </a:spcAft>
              <a:buClr>
                <a:srgbClr val="212529"/>
              </a:buClr>
              <a:buSzPts val="1900"/>
              <a:buFont typeface="Archivo"/>
              <a:buChar char="○"/>
            </a:pPr>
            <a:r>
              <a:rPr b="1" lang="en-US" sz="1900">
                <a:solidFill>
                  <a:srgbClr val="212529"/>
                </a:solidFill>
                <a:highlight>
                  <a:schemeClr val="lt1"/>
                </a:highlight>
                <a:latin typeface="Archivo"/>
                <a:ea typeface="Archivo"/>
                <a:cs typeface="Archivo"/>
                <a:sym typeface="Archivo"/>
              </a:rPr>
              <a:t>Audit </a:t>
            </a:r>
            <a:r>
              <a:rPr lang="en-US" sz="1900">
                <a:solidFill>
                  <a:srgbClr val="212529"/>
                </a:solidFill>
                <a:highlight>
                  <a:schemeClr val="lt1"/>
                </a:highlight>
                <a:latin typeface="Archivo"/>
                <a:ea typeface="Archivo"/>
                <a:cs typeface="Archivo"/>
                <a:sym typeface="Archivo"/>
              </a:rPr>
              <a:t>Configure Endpoint</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Malware Detection</a:t>
            </a:r>
            <a:endParaRPr sz="1900">
              <a:solidFill>
                <a:srgbClr val="212529"/>
              </a:solidFill>
              <a:highlight>
                <a:schemeClr val="lt1"/>
              </a:highlight>
              <a:latin typeface="Archivo"/>
              <a:ea typeface="Archivo"/>
              <a:cs typeface="Archivo"/>
              <a:sym typeface="Archivo"/>
            </a:endParaRPr>
          </a:p>
          <a:p>
            <a:pPr indent="-349250" lvl="1" marL="914400" rtl="0" algn="l">
              <a:lnSpc>
                <a:spcPct val="80000"/>
              </a:lnSpc>
              <a:spcBef>
                <a:spcPts val="0"/>
              </a:spcBef>
              <a:spcAft>
                <a:spcPts val="0"/>
              </a:spcAft>
              <a:buClr>
                <a:srgbClr val="212529"/>
              </a:buClr>
              <a:buSzPts val="1900"/>
              <a:buFont typeface="Archivo"/>
              <a:buChar char="○"/>
            </a:pPr>
            <a:r>
              <a:rPr b="1" lang="en-US" sz="1900">
                <a:solidFill>
                  <a:srgbClr val="212529"/>
                </a:solidFill>
                <a:highlight>
                  <a:schemeClr val="lt1"/>
                </a:highlight>
                <a:latin typeface="Archivo"/>
                <a:ea typeface="Archivo"/>
                <a:cs typeface="Archivo"/>
                <a:sym typeface="Archivo"/>
              </a:rPr>
              <a:t>Verify </a:t>
            </a:r>
            <a:r>
              <a:rPr lang="en-US" sz="1900">
                <a:solidFill>
                  <a:srgbClr val="212529"/>
                </a:solidFill>
                <a:highlight>
                  <a:schemeClr val="lt1"/>
                </a:highlight>
                <a:latin typeface="Archivo"/>
                <a:ea typeface="Archivo"/>
                <a:cs typeface="Archivo"/>
                <a:sym typeface="Archivo"/>
              </a:rPr>
              <a:t>baseline Endpoint like usual.</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File Integrity Monitoring </a:t>
            </a:r>
            <a:endParaRPr sz="1900">
              <a:solidFill>
                <a:srgbClr val="212529"/>
              </a:solidFill>
              <a:highlight>
                <a:schemeClr val="lt1"/>
              </a:highlight>
              <a:latin typeface="Archivo"/>
              <a:ea typeface="Archivo"/>
              <a:cs typeface="Archivo"/>
              <a:sym typeface="Archivo"/>
            </a:endParaRPr>
          </a:p>
          <a:p>
            <a:pPr indent="-349250" lvl="1" marL="9144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Relates</a:t>
            </a:r>
            <a:r>
              <a:rPr lang="en-US" sz="1900">
                <a:solidFill>
                  <a:srgbClr val="212529"/>
                </a:solidFill>
                <a:highlight>
                  <a:schemeClr val="lt1"/>
                </a:highlight>
                <a:latin typeface="Archivo"/>
                <a:ea typeface="Archivo"/>
                <a:cs typeface="Archivo"/>
                <a:sym typeface="Archivo"/>
              </a:rPr>
              <a:t> to File,Directory </a:t>
            </a:r>
            <a:r>
              <a:rPr b="1" lang="en-US" sz="1900">
                <a:solidFill>
                  <a:srgbClr val="212529"/>
                </a:solidFill>
                <a:highlight>
                  <a:schemeClr val="lt1"/>
                </a:highlight>
                <a:latin typeface="Archivo"/>
                <a:ea typeface="Archivo"/>
                <a:cs typeface="Archivo"/>
                <a:sym typeface="Archivo"/>
              </a:rPr>
              <a:t>alert and response</a:t>
            </a:r>
            <a:r>
              <a:rPr lang="en-US" sz="1900">
                <a:solidFill>
                  <a:srgbClr val="212529"/>
                </a:solidFill>
                <a:highlight>
                  <a:schemeClr val="lt1"/>
                </a:highlight>
                <a:latin typeface="Archivo"/>
                <a:ea typeface="Archivo"/>
                <a:cs typeface="Archivo"/>
                <a:sym typeface="Archivo"/>
              </a:rPr>
              <a:t> to event.</a:t>
            </a:r>
            <a:endParaRPr sz="1900">
              <a:solidFill>
                <a:srgbClr val="212529"/>
              </a:solidFill>
              <a:highlight>
                <a:schemeClr val="lt1"/>
              </a:highlight>
              <a:latin typeface="Archivo"/>
              <a:ea typeface="Archivo"/>
              <a:cs typeface="Archivo"/>
              <a:sym typeface="Archivo"/>
            </a:endParaRPr>
          </a:p>
          <a:p>
            <a:pPr indent="0" lvl="0" marL="0" rtl="0" algn="l">
              <a:lnSpc>
                <a:spcPct val="80000"/>
              </a:lnSpc>
              <a:spcBef>
                <a:spcPts val="0"/>
              </a:spcBef>
              <a:spcAft>
                <a:spcPts val="0"/>
              </a:spcAft>
              <a:buNone/>
            </a:pPr>
            <a:r>
              <a:t/>
            </a:r>
            <a:endParaRPr sz="1900">
              <a:solidFill>
                <a:srgbClr val="212529"/>
              </a:solidFill>
              <a:highlight>
                <a:schemeClr val="lt1"/>
              </a:highlight>
              <a:latin typeface="Archivo"/>
              <a:ea typeface="Archivo"/>
              <a:cs typeface="Archivo"/>
              <a:sym typeface="Archivo"/>
            </a:endParaRPr>
          </a:p>
        </p:txBody>
      </p:sp>
      <p:pic>
        <p:nvPicPr>
          <p:cNvPr id="1031" name="Google Shape;1031;p78"/>
          <p:cNvPicPr preferRelativeResize="0"/>
          <p:nvPr/>
        </p:nvPicPr>
        <p:blipFill>
          <a:blip r:embed="rId5">
            <a:alphaModFix/>
          </a:blip>
          <a:stretch>
            <a:fillRect/>
          </a:stretch>
        </p:blipFill>
        <p:spPr>
          <a:xfrm>
            <a:off x="5540100" y="2575850"/>
            <a:ext cx="6081524" cy="2337524"/>
          </a:xfrm>
          <a:prstGeom prst="rect">
            <a:avLst/>
          </a:prstGeom>
          <a:noFill/>
          <a:ln>
            <a:noFill/>
          </a:ln>
          <a:effectLst>
            <a:outerShdw blurRad="57150" rotWithShape="0" algn="bl" dir="9000000" dist="19050">
              <a:srgbClr val="000000">
                <a:alpha val="80000"/>
              </a:srgbClr>
            </a:outerShdw>
          </a:effectLst>
        </p:spPr>
      </p:pic>
    </p:spTree>
  </p:cSld>
  <p:clrMapOvr>
    <a:masterClrMapping/>
  </p:clrMapOvr>
  <p:transition spd="slow">
    <p:fade thruBlk="1"/>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79"/>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Threat Intelligence</a:t>
            </a:r>
            <a:endParaRPr b="1" i="0" sz="3600" u="none" cap="none" strike="noStrike">
              <a:solidFill>
                <a:srgbClr val="6D9EEB"/>
              </a:solidFill>
              <a:latin typeface="Poppins"/>
              <a:ea typeface="Poppins"/>
              <a:cs typeface="Poppins"/>
              <a:sym typeface="Poppins"/>
            </a:endParaRPr>
          </a:p>
        </p:txBody>
      </p:sp>
      <p:cxnSp>
        <p:nvCxnSpPr>
          <p:cNvPr id="1037" name="Google Shape;1037;p7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1038" name="Google Shape;1038;p79"/>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039" name="Google Shape;1039;p79"/>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1040" name="Google Shape;1040;p7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041" name="Google Shape;1041;p7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042" name="Google Shape;1042;p7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043" name="Google Shape;1043;p79"/>
          <p:cNvSpPr txBox="1"/>
          <p:nvPr/>
        </p:nvSpPr>
        <p:spPr>
          <a:xfrm>
            <a:off x="1000925" y="2103425"/>
            <a:ext cx="3958800" cy="36942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highlight>
                  <a:schemeClr val="lt1"/>
                </a:highlight>
                <a:latin typeface="Archivo"/>
                <a:ea typeface="Archivo"/>
                <a:cs typeface="Archivo"/>
                <a:sym typeface="Archivo"/>
              </a:rPr>
              <a:t>Pada point ini kita fokus ke  Threat Hunting dengan menggunakan Threat </a:t>
            </a:r>
            <a:r>
              <a:rPr lang="en-US" sz="1900">
                <a:solidFill>
                  <a:srgbClr val="212529"/>
                </a:solidFill>
                <a:highlight>
                  <a:schemeClr val="lt1"/>
                </a:highlight>
                <a:latin typeface="Archivo"/>
                <a:ea typeface="Archivo"/>
                <a:cs typeface="Archivo"/>
                <a:sym typeface="Archivo"/>
              </a:rPr>
              <a:t>Intelligence</a:t>
            </a:r>
            <a:endParaRPr sz="1900">
              <a:solidFill>
                <a:srgbClr val="212529"/>
              </a:solidFill>
              <a:highlight>
                <a:schemeClr val="lt1"/>
              </a:highlight>
              <a:latin typeface="Archivo"/>
              <a:ea typeface="Archivo"/>
              <a:cs typeface="Archivo"/>
              <a:sym typeface="Archivo"/>
            </a:endParaRPr>
          </a:p>
          <a:p>
            <a:pPr indent="0" lvl="0" marL="457200" rtl="0" algn="l">
              <a:lnSpc>
                <a:spcPct val="80000"/>
              </a:lnSpc>
              <a:spcBef>
                <a:spcPts val="0"/>
              </a:spcBef>
              <a:spcAft>
                <a:spcPts val="0"/>
              </a:spcAft>
              <a:buNone/>
            </a:pPr>
            <a:r>
              <a:t/>
            </a:r>
            <a:endParaRPr sz="1900">
              <a:solidFill>
                <a:srgbClr val="212529"/>
              </a:solidFill>
              <a:highlight>
                <a:schemeClr val="lt1"/>
              </a:highlight>
              <a:latin typeface="Archivo"/>
              <a:ea typeface="Archivo"/>
              <a:cs typeface="Archivo"/>
              <a:sym typeface="Archivo"/>
            </a:endParaRPr>
          </a:p>
          <a:p>
            <a:pPr indent="0" lvl="0" marL="457200" rtl="0" algn="l">
              <a:lnSpc>
                <a:spcPct val="80000"/>
              </a:lnSpc>
              <a:spcBef>
                <a:spcPts val="0"/>
              </a:spcBef>
              <a:spcAft>
                <a:spcPts val="0"/>
              </a:spcAft>
              <a:buNone/>
            </a:pPr>
            <a:r>
              <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Threat Hunting</a:t>
            </a:r>
            <a:endParaRPr sz="1900">
              <a:solidFill>
                <a:srgbClr val="212529"/>
              </a:solidFill>
              <a:highlight>
                <a:schemeClr val="lt1"/>
              </a:highlight>
              <a:latin typeface="Archivo"/>
              <a:ea typeface="Archivo"/>
              <a:cs typeface="Archivo"/>
              <a:sym typeface="Archivo"/>
            </a:endParaRPr>
          </a:p>
          <a:p>
            <a:pPr indent="-349250" lvl="1" marL="9144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Proactive Hunting “Threat”</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Vulnerability Detection </a:t>
            </a:r>
            <a:endParaRPr sz="1900">
              <a:solidFill>
                <a:srgbClr val="212529"/>
              </a:solidFill>
              <a:highlight>
                <a:schemeClr val="lt1"/>
              </a:highlight>
              <a:latin typeface="Archivo"/>
              <a:ea typeface="Archivo"/>
              <a:cs typeface="Archivo"/>
              <a:sym typeface="Archivo"/>
            </a:endParaRPr>
          </a:p>
          <a:p>
            <a:pPr indent="-349250" lvl="1" marL="9144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Scanning every endpoint to get vulnerability</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MITRE ATT&amp;CK</a:t>
            </a:r>
            <a:endParaRPr sz="1900">
              <a:solidFill>
                <a:srgbClr val="212529"/>
              </a:solidFill>
              <a:highlight>
                <a:schemeClr val="lt1"/>
              </a:highlight>
              <a:latin typeface="Archivo"/>
              <a:ea typeface="Archivo"/>
              <a:cs typeface="Archivo"/>
              <a:sym typeface="Archivo"/>
            </a:endParaRPr>
          </a:p>
          <a:p>
            <a:pPr indent="-349250" lvl="1" marL="9144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Database Security Event</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VirusTotal</a:t>
            </a:r>
            <a:endParaRPr sz="1900">
              <a:solidFill>
                <a:srgbClr val="212529"/>
              </a:solidFill>
              <a:highlight>
                <a:schemeClr val="lt1"/>
              </a:highlight>
              <a:latin typeface="Archivo"/>
              <a:ea typeface="Archivo"/>
              <a:cs typeface="Archivo"/>
              <a:sym typeface="Archivo"/>
            </a:endParaRPr>
          </a:p>
          <a:p>
            <a:pPr indent="-349250" lvl="1" marL="9144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Help Threat Hunting to </a:t>
            </a:r>
            <a:r>
              <a:rPr lang="en-US" sz="1900">
                <a:solidFill>
                  <a:srgbClr val="212529"/>
                </a:solidFill>
                <a:highlight>
                  <a:schemeClr val="lt1"/>
                </a:highlight>
                <a:latin typeface="Archivo"/>
                <a:ea typeface="Archivo"/>
                <a:cs typeface="Archivo"/>
                <a:sym typeface="Archivo"/>
              </a:rPr>
              <a:t>verify</a:t>
            </a:r>
            <a:r>
              <a:rPr lang="en-US" sz="1900">
                <a:solidFill>
                  <a:srgbClr val="212529"/>
                </a:solidFill>
                <a:highlight>
                  <a:schemeClr val="lt1"/>
                </a:highlight>
                <a:latin typeface="Archivo"/>
                <a:ea typeface="Archivo"/>
                <a:cs typeface="Archivo"/>
                <a:sym typeface="Archivo"/>
              </a:rPr>
              <a:t> threat</a:t>
            </a:r>
            <a:endParaRPr sz="1900">
              <a:solidFill>
                <a:srgbClr val="212529"/>
              </a:solidFill>
              <a:highlight>
                <a:schemeClr val="lt1"/>
              </a:highlight>
              <a:latin typeface="Archivo"/>
              <a:ea typeface="Archivo"/>
              <a:cs typeface="Archivo"/>
              <a:sym typeface="Archivo"/>
            </a:endParaRPr>
          </a:p>
        </p:txBody>
      </p:sp>
      <p:pic>
        <p:nvPicPr>
          <p:cNvPr id="1044" name="Google Shape;1044;p79"/>
          <p:cNvPicPr preferRelativeResize="0"/>
          <p:nvPr/>
        </p:nvPicPr>
        <p:blipFill>
          <a:blip r:embed="rId5">
            <a:alphaModFix/>
          </a:blip>
          <a:stretch>
            <a:fillRect/>
          </a:stretch>
        </p:blipFill>
        <p:spPr>
          <a:xfrm>
            <a:off x="5560375" y="2196199"/>
            <a:ext cx="5680625" cy="2741299"/>
          </a:xfrm>
          <a:prstGeom prst="rect">
            <a:avLst/>
          </a:prstGeom>
          <a:noFill/>
          <a:ln>
            <a:noFill/>
          </a:ln>
          <a:effectLst>
            <a:outerShdw blurRad="57150" rotWithShape="0" algn="bl" dir="10200000" dist="19050">
              <a:srgbClr val="000000">
                <a:alpha val="80000"/>
              </a:srgbClr>
            </a:outerShdw>
          </a:effectLst>
        </p:spPr>
      </p:pic>
    </p:spTree>
  </p:cSld>
  <p:clrMapOvr>
    <a:masterClrMapping/>
  </p:clrMapOvr>
  <p:transition spd="slow">
    <p:fade thruBlk="1"/>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80"/>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Security Operations</a:t>
            </a:r>
            <a:endParaRPr b="1" i="0" sz="3600" u="none" cap="none" strike="noStrike">
              <a:solidFill>
                <a:srgbClr val="6D9EEB"/>
              </a:solidFill>
              <a:latin typeface="Poppins"/>
              <a:ea typeface="Poppins"/>
              <a:cs typeface="Poppins"/>
              <a:sym typeface="Poppins"/>
            </a:endParaRPr>
          </a:p>
        </p:txBody>
      </p:sp>
      <p:cxnSp>
        <p:nvCxnSpPr>
          <p:cNvPr id="1050" name="Google Shape;1050;p8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1051" name="Google Shape;1051;p80"/>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052" name="Google Shape;1052;p80"/>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1053" name="Google Shape;1053;p8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054" name="Google Shape;1054;p8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055" name="Google Shape;1055;p8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056" name="Google Shape;1056;p80"/>
          <p:cNvSpPr txBox="1"/>
          <p:nvPr/>
        </p:nvSpPr>
        <p:spPr>
          <a:xfrm>
            <a:off x="1000925" y="2164425"/>
            <a:ext cx="3795900" cy="25242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highlight>
                  <a:schemeClr val="lt1"/>
                </a:highlight>
                <a:latin typeface="Archivo"/>
                <a:ea typeface="Archivo"/>
                <a:cs typeface="Archivo"/>
                <a:sym typeface="Archivo"/>
              </a:rPr>
              <a:t>Wazuh sendiri memiliki fungsi security operation yang bisa membantu IT GRC atau </a:t>
            </a:r>
            <a:r>
              <a:rPr lang="en-US" sz="1900">
                <a:solidFill>
                  <a:srgbClr val="212529"/>
                </a:solidFill>
                <a:highlight>
                  <a:schemeClr val="lt1"/>
                </a:highlight>
                <a:latin typeface="Archivo"/>
                <a:ea typeface="Archivo"/>
                <a:cs typeface="Archivo"/>
                <a:sym typeface="Archivo"/>
              </a:rPr>
              <a:t>Management</a:t>
            </a:r>
            <a:r>
              <a:rPr lang="en-US" sz="1900">
                <a:solidFill>
                  <a:srgbClr val="212529"/>
                </a:solidFill>
                <a:highlight>
                  <a:schemeClr val="lt1"/>
                </a:highlight>
                <a:latin typeface="Archivo"/>
                <a:ea typeface="Archivo"/>
                <a:cs typeface="Archivo"/>
                <a:sym typeface="Archivo"/>
              </a:rPr>
              <a:t> dalamCompliance .</a:t>
            </a:r>
            <a:endParaRPr sz="1900">
              <a:solidFill>
                <a:srgbClr val="212529"/>
              </a:solidFill>
              <a:highlight>
                <a:schemeClr val="lt1"/>
              </a:highlight>
              <a:latin typeface="Archivo"/>
              <a:ea typeface="Archivo"/>
              <a:cs typeface="Archivo"/>
              <a:sym typeface="Archivo"/>
            </a:endParaRPr>
          </a:p>
          <a:p>
            <a:pPr indent="0" lvl="0" marL="0" rtl="0" algn="l">
              <a:lnSpc>
                <a:spcPct val="80000"/>
              </a:lnSpc>
              <a:spcBef>
                <a:spcPts val="0"/>
              </a:spcBef>
              <a:spcAft>
                <a:spcPts val="0"/>
              </a:spcAft>
              <a:buNone/>
            </a:pPr>
            <a:r>
              <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PCI DSS</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GDPR</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HIPAA</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NIST 800-53</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TSC</a:t>
            </a:r>
            <a:endParaRPr sz="1900">
              <a:solidFill>
                <a:srgbClr val="212529"/>
              </a:solidFill>
              <a:highlight>
                <a:schemeClr val="lt1"/>
              </a:highlight>
              <a:latin typeface="Archivo"/>
              <a:ea typeface="Archivo"/>
              <a:cs typeface="Archivo"/>
              <a:sym typeface="Archivo"/>
            </a:endParaRPr>
          </a:p>
        </p:txBody>
      </p:sp>
      <p:pic>
        <p:nvPicPr>
          <p:cNvPr id="1057" name="Google Shape;1057;p80"/>
          <p:cNvPicPr preferRelativeResize="0"/>
          <p:nvPr/>
        </p:nvPicPr>
        <p:blipFill>
          <a:blip r:embed="rId5">
            <a:alphaModFix/>
          </a:blip>
          <a:stretch>
            <a:fillRect/>
          </a:stretch>
        </p:blipFill>
        <p:spPr>
          <a:xfrm>
            <a:off x="5398850" y="1635449"/>
            <a:ext cx="5573957" cy="4024651"/>
          </a:xfrm>
          <a:prstGeom prst="rect">
            <a:avLst/>
          </a:prstGeom>
          <a:noFill/>
          <a:ln>
            <a:noFill/>
          </a:ln>
          <a:effectLst>
            <a:outerShdw blurRad="57150" rotWithShape="0" algn="bl" dir="11400000" dist="19050">
              <a:srgbClr val="000000">
                <a:alpha val="90000"/>
              </a:srgbClr>
            </a:outerShdw>
          </a:effectLst>
        </p:spPr>
      </p:pic>
    </p:spTree>
  </p:cSld>
  <p:clrMapOvr>
    <a:masterClrMapping/>
  </p:clrMapOvr>
  <p:transition spd="slow">
    <p:fade thruBlk="1"/>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81"/>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Cloud Security</a:t>
            </a:r>
            <a:endParaRPr b="1" i="0" sz="3600" u="none" cap="none" strike="noStrike">
              <a:solidFill>
                <a:srgbClr val="6D9EEB"/>
              </a:solidFill>
              <a:latin typeface="Poppins"/>
              <a:ea typeface="Poppins"/>
              <a:cs typeface="Poppins"/>
              <a:sym typeface="Poppins"/>
            </a:endParaRPr>
          </a:p>
        </p:txBody>
      </p:sp>
      <p:cxnSp>
        <p:nvCxnSpPr>
          <p:cNvPr id="1063" name="Google Shape;1063;p8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1064" name="Google Shape;1064;p81"/>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065" name="Google Shape;1065;p81"/>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1066" name="Google Shape;1066;p8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067" name="Google Shape;1067;p8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068" name="Google Shape;1068;p8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069" name="Google Shape;1069;p81"/>
          <p:cNvSpPr txBox="1"/>
          <p:nvPr/>
        </p:nvSpPr>
        <p:spPr>
          <a:xfrm>
            <a:off x="1000925" y="1707225"/>
            <a:ext cx="3795900" cy="25242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1900">
                <a:solidFill>
                  <a:srgbClr val="212529"/>
                </a:solidFill>
                <a:highlight>
                  <a:schemeClr val="lt1"/>
                </a:highlight>
                <a:latin typeface="Archivo"/>
                <a:ea typeface="Archivo"/>
                <a:cs typeface="Archivo"/>
                <a:sym typeface="Archivo"/>
              </a:rPr>
              <a:t>Semua asset penting, maka dari itu Wazuh Sendiri memiliki cara untuk mengamankan aset di system cloud </a:t>
            </a:r>
            <a:endParaRPr sz="1900">
              <a:solidFill>
                <a:srgbClr val="212529"/>
              </a:solidFill>
              <a:highlight>
                <a:schemeClr val="lt1"/>
              </a:highlight>
              <a:latin typeface="Archivo"/>
              <a:ea typeface="Archivo"/>
              <a:cs typeface="Archivo"/>
              <a:sym typeface="Archivo"/>
            </a:endParaRPr>
          </a:p>
          <a:p>
            <a:pPr indent="0" lvl="0" marL="0" rtl="0" algn="l">
              <a:lnSpc>
                <a:spcPct val="80000"/>
              </a:lnSpc>
              <a:spcBef>
                <a:spcPts val="0"/>
              </a:spcBef>
              <a:spcAft>
                <a:spcPts val="0"/>
              </a:spcAft>
              <a:buNone/>
            </a:pPr>
            <a:r>
              <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Docker</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AWS</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Google Cloud</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GitHub</a:t>
            </a:r>
            <a:endParaRPr sz="1900">
              <a:solidFill>
                <a:srgbClr val="212529"/>
              </a:solidFill>
              <a:highlight>
                <a:schemeClr val="lt1"/>
              </a:highlight>
              <a:latin typeface="Archivo"/>
              <a:ea typeface="Archivo"/>
              <a:cs typeface="Archivo"/>
              <a:sym typeface="Archivo"/>
            </a:endParaRPr>
          </a:p>
          <a:p>
            <a:pPr indent="-349250" lvl="0" marL="457200" rtl="0" algn="l">
              <a:lnSpc>
                <a:spcPct val="80000"/>
              </a:lnSpc>
              <a:spcBef>
                <a:spcPts val="0"/>
              </a:spcBef>
              <a:spcAft>
                <a:spcPts val="0"/>
              </a:spcAft>
              <a:buClr>
                <a:srgbClr val="212529"/>
              </a:buClr>
              <a:buSzPts val="1900"/>
              <a:buFont typeface="Archivo"/>
              <a:buChar char="●"/>
            </a:pPr>
            <a:r>
              <a:rPr lang="en-US" sz="1900">
                <a:solidFill>
                  <a:srgbClr val="212529"/>
                </a:solidFill>
                <a:highlight>
                  <a:schemeClr val="lt1"/>
                </a:highlight>
                <a:latin typeface="Archivo"/>
                <a:ea typeface="Archivo"/>
                <a:cs typeface="Archivo"/>
                <a:sym typeface="Archivo"/>
              </a:rPr>
              <a:t>Office 365</a:t>
            </a:r>
            <a:endParaRPr sz="1900">
              <a:solidFill>
                <a:srgbClr val="212529"/>
              </a:solidFill>
              <a:highlight>
                <a:schemeClr val="lt1"/>
              </a:highlight>
              <a:latin typeface="Archivo"/>
              <a:ea typeface="Archivo"/>
              <a:cs typeface="Archivo"/>
              <a:sym typeface="Archivo"/>
            </a:endParaRPr>
          </a:p>
        </p:txBody>
      </p:sp>
      <p:pic>
        <p:nvPicPr>
          <p:cNvPr id="1070" name="Google Shape;1070;p81"/>
          <p:cNvPicPr preferRelativeResize="0"/>
          <p:nvPr/>
        </p:nvPicPr>
        <p:blipFill>
          <a:blip r:embed="rId5">
            <a:alphaModFix/>
          </a:blip>
          <a:stretch>
            <a:fillRect/>
          </a:stretch>
        </p:blipFill>
        <p:spPr>
          <a:xfrm>
            <a:off x="5554075" y="1650025"/>
            <a:ext cx="5616260" cy="4077550"/>
          </a:xfrm>
          <a:prstGeom prst="rect">
            <a:avLst/>
          </a:prstGeom>
          <a:noFill/>
          <a:ln>
            <a:noFill/>
          </a:ln>
          <a:effectLst>
            <a:outerShdw blurRad="57150" rotWithShape="0" algn="bl" dir="10800000" dist="19050">
              <a:srgbClr val="000000">
                <a:alpha val="90000"/>
              </a:srgbClr>
            </a:outerShdw>
          </a:effectLst>
        </p:spPr>
      </p:pic>
    </p:spTree>
  </p:cSld>
  <p:clrMapOvr>
    <a:masterClrMapping/>
  </p:clrMapOvr>
  <p:transition spd="slow">
    <p:fade thruBlk="1"/>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82"/>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Summary</a:t>
            </a:r>
            <a:endParaRPr b="1" i="0" sz="3600" u="none" cap="none" strike="noStrike">
              <a:solidFill>
                <a:srgbClr val="6D9EEB"/>
              </a:solidFill>
              <a:latin typeface="Poppins"/>
              <a:ea typeface="Poppins"/>
              <a:cs typeface="Poppins"/>
              <a:sym typeface="Poppins"/>
            </a:endParaRPr>
          </a:p>
        </p:txBody>
      </p:sp>
      <p:cxnSp>
        <p:nvCxnSpPr>
          <p:cNvPr id="1076" name="Google Shape;1076;p8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077" name="Google Shape;1077;p8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078" name="Google Shape;1078;p8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079" name="Google Shape;1079;p8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080" name="Google Shape;1080;p8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081" name="Google Shape;1081;p8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082" name="Google Shape;1082;p8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083" name="Google Shape;1083;p82"/>
          <p:cNvSpPr txBox="1"/>
          <p:nvPr/>
        </p:nvSpPr>
        <p:spPr>
          <a:xfrm>
            <a:off x="1000925" y="1650025"/>
            <a:ext cx="11025300" cy="2859300"/>
          </a:xfrm>
          <a:prstGeom prst="rect">
            <a:avLst/>
          </a:prstGeom>
          <a:noFill/>
          <a:ln>
            <a:noFill/>
          </a:ln>
        </p:spPr>
        <p:txBody>
          <a:bodyPr anchorCtr="0" anchor="t" bIns="45700" lIns="91425" spcFirstLastPara="1" rIns="91425" wrap="square" tIns="45700">
            <a:noAutofit/>
          </a:bodyPr>
          <a:lstStyle/>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Wazuh Dashboard digunakan untuk mempermudah kita melakukan analisa pada event. alasanya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Pada Overview Dashboard ada Security Operations digunakan untuk ?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Threat Intelligence digunakan untuk </a:t>
            </a:r>
            <a:r>
              <a:rPr lang="en-US" sz="1982">
                <a:solidFill>
                  <a:schemeClr val="dk1"/>
                </a:solidFill>
                <a:latin typeface="Archivo Medium"/>
                <a:ea typeface="Archivo Medium"/>
                <a:cs typeface="Archivo Medium"/>
                <a:sym typeface="Archivo Medium"/>
              </a:rPr>
              <a:t>mengumpulkan</a:t>
            </a:r>
            <a:r>
              <a:rPr lang="en-US" sz="1982">
                <a:solidFill>
                  <a:schemeClr val="dk1"/>
                </a:solidFill>
                <a:latin typeface="Archivo Medium"/>
                <a:ea typeface="Archivo Medium"/>
                <a:cs typeface="Archivo Medium"/>
                <a:sym typeface="Archivo Medium"/>
              </a:rPr>
              <a:t> data ancaman yang ada di internet, wazuh support dengan technology apa saja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087" name="Shape 1087"/>
        <p:cNvGrpSpPr/>
        <p:nvPr/>
      </p:nvGrpSpPr>
      <p:grpSpPr>
        <a:xfrm>
          <a:off x="0" y="0"/>
          <a:ext cx="0" cy="0"/>
          <a:chOff x="0" y="0"/>
          <a:chExt cx="0" cy="0"/>
        </a:xfrm>
      </p:grpSpPr>
      <p:pic>
        <p:nvPicPr>
          <p:cNvPr descr="A picture containing food, drawing, shirt&#10;&#10;Description automatically generated" id="1088" name="Google Shape;1088;p8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1089" name="Google Shape;1089;p8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90" name="Google Shape;1090;p8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091" name="Google Shape;1091;p83"/>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092" name="Google Shape;1092;p8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093" name="Google Shape;1093;p83"/>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094" name="Google Shape;1094;p83"/>
          <p:cNvSpPr txBox="1"/>
          <p:nvPr/>
        </p:nvSpPr>
        <p:spPr>
          <a:xfrm>
            <a:off x="1357489" y="3803851"/>
            <a:ext cx="9477000" cy="156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Wazuh Dashboard  </a:t>
            </a:r>
            <a:endParaRPr sz="4800">
              <a:solidFill>
                <a:schemeClr val="lt1"/>
              </a:solidFill>
              <a:highlight>
                <a:srgbClr val="3585F9"/>
              </a:highlight>
              <a:latin typeface="Poppins"/>
              <a:ea typeface="Poppins"/>
              <a:cs typeface="Poppins"/>
              <a:sym typeface="Poppins"/>
            </a:endParaRPr>
          </a:p>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Explore Tab</a:t>
            </a:r>
            <a:endParaRPr sz="4800">
              <a:solidFill>
                <a:schemeClr val="lt1"/>
              </a:solidFill>
              <a:highlight>
                <a:srgbClr val="3585F9"/>
              </a:highlight>
              <a:latin typeface="Poppins"/>
              <a:ea typeface="Poppins"/>
              <a:cs typeface="Poppins"/>
              <a:sym typeface="Poppins"/>
            </a:endParaRPr>
          </a:p>
        </p:txBody>
      </p:sp>
      <p:pic>
        <p:nvPicPr>
          <p:cNvPr id="1095" name="Google Shape;1095;p83"/>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099" name="Shape 1099"/>
        <p:cNvGrpSpPr/>
        <p:nvPr/>
      </p:nvGrpSpPr>
      <p:grpSpPr>
        <a:xfrm>
          <a:off x="0" y="0"/>
          <a:ext cx="0" cy="0"/>
          <a:chOff x="0" y="0"/>
          <a:chExt cx="0" cy="0"/>
        </a:xfrm>
      </p:grpSpPr>
      <p:pic>
        <p:nvPicPr>
          <p:cNvPr descr="A picture containing food, drawing, shirt&#10;&#10;Description automatically generated" id="1100" name="Google Shape;1100;p8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1101" name="Google Shape;1101;p8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02" name="Google Shape;1102;p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103" name="Google Shape;1103;p84"/>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104" name="Google Shape;1104;p8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105" name="Google Shape;1105;p84"/>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106" name="Google Shape;1106;p84"/>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Labs Custom Dashboard </a:t>
            </a:r>
            <a:endParaRPr sz="4800">
              <a:solidFill>
                <a:schemeClr val="lt1"/>
              </a:solidFill>
              <a:highlight>
                <a:srgbClr val="3585F9"/>
              </a:highlight>
              <a:latin typeface="Poppins"/>
              <a:ea typeface="Poppins"/>
              <a:cs typeface="Poppins"/>
              <a:sym typeface="Poppins"/>
            </a:endParaRPr>
          </a:p>
        </p:txBody>
      </p:sp>
      <p:pic>
        <p:nvPicPr>
          <p:cNvPr id="1107" name="Google Shape;1107;p84"/>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85"/>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Visualizing the Data</a:t>
            </a:r>
            <a:endParaRPr b="1" i="0" sz="3600" u="none" cap="none" strike="noStrike">
              <a:solidFill>
                <a:srgbClr val="6D9EEB"/>
              </a:solidFill>
              <a:latin typeface="Poppins"/>
              <a:ea typeface="Poppins"/>
              <a:cs typeface="Poppins"/>
              <a:sym typeface="Poppins"/>
            </a:endParaRPr>
          </a:p>
        </p:txBody>
      </p:sp>
      <p:cxnSp>
        <p:nvCxnSpPr>
          <p:cNvPr id="1113" name="Google Shape;1113;p8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114" name="Google Shape;1114;p8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115" name="Google Shape;1115;p8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116" name="Google Shape;1116;p8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117" name="Google Shape;1117;p8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118" name="Google Shape;1118;p8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119" name="Google Shape;1119;p8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120" name="Google Shape;1120;p85"/>
          <p:cNvSpPr txBox="1"/>
          <p:nvPr/>
        </p:nvSpPr>
        <p:spPr>
          <a:xfrm>
            <a:off x="951650" y="1650025"/>
            <a:ext cx="99720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382">
                <a:solidFill>
                  <a:schemeClr val="dk1"/>
                </a:solidFill>
                <a:latin typeface="Archivo Medium"/>
                <a:ea typeface="Archivo Medium"/>
                <a:cs typeface="Archivo Medium"/>
                <a:sym typeface="Archivo Medium"/>
              </a:rPr>
              <a:t>Visualisasi data meningkatkan kemampuan untuk memahami data keamanan yang kompleks dengan menyajikannya dalam bentuk visual. Representasi ini membantu mengungkap pola, tren, anomali, dan wawasan penting. Dengan demikian, proses interpretasi terhadap kumpulan data yang besar menjadi lebih sederhana, sehingga memudahkan dalam mengidentifikasi ancaman keamanan, menilai kondisi keamanan secara keseluruhan, dan mengambil keputusan yang tepat.</a:t>
            </a:r>
            <a:endParaRPr sz="23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86"/>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Creating visualizations</a:t>
            </a:r>
            <a:endParaRPr b="1" i="0" sz="3600" u="none" cap="none" strike="noStrike">
              <a:solidFill>
                <a:srgbClr val="6D9EEB"/>
              </a:solidFill>
              <a:latin typeface="Poppins"/>
              <a:ea typeface="Poppins"/>
              <a:cs typeface="Poppins"/>
              <a:sym typeface="Poppins"/>
            </a:endParaRPr>
          </a:p>
        </p:txBody>
      </p:sp>
      <p:cxnSp>
        <p:nvCxnSpPr>
          <p:cNvPr id="1126" name="Google Shape;1126;p8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127" name="Google Shape;1127;p8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128" name="Google Shape;1128;p8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129" name="Google Shape;1129;p8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130" name="Google Shape;1130;p8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131" name="Google Shape;1131;p8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132" name="Google Shape;1132;p8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133" name="Google Shape;1133;p86"/>
          <p:cNvSpPr txBox="1"/>
          <p:nvPr/>
        </p:nvSpPr>
        <p:spPr>
          <a:xfrm>
            <a:off x="1000925" y="2065150"/>
            <a:ext cx="3842700" cy="2859300"/>
          </a:xfrm>
          <a:prstGeom prst="rect">
            <a:avLst/>
          </a:prstGeom>
          <a:noFill/>
          <a:ln>
            <a:noFill/>
          </a:ln>
        </p:spPr>
        <p:txBody>
          <a:bodyPr anchorCtr="0" anchor="t" bIns="45700" lIns="91425" spcFirstLastPara="1" rIns="91425" wrap="square" tIns="45700">
            <a:noAutofit/>
          </a:bodyPr>
          <a:lstStyle/>
          <a:p>
            <a:pPr indent="-354488" lvl="0" marL="457200" rtl="0" algn="l">
              <a:lnSpc>
                <a:spcPct val="80000"/>
              </a:lnSpc>
              <a:spcBef>
                <a:spcPts val="0"/>
              </a:spcBef>
              <a:spcAft>
                <a:spcPts val="0"/>
              </a:spcAft>
              <a:buClr>
                <a:schemeClr val="dk1"/>
              </a:buClr>
              <a:buSzPts val="1983"/>
              <a:buFont typeface="Archivo Medium"/>
              <a:buAutoNum type="arabicPeriod"/>
            </a:pPr>
            <a:r>
              <a:rPr lang="en-US" sz="1982">
                <a:solidFill>
                  <a:schemeClr val="dk1"/>
                </a:solidFill>
                <a:latin typeface="Archivo Medium"/>
                <a:ea typeface="Archivo Medium"/>
                <a:cs typeface="Archivo Medium"/>
                <a:sym typeface="Archivo Medium"/>
              </a:rPr>
              <a:t>Explore &gt; Visualize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AutoNum type="arabicPeriod"/>
            </a:pPr>
            <a:r>
              <a:rPr lang="en-US" sz="1982">
                <a:solidFill>
                  <a:schemeClr val="dk1"/>
                </a:solidFill>
                <a:latin typeface="Archivo Medium"/>
                <a:ea typeface="Archivo Medium"/>
                <a:cs typeface="Archivo Medium"/>
                <a:sym typeface="Archivo Medium"/>
              </a:rPr>
              <a:t>Click “</a:t>
            </a:r>
            <a:r>
              <a:rPr b="1" lang="en-US" sz="1982">
                <a:solidFill>
                  <a:schemeClr val="dk1"/>
                </a:solidFill>
                <a:latin typeface="Archivo"/>
                <a:ea typeface="Archivo"/>
                <a:cs typeface="Archivo"/>
                <a:sym typeface="Archivo"/>
              </a:rPr>
              <a:t>Create new Visualization</a:t>
            </a:r>
            <a:r>
              <a:rPr lang="en-US" sz="1982">
                <a:solidFill>
                  <a:schemeClr val="dk1"/>
                </a:solidFill>
                <a:latin typeface="Archivo Medium"/>
                <a:ea typeface="Archivo Medium"/>
                <a:cs typeface="Archivo Medium"/>
                <a:sym typeface="Archivo Medium"/>
              </a:rPr>
              <a:t>”</a:t>
            </a:r>
            <a:endParaRPr sz="1982">
              <a:solidFill>
                <a:schemeClr val="dk1"/>
              </a:solidFill>
              <a:latin typeface="Archivo Medium"/>
              <a:ea typeface="Archivo Medium"/>
              <a:cs typeface="Archivo Medium"/>
              <a:sym typeface="Archivo Medium"/>
            </a:endParaRPr>
          </a:p>
        </p:txBody>
      </p:sp>
      <p:pic>
        <p:nvPicPr>
          <p:cNvPr id="1134" name="Google Shape;1134;p86"/>
          <p:cNvPicPr preferRelativeResize="0"/>
          <p:nvPr/>
        </p:nvPicPr>
        <p:blipFill rotWithShape="1">
          <a:blip r:embed="rId6">
            <a:alphaModFix/>
          </a:blip>
          <a:srcRect b="0" l="17729" r="16752" t="6006"/>
          <a:stretch/>
        </p:blipFill>
        <p:spPr>
          <a:xfrm>
            <a:off x="5223050" y="1999350"/>
            <a:ext cx="5749750" cy="2859299"/>
          </a:xfrm>
          <a:prstGeom prst="rect">
            <a:avLst/>
          </a:prstGeom>
          <a:noFill/>
          <a:ln>
            <a:noFill/>
          </a:ln>
          <a:effectLst>
            <a:outerShdw blurRad="57150" rotWithShape="0" algn="bl" dir="9000000" dist="19050">
              <a:srgbClr val="000000">
                <a:alpha val="80000"/>
              </a:srgbClr>
            </a:outerShdw>
          </a:effectLst>
        </p:spPr>
      </p:pic>
    </p:spTree>
  </p:cSld>
  <p:clrMapOvr>
    <a:masterClrMapping/>
  </p:clrMapOvr>
  <p:transition spd="slow">
    <p:fade thruBlk="1"/>
  </p:transition>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87"/>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Creating visualizations</a:t>
            </a:r>
            <a:endParaRPr b="1" i="0" sz="3600" u="none" cap="none" strike="noStrike">
              <a:solidFill>
                <a:srgbClr val="6D9EEB"/>
              </a:solidFill>
              <a:latin typeface="Poppins"/>
              <a:ea typeface="Poppins"/>
              <a:cs typeface="Poppins"/>
              <a:sym typeface="Poppins"/>
            </a:endParaRPr>
          </a:p>
        </p:txBody>
      </p:sp>
      <p:cxnSp>
        <p:nvCxnSpPr>
          <p:cNvPr id="1140" name="Google Shape;1140;p8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141" name="Google Shape;1141;p8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142" name="Google Shape;1142;p8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143" name="Google Shape;1143;p8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144" name="Google Shape;1144;p8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145" name="Google Shape;1145;p8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146" name="Google Shape;1146;p8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147" name="Google Shape;1147;p87"/>
          <p:cNvSpPr txBox="1"/>
          <p:nvPr/>
        </p:nvSpPr>
        <p:spPr>
          <a:xfrm>
            <a:off x="1000925" y="1650025"/>
            <a:ext cx="47526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182">
                <a:solidFill>
                  <a:schemeClr val="dk1"/>
                </a:solidFill>
                <a:latin typeface="Archivo Medium"/>
                <a:ea typeface="Archivo Medium"/>
                <a:cs typeface="Archivo Medium"/>
                <a:sym typeface="Archivo Medium"/>
              </a:rPr>
              <a:t>Pilih opsi visualisasi yang paling sesuai dengan data Anda dengan mengklik kotak jenis visualisasi. Di sini, kami memilih visualisasi Area Chart (Bagan Area).</a:t>
            </a:r>
            <a:endParaRPr sz="1982">
              <a:solidFill>
                <a:schemeClr val="dk1"/>
              </a:solidFill>
              <a:latin typeface="Archivo Medium"/>
              <a:ea typeface="Archivo Medium"/>
              <a:cs typeface="Archivo Medium"/>
              <a:sym typeface="Archivo Medium"/>
            </a:endParaRPr>
          </a:p>
        </p:txBody>
      </p:sp>
      <p:pic>
        <p:nvPicPr>
          <p:cNvPr id="1148" name="Google Shape;1148;p87"/>
          <p:cNvPicPr preferRelativeResize="0"/>
          <p:nvPr/>
        </p:nvPicPr>
        <p:blipFill>
          <a:blip r:embed="rId6">
            <a:alphaModFix/>
          </a:blip>
          <a:stretch>
            <a:fillRect/>
          </a:stretch>
        </p:blipFill>
        <p:spPr>
          <a:xfrm>
            <a:off x="6747871" y="1775800"/>
            <a:ext cx="3734675" cy="3437975"/>
          </a:xfrm>
          <a:prstGeom prst="rect">
            <a:avLst/>
          </a:prstGeom>
          <a:noFill/>
          <a:ln>
            <a:noFill/>
          </a:ln>
          <a:effectLst>
            <a:outerShdw blurRad="57150" rotWithShape="0" algn="bl" dir="7800000" dist="19050">
              <a:srgbClr val="000000">
                <a:alpha val="80000"/>
              </a:srgbClr>
            </a:outerShdw>
          </a:effectLst>
        </p:spPr>
      </p:pic>
      <p:sp>
        <p:nvSpPr>
          <p:cNvPr id="1149" name="Google Shape;1149;p87"/>
          <p:cNvSpPr/>
          <p:nvPr/>
        </p:nvSpPr>
        <p:spPr>
          <a:xfrm>
            <a:off x="7334250" y="3897700"/>
            <a:ext cx="411000" cy="365100"/>
          </a:xfrm>
          <a:prstGeom prst="roundRect">
            <a:avLst>
              <a:gd fmla="val 16667" name="adj"/>
            </a:avLst>
          </a:prstGeom>
          <a:noFill/>
          <a:ln cap="flat" cmpd="sng" w="9525">
            <a:solidFill>
              <a:srgbClr val="FF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ransition spd="slow">
    <p:fade thruBlk="1"/>
  </p:transition>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88"/>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Creating visualizations</a:t>
            </a:r>
            <a:endParaRPr b="1" i="0" sz="3600" u="none" cap="none" strike="noStrike">
              <a:solidFill>
                <a:srgbClr val="6D9EEB"/>
              </a:solidFill>
              <a:latin typeface="Poppins"/>
              <a:ea typeface="Poppins"/>
              <a:cs typeface="Poppins"/>
              <a:sym typeface="Poppins"/>
            </a:endParaRPr>
          </a:p>
        </p:txBody>
      </p:sp>
      <p:cxnSp>
        <p:nvCxnSpPr>
          <p:cNvPr id="1155" name="Google Shape;1155;p8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156" name="Google Shape;1156;p8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157" name="Google Shape;1157;p8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158" name="Google Shape;1158;p8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159" name="Google Shape;1159;p8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160" name="Google Shape;1160;p8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161" name="Google Shape;1161;p8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162" name="Google Shape;1162;p88"/>
          <p:cNvSpPr txBox="1"/>
          <p:nvPr/>
        </p:nvSpPr>
        <p:spPr>
          <a:xfrm>
            <a:off x="946175" y="2065150"/>
            <a:ext cx="4607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182">
                <a:solidFill>
                  <a:schemeClr val="dk1"/>
                </a:solidFill>
                <a:latin typeface="Archivo Medium"/>
                <a:ea typeface="Archivo Medium"/>
                <a:cs typeface="Archivo Medium"/>
                <a:sym typeface="Archivo Medium"/>
              </a:rPr>
              <a:t>Setelah memilih jenis visualisasi, untuk sebagian besar jenis visualisasi, langkah selanjutnya adalah memilih index yang diinginkan untuk digunakan. Index ini akan menjadi sumber data tempat visualisasi dibangun. Jenis visualisasi yang dipilih akan mengarahkan Anda ke layar seperti yang ditampilkan di bawah ini.</a:t>
            </a:r>
            <a:endParaRPr sz="2182">
              <a:solidFill>
                <a:schemeClr val="dk1"/>
              </a:solidFill>
              <a:latin typeface="Archivo Medium"/>
              <a:ea typeface="Archivo Medium"/>
              <a:cs typeface="Archivo Medium"/>
              <a:sym typeface="Archivo Medium"/>
            </a:endParaRPr>
          </a:p>
        </p:txBody>
      </p:sp>
      <p:pic>
        <p:nvPicPr>
          <p:cNvPr id="1163" name="Google Shape;1163;p88"/>
          <p:cNvPicPr preferRelativeResize="0"/>
          <p:nvPr/>
        </p:nvPicPr>
        <p:blipFill>
          <a:blip r:embed="rId6">
            <a:alphaModFix/>
          </a:blip>
          <a:stretch>
            <a:fillRect/>
          </a:stretch>
        </p:blipFill>
        <p:spPr>
          <a:xfrm>
            <a:off x="6637225" y="1568950"/>
            <a:ext cx="4335575" cy="3592849"/>
          </a:xfrm>
          <a:prstGeom prst="rect">
            <a:avLst/>
          </a:prstGeom>
          <a:noFill/>
          <a:ln>
            <a:noFill/>
          </a:ln>
          <a:effectLst>
            <a:outerShdw blurRad="57150" rotWithShape="0" algn="bl" dir="5400000" dist="19050">
              <a:srgbClr val="000000">
                <a:alpha val="50000"/>
              </a:srgbClr>
            </a:outerShdw>
          </a:effectLst>
        </p:spPr>
      </p:pic>
      <p:sp>
        <p:nvSpPr>
          <p:cNvPr id="1164" name="Google Shape;1164;p88"/>
          <p:cNvSpPr/>
          <p:nvPr/>
        </p:nvSpPr>
        <p:spPr>
          <a:xfrm>
            <a:off x="6781063" y="2341800"/>
            <a:ext cx="3903000" cy="831900"/>
          </a:xfrm>
          <a:prstGeom prst="roundRect">
            <a:avLst>
              <a:gd fmla="val 16667" name="adj"/>
            </a:avLst>
          </a:prstGeom>
          <a:noFill/>
          <a:ln cap="flat" cmpd="sng" w="9525">
            <a:solidFill>
              <a:srgbClr val="FF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ransition spd="slow">
    <p:fade thruBlk="1"/>
  </p:transition>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89"/>
          <p:cNvSpPr txBox="1"/>
          <p:nvPr/>
        </p:nvSpPr>
        <p:spPr>
          <a:xfrm>
            <a:off x="603088" y="486375"/>
            <a:ext cx="8467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Creating visualizations with Pie Chart that shows MITRE</a:t>
            </a:r>
            <a:endParaRPr b="1" i="0" sz="3600" u="none" cap="none" strike="noStrike">
              <a:solidFill>
                <a:srgbClr val="6D9EEB"/>
              </a:solidFill>
              <a:latin typeface="Poppins"/>
              <a:ea typeface="Poppins"/>
              <a:cs typeface="Poppins"/>
              <a:sym typeface="Poppins"/>
            </a:endParaRPr>
          </a:p>
        </p:txBody>
      </p:sp>
      <p:cxnSp>
        <p:nvCxnSpPr>
          <p:cNvPr id="1170" name="Google Shape;1170;p8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171" name="Google Shape;1171;p8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172" name="Google Shape;1172;p8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173" name="Google Shape;1173;p8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174" name="Google Shape;1174;p8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175" name="Google Shape;1175;p8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176" name="Google Shape;1176;p8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177" name="Google Shape;1177;p89"/>
          <p:cNvSpPr txBox="1"/>
          <p:nvPr/>
        </p:nvSpPr>
        <p:spPr>
          <a:xfrm>
            <a:off x="1000925" y="2065150"/>
            <a:ext cx="47526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Creating Pie Chart </a:t>
            </a:r>
            <a:endParaRPr sz="1982">
              <a:solidFill>
                <a:schemeClr val="dk1"/>
              </a:solidFill>
              <a:latin typeface="Archivo Medium"/>
              <a:ea typeface="Archivo Medium"/>
              <a:cs typeface="Archivo Medium"/>
              <a:sym typeface="Archivo Medium"/>
            </a:endParaRPr>
          </a:p>
        </p:txBody>
      </p:sp>
      <p:pic>
        <p:nvPicPr>
          <p:cNvPr id="1178" name="Google Shape;1178;p89"/>
          <p:cNvPicPr preferRelativeResize="0"/>
          <p:nvPr/>
        </p:nvPicPr>
        <p:blipFill>
          <a:blip r:embed="rId6">
            <a:alphaModFix/>
          </a:blip>
          <a:stretch>
            <a:fillRect/>
          </a:stretch>
        </p:blipFill>
        <p:spPr>
          <a:xfrm>
            <a:off x="4038600" y="1784500"/>
            <a:ext cx="3047553" cy="4170901"/>
          </a:xfrm>
          <a:prstGeom prst="rect">
            <a:avLst/>
          </a:prstGeom>
          <a:noFill/>
          <a:ln>
            <a:noFill/>
          </a:ln>
          <a:effectLst>
            <a:outerShdw blurRad="57150" rotWithShape="0" algn="bl" dir="9000000" dist="19050">
              <a:srgbClr val="000000">
                <a:alpha val="90000"/>
              </a:srgbClr>
            </a:outerShdw>
          </a:effectLst>
        </p:spPr>
      </p:pic>
      <p:sp>
        <p:nvSpPr>
          <p:cNvPr id="1179" name="Google Shape;1179;p89"/>
          <p:cNvSpPr/>
          <p:nvPr/>
        </p:nvSpPr>
        <p:spPr>
          <a:xfrm>
            <a:off x="4148725" y="2811300"/>
            <a:ext cx="2853000" cy="3061500"/>
          </a:xfrm>
          <a:prstGeom prst="roundRect">
            <a:avLst>
              <a:gd fmla="val 0" name="adj"/>
            </a:avLst>
          </a:prstGeom>
          <a:noFill/>
          <a:ln cap="flat" cmpd="sng" w="9525">
            <a:solidFill>
              <a:srgbClr val="FF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180" name="Google Shape;1180;p89"/>
          <p:cNvPicPr preferRelativeResize="0"/>
          <p:nvPr/>
        </p:nvPicPr>
        <p:blipFill>
          <a:blip r:embed="rId7">
            <a:alphaModFix/>
          </a:blip>
          <a:stretch>
            <a:fillRect/>
          </a:stretch>
        </p:blipFill>
        <p:spPr>
          <a:xfrm>
            <a:off x="8153401" y="3117635"/>
            <a:ext cx="3472051" cy="2448825"/>
          </a:xfrm>
          <a:prstGeom prst="rect">
            <a:avLst/>
          </a:prstGeom>
          <a:noFill/>
          <a:ln>
            <a:noFill/>
          </a:ln>
          <a:effectLst>
            <a:outerShdw blurRad="57150" rotWithShape="0" algn="bl" dir="9600000" dist="19050">
              <a:srgbClr val="000000">
                <a:alpha val="90000"/>
              </a:srgbClr>
            </a:outerShdw>
          </a:effectLst>
        </p:spPr>
      </p:pic>
      <p:cxnSp>
        <p:nvCxnSpPr>
          <p:cNvPr id="1181" name="Google Shape;1181;p89"/>
          <p:cNvCxnSpPr>
            <a:stCxn id="1179" idx="3"/>
            <a:endCxn id="1180" idx="0"/>
          </p:cNvCxnSpPr>
          <p:nvPr/>
        </p:nvCxnSpPr>
        <p:spPr>
          <a:xfrm flipH="1" rot="10800000">
            <a:off x="7001725" y="3117750"/>
            <a:ext cx="2887800" cy="1224300"/>
          </a:xfrm>
          <a:prstGeom prst="curvedConnector4">
            <a:avLst>
              <a:gd fmla="val 19941" name="adj1"/>
              <a:gd fmla="val 119459" name="adj2"/>
            </a:avLst>
          </a:prstGeom>
          <a:noFill/>
          <a:ln cap="flat" cmpd="sng" w="28575">
            <a:solidFill>
              <a:srgbClr val="C41F2F"/>
            </a:solidFill>
            <a:prstDash val="solid"/>
            <a:round/>
            <a:headEnd len="med" w="med" type="none"/>
            <a:tailEnd len="med" w="med" type="none"/>
          </a:ln>
        </p:spPr>
      </p:cxnSp>
    </p:spTree>
  </p:cSld>
  <p:clrMapOvr>
    <a:masterClrMapping/>
  </p:clrMapOvr>
  <p:transition spd="slow">
    <p:fade thruBlk="1"/>
  </p:transition>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90"/>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Basic Chart</a:t>
            </a:r>
            <a:endParaRPr b="1" i="0" sz="3600" u="none" cap="none" strike="noStrike">
              <a:solidFill>
                <a:srgbClr val="6D9EEB"/>
              </a:solidFill>
              <a:latin typeface="Poppins"/>
              <a:ea typeface="Poppins"/>
              <a:cs typeface="Poppins"/>
              <a:sym typeface="Poppins"/>
            </a:endParaRPr>
          </a:p>
        </p:txBody>
      </p:sp>
      <p:cxnSp>
        <p:nvCxnSpPr>
          <p:cNvPr id="1187" name="Google Shape;1187;p9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188" name="Google Shape;1188;p9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189" name="Google Shape;1189;p9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190" name="Google Shape;1190;p9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191" name="Google Shape;1191;p9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192" name="Google Shape;1192;p9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193" name="Google Shape;1193;p9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194" name="Google Shape;1194;p90"/>
          <p:cNvSpPr txBox="1"/>
          <p:nvPr/>
        </p:nvSpPr>
        <p:spPr>
          <a:xfrm>
            <a:off x="1000925" y="1650025"/>
            <a:ext cx="99720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Archivo Medium"/>
                <a:ea typeface="Archivo Medium"/>
                <a:cs typeface="Archivo Medium"/>
                <a:sym typeface="Archivo Medium"/>
              </a:rPr>
              <a:t>Berikut adalah daftar grafik dasar untuk visualisasi:</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Archivo Medium"/>
              <a:ea typeface="Archivo Medium"/>
              <a:cs typeface="Archivo Medium"/>
              <a:sym typeface="Archivo Medium"/>
            </a:endParaRPr>
          </a:p>
          <a:p>
            <a:pPr indent="-367188" lvl="0" marL="457200" rtl="0" algn="l">
              <a:lnSpc>
                <a:spcPct val="80000"/>
              </a:lnSpc>
              <a:spcBef>
                <a:spcPts val="0"/>
              </a:spcBef>
              <a:spcAft>
                <a:spcPts val="0"/>
              </a:spcAft>
              <a:buClr>
                <a:schemeClr val="dk1"/>
              </a:buClr>
              <a:buSzPts val="2183"/>
              <a:buFont typeface="Archivo Medium"/>
              <a:buChar char="●"/>
            </a:pPr>
            <a:r>
              <a:rPr lang="en-US" sz="2182">
                <a:solidFill>
                  <a:schemeClr val="dk1"/>
                </a:solidFill>
                <a:latin typeface="Archivo Medium"/>
                <a:ea typeface="Archivo Medium"/>
                <a:cs typeface="Archivo Medium"/>
                <a:sym typeface="Archivo Medium"/>
              </a:rPr>
              <a:t>Grafik batang (bar), area, dan garis (line): Digunakan untuk membandingkan berbagai seri data pada sumbu x dan y.</a:t>
            </a:r>
            <a:endParaRPr sz="21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a:p>
            <a:pPr indent="-367188" lvl="0" marL="457200" rtl="0" algn="l">
              <a:lnSpc>
                <a:spcPct val="80000"/>
              </a:lnSpc>
              <a:spcBef>
                <a:spcPts val="0"/>
              </a:spcBef>
              <a:spcAft>
                <a:spcPts val="0"/>
              </a:spcAft>
              <a:buClr>
                <a:schemeClr val="dk1"/>
              </a:buClr>
              <a:buSzPts val="2183"/>
              <a:buFont typeface="Archivo Medium"/>
              <a:buChar char="●"/>
            </a:pPr>
            <a:r>
              <a:rPr lang="en-US" sz="2182">
                <a:solidFill>
                  <a:schemeClr val="dk1"/>
                </a:solidFill>
                <a:latin typeface="Archivo Medium"/>
                <a:ea typeface="Archivo Medium"/>
                <a:cs typeface="Archivo Medium"/>
                <a:sym typeface="Archivo Medium"/>
              </a:rPr>
              <a:t>Diagram lingkaran (pie chart): Digunakan ketika semua field saling berhubungan dan ingin ditampilkan dalam satu kesatuan proporsi.</a:t>
            </a:r>
            <a:endParaRPr sz="21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a:p>
            <a:pPr indent="-367188" lvl="0" marL="457200" rtl="0" algn="l">
              <a:lnSpc>
                <a:spcPct val="80000"/>
              </a:lnSpc>
              <a:spcBef>
                <a:spcPts val="0"/>
              </a:spcBef>
              <a:spcAft>
                <a:spcPts val="0"/>
              </a:spcAft>
              <a:buClr>
                <a:schemeClr val="dk1"/>
              </a:buClr>
              <a:buSzPts val="2183"/>
              <a:buFont typeface="Archivo Medium"/>
              <a:buChar char="●"/>
            </a:pPr>
            <a:r>
              <a:rPr lang="en-US" sz="2182">
                <a:solidFill>
                  <a:schemeClr val="dk1"/>
                </a:solidFill>
                <a:latin typeface="Archivo Medium"/>
                <a:ea typeface="Archivo Medium"/>
                <a:cs typeface="Archivo Medium"/>
                <a:sym typeface="Archivo Medium"/>
              </a:rPr>
              <a:t>Peta panas (heat map): Digunakan untuk memberi gradasi warna pada sel-sel dalam sebuah matriks, menunjukkan intensitas nilai data di setiap titik.</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91"/>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Dashboard</a:t>
            </a:r>
            <a:endParaRPr b="1" i="0" sz="3600" u="none" cap="none" strike="noStrike">
              <a:solidFill>
                <a:srgbClr val="6D9EEB"/>
              </a:solidFill>
              <a:latin typeface="Poppins"/>
              <a:ea typeface="Poppins"/>
              <a:cs typeface="Poppins"/>
              <a:sym typeface="Poppins"/>
            </a:endParaRPr>
          </a:p>
        </p:txBody>
      </p:sp>
      <p:cxnSp>
        <p:nvCxnSpPr>
          <p:cNvPr id="1200" name="Google Shape;1200;p9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201" name="Google Shape;1201;p9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202" name="Google Shape;1202;p9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203" name="Google Shape;1203;p9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204" name="Google Shape;1204;p9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205" name="Google Shape;1205;p9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206" name="Google Shape;1206;p9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1207" name="Google Shape;1207;p91"/>
          <p:cNvPicPr preferRelativeResize="0"/>
          <p:nvPr/>
        </p:nvPicPr>
        <p:blipFill rotWithShape="1">
          <a:blip r:embed="rId6">
            <a:alphaModFix/>
          </a:blip>
          <a:srcRect b="26702" l="0" r="0" t="0"/>
          <a:stretch/>
        </p:blipFill>
        <p:spPr>
          <a:xfrm>
            <a:off x="814425" y="1225603"/>
            <a:ext cx="10293599" cy="3336750"/>
          </a:xfrm>
          <a:prstGeom prst="rect">
            <a:avLst/>
          </a:prstGeom>
          <a:noFill/>
          <a:ln>
            <a:noFill/>
          </a:ln>
        </p:spPr>
      </p:pic>
      <p:sp>
        <p:nvSpPr>
          <p:cNvPr id="1208" name="Google Shape;1208;p91"/>
          <p:cNvSpPr txBox="1"/>
          <p:nvPr/>
        </p:nvSpPr>
        <p:spPr>
          <a:xfrm>
            <a:off x="2488125" y="5007050"/>
            <a:ext cx="10553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082">
                <a:solidFill>
                  <a:schemeClr val="dk1"/>
                </a:solidFill>
                <a:latin typeface="Archivo Medium"/>
                <a:ea typeface="Archivo Medium"/>
                <a:cs typeface="Archivo Medium"/>
                <a:sym typeface="Archivo Medium"/>
              </a:rPr>
              <a:t>Outcome for editing dashboard ( Single Pane of Glass )</a:t>
            </a:r>
            <a:endParaRPr sz="20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12" name="Shape 1212"/>
        <p:cNvGrpSpPr/>
        <p:nvPr/>
      </p:nvGrpSpPr>
      <p:grpSpPr>
        <a:xfrm>
          <a:off x="0" y="0"/>
          <a:ext cx="0" cy="0"/>
          <a:chOff x="0" y="0"/>
          <a:chExt cx="0" cy="0"/>
        </a:xfrm>
      </p:grpSpPr>
      <p:pic>
        <p:nvPicPr>
          <p:cNvPr descr="A picture containing food, drawing, shirt&#10;&#10;Description automatically generated" id="1213" name="Google Shape;1213;p9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1214" name="Google Shape;1214;p9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15" name="Google Shape;1215;p9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216" name="Google Shape;1216;p92"/>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217" name="Google Shape;1217;p9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218" name="Google Shape;1218;p92"/>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219" name="Google Shape;1219;p92"/>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a:t>
            </a:r>
            <a:endParaRPr sz="4800">
              <a:solidFill>
                <a:schemeClr val="lt1"/>
              </a:solidFill>
              <a:highlight>
                <a:srgbClr val="3585F9"/>
              </a:highlight>
              <a:latin typeface="Poppins"/>
              <a:ea typeface="Poppins"/>
              <a:cs typeface="Poppins"/>
              <a:sym typeface="Poppins"/>
            </a:endParaRPr>
          </a:p>
        </p:txBody>
      </p:sp>
      <p:pic>
        <p:nvPicPr>
          <p:cNvPr id="1220" name="Google Shape;1220;p92"/>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24" name="Shape 1224"/>
        <p:cNvGrpSpPr/>
        <p:nvPr/>
      </p:nvGrpSpPr>
      <p:grpSpPr>
        <a:xfrm>
          <a:off x="0" y="0"/>
          <a:ext cx="0" cy="0"/>
          <a:chOff x="0" y="0"/>
          <a:chExt cx="0" cy="0"/>
        </a:xfrm>
      </p:grpSpPr>
      <p:pic>
        <p:nvPicPr>
          <p:cNvPr descr="A picture containing food, drawing, shirt&#10;&#10;Description automatically generated" id="1225" name="Google Shape;1225;p9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1226" name="Google Shape;1226;p9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27" name="Google Shape;1227;p9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228" name="Google Shape;1228;p93"/>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229" name="Google Shape;1229;p9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230" name="Google Shape;1230;p93"/>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231" name="Google Shape;1231;p93"/>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Labs Wazuh Query  Language  </a:t>
            </a:r>
            <a:endParaRPr sz="4800">
              <a:solidFill>
                <a:schemeClr val="lt1"/>
              </a:solidFill>
              <a:highlight>
                <a:srgbClr val="3585F9"/>
              </a:highlight>
              <a:latin typeface="Poppins"/>
              <a:ea typeface="Poppins"/>
              <a:cs typeface="Poppins"/>
              <a:sym typeface="Poppins"/>
            </a:endParaRPr>
          </a:p>
        </p:txBody>
      </p:sp>
      <p:pic>
        <p:nvPicPr>
          <p:cNvPr id="1232" name="Google Shape;1232;p93"/>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94"/>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Query Language </a:t>
            </a:r>
            <a:endParaRPr b="1" i="0" sz="3600" u="none" cap="none" strike="noStrike">
              <a:solidFill>
                <a:srgbClr val="6D9EEB"/>
              </a:solidFill>
              <a:latin typeface="Poppins"/>
              <a:ea typeface="Poppins"/>
              <a:cs typeface="Poppins"/>
              <a:sym typeface="Poppins"/>
            </a:endParaRPr>
          </a:p>
        </p:txBody>
      </p:sp>
      <p:cxnSp>
        <p:nvCxnSpPr>
          <p:cNvPr id="1238" name="Google Shape;1238;p9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239" name="Google Shape;1239;p9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240" name="Google Shape;1240;p9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241" name="Google Shape;1241;p9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242" name="Google Shape;1242;p9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243" name="Google Shape;1243;p9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244" name="Google Shape;1244;p9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245" name="Google Shape;1245;p94"/>
          <p:cNvSpPr txBox="1"/>
          <p:nvPr/>
        </p:nvSpPr>
        <p:spPr>
          <a:xfrm>
            <a:off x="1000925" y="1708275"/>
            <a:ext cx="99720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2382">
                <a:solidFill>
                  <a:schemeClr val="dk1"/>
                </a:solidFill>
                <a:latin typeface="Archivo Medium"/>
                <a:ea typeface="Archivo Medium"/>
                <a:cs typeface="Archivo Medium"/>
                <a:sym typeface="Archivo Medium"/>
              </a:rPr>
              <a:t>WQL (Wazuh Query Language) memungkinkan pengambilan data secara presisi dengan mendefinisikan kriteria secara rinci. Pendekatan ini mengharuskan pengguna untuk menentukan nama field, operator, dan nilai, sehingga data yang dikembalikan akurat dan relevan. Struktur kueri ini mengikuti pola sederhana berikut:</a:t>
            </a:r>
            <a:endParaRPr sz="23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3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382">
                <a:solidFill>
                  <a:schemeClr val="dk1"/>
                </a:solidFill>
                <a:latin typeface="Archivo Medium"/>
                <a:ea typeface="Archivo Medium"/>
                <a:cs typeface="Archivo Medium"/>
                <a:sym typeface="Archivo Medium"/>
              </a:rPr>
              <a:t>nama_field operator nilai.</a:t>
            </a:r>
            <a:endParaRPr sz="23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3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3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95"/>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Operator </a:t>
            </a:r>
            <a:endParaRPr b="1" i="0" sz="3600" u="none" cap="none" strike="noStrike">
              <a:solidFill>
                <a:srgbClr val="6D9EEB"/>
              </a:solidFill>
              <a:latin typeface="Poppins"/>
              <a:ea typeface="Poppins"/>
              <a:cs typeface="Poppins"/>
              <a:sym typeface="Poppins"/>
            </a:endParaRPr>
          </a:p>
        </p:txBody>
      </p:sp>
      <p:cxnSp>
        <p:nvCxnSpPr>
          <p:cNvPr id="1251" name="Google Shape;1251;p9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252" name="Google Shape;1252;p9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253" name="Google Shape;1253;p9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254" name="Google Shape;1254;p9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255" name="Google Shape;1255;p9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256" name="Google Shape;1256;p9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257" name="Google Shape;1257;p9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258" name="Google Shape;1258;p95"/>
          <p:cNvSpPr txBox="1"/>
          <p:nvPr/>
        </p:nvSpPr>
        <p:spPr>
          <a:xfrm>
            <a:off x="1000925" y="1708275"/>
            <a:ext cx="9972000" cy="4075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Dalam Wazuh Query Language (WQL), operator digunakan untuk memfilter data secara presisi dan mengarahkan alur operasi agar menghasilkan output yang diinginkan. Berikut adalah operator-operator utama dalam WQL:</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=  → untuk menyatakan sama dengan (equality)</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!= → untuk menyatakan tidak sama dengan (inequality)</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&gt;  → untuk menyatakan lebih besar dari</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&lt;  → untuk menyatakan lebih kecil dari</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~  → untuk menyatakan mirip seperti / like as (pencocokan pola)</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Operator-operator ini memungkinkan pengguna menyaring data berdasarkan kondisi yang spesifik.</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7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96"/>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WQL MITRE Tactic &amp; Technique</a:t>
            </a:r>
            <a:endParaRPr b="1" i="0" sz="3600" u="none" cap="none" strike="noStrike">
              <a:solidFill>
                <a:srgbClr val="6D9EEB"/>
              </a:solidFill>
              <a:latin typeface="Poppins"/>
              <a:ea typeface="Poppins"/>
              <a:cs typeface="Poppins"/>
              <a:sym typeface="Poppins"/>
            </a:endParaRPr>
          </a:p>
        </p:txBody>
      </p:sp>
      <p:cxnSp>
        <p:nvCxnSpPr>
          <p:cNvPr id="1264" name="Google Shape;1264;p9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265" name="Google Shape;1265;p9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266" name="Google Shape;1266;p9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267" name="Google Shape;1267;p9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268" name="Google Shape;1268;p9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269" name="Google Shape;1269;p9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270" name="Google Shape;1270;p9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1271" name="Google Shape;1271;p96"/>
          <p:cNvPicPr preferRelativeResize="0"/>
          <p:nvPr/>
        </p:nvPicPr>
        <p:blipFill rotWithShape="1">
          <a:blip r:embed="rId6">
            <a:alphaModFix/>
          </a:blip>
          <a:srcRect b="7066" l="0" r="0" t="4154"/>
          <a:stretch/>
        </p:blipFill>
        <p:spPr>
          <a:xfrm>
            <a:off x="1496200" y="1841350"/>
            <a:ext cx="8715375" cy="3221600"/>
          </a:xfrm>
          <a:prstGeom prst="rect">
            <a:avLst/>
          </a:prstGeom>
          <a:noFill/>
          <a:ln>
            <a:noFill/>
          </a:ln>
          <a:effectLst>
            <a:outerShdw blurRad="57150" rotWithShape="0" algn="bl" dir="9000000" dist="19050">
              <a:srgbClr val="000000">
                <a:alpha val="90000"/>
              </a:srgbClr>
            </a:outerShdw>
          </a:effectLst>
        </p:spPr>
      </p:pic>
      <p:sp>
        <p:nvSpPr>
          <p:cNvPr id="1272" name="Google Shape;1272;p96"/>
          <p:cNvSpPr/>
          <p:nvPr/>
        </p:nvSpPr>
        <p:spPr>
          <a:xfrm>
            <a:off x="1667725" y="3741525"/>
            <a:ext cx="3993300" cy="1119000"/>
          </a:xfrm>
          <a:prstGeom prst="rect">
            <a:avLst/>
          </a:prstGeom>
          <a:noFill/>
          <a:ln cap="flat" cmpd="sng" w="9525">
            <a:solidFill>
              <a:srgbClr val="C41F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273" name="Google Shape;1273;p96"/>
          <p:cNvCxnSpPr>
            <a:stCxn id="1272" idx="1"/>
            <a:endCxn id="1274" idx="0"/>
          </p:cNvCxnSpPr>
          <p:nvPr/>
        </p:nvCxnSpPr>
        <p:spPr>
          <a:xfrm>
            <a:off x="1667725" y="4301025"/>
            <a:ext cx="4544100" cy="1016700"/>
          </a:xfrm>
          <a:prstGeom prst="curvedConnector4">
            <a:avLst>
              <a:gd fmla="val -20144" name="adj1"/>
              <a:gd fmla="val 91165" name="adj2"/>
            </a:avLst>
          </a:prstGeom>
          <a:noFill/>
          <a:ln cap="flat" cmpd="sng" w="28575">
            <a:solidFill>
              <a:srgbClr val="C41F2F"/>
            </a:solidFill>
            <a:prstDash val="solid"/>
            <a:round/>
            <a:headEnd len="med" w="med" type="none"/>
            <a:tailEnd len="med" w="med" type="none"/>
          </a:ln>
        </p:spPr>
      </p:cxnSp>
      <p:sp>
        <p:nvSpPr>
          <p:cNvPr id="1274" name="Google Shape;1274;p96"/>
          <p:cNvSpPr txBox="1"/>
          <p:nvPr/>
        </p:nvSpPr>
        <p:spPr>
          <a:xfrm>
            <a:off x="935225" y="5317738"/>
            <a:ext cx="10553100" cy="14037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MITRE ATT &amp; CK, Goals Filtering with Wazuh Query Language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pic>
        <p:nvPicPr>
          <p:cNvPr id="1279" name="Google Shape;1279;p97"/>
          <p:cNvPicPr preferRelativeResize="0"/>
          <p:nvPr/>
        </p:nvPicPr>
        <p:blipFill rotWithShape="1">
          <a:blip r:embed="rId3">
            <a:alphaModFix/>
          </a:blip>
          <a:srcRect b="0" l="0" r="3642" t="0"/>
          <a:stretch/>
        </p:blipFill>
        <p:spPr>
          <a:xfrm>
            <a:off x="1000925" y="1650025"/>
            <a:ext cx="8040398" cy="3896125"/>
          </a:xfrm>
          <a:prstGeom prst="rect">
            <a:avLst/>
          </a:prstGeom>
          <a:noFill/>
          <a:ln>
            <a:noFill/>
          </a:ln>
          <a:effectLst>
            <a:outerShdw blurRad="57150" rotWithShape="0" algn="bl" dir="10800000" dist="19050">
              <a:srgbClr val="000000">
                <a:alpha val="90000"/>
              </a:srgbClr>
            </a:outerShdw>
          </a:effectLst>
        </p:spPr>
      </p:pic>
      <p:sp>
        <p:nvSpPr>
          <p:cNvPr id="1280" name="Google Shape;1280;p97"/>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WQL MITRE Tactic &amp; Technique</a:t>
            </a:r>
            <a:endParaRPr b="1" i="0" sz="3600" u="none" cap="none" strike="noStrike">
              <a:solidFill>
                <a:srgbClr val="6D9EEB"/>
              </a:solidFill>
              <a:latin typeface="Poppins"/>
              <a:ea typeface="Poppins"/>
              <a:cs typeface="Poppins"/>
              <a:sym typeface="Poppins"/>
            </a:endParaRPr>
          </a:p>
        </p:txBody>
      </p:sp>
      <p:cxnSp>
        <p:nvCxnSpPr>
          <p:cNvPr id="1281" name="Google Shape;1281;p9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282" name="Google Shape;1282;p97"/>
          <p:cNvPicPr preferRelativeResize="0"/>
          <p:nvPr/>
        </p:nvPicPr>
        <p:blipFill rotWithShape="1">
          <a:blip r:embed="rId4">
            <a:alphaModFix/>
          </a:blip>
          <a:srcRect b="31378" l="6886" r="6713" t="33999"/>
          <a:stretch/>
        </p:blipFill>
        <p:spPr>
          <a:xfrm>
            <a:off x="382588" y="6456363"/>
            <a:ext cx="684212" cy="273047"/>
          </a:xfrm>
          <a:prstGeom prst="rect">
            <a:avLst/>
          </a:prstGeom>
          <a:noFill/>
          <a:ln>
            <a:noFill/>
          </a:ln>
        </p:spPr>
      </p:pic>
      <p:pic>
        <p:nvPicPr>
          <p:cNvPr id="1283" name="Google Shape;1283;p97"/>
          <p:cNvPicPr preferRelativeResize="0"/>
          <p:nvPr/>
        </p:nvPicPr>
        <p:blipFill rotWithShape="1">
          <a:blip r:embed="rId5">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284" name="Google Shape;1284;p97"/>
          <p:cNvPicPr preferRelativeResize="0"/>
          <p:nvPr/>
        </p:nvPicPr>
        <p:blipFill rotWithShape="1">
          <a:blip r:embed="rId6">
            <a:alphaModFix/>
          </a:blip>
          <a:srcRect b="31110" l="0" r="0" t="33866"/>
          <a:stretch/>
        </p:blipFill>
        <p:spPr>
          <a:xfrm>
            <a:off x="280988" y="6257925"/>
            <a:ext cx="1439863" cy="504824"/>
          </a:xfrm>
          <a:prstGeom prst="rect">
            <a:avLst/>
          </a:prstGeom>
          <a:noFill/>
          <a:ln>
            <a:noFill/>
          </a:ln>
        </p:spPr>
      </p:pic>
      <p:sp>
        <p:nvSpPr>
          <p:cNvPr id="1285" name="Google Shape;1285;p9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286" name="Google Shape;1286;p9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287" name="Google Shape;1287;p9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288" name="Google Shape;1288;p97"/>
          <p:cNvSpPr/>
          <p:nvPr/>
        </p:nvSpPr>
        <p:spPr>
          <a:xfrm>
            <a:off x="1565000" y="1898750"/>
            <a:ext cx="6661200" cy="232500"/>
          </a:xfrm>
          <a:prstGeom prst="rect">
            <a:avLst/>
          </a:prstGeom>
          <a:noFill/>
          <a:ln cap="flat" cmpd="sng" w="9525">
            <a:solidFill>
              <a:srgbClr val="C41F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289" name="Google Shape;1289;p97"/>
          <p:cNvCxnSpPr>
            <a:stCxn id="1288" idx="3"/>
            <a:endCxn id="1290" idx="0"/>
          </p:cNvCxnSpPr>
          <p:nvPr/>
        </p:nvCxnSpPr>
        <p:spPr>
          <a:xfrm>
            <a:off x="8226200" y="2015000"/>
            <a:ext cx="2268900" cy="654300"/>
          </a:xfrm>
          <a:prstGeom prst="curvedConnector2">
            <a:avLst/>
          </a:prstGeom>
          <a:noFill/>
          <a:ln cap="flat" cmpd="sng" w="28575">
            <a:solidFill>
              <a:srgbClr val="C41F2F"/>
            </a:solidFill>
            <a:prstDash val="solid"/>
            <a:round/>
            <a:headEnd len="med" w="med" type="none"/>
            <a:tailEnd len="med" w="med" type="none"/>
          </a:ln>
        </p:spPr>
      </p:cxnSp>
      <p:sp>
        <p:nvSpPr>
          <p:cNvPr id="1290" name="Google Shape;1290;p97"/>
          <p:cNvSpPr txBox="1"/>
          <p:nvPr/>
        </p:nvSpPr>
        <p:spPr>
          <a:xfrm>
            <a:off x="9167350" y="2669275"/>
            <a:ext cx="2655300" cy="14037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FieldName Operator Value</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pic>
        <p:nvPicPr>
          <p:cNvPr id="1295" name="Google Shape;1295;p98"/>
          <p:cNvPicPr preferRelativeResize="0"/>
          <p:nvPr/>
        </p:nvPicPr>
        <p:blipFill rotWithShape="1">
          <a:blip r:embed="rId3">
            <a:alphaModFix/>
          </a:blip>
          <a:srcRect b="0" l="0" r="3642" t="0"/>
          <a:stretch/>
        </p:blipFill>
        <p:spPr>
          <a:xfrm>
            <a:off x="1000925" y="1650025"/>
            <a:ext cx="8040398" cy="3896125"/>
          </a:xfrm>
          <a:prstGeom prst="rect">
            <a:avLst/>
          </a:prstGeom>
          <a:noFill/>
          <a:ln>
            <a:noFill/>
          </a:ln>
          <a:effectLst>
            <a:outerShdw blurRad="57150" rotWithShape="0" algn="bl" dir="9600000" dist="19050">
              <a:srgbClr val="000000">
                <a:alpha val="90000"/>
              </a:srgbClr>
            </a:outerShdw>
          </a:effectLst>
        </p:spPr>
      </p:pic>
      <p:sp>
        <p:nvSpPr>
          <p:cNvPr id="1296" name="Google Shape;1296;p98"/>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WQL MITRE Tactic &amp; Technique</a:t>
            </a:r>
            <a:endParaRPr b="1" i="0" sz="3600" u="none" cap="none" strike="noStrike">
              <a:solidFill>
                <a:srgbClr val="6D9EEB"/>
              </a:solidFill>
              <a:latin typeface="Poppins"/>
              <a:ea typeface="Poppins"/>
              <a:cs typeface="Poppins"/>
              <a:sym typeface="Poppins"/>
            </a:endParaRPr>
          </a:p>
        </p:txBody>
      </p:sp>
      <p:cxnSp>
        <p:nvCxnSpPr>
          <p:cNvPr id="1297" name="Google Shape;1297;p9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298" name="Google Shape;1298;p98"/>
          <p:cNvPicPr preferRelativeResize="0"/>
          <p:nvPr/>
        </p:nvPicPr>
        <p:blipFill rotWithShape="1">
          <a:blip r:embed="rId4">
            <a:alphaModFix/>
          </a:blip>
          <a:srcRect b="31378" l="6886" r="6713" t="33999"/>
          <a:stretch/>
        </p:blipFill>
        <p:spPr>
          <a:xfrm>
            <a:off x="382588" y="6456363"/>
            <a:ext cx="684212" cy="273047"/>
          </a:xfrm>
          <a:prstGeom prst="rect">
            <a:avLst/>
          </a:prstGeom>
          <a:noFill/>
          <a:ln>
            <a:noFill/>
          </a:ln>
        </p:spPr>
      </p:pic>
      <p:pic>
        <p:nvPicPr>
          <p:cNvPr id="1299" name="Google Shape;1299;p98"/>
          <p:cNvPicPr preferRelativeResize="0"/>
          <p:nvPr/>
        </p:nvPicPr>
        <p:blipFill rotWithShape="1">
          <a:blip r:embed="rId5">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300" name="Google Shape;1300;p98"/>
          <p:cNvPicPr preferRelativeResize="0"/>
          <p:nvPr/>
        </p:nvPicPr>
        <p:blipFill rotWithShape="1">
          <a:blip r:embed="rId6">
            <a:alphaModFix/>
          </a:blip>
          <a:srcRect b="31110" l="0" r="0" t="33866"/>
          <a:stretch/>
        </p:blipFill>
        <p:spPr>
          <a:xfrm>
            <a:off x="280988" y="6257925"/>
            <a:ext cx="1439863" cy="504824"/>
          </a:xfrm>
          <a:prstGeom prst="rect">
            <a:avLst/>
          </a:prstGeom>
          <a:noFill/>
          <a:ln>
            <a:noFill/>
          </a:ln>
        </p:spPr>
      </p:pic>
      <p:sp>
        <p:nvSpPr>
          <p:cNvPr id="1301" name="Google Shape;1301;p9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302" name="Google Shape;1302;p9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303" name="Google Shape;1303;p9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304" name="Google Shape;1304;p98"/>
          <p:cNvSpPr/>
          <p:nvPr/>
        </p:nvSpPr>
        <p:spPr>
          <a:xfrm>
            <a:off x="2333775" y="2369825"/>
            <a:ext cx="6661200" cy="232500"/>
          </a:xfrm>
          <a:prstGeom prst="rect">
            <a:avLst/>
          </a:prstGeom>
          <a:noFill/>
          <a:ln cap="flat" cmpd="sng" w="9525">
            <a:solidFill>
              <a:srgbClr val="C41F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305" name="Google Shape;1305;p98"/>
          <p:cNvCxnSpPr>
            <a:stCxn id="1304" idx="3"/>
            <a:endCxn id="1306" idx="0"/>
          </p:cNvCxnSpPr>
          <p:nvPr/>
        </p:nvCxnSpPr>
        <p:spPr>
          <a:xfrm>
            <a:off x="8994975" y="2486075"/>
            <a:ext cx="1500000" cy="183300"/>
          </a:xfrm>
          <a:prstGeom prst="curvedConnector2">
            <a:avLst/>
          </a:prstGeom>
          <a:noFill/>
          <a:ln cap="flat" cmpd="sng" w="28575">
            <a:solidFill>
              <a:srgbClr val="C41F2F"/>
            </a:solidFill>
            <a:prstDash val="solid"/>
            <a:round/>
            <a:headEnd len="med" w="med" type="none"/>
            <a:tailEnd len="med" w="med" type="none"/>
          </a:ln>
        </p:spPr>
      </p:cxnSp>
      <p:sp>
        <p:nvSpPr>
          <p:cNvPr id="1306" name="Google Shape;1306;p98"/>
          <p:cNvSpPr txBox="1"/>
          <p:nvPr/>
        </p:nvSpPr>
        <p:spPr>
          <a:xfrm>
            <a:off x="9167350" y="2669275"/>
            <a:ext cx="2655300" cy="14037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name="Active Directory Configuration"</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pic>
        <p:nvPicPr>
          <p:cNvPr id="1311" name="Google Shape;1311;p99"/>
          <p:cNvPicPr preferRelativeResize="0"/>
          <p:nvPr/>
        </p:nvPicPr>
        <p:blipFill>
          <a:blip r:embed="rId3">
            <a:alphaModFix/>
          </a:blip>
          <a:stretch>
            <a:fillRect/>
          </a:stretch>
        </p:blipFill>
        <p:spPr>
          <a:xfrm>
            <a:off x="871991" y="1378000"/>
            <a:ext cx="7059238" cy="4634878"/>
          </a:xfrm>
          <a:prstGeom prst="rect">
            <a:avLst/>
          </a:prstGeom>
          <a:noFill/>
          <a:ln>
            <a:noFill/>
          </a:ln>
        </p:spPr>
      </p:pic>
      <p:sp>
        <p:nvSpPr>
          <p:cNvPr id="1312" name="Google Shape;1312;p99"/>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WQL MITRE Tactic &amp; Technique</a:t>
            </a:r>
            <a:endParaRPr b="1" i="0" sz="3600" u="none" cap="none" strike="noStrike">
              <a:solidFill>
                <a:srgbClr val="6D9EEB"/>
              </a:solidFill>
              <a:latin typeface="Poppins"/>
              <a:ea typeface="Poppins"/>
              <a:cs typeface="Poppins"/>
              <a:sym typeface="Poppins"/>
            </a:endParaRPr>
          </a:p>
        </p:txBody>
      </p:sp>
      <p:cxnSp>
        <p:nvCxnSpPr>
          <p:cNvPr id="1313" name="Google Shape;1313;p9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314" name="Google Shape;1314;p99"/>
          <p:cNvPicPr preferRelativeResize="0"/>
          <p:nvPr/>
        </p:nvPicPr>
        <p:blipFill rotWithShape="1">
          <a:blip r:embed="rId4">
            <a:alphaModFix/>
          </a:blip>
          <a:srcRect b="31378" l="6886" r="6713" t="33999"/>
          <a:stretch/>
        </p:blipFill>
        <p:spPr>
          <a:xfrm>
            <a:off x="382588" y="6456363"/>
            <a:ext cx="684212" cy="273047"/>
          </a:xfrm>
          <a:prstGeom prst="rect">
            <a:avLst/>
          </a:prstGeom>
          <a:noFill/>
          <a:ln>
            <a:noFill/>
          </a:ln>
        </p:spPr>
      </p:pic>
      <p:pic>
        <p:nvPicPr>
          <p:cNvPr id="1315" name="Google Shape;1315;p99"/>
          <p:cNvPicPr preferRelativeResize="0"/>
          <p:nvPr/>
        </p:nvPicPr>
        <p:blipFill rotWithShape="1">
          <a:blip r:embed="rId5">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316" name="Google Shape;1316;p99"/>
          <p:cNvPicPr preferRelativeResize="0"/>
          <p:nvPr/>
        </p:nvPicPr>
        <p:blipFill rotWithShape="1">
          <a:blip r:embed="rId6">
            <a:alphaModFix/>
          </a:blip>
          <a:srcRect b="31110" l="0" r="0" t="33866"/>
          <a:stretch/>
        </p:blipFill>
        <p:spPr>
          <a:xfrm>
            <a:off x="280988" y="6257925"/>
            <a:ext cx="1439863" cy="504824"/>
          </a:xfrm>
          <a:prstGeom prst="rect">
            <a:avLst/>
          </a:prstGeom>
          <a:noFill/>
          <a:ln>
            <a:noFill/>
          </a:ln>
        </p:spPr>
      </p:pic>
      <p:sp>
        <p:nvSpPr>
          <p:cNvPr id="1317" name="Google Shape;1317;p9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318" name="Google Shape;1318;p9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319" name="Google Shape;1319;p9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320" name="Google Shape;1320;p99"/>
          <p:cNvSpPr/>
          <p:nvPr/>
        </p:nvSpPr>
        <p:spPr>
          <a:xfrm>
            <a:off x="872000" y="1820150"/>
            <a:ext cx="7059300" cy="3966000"/>
          </a:xfrm>
          <a:prstGeom prst="rect">
            <a:avLst/>
          </a:prstGeom>
          <a:noFill/>
          <a:ln cap="flat" cmpd="sng" w="9525">
            <a:solidFill>
              <a:srgbClr val="C41F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321" name="Google Shape;1321;p99"/>
          <p:cNvCxnSpPr>
            <a:stCxn id="1320" idx="3"/>
            <a:endCxn id="1322" idx="0"/>
          </p:cNvCxnSpPr>
          <p:nvPr/>
        </p:nvCxnSpPr>
        <p:spPr>
          <a:xfrm flipH="1" rot="10800000">
            <a:off x="7931300" y="2669150"/>
            <a:ext cx="2563800" cy="1134000"/>
          </a:xfrm>
          <a:prstGeom prst="curvedConnector4">
            <a:avLst>
              <a:gd fmla="val 24106" name="adj1"/>
              <a:gd fmla="val 120988" name="adj2"/>
            </a:avLst>
          </a:prstGeom>
          <a:noFill/>
          <a:ln cap="flat" cmpd="sng" w="28575">
            <a:solidFill>
              <a:srgbClr val="C41F2F"/>
            </a:solidFill>
            <a:prstDash val="solid"/>
            <a:round/>
            <a:headEnd len="med" w="med" type="none"/>
            <a:tailEnd len="med" w="med" type="none"/>
          </a:ln>
        </p:spPr>
      </p:cxnSp>
      <p:sp>
        <p:nvSpPr>
          <p:cNvPr id="1322" name="Google Shape;1322;p99"/>
          <p:cNvSpPr txBox="1"/>
          <p:nvPr/>
        </p:nvSpPr>
        <p:spPr>
          <a:xfrm>
            <a:off x="9167350" y="2669275"/>
            <a:ext cx="2655300" cy="14037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name="Active Directory Configuration"</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26" name="Shape 1326"/>
        <p:cNvGrpSpPr/>
        <p:nvPr/>
      </p:nvGrpSpPr>
      <p:grpSpPr>
        <a:xfrm>
          <a:off x="0" y="0"/>
          <a:ext cx="0" cy="0"/>
          <a:chOff x="0" y="0"/>
          <a:chExt cx="0" cy="0"/>
        </a:xfrm>
      </p:grpSpPr>
      <p:pic>
        <p:nvPicPr>
          <p:cNvPr descr="A picture containing food, drawing, shirt&#10;&#10;Description automatically generated" id="1327" name="Google Shape;1327;p10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1328" name="Google Shape;1328;p10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29" name="Google Shape;1329;p10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330" name="Google Shape;1330;p100"/>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331" name="Google Shape;1331;p10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332" name="Google Shape;1332;p100"/>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333" name="Google Shape;1333;p100"/>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a:t>
            </a:r>
            <a:endParaRPr sz="4800">
              <a:solidFill>
                <a:schemeClr val="lt1"/>
              </a:solidFill>
              <a:highlight>
                <a:srgbClr val="3585F9"/>
              </a:highlight>
              <a:latin typeface="Poppins"/>
              <a:ea typeface="Poppins"/>
              <a:cs typeface="Poppins"/>
              <a:sym typeface="Poppins"/>
            </a:endParaRPr>
          </a:p>
        </p:txBody>
      </p:sp>
      <p:pic>
        <p:nvPicPr>
          <p:cNvPr id="1334" name="Google Shape;1334;p100"/>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101"/>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API </a:t>
            </a:r>
            <a:endParaRPr b="1" i="0" sz="3600" u="none" cap="none" strike="noStrike">
              <a:solidFill>
                <a:srgbClr val="6D9EEB"/>
              </a:solidFill>
              <a:latin typeface="Poppins"/>
              <a:ea typeface="Poppins"/>
              <a:cs typeface="Poppins"/>
              <a:sym typeface="Poppins"/>
            </a:endParaRPr>
          </a:p>
        </p:txBody>
      </p:sp>
      <p:cxnSp>
        <p:nvCxnSpPr>
          <p:cNvPr id="1340" name="Google Shape;1340;p10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1341" name="Google Shape;1341;p101"/>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342" name="Google Shape;1342;p101"/>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1343" name="Google Shape;1343;p10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344" name="Google Shape;1344;p10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345" name="Google Shape;1345;p10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346" name="Google Shape;1346;p101"/>
          <p:cNvSpPr txBox="1"/>
          <p:nvPr/>
        </p:nvSpPr>
        <p:spPr>
          <a:xfrm>
            <a:off x="967200" y="1479625"/>
            <a:ext cx="10144500" cy="492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1800">
                <a:solidFill>
                  <a:schemeClr val="dk1"/>
                </a:solidFill>
                <a:latin typeface="Archivo Medium"/>
                <a:ea typeface="Archivo Medium"/>
                <a:cs typeface="Archivo Medium"/>
                <a:sym typeface="Archivo Medium"/>
              </a:rPr>
              <a:t>API Server Wazuh adalah API RESTful open source yang memungkinkan interaksi dengan Wazuh Manager melalui web browser, tool command-line seperti cURL, atau skrip/program apa pun yang dapat membuat permintaan web (HTTP request).</a:t>
            </a:r>
            <a:endParaRPr sz="18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latin typeface="Archivo Medium"/>
                <a:ea typeface="Archivo Medium"/>
                <a:cs typeface="Archivo Medium"/>
                <a:sym typeface="Archivo Medium"/>
              </a:rPr>
              <a:t>Dashboard Wazuh bergantung pada API ini untuk mengelola infrastruktur Wazuh secara remote. Dengan menggunakan API Wazuh Server, Anda dapat melakukan berbagai tugas administratif, seperti:</a:t>
            </a:r>
            <a:endParaRPr sz="18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Menambahkan agen baru (agent registration)</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Merestart Wazuh manager atau agent</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Melihat detail hasil File Integrity Monitoring (FIM)</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Melakukan kueri terhadap status agent, log, dan modul lainnya</a:t>
            </a:r>
            <a:endParaRPr sz="1800">
              <a:solidFill>
                <a:schemeClr val="dk1"/>
              </a:solidFill>
              <a:latin typeface="Archivo Medium"/>
              <a:ea typeface="Archivo Medium"/>
              <a:cs typeface="Archivo Medium"/>
              <a:sym typeface="Archivo Medium"/>
            </a:endParaRPr>
          </a:p>
          <a:p>
            <a:pPr indent="0" lvl="0" marL="457200" rtl="0" algn="l">
              <a:lnSpc>
                <a:spcPct val="115000"/>
              </a:lnSpc>
              <a:spcBef>
                <a:spcPts val="0"/>
              </a:spcBef>
              <a:spcAft>
                <a:spcPts val="0"/>
              </a:spcAft>
              <a:buNone/>
            </a:pPr>
            <a:r>
              <a:t/>
            </a:r>
            <a:endParaRPr sz="18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Clr>
                <a:schemeClr val="dk1"/>
              </a:buClr>
              <a:buSzPts val="1100"/>
              <a:buFont typeface="Arial"/>
              <a:buNone/>
            </a:pPr>
            <a:r>
              <a:rPr lang="en-US" sz="1800">
                <a:solidFill>
                  <a:schemeClr val="dk1"/>
                </a:solidFill>
                <a:latin typeface="Archivo Medium"/>
                <a:ea typeface="Archivo Medium"/>
                <a:cs typeface="Archivo Medium"/>
                <a:sym typeface="Archivo Medium"/>
              </a:rPr>
              <a:t>API ini sangat berguna untuk otomatisasi, integrasi dengan sistem lain, atau saat membuat dashboard dan tools kustom.</a:t>
            </a:r>
            <a:endParaRPr sz="18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sz="18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102"/>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API Capabilities</a:t>
            </a:r>
            <a:endParaRPr b="1" i="0" sz="3600" u="none" cap="none" strike="noStrike">
              <a:solidFill>
                <a:srgbClr val="6D9EEB"/>
              </a:solidFill>
              <a:latin typeface="Poppins"/>
              <a:ea typeface="Poppins"/>
              <a:cs typeface="Poppins"/>
              <a:sym typeface="Poppins"/>
            </a:endParaRPr>
          </a:p>
        </p:txBody>
      </p:sp>
      <p:cxnSp>
        <p:nvCxnSpPr>
          <p:cNvPr id="1352" name="Google Shape;1352;p10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1353" name="Google Shape;1353;p102"/>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354" name="Google Shape;1354;p102"/>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1355" name="Google Shape;1355;p10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356" name="Google Shape;1356;p10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357" name="Google Shape;1357;p10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358" name="Google Shape;1358;p102"/>
          <p:cNvSpPr txBox="1"/>
          <p:nvPr/>
        </p:nvSpPr>
        <p:spPr>
          <a:xfrm>
            <a:off x="1000925" y="1707225"/>
            <a:ext cx="10144500" cy="38673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Wazuh agent management</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Wazuh manager control and overview</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Cluster control and overview</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File integrity monitoring control and search</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MITRE ATT&amp;CK and CIS-CAT overview</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Ruleset information</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Testing and verification of rules and decoders</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Syscollector information</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Role-Based Access Control (RBAC)</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API management (HTTPS, configuration)</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Users management</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Statistical information</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Error handling</a:t>
            </a:r>
            <a:endParaRPr sz="1500">
              <a:solidFill>
                <a:schemeClr val="dk1"/>
              </a:solidFill>
              <a:latin typeface="Archivo Medium"/>
              <a:ea typeface="Archivo Medium"/>
              <a:cs typeface="Archivo Medium"/>
              <a:sym typeface="Archivo Medium"/>
            </a:endParaRPr>
          </a:p>
          <a:p>
            <a:pPr indent="-323850" lvl="0" marL="457200" rtl="0" algn="l">
              <a:lnSpc>
                <a:spcPct val="115000"/>
              </a:lnSpc>
              <a:spcBef>
                <a:spcPts val="0"/>
              </a:spcBef>
              <a:spcAft>
                <a:spcPts val="0"/>
              </a:spcAft>
              <a:buClr>
                <a:schemeClr val="dk1"/>
              </a:buClr>
              <a:buSzPts val="1500"/>
              <a:buFont typeface="Archivo Medium"/>
              <a:buChar char="●"/>
            </a:pPr>
            <a:r>
              <a:rPr lang="en-US" sz="1500">
                <a:solidFill>
                  <a:schemeClr val="dk1"/>
                </a:solidFill>
                <a:latin typeface="Archivo Medium"/>
                <a:ea typeface="Archivo Medium"/>
                <a:cs typeface="Archivo Medium"/>
                <a:sym typeface="Archivo Medium"/>
              </a:rPr>
              <a:t>Query remote configuration</a:t>
            </a:r>
            <a:endParaRPr sz="15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103"/>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Logging Wazuh API </a:t>
            </a:r>
            <a:endParaRPr b="1" i="0" sz="3600" u="none" cap="none" strike="noStrike">
              <a:solidFill>
                <a:srgbClr val="6D9EEB"/>
              </a:solidFill>
              <a:latin typeface="Poppins"/>
              <a:ea typeface="Poppins"/>
              <a:cs typeface="Poppins"/>
              <a:sym typeface="Poppins"/>
            </a:endParaRPr>
          </a:p>
        </p:txBody>
      </p:sp>
      <p:cxnSp>
        <p:nvCxnSpPr>
          <p:cNvPr id="1364" name="Google Shape;1364;p10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1365" name="Google Shape;1365;p103"/>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366" name="Google Shape;1366;p103"/>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1367" name="Google Shape;1367;p10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368" name="Google Shape;1368;p10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369" name="Google Shape;1369;p10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370" name="Google Shape;1370;p103"/>
          <p:cNvSpPr txBox="1"/>
          <p:nvPr/>
        </p:nvSpPr>
        <p:spPr>
          <a:xfrm>
            <a:off x="702900" y="1427900"/>
            <a:ext cx="10144500" cy="300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1800">
                <a:solidFill>
                  <a:schemeClr val="dk1"/>
                </a:solidFill>
                <a:latin typeface="Archivo Medium"/>
                <a:ea typeface="Archivo Medium"/>
                <a:cs typeface="Archivo Medium"/>
                <a:sym typeface="Archivo Medium"/>
              </a:rPr>
              <a:t>Untuk memastikan akses yang aman, semua endpoint Wazuh Server API mewajibkan autentikasi. Setiap permintaan ke API harus menyertakan JSON Web Token (JWT).</a:t>
            </a:r>
            <a:endParaRPr sz="1800">
              <a:solidFill>
                <a:schemeClr val="dk1"/>
              </a:solidFill>
              <a:latin typeface="Archivo Medium"/>
              <a:ea typeface="Archivo Medium"/>
              <a:cs typeface="Archivo Medium"/>
              <a:sym typeface="Archivo Medium"/>
            </a:endParaRPr>
          </a:p>
          <a:p>
            <a:pPr indent="0" lvl="0" marL="0" rtl="0" algn="l">
              <a:lnSpc>
                <a:spcPct val="115000"/>
              </a:lnSpc>
              <a:spcBef>
                <a:spcPts val="1200"/>
              </a:spcBef>
              <a:spcAft>
                <a:spcPts val="0"/>
              </a:spcAft>
              <a:buNone/>
            </a:pPr>
            <a:r>
              <a:rPr lang="en-US" sz="1800">
                <a:solidFill>
                  <a:schemeClr val="dk1"/>
                </a:solidFill>
                <a:latin typeface="Archivo Medium"/>
                <a:ea typeface="Archivo Medium"/>
                <a:cs typeface="Archivo Medium"/>
                <a:sym typeface="Archivo Medium"/>
              </a:rPr>
              <a:t>JWT ini diperoleh dengan melakukan login terlebih dahulu menggunakan username dan password yang valid. Setelah berhasil login, API akan mengembalikan token yang harus disisipkan di header permintaan selanjutnya.</a:t>
            </a:r>
            <a:endParaRPr sz="1800">
              <a:solidFill>
                <a:schemeClr val="dk1"/>
              </a:solidFill>
              <a:latin typeface="Archivo Medium"/>
              <a:ea typeface="Archivo Medium"/>
              <a:cs typeface="Archivo Medium"/>
              <a:sym typeface="Archivo Medium"/>
            </a:endParaRPr>
          </a:p>
          <a:p>
            <a:pPr indent="0" lvl="0" marL="0" rtl="0" algn="l">
              <a:lnSpc>
                <a:spcPct val="115000"/>
              </a:lnSpc>
              <a:spcBef>
                <a:spcPts val="1200"/>
              </a:spcBef>
              <a:spcAft>
                <a:spcPts val="0"/>
              </a:spcAft>
              <a:buNone/>
            </a:pPr>
            <a:r>
              <a:rPr lang="en-US" sz="1650">
                <a:solidFill>
                  <a:schemeClr val="dk1"/>
                </a:solidFill>
                <a:latin typeface="Courier New"/>
                <a:ea typeface="Courier New"/>
                <a:cs typeface="Courier New"/>
                <a:sym typeface="Courier New"/>
              </a:rPr>
              <a:t>tar -axf wazuh-install-files.tar wazuh-install-files/wazuh-passwords.txt -O | grep -P "\'wazuh\'" -A 1</a:t>
            </a:r>
            <a:endParaRPr sz="2400">
              <a:solidFill>
                <a:schemeClr val="dk1"/>
              </a:solidFill>
              <a:latin typeface="Courier New"/>
              <a:ea typeface="Courier New"/>
              <a:cs typeface="Courier New"/>
              <a:sym typeface="Courier New"/>
            </a:endParaRPr>
          </a:p>
          <a:p>
            <a:pPr indent="0" lvl="0" marL="0" rtl="0" algn="l">
              <a:lnSpc>
                <a:spcPct val="115000"/>
              </a:lnSpc>
              <a:spcBef>
                <a:spcPts val="1200"/>
              </a:spcBef>
              <a:spcAft>
                <a:spcPts val="1200"/>
              </a:spcAft>
              <a:buNone/>
            </a:pPr>
            <a:r>
              <a:t/>
            </a:r>
            <a:endParaRPr sz="1200">
              <a:solidFill>
                <a:schemeClr val="dk1"/>
              </a:solidFill>
              <a:latin typeface="Courier New"/>
              <a:ea typeface="Courier New"/>
              <a:cs typeface="Courier New"/>
              <a:sym typeface="Courier New"/>
            </a:endParaRPr>
          </a:p>
        </p:txBody>
      </p:sp>
      <p:sp>
        <p:nvSpPr>
          <p:cNvPr id="1371" name="Google Shape;1371;p103"/>
          <p:cNvSpPr txBox="1"/>
          <p:nvPr/>
        </p:nvSpPr>
        <p:spPr>
          <a:xfrm>
            <a:off x="603100" y="4186750"/>
            <a:ext cx="11271300" cy="185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a:solidFill>
                  <a:schemeClr val="dk1"/>
                </a:solidFill>
                <a:latin typeface="Courier New"/>
                <a:ea typeface="Courier New"/>
                <a:cs typeface="Courier New"/>
                <a:sym typeface="Courier New"/>
              </a:rPr>
              <a:t>TOKEN=$(curl -u &lt;WAZUH_API_USER&gt;:&lt;WAZUH_API_PASSWORD&gt; -k -X POST "</a:t>
            </a:r>
            <a:r>
              <a:rPr lang="en-US" u="sng">
                <a:solidFill>
                  <a:schemeClr val="hlink"/>
                </a:solidFill>
                <a:latin typeface="Courier New"/>
                <a:ea typeface="Courier New"/>
                <a:cs typeface="Courier New"/>
                <a:sym typeface="Courier New"/>
                <a:hlinkClick r:id="rId5"/>
              </a:rPr>
              <a:t>https://localhost:55000/security/user/authenticate?raw=true</a:t>
            </a:r>
            <a:r>
              <a:rPr lang="en-US">
                <a:solidFill>
                  <a:schemeClr val="dk1"/>
                </a:solidFill>
                <a:latin typeface="Courier New"/>
                <a:ea typeface="Courier New"/>
                <a:cs typeface="Courier New"/>
                <a:sym typeface="Courier New"/>
              </a:rPr>
              <a:t>")</a:t>
            </a:r>
            <a:endParaRPr>
              <a:solidFill>
                <a:schemeClr val="dk1"/>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en-US">
                <a:solidFill>
                  <a:schemeClr val="dk1"/>
                </a:solidFill>
                <a:latin typeface="Courier New"/>
                <a:ea typeface="Courier New"/>
                <a:cs typeface="Courier New"/>
                <a:sym typeface="Courier New"/>
              </a:rPr>
              <a:t>echo $TOKEN</a:t>
            </a:r>
            <a:endParaRPr>
              <a:solidFill>
                <a:schemeClr val="dk1"/>
              </a:solidFill>
              <a:latin typeface="Courier New"/>
              <a:ea typeface="Courier New"/>
              <a:cs typeface="Courier New"/>
              <a:sym typeface="Courier New"/>
            </a:endParaRPr>
          </a:p>
          <a:p>
            <a:pPr indent="0" lvl="0" marL="0" rtl="0" algn="l">
              <a:lnSpc>
                <a:spcPct val="115000"/>
              </a:lnSpc>
              <a:spcBef>
                <a:spcPts val="1200"/>
              </a:spcBef>
              <a:spcAft>
                <a:spcPts val="0"/>
              </a:spcAft>
              <a:buNone/>
            </a:pPr>
            <a:r>
              <a:rPr lang="en-US">
                <a:solidFill>
                  <a:schemeClr val="dk1"/>
                </a:solidFill>
                <a:latin typeface="Courier New"/>
                <a:ea typeface="Courier New"/>
                <a:cs typeface="Courier New"/>
                <a:sym typeface="Courier New"/>
              </a:rPr>
              <a:t>curl -k -X GET "https://localhost:55000/" -H "Authorization: Bearer $TOKEN"</a:t>
            </a:r>
            <a:endParaRPr>
              <a:solidFill>
                <a:schemeClr val="dk1"/>
              </a:solidFill>
              <a:latin typeface="Courier New"/>
              <a:ea typeface="Courier New"/>
              <a:cs typeface="Courier New"/>
              <a:sym typeface="Courier New"/>
            </a:endParaRPr>
          </a:p>
          <a:p>
            <a:pPr indent="0" lvl="0" marL="0" rtl="0" algn="l">
              <a:lnSpc>
                <a:spcPct val="115000"/>
              </a:lnSpc>
              <a:spcBef>
                <a:spcPts val="1200"/>
              </a:spcBef>
              <a:spcAft>
                <a:spcPts val="1200"/>
              </a:spcAft>
              <a:buNone/>
            </a:pPr>
            <a:r>
              <a:t/>
            </a:r>
            <a:endParaRPr>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5" name="Shape 1375"/>
        <p:cNvGrpSpPr/>
        <p:nvPr/>
      </p:nvGrpSpPr>
      <p:grpSpPr>
        <a:xfrm>
          <a:off x="0" y="0"/>
          <a:ext cx="0" cy="0"/>
          <a:chOff x="0" y="0"/>
          <a:chExt cx="0" cy="0"/>
        </a:xfrm>
      </p:grpSpPr>
      <p:sp>
        <p:nvSpPr>
          <p:cNvPr id="1376" name="Google Shape;1376;p104"/>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Logging Wazuh API Example Output</a:t>
            </a:r>
            <a:endParaRPr b="1" i="0" sz="3600" u="none" cap="none" strike="noStrike">
              <a:solidFill>
                <a:srgbClr val="6D9EEB"/>
              </a:solidFill>
              <a:latin typeface="Poppins"/>
              <a:ea typeface="Poppins"/>
              <a:cs typeface="Poppins"/>
              <a:sym typeface="Poppins"/>
            </a:endParaRPr>
          </a:p>
        </p:txBody>
      </p:sp>
      <p:cxnSp>
        <p:nvCxnSpPr>
          <p:cNvPr id="1377" name="Google Shape;1377;p10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1378" name="Google Shape;1378;p104"/>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379" name="Google Shape;1379;p104"/>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1380" name="Google Shape;1380;p10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381" name="Google Shape;1381;p10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382" name="Google Shape;1382;p10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383" name="Google Shape;1383;p104"/>
          <p:cNvSpPr txBox="1"/>
          <p:nvPr/>
        </p:nvSpPr>
        <p:spPr>
          <a:xfrm>
            <a:off x="1023750" y="1361925"/>
            <a:ext cx="8078700" cy="5048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8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800">
                <a:solidFill>
                  <a:schemeClr val="dk1"/>
                </a:solidFill>
                <a:latin typeface="Courier New"/>
                <a:ea typeface="Courier New"/>
                <a:cs typeface="Courier New"/>
                <a:sym typeface="Courier New"/>
              </a:rPr>
              <a:t>    "data": {</a:t>
            </a:r>
            <a:endParaRPr sz="18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800">
                <a:solidFill>
                  <a:schemeClr val="dk1"/>
                </a:solidFill>
                <a:latin typeface="Courier New"/>
                <a:ea typeface="Courier New"/>
                <a:cs typeface="Courier New"/>
                <a:sym typeface="Courier New"/>
              </a:rPr>
              <a:t>        "title": "Wazuh API REST",</a:t>
            </a:r>
            <a:endParaRPr sz="18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800">
                <a:solidFill>
                  <a:schemeClr val="dk1"/>
                </a:solidFill>
                <a:latin typeface="Courier New"/>
                <a:ea typeface="Courier New"/>
                <a:cs typeface="Courier New"/>
                <a:sym typeface="Courier New"/>
              </a:rPr>
              <a:t>        "api_version": "4.7.4",</a:t>
            </a:r>
            <a:endParaRPr sz="18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800">
                <a:solidFill>
                  <a:schemeClr val="dk1"/>
                </a:solidFill>
                <a:latin typeface="Courier New"/>
                <a:ea typeface="Courier New"/>
                <a:cs typeface="Courier New"/>
                <a:sym typeface="Courier New"/>
              </a:rPr>
              <a:t>        "revision": 40717,</a:t>
            </a:r>
            <a:endParaRPr sz="18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800">
                <a:solidFill>
                  <a:schemeClr val="dk1"/>
                </a:solidFill>
                <a:latin typeface="Courier New"/>
                <a:ea typeface="Courier New"/>
                <a:cs typeface="Courier New"/>
                <a:sym typeface="Courier New"/>
              </a:rPr>
              <a:t>        "license_name": "GPL 2.0",</a:t>
            </a:r>
            <a:endParaRPr sz="18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800">
                <a:solidFill>
                  <a:schemeClr val="dk1"/>
                </a:solidFill>
                <a:latin typeface="Courier New"/>
                <a:ea typeface="Courier New"/>
                <a:cs typeface="Courier New"/>
                <a:sym typeface="Courier New"/>
              </a:rPr>
              <a:t>        "license_url": "https://github.com/wazuh/wazuh/blob/master/LICENSE",</a:t>
            </a:r>
            <a:endParaRPr sz="18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800">
                <a:solidFill>
                  <a:schemeClr val="dk1"/>
                </a:solidFill>
                <a:latin typeface="Courier New"/>
                <a:ea typeface="Courier New"/>
                <a:cs typeface="Courier New"/>
                <a:sym typeface="Courier New"/>
              </a:rPr>
              <a:t>        "hostname": "wazuh-master",</a:t>
            </a:r>
            <a:endParaRPr sz="18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800">
                <a:solidFill>
                  <a:schemeClr val="dk1"/>
                </a:solidFill>
                <a:latin typeface="Courier New"/>
                <a:ea typeface="Courier New"/>
                <a:cs typeface="Courier New"/>
                <a:sym typeface="Courier New"/>
              </a:rPr>
              <a:t>        "timestamp": "2024-05-14T21:34:15Z"},</a:t>
            </a:r>
            <a:endParaRPr sz="18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800">
                <a:solidFill>
                  <a:schemeClr val="dk1"/>
                </a:solidFill>
                <a:latin typeface="Courier New"/>
                <a:ea typeface="Courier New"/>
                <a:cs typeface="Courier New"/>
                <a:sym typeface="Courier New"/>
              </a:rPr>
              <a:t>   "error": 0</a:t>
            </a:r>
            <a:endParaRPr sz="1800">
              <a:solidFill>
                <a:schemeClr val="dk1"/>
              </a:solidFill>
              <a:latin typeface="Courier New"/>
              <a:ea typeface="Courier New"/>
              <a:cs typeface="Courier New"/>
              <a:sym typeface="Courier New"/>
            </a:endParaRPr>
          </a:p>
          <a:p>
            <a:pPr indent="0" lvl="0" marL="190500" marR="190500" rtl="0" algn="l">
              <a:lnSpc>
                <a:spcPct val="100000"/>
              </a:lnSpc>
              <a:spcBef>
                <a:spcPts val="120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a:t>
            </a:r>
            <a:endParaRPr sz="1800">
              <a:solidFill>
                <a:schemeClr val="dk1"/>
              </a:solidFill>
              <a:latin typeface="Courier New"/>
              <a:ea typeface="Courier New"/>
              <a:cs typeface="Courier New"/>
              <a:sym typeface="Courier New"/>
            </a:endParaRPr>
          </a:p>
          <a:p>
            <a:pPr indent="0" lvl="0" marL="0" rtl="0" algn="l">
              <a:lnSpc>
                <a:spcPct val="100000"/>
              </a:lnSpc>
              <a:spcBef>
                <a:spcPts val="0"/>
              </a:spcBef>
              <a:spcAft>
                <a:spcPts val="1200"/>
              </a:spcAft>
              <a:buNone/>
            </a:pPr>
            <a:r>
              <a:t/>
            </a:r>
            <a:endParaRPr sz="1800">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105"/>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logging in with a Python script </a:t>
            </a:r>
            <a:endParaRPr b="1" i="0" sz="3600" u="none" cap="none" strike="noStrike">
              <a:solidFill>
                <a:srgbClr val="6D9EEB"/>
              </a:solidFill>
              <a:latin typeface="Poppins"/>
              <a:ea typeface="Poppins"/>
              <a:cs typeface="Poppins"/>
              <a:sym typeface="Poppins"/>
            </a:endParaRPr>
          </a:p>
        </p:txBody>
      </p:sp>
      <p:cxnSp>
        <p:nvCxnSpPr>
          <p:cNvPr id="1389" name="Google Shape;1389;p10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1390" name="Google Shape;1390;p105"/>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391" name="Google Shape;1391;p105"/>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1392" name="Google Shape;1392;p10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393" name="Google Shape;1393;p10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394" name="Google Shape;1394;p10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395" name="Google Shape;1395;p105"/>
          <p:cNvSpPr txBox="1"/>
          <p:nvPr/>
        </p:nvSpPr>
        <p:spPr>
          <a:xfrm>
            <a:off x="1000925" y="1707225"/>
            <a:ext cx="10144500" cy="189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800">
                <a:solidFill>
                  <a:schemeClr val="dk1"/>
                </a:solidFill>
                <a:latin typeface="Archivo"/>
                <a:ea typeface="Archivo"/>
                <a:cs typeface="Archivo"/>
                <a:sym typeface="Archivo"/>
              </a:rPr>
              <a:t>Menggunakan script kita bisa melakukan authentication secara otomatis. scriptnya </a:t>
            </a:r>
            <a:r>
              <a:rPr lang="en-US" sz="1650">
                <a:solidFill>
                  <a:schemeClr val="dk1"/>
                </a:solidFill>
                <a:latin typeface="Courier New"/>
                <a:ea typeface="Courier New"/>
                <a:cs typeface="Courier New"/>
                <a:sym typeface="Courier New"/>
              </a:rPr>
              <a:t>wazuh_api_authenticator.py</a:t>
            </a:r>
            <a:r>
              <a:rPr lang="en-US" sz="1800">
                <a:solidFill>
                  <a:schemeClr val="dk1"/>
                </a:solidFill>
                <a:latin typeface="Courier New"/>
                <a:ea typeface="Courier New"/>
                <a:cs typeface="Courier New"/>
                <a:sym typeface="Courier New"/>
              </a:rPr>
              <a:t> </a:t>
            </a:r>
            <a:r>
              <a:rPr lang="en-US" sz="1800">
                <a:solidFill>
                  <a:schemeClr val="dk1"/>
                </a:solidFill>
                <a:latin typeface="Archivo"/>
                <a:ea typeface="Archivo"/>
                <a:cs typeface="Archivo"/>
                <a:sym typeface="Archivo"/>
              </a:rPr>
              <a:t>Authentication menggunakan API untuk mendapatkan JWT.</a:t>
            </a:r>
            <a:endParaRPr sz="1800">
              <a:solidFill>
                <a:schemeClr val="dk1"/>
              </a:solidFill>
              <a:latin typeface="Archivo"/>
              <a:ea typeface="Archivo"/>
              <a:cs typeface="Archivo"/>
              <a:sym typeface="Archivo"/>
            </a:endParaRPr>
          </a:p>
          <a:p>
            <a:pPr indent="-342900" lvl="0" marL="457200" rtl="0" algn="l">
              <a:lnSpc>
                <a:spcPct val="115000"/>
              </a:lnSpc>
              <a:spcBef>
                <a:spcPts val="1200"/>
              </a:spcBef>
              <a:spcAft>
                <a:spcPts val="0"/>
              </a:spcAft>
              <a:buClr>
                <a:schemeClr val="dk1"/>
              </a:buClr>
              <a:buSzPts val="1800"/>
              <a:buFont typeface="Archivo"/>
              <a:buAutoNum type="arabicPeriod"/>
            </a:pPr>
            <a:r>
              <a:rPr lang="en-US" sz="1800">
                <a:solidFill>
                  <a:schemeClr val="dk1"/>
                </a:solidFill>
                <a:latin typeface="Archivo"/>
                <a:ea typeface="Archivo"/>
                <a:cs typeface="Archivo"/>
                <a:sym typeface="Archivo"/>
              </a:rPr>
              <a:t>Scriptnya ada di github</a:t>
            </a:r>
            <a:endParaRPr sz="1800">
              <a:solidFill>
                <a:schemeClr val="dk1"/>
              </a:solidFill>
              <a:latin typeface="Archivo"/>
              <a:ea typeface="Archivo"/>
              <a:cs typeface="Archivo"/>
              <a:sym typeface="Archivo"/>
            </a:endParaRPr>
          </a:p>
          <a:p>
            <a:pPr indent="-342900" lvl="0" marL="457200" rtl="0" algn="l">
              <a:lnSpc>
                <a:spcPct val="115000"/>
              </a:lnSpc>
              <a:spcBef>
                <a:spcPts val="0"/>
              </a:spcBef>
              <a:spcAft>
                <a:spcPts val="0"/>
              </a:spcAft>
              <a:buClr>
                <a:schemeClr val="dk1"/>
              </a:buClr>
              <a:buSzPts val="1800"/>
              <a:buFont typeface="Archivo"/>
              <a:buAutoNum type="arabicPeriod"/>
            </a:pPr>
            <a:r>
              <a:rPr lang="en-US" sz="1800">
                <a:solidFill>
                  <a:schemeClr val="dk1"/>
                </a:solidFill>
                <a:latin typeface="Archivo"/>
                <a:ea typeface="Archivo"/>
                <a:cs typeface="Archivo"/>
                <a:sym typeface="Archivo"/>
              </a:rPr>
              <a:t>installing</a:t>
            </a:r>
            <a:r>
              <a:rPr lang="en-US" sz="1800">
                <a:solidFill>
                  <a:schemeClr val="dk1"/>
                </a:solidFill>
                <a:latin typeface="Archivo"/>
                <a:ea typeface="Archivo"/>
                <a:cs typeface="Archivo"/>
                <a:sym typeface="Archivo"/>
              </a:rPr>
              <a:t> </a:t>
            </a:r>
            <a:r>
              <a:rPr lang="en-US" sz="1800">
                <a:solidFill>
                  <a:schemeClr val="dk1"/>
                </a:solidFill>
                <a:latin typeface="Archivo"/>
                <a:ea typeface="Archivo"/>
                <a:cs typeface="Archivo"/>
                <a:sym typeface="Archivo"/>
              </a:rPr>
              <a:t>dependence</a:t>
            </a:r>
            <a:r>
              <a:rPr lang="en-US" sz="1800">
                <a:solidFill>
                  <a:schemeClr val="dk1"/>
                </a:solidFill>
                <a:latin typeface="Archivo"/>
                <a:ea typeface="Archivo"/>
                <a:cs typeface="Archivo"/>
                <a:sym typeface="Archivo"/>
              </a:rPr>
              <a:t> </a:t>
            </a:r>
            <a:endParaRPr sz="1800">
              <a:solidFill>
                <a:schemeClr val="dk1"/>
              </a:solidFill>
              <a:latin typeface="Archivo"/>
              <a:ea typeface="Archivo"/>
              <a:cs typeface="Archivo"/>
              <a:sym typeface="Archivo"/>
            </a:endParaRPr>
          </a:p>
          <a:p>
            <a:pPr indent="-342900" lvl="1" marL="914400" rtl="0" algn="l">
              <a:lnSpc>
                <a:spcPct val="115000"/>
              </a:lnSpc>
              <a:spcBef>
                <a:spcPts val="0"/>
              </a:spcBef>
              <a:spcAft>
                <a:spcPts val="0"/>
              </a:spcAft>
              <a:buClr>
                <a:schemeClr val="dk1"/>
              </a:buClr>
              <a:buSzPts val="1800"/>
              <a:buFont typeface="Archivo"/>
              <a:buAutoNum type="alphaLcPeriod"/>
            </a:pPr>
            <a:r>
              <a:rPr lang="en-US" sz="1800">
                <a:solidFill>
                  <a:schemeClr val="dk1"/>
                </a:solidFill>
                <a:latin typeface="Archivo"/>
                <a:ea typeface="Archivo"/>
                <a:cs typeface="Archivo"/>
                <a:sym typeface="Archivo"/>
              </a:rPr>
              <a:t>python3 -m pip install requests</a:t>
            </a:r>
            <a:endParaRPr sz="1800">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106"/>
          <p:cNvSpPr txBox="1"/>
          <p:nvPr/>
        </p:nvSpPr>
        <p:spPr>
          <a:xfrm>
            <a:off x="603100" y="486375"/>
            <a:ext cx="1111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logging in with a Python script Example</a:t>
            </a:r>
            <a:endParaRPr b="1" i="0" sz="3600" u="none" cap="none" strike="noStrike">
              <a:solidFill>
                <a:srgbClr val="6D9EEB"/>
              </a:solidFill>
              <a:latin typeface="Poppins"/>
              <a:ea typeface="Poppins"/>
              <a:cs typeface="Poppins"/>
              <a:sym typeface="Poppins"/>
            </a:endParaRPr>
          </a:p>
        </p:txBody>
      </p:sp>
      <p:cxnSp>
        <p:nvCxnSpPr>
          <p:cNvPr id="1401" name="Google Shape;1401;p10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id="1402" name="Google Shape;1402;p106"/>
          <p:cNvPicPr preferRelativeResize="0"/>
          <p:nvPr/>
        </p:nvPicPr>
        <p:blipFill rotWithShape="1">
          <a:blip r:embed="rId3">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403" name="Google Shape;1403;p106"/>
          <p:cNvPicPr preferRelativeResize="0"/>
          <p:nvPr/>
        </p:nvPicPr>
        <p:blipFill rotWithShape="1">
          <a:blip r:embed="rId4">
            <a:alphaModFix/>
          </a:blip>
          <a:srcRect b="31110" l="0" r="0" t="33866"/>
          <a:stretch/>
        </p:blipFill>
        <p:spPr>
          <a:xfrm>
            <a:off x="280988" y="6257925"/>
            <a:ext cx="1439863" cy="504824"/>
          </a:xfrm>
          <a:prstGeom prst="rect">
            <a:avLst/>
          </a:prstGeom>
          <a:noFill/>
          <a:ln>
            <a:noFill/>
          </a:ln>
        </p:spPr>
      </p:pic>
      <p:sp>
        <p:nvSpPr>
          <p:cNvPr id="1404" name="Google Shape;1404;p10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405" name="Google Shape;1405;p10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406" name="Google Shape;1406;p10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407" name="Google Shape;1407;p106"/>
          <p:cNvSpPr txBox="1"/>
          <p:nvPr/>
        </p:nvSpPr>
        <p:spPr>
          <a:xfrm>
            <a:off x="1000925" y="1707225"/>
            <a:ext cx="10144500" cy="140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800">
                <a:solidFill>
                  <a:schemeClr val="dk1"/>
                </a:solidFill>
                <a:latin typeface="Archivo"/>
                <a:ea typeface="Archivo"/>
                <a:cs typeface="Archivo"/>
                <a:sym typeface="Archivo"/>
              </a:rPr>
              <a:t>python3 wazuh_api_authenticator.py</a:t>
            </a:r>
            <a:endParaRPr sz="1800">
              <a:solidFill>
                <a:schemeClr val="dk1"/>
              </a:solidFill>
              <a:latin typeface="Archivo"/>
              <a:ea typeface="Archivo"/>
              <a:cs typeface="Archivo"/>
              <a:sym typeface="Archivo"/>
            </a:endParaRPr>
          </a:p>
          <a:p>
            <a:pPr indent="0" lvl="0" marL="0" rtl="0" algn="l">
              <a:lnSpc>
                <a:spcPct val="115000"/>
              </a:lnSpc>
              <a:spcBef>
                <a:spcPts val="1200"/>
              </a:spcBef>
              <a:spcAft>
                <a:spcPts val="0"/>
              </a:spcAft>
              <a:buNone/>
            </a:pPr>
            <a:r>
              <a:t/>
            </a:r>
            <a:endParaRPr sz="1800">
              <a:solidFill>
                <a:schemeClr val="dk1"/>
              </a:solidFill>
              <a:latin typeface="Archivo"/>
              <a:ea typeface="Archivo"/>
              <a:cs typeface="Archivo"/>
              <a:sym typeface="Archivo"/>
            </a:endParaRPr>
          </a:p>
          <a:p>
            <a:pPr indent="0" lvl="0" marL="0" rtl="0" algn="l">
              <a:lnSpc>
                <a:spcPct val="115000"/>
              </a:lnSpc>
              <a:spcBef>
                <a:spcPts val="1200"/>
              </a:spcBef>
              <a:spcAft>
                <a:spcPts val="1200"/>
              </a:spcAft>
              <a:buNone/>
            </a:pPr>
            <a:r>
              <a:t/>
            </a:r>
            <a:endParaRPr sz="1800">
              <a:solidFill>
                <a:schemeClr val="dk1"/>
              </a:solidFill>
              <a:latin typeface="Archivo"/>
              <a:ea typeface="Archivo"/>
              <a:cs typeface="Archivo"/>
              <a:sym typeface="Archivo"/>
            </a:endParaRPr>
          </a:p>
        </p:txBody>
      </p:sp>
      <p:pic>
        <p:nvPicPr>
          <p:cNvPr id="1408" name="Google Shape;1408;p106"/>
          <p:cNvPicPr preferRelativeResize="0"/>
          <p:nvPr/>
        </p:nvPicPr>
        <p:blipFill>
          <a:blip r:embed="rId5">
            <a:alphaModFix/>
          </a:blip>
          <a:stretch>
            <a:fillRect/>
          </a:stretch>
        </p:blipFill>
        <p:spPr>
          <a:xfrm>
            <a:off x="5278163" y="1650025"/>
            <a:ext cx="5867264" cy="4394699"/>
          </a:xfrm>
          <a:prstGeom prst="rect">
            <a:avLst/>
          </a:prstGeom>
          <a:noFill/>
          <a:ln>
            <a:noFill/>
          </a:ln>
        </p:spPr>
      </p:pic>
    </p:spTree>
  </p:cSld>
  <p:clrMapOvr>
    <a:masterClrMapping/>
  </p:clrMapOvr>
  <p:transition spd="slow">
    <p:fade thruBlk="1"/>
  </p:transition>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12" name="Shape 1412"/>
        <p:cNvGrpSpPr/>
        <p:nvPr/>
      </p:nvGrpSpPr>
      <p:grpSpPr>
        <a:xfrm>
          <a:off x="0" y="0"/>
          <a:ext cx="0" cy="0"/>
          <a:chOff x="0" y="0"/>
          <a:chExt cx="0" cy="0"/>
        </a:xfrm>
      </p:grpSpPr>
      <p:pic>
        <p:nvPicPr>
          <p:cNvPr descr="A picture containing food, drawing, shirt&#10;&#10;Description automatically generated" id="1413" name="Google Shape;1413;p10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1414" name="Google Shape;1414;p10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15" name="Google Shape;1415;p10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416" name="Google Shape;1416;p107"/>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417" name="Google Shape;1417;p10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418" name="Google Shape;1418;p107"/>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419" name="Google Shape;1419;p107"/>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Labs Logging Wazuh API  </a:t>
            </a:r>
            <a:endParaRPr sz="4800">
              <a:solidFill>
                <a:schemeClr val="lt1"/>
              </a:solidFill>
              <a:highlight>
                <a:srgbClr val="3585F9"/>
              </a:highlight>
              <a:latin typeface="Poppins"/>
              <a:ea typeface="Poppins"/>
              <a:cs typeface="Poppins"/>
              <a:sym typeface="Poppins"/>
            </a:endParaRPr>
          </a:p>
        </p:txBody>
      </p:sp>
      <p:pic>
        <p:nvPicPr>
          <p:cNvPr id="1420" name="Google Shape;1420;p107"/>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108"/>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1426" name="Google Shape;1426;p10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427" name="Google Shape;1427;p10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428" name="Google Shape;1428;p10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429" name="Google Shape;1429;p10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430" name="Google Shape;1430;p10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431" name="Google Shape;1431;p10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432" name="Google Shape;1432;p10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433" name="Google Shape;1433;p108"/>
          <p:cNvSpPr txBox="1"/>
          <p:nvPr/>
        </p:nvSpPr>
        <p:spPr>
          <a:xfrm>
            <a:off x="1000925" y="1708275"/>
            <a:ext cx="9972000" cy="2859300"/>
          </a:xfrm>
          <a:prstGeom prst="rect">
            <a:avLst/>
          </a:prstGeom>
          <a:noFill/>
          <a:ln>
            <a:noFill/>
          </a:ln>
        </p:spPr>
        <p:txBody>
          <a:bodyPr anchorCtr="0" anchor="t" bIns="45700" lIns="91425" spcFirstLastPara="1" rIns="91425" wrap="square" tIns="45700">
            <a:noAutofit/>
          </a:bodyPr>
          <a:lstStyle/>
          <a:p>
            <a:pPr indent="-379888" lvl="0" marL="457200" rtl="0" algn="l">
              <a:lnSpc>
                <a:spcPct val="80000"/>
              </a:lnSpc>
              <a:spcBef>
                <a:spcPts val="0"/>
              </a:spcBef>
              <a:spcAft>
                <a:spcPts val="0"/>
              </a:spcAft>
              <a:buClr>
                <a:schemeClr val="dk1"/>
              </a:buClr>
              <a:buSzPts val="2383"/>
              <a:buFont typeface="Archivo Medium"/>
              <a:buChar char="●"/>
            </a:pPr>
            <a:r>
              <a:rPr lang="en-US" sz="2382">
                <a:solidFill>
                  <a:schemeClr val="dk1"/>
                </a:solidFill>
                <a:latin typeface="Archivo Medium"/>
                <a:ea typeface="Archivo Medium"/>
                <a:cs typeface="Archivo Medium"/>
                <a:sym typeface="Archivo Medium"/>
              </a:rPr>
              <a:t>Get used to the use of Wazuh Api</a:t>
            </a:r>
            <a:endParaRPr sz="23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sp>
        <p:nvSpPr>
          <p:cNvPr id="1438" name="Google Shape;1438;p109"/>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Creating JWT for Wazuh API </a:t>
            </a:r>
            <a:endParaRPr b="1" i="0" sz="3600" u="none" cap="none" strike="noStrike">
              <a:solidFill>
                <a:srgbClr val="6D9EEB"/>
              </a:solidFill>
              <a:latin typeface="Poppins"/>
              <a:ea typeface="Poppins"/>
              <a:cs typeface="Poppins"/>
              <a:sym typeface="Poppins"/>
            </a:endParaRPr>
          </a:p>
        </p:txBody>
      </p:sp>
      <p:cxnSp>
        <p:nvCxnSpPr>
          <p:cNvPr id="1439" name="Google Shape;1439;p10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440" name="Google Shape;1440;p10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441" name="Google Shape;1441;p10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442" name="Google Shape;1442;p10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443" name="Google Shape;1443;p10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444" name="Google Shape;1444;p10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445" name="Google Shape;1445;p10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446" name="Google Shape;1446;p109"/>
          <p:cNvSpPr txBox="1"/>
          <p:nvPr/>
        </p:nvSpPr>
        <p:spPr>
          <a:xfrm>
            <a:off x="1000925" y="1708275"/>
            <a:ext cx="10797900" cy="2859300"/>
          </a:xfrm>
          <a:prstGeom prst="rect">
            <a:avLst/>
          </a:prstGeom>
          <a:noFill/>
          <a:ln>
            <a:noFill/>
          </a:ln>
        </p:spPr>
        <p:txBody>
          <a:bodyPr anchorCtr="0" anchor="t" bIns="45700" lIns="91425" spcFirstLastPara="1" rIns="91425" wrap="square" tIns="45700">
            <a:noAutofit/>
          </a:bodyPr>
          <a:lstStyle/>
          <a:p>
            <a:pPr indent="-379888" lvl="0" marL="457200" rtl="0" algn="l">
              <a:lnSpc>
                <a:spcPct val="80000"/>
              </a:lnSpc>
              <a:spcBef>
                <a:spcPts val="0"/>
              </a:spcBef>
              <a:spcAft>
                <a:spcPts val="0"/>
              </a:spcAft>
              <a:buClr>
                <a:schemeClr val="dk1"/>
              </a:buClr>
              <a:buSzPts val="2383"/>
              <a:buFont typeface="Archivo Medium"/>
              <a:buAutoNum type="arabicPeriod"/>
            </a:pPr>
            <a:r>
              <a:rPr lang="en-US" sz="2382">
                <a:solidFill>
                  <a:schemeClr val="dk1"/>
                </a:solidFill>
                <a:latin typeface="Archivo Medium"/>
                <a:ea typeface="Archivo Medium"/>
                <a:cs typeface="Archivo Medium"/>
                <a:sym typeface="Archivo Medium"/>
              </a:rPr>
              <a:t>Creating JWT Wazuh API </a:t>
            </a:r>
            <a:endParaRPr sz="23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3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TOKEN=$(curl -u &lt;WAZUH_API_USER&gt;:&lt;WAZUH_API_PASSWORD&gt; -k -X POST "</a:t>
            </a:r>
            <a:r>
              <a:rPr lang="en-US" u="sng">
                <a:solidFill>
                  <a:schemeClr val="hlink"/>
                </a:solidFill>
                <a:latin typeface="Courier New"/>
                <a:ea typeface="Courier New"/>
                <a:cs typeface="Courier New"/>
                <a:sym typeface="Courier New"/>
                <a:hlinkClick r:id="rId6"/>
              </a:rPr>
              <a:t>https://localhost:55000/security/user/authenticate?raw=true</a:t>
            </a:r>
            <a:r>
              <a:rPr lang="en-US">
                <a:solidFill>
                  <a:schemeClr val="dk1"/>
                </a:solidFill>
                <a:latin typeface="Courier New"/>
                <a:ea typeface="Courier New"/>
                <a:cs typeface="Courier New"/>
                <a:sym typeface="Courier New"/>
              </a:rPr>
              <a:t>")</a:t>
            </a:r>
            <a:endParaRPr>
              <a:solidFill>
                <a:schemeClr val="dk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echo $TOKEN</a:t>
            </a:r>
            <a:endParaRPr>
              <a:solidFill>
                <a:schemeClr val="dk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curl -k -X GET "https://localhost:55000/" -H "Authorization: Bearer $TOKEN"</a:t>
            </a:r>
            <a:endParaRPr>
              <a:solidFill>
                <a:schemeClr val="dk1"/>
              </a:solidFill>
              <a:latin typeface="Courier New"/>
              <a:ea typeface="Courier New"/>
              <a:cs typeface="Courier New"/>
              <a:sym typeface="Courier New"/>
            </a:endParaRPr>
          </a:p>
          <a:p>
            <a:pPr indent="0" lvl="0" marL="0" rtl="0" algn="l">
              <a:lnSpc>
                <a:spcPct val="80000"/>
              </a:lnSpc>
              <a:spcBef>
                <a:spcPts val="1200"/>
              </a:spcBef>
              <a:spcAft>
                <a:spcPts val="0"/>
              </a:spcAft>
              <a:buNone/>
            </a:pPr>
            <a:r>
              <a:t/>
            </a:r>
            <a:endParaRPr sz="23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50" name="Shape 1450"/>
        <p:cNvGrpSpPr/>
        <p:nvPr/>
      </p:nvGrpSpPr>
      <p:grpSpPr>
        <a:xfrm>
          <a:off x="0" y="0"/>
          <a:ext cx="0" cy="0"/>
          <a:chOff x="0" y="0"/>
          <a:chExt cx="0" cy="0"/>
        </a:xfrm>
      </p:grpSpPr>
      <p:pic>
        <p:nvPicPr>
          <p:cNvPr descr="A picture containing food, drawing, shirt&#10;&#10;Description automatically generated" id="1451" name="Google Shape;1451;p11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1452" name="Google Shape;1452;p1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53" name="Google Shape;1453;p11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454" name="Google Shape;1454;p110"/>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455" name="Google Shape;1455;p11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456" name="Google Shape;1456;p110"/>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457" name="Google Shape;1457;p110"/>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a:t>
            </a:r>
            <a:endParaRPr sz="4800">
              <a:solidFill>
                <a:schemeClr val="lt1"/>
              </a:solidFill>
              <a:highlight>
                <a:srgbClr val="3585F9"/>
              </a:highlight>
              <a:latin typeface="Poppins"/>
              <a:ea typeface="Poppins"/>
              <a:cs typeface="Poppins"/>
              <a:sym typeface="Poppins"/>
            </a:endParaRPr>
          </a:p>
        </p:txBody>
      </p:sp>
      <p:pic>
        <p:nvPicPr>
          <p:cNvPr id="1458" name="Google Shape;1458;p110"/>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sp>
        <p:nvSpPr>
          <p:cNvPr id="1463" name="Google Shape;1463;p111"/>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Summary</a:t>
            </a:r>
            <a:endParaRPr b="1" i="0" sz="3600" u="none" cap="none" strike="noStrike">
              <a:solidFill>
                <a:srgbClr val="6D9EEB"/>
              </a:solidFill>
              <a:latin typeface="Poppins"/>
              <a:ea typeface="Poppins"/>
              <a:cs typeface="Poppins"/>
              <a:sym typeface="Poppins"/>
            </a:endParaRPr>
          </a:p>
        </p:txBody>
      </p:sp>
      <p:cxnSp>
        <p:nvCxnSpPr>
          <p:cNvPr id="1464" name="Google Shape;1464;p11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465" name="Google Shape;1465;p11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466" name="Google Shape;1466;p11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467" name="Google Shape;1467;p11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468" name="Google Shape;1468;p11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469" name="Google Shape;1469;p1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470" name="Google Shape;1470;p11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471" name="Google Shape;1471;p111"/>
          <p:cNvSpPr txBox="1"/>
          <p:nvPr/>
        </p:nvSpPr>
        <p:spPr>
          <a:xfrm>
            <a:off x="800600" y="2065150"/>
            <a:ext cx="9471900" cy="2859300"/>
          </a:xfrm>
          <a:prstGeom prst="rect">
            <a:avLst/>
          </a:prstGeom>
          <a:noFill/>
          <a:ln>
            <a:noFill/>
          </a:ln>
        </p:spPr>
        <p:txBody>
          <a:bodyPr anchorCtr="0" anchor="t" bIns="45700" lIns="91425" spcFirstLastPara="1" rIns="91425" wrap="square" tIns="45700">
            <a:noAutofit/>
          </a:bodyPr>
          <a:lstStyle/>
          <a:p>
            <a:pPr indent="-354488" lvl="0" marL="457200" rtl="0" algn="l">
              <a:lnSpc>
                <a:spcPct val="115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Wazuh API digunakan untuk mempercepat configuration pada wazuh, dengan kemampuan yang bisa ditingkatkan dengan automation dan orchestration sehingga untuk scapability bagus</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75" name="Shape 1475"/>
        <p:cNvGrpSpPr/>
        <p:nvPr/>
      </p:nvGrpSpPr>
      <p:grpSpPr>
        <a:xfrm>
          <a:off x="0" y="0"/>
          <a:ext cx="0" cy="0"/>
          <a:chOff x="0" y="0"/>
          <a:chExt cx="0" cy="0"/>
        </a:xfrm>
      </p:grpSpPr>
      <p:pic>
        <p:nvPicPr>
          <p:cNvPr descr="A picture containing food, drawing, shirt&#10;&#10;Description automatically generated" id="1476" name="Google Shape;1476;p11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1477" name="Google Shape;1477;p1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78" name="Google Shape;1478;p11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479" name="Google Shape;1479;p112"/>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480" name="Google Shape;1480;p11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481" name="Google Shape;1481;p112"/>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482" name="Google Shape;1482;p112"/>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Wazuh Agent</a:t>
            </a:r>
            <a:endParaRPr sz="4800">
              <a:solidFill>
                <a:schemeClr val="lt1"/>
              </a:solidFill>
              <a:highlight>
                <a:srgbClr val="3585F9"/>
              </a:highlight>
              <a:latin typeface="Poppins"/>
              <a:ea typeface="Poppins"/>
              <a:cs typeface="Poppins"/>
              <a:sym typeface="Poppins"/>
            </a:endParaRPr>
          </a:p>
        </p:txBody>
      </p:sp>
      <p:pic>
        <p:nvPicPr>
          <p:cNvPr id="1483" name="Google Shape;1483;p112"/>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7" name="Shape 1487"/>
        <p:cNvGrpSpPr/>
        <p:nvPr/>
      </p:nvGrpSpPr>
      <p:grpSpPr>
        <a:xfrm>
          <a:off x="0" y="0"/>
          <a:ext cx="0" cy="0"/>
          <a:chOff x="0" y="0"/>
          <a:chExt cx="0" cy="0"/>
        </a:xfrm>
      </p:grpSpPr>
      <p:sp>
        <p:nvSpPr>
          <p:cNvPr id="1488" name="Google Shape;1488;p113"/>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Agent</a:t>
            </a:r>
            <a:endParaRPr b="1" i="0" sz="3600" u="none" cap="none" strike="noStrike">
              <a:solidFill>
                <a:srgbClr val="6D9EEB"/>
              </a:solidFill>
              <a:latin typeface="Poppins"/>
              <a:ea typeface="Poppins"/>
              <a:cs typeface="Poppins"/>
              <a:sym typeface="Poppins"/>
            </a:endParaRPr>
          </a:p>
        </p:txBody>
      </p:sp>
      <p:cxnSp>
        <p:nvCxnSpPr>
          <p:cNvPr id="1489" name="Google Shape;1489;p11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490" name="Google Shape;1490;p11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491" name="Google Shape;1491;p11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492" name="Google Shape;1492;p11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493" name="Google Shape;1493;p1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494" name="Google Shape;1494;p1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495" name="Google Shape;1495;p11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496" name="Google Shape;1496;p113"/>
          <p:cNvSpPr txBox="1"/>
          <p:nvPr/>
        </p:nvSpPr>
        <p:spPr>
          <a:xfrm>
            <a:off x="1000925" y="1708275"/>
            <a:ext cx="9972000" cy="2859300"/>
          </a:xfrm>
          <a:prstGeom prst="rect">
            <a:avLst/>
          </a:prstGeom>
          <a:noFill/>
          <a:ln>
            <a:noFill/>
          </a:ln>
        </p:spPr>
        <p:txBody>
          <a:bodyPr anchorCtr="0" anchor="t" bIns="45700" lIns="91425" spcFirstLastPara="1" rIns="91425" wrap="square" tIns="45700">
            <a:noAutofit/>
          </a:bodyPr>
          <a:lstStyle/>
          <a:p>
            <a:pPr indent="-373538" lvl="0" marL="457200" rtl="0" algn="l">
              <a:lnSpc>
                <a:spcPct val="80000"/>
              </a:lnSpc>
              <a:spcBef>
                <a:spcPts val="0"/>
              </a:spcBef>
              <a:spcAft>
                <a:spcPts val="0"/>
              </a:spcAft>
              <a:buClr>
                <a:schemeClr val="dk1"/>
              </a:buClr>
              <a:buSzPts val="2283"/>
              <a:buFont typeface="Archivo Medium"/>
              <a:buChar char="●"/>
            </a:pPr>
            <a:r>
              <a:rPr lang="en-US" sz="2282">
                <a:solidFill>
                  <a:schemeClr val="dk1"/>
                </a:solidFill>
                <a:latin typeface="Archivo Medium"/>
                <a:ea typeface="Archivo Medium"/>
                <a:cs typeface="Archivo Medium"/>
                <a:sym typeface="Archivo Medium"/>
              </a:rPr>
              <a:t>Agen Wazuh adalah komponen multiplatform dari solusi Wazuh yang berjalan di endpoint yang ingin Anda pantau. Agen ini berkomunikasi dengan server Wazuh dan mengirimkan data secara hampir real-time melalui saluran yang terenkripsi dan terautentikasi.</a:t>
            </a:r>
            <a:endParaRPr sz="2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2282">
              <a:solidFill>
                <a:schemeClr val="dk1"/>
              </a:solidFill>
              <a:latin typeface="Archivo Medium"/>
              <a:ea typeface="Archivo Medium"/>
              <a:cs typeface="Archivo Medium"/>
              <a:sym typeface="Archivo Medium"/>
            </a:endParaRPr>
          </a:p>
          <a:p>
            <a:pPr indent="-373538" lvl="0" marL="457200" rtl="0" algn="l">
              <a:lnSpc>
                <a:spcPct val="80000"/>
              </a:lnSpc>
              <a:spcBef>
                <a:spcPts val="0"/>
              </a:spcBef>
              <a:spcAft>
                <a:spcPts val="0"/>
              </a:spcAft>
              <a:buClr>
                <a:schemeClr val="dk1"/>
              </a:buClr>
              <a:buSzPts val="2283"/>
              <a:buFont typeface="Archivo Medium"/>
              <a:buChar char="●"/>
            </a:pPr>
            <a:r>
              <a:rPr lang="en-US" sz="2282">
                <a:solidFill>
                  <a:schemeClr val="dk1"/>
                </a:solidFill>
                <a:latin typeface="Archivo Medium"/>
                <a:ea typeface="Archivo Medium"/>
                <a:cs typeface="Archivo Medium"/>
                <a:sym typeface="Archivo Medium"/>
              </a:rPr>
              <a:t>Agen Wazuh menyediakan kemampuan seperti pengumpulan data log, pemantauan integritas file, deteksi ancaman, penilaian konfigurasi keamanan, inventarisasi sistem, deteksi kerentanan, dan respons in</a:t>
            </a:r>
            <a:r>
              <a:rPr lang="en-US" sz="2282">
                <a:solidFill>
                  <a:schemeClr val="dk1"/>
                </a:solidFill>
                <a:latin typeface="Archivo Medium"/>
                <a:ea typeface="Archivo Medium"/>
                <a:cs typeface="Archivo Medium"/>
                <a:sym typeface="Archivo Medium"/>
              </a:rPr>
              <a:t>siden untuk meningkatkan keamanan endpoint Anda.</a:t>
            </a:r>
            <a:endParaRPr sz="2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22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114"/>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Agent </a:t>
            </a:r>
            <a:r>
              <a:rPr b="1" lang="en-US" sz="3600">
                <a:solidFill>
                  <a:srgbClr val="6D9EEB"/>
                </a:solidFill>
                <a:latin typeface="Poppins"/>
                <a:ea typeface="Poppins"/>
                <a:cs typeface="Poppins"/>
                <a:sym typeface="Poppins"/>
              </a:rPr>
              <a:t>Enrolment</a:t>
            </a:r>
            <a:endParaRPr b="1" i="0" sz="3600" u="none" cap="none" strike="noStrike">
              <a:solidFill>
                <a:srgbClr val="6D9EEB"/>
              </a:solidFill>
              <a:latin typeface="Poppins"/>
              <a:ea typeface="Poppins"/>
              <a:cs typeface="Poppins"/>
              <a:sym typeface="Poppins"/>
            </a:endParaRPr>
          </a:p>
        </p:txBody>
      </p:sp>
      <p:cxnSp>
        <p:nvCxnSpPr>
          <p:cNvPr id="1502" name="Google Shape;1502;p11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503" name="Google Shape;1503;p11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504" name="Google Shape;1504;p11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505" name="Google Shape;1505;p11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506" name="Google Shape;1506;p1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507" name="Google Shape;1507;p1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508" name="Google Shape;1508;p11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509" name="Google Shape;1509;p114"/>
          <p:cNvSpPr txBox="1"/>
          <p:nvPr/>
        </p:nvSpPr>
        <p:spPr>
          <a:xfrm>
            <a:off x="1000925" y="1708275"/>
            <a:ext cx="99720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Archivo Medium"/>
                <a:ea typeface="Archivo Medium"/>
                <a:cs typeface="Archivo Medium"/>
                <a:sym typeface="Archivo Medium"/>
              </a:rPr>
              <a:t>Dengan opsi ini, agen Wazuh akan secara otomatis terdaftar (enrolled) setelah Anda mengonfigurasi alamat IP atau FQDN (Fully Qualified Domain Name) dari Wazuh Manager.</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Archivo Medium"/>
                <a:ea typeface="Archivo Medium"/>
                <a:cs typeface="Archivo Medium"/>
                <a:sym typeface="Archivo Medium"/>
              </a:rPr>
              <a:t>Jika Anda menggunakan opsi keamanan tambahan, mungkin Anda perlu mengonfigurasi pengaturan lainnya.</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2182">
                <a:solidFill>
                  <a:schemeClr val="dk1"/>
                </a:solidFill>
                <a:latin typeface="Archivo Medium"/>
                <a:ea typeface="Archivo Medium"/>
                <a:cs typeface="Archivo Medium"/>
                <a:sym typeface="Archivo Medium"/>
              </a:rPr>
              <a:t>Pendaftaran Melalui Konfigurasi Agen (Sisi Klien)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2182">
                <a:solidFill>
                  <a:schemeClr val="dk1"/>
                </a:solidFill>
                <a:latin typeface="Courier New"/>
                <a:ea typeface="Courier New"/>
                <a:cs typeface="Courier New"/>
                <a:sym typeface="Courier New"/>
              </a:rPr>
              <a:t>/var/ossec/etc/ossec.conf → Linux</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Wazuh Manager → Change IP Server</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p:txBody>
      </p:sp>
      <p:pic>
        <p:nvPicPr>
          <p:cNvPr id="1510" name="Google Shape;1510;p114"/>
          <p:cNvPicPr preferRelativeResize="0"/>
          <p:nvPr/>
        </p:nvPicPr>
        <p:blipFill>
          <a:blip r:embed="rId6">
            <a:alphaModFix/>
          </a:blip>
          <a:stretch>
            <a:fillRect/>
          </a:stretch>
        </p:blipFill>
        <p:spPr>
          <a:xfrm>
            <a:off x="8244898" y="3428425"/>
            <a:ext cx="2621000" cy="2296500"/>
          </a:xfrm>
          <a:prstGeom prst="rect">
            <a:avLst/>
          </a:prstGeom>
          <a:noFill/>
          <a:ln>
            <a:noFill/>
          </a:ln>
        </p:spPr>
      </p:pic>
      <p:cxnSp>
        <p:nvCxnSpPr>
          <p:cNvPr id="1511" name="Google Shape;1511;p114"/>
          <p:cNvCxnSpPr>
            <a:endCxn id="1510" idx="1"/>
          </p:cNvCxnSpPr>
          <p:nvPr/>
        </p:nvCxnSpPr>
        <p:spPr>
          <a:xfrm>
            <a:off x="6620698" y="4338175"/>
            <a:ext cx="1624200" cy="238500"/>
          </a:xfrm>
          <a:prstGeom prst="curvedConnector3">
            <a:avLst>
              <a:gd fmla="val 50000" name="adj1"/>
            </a:avLst>
          </a:prstGeom>
          <a:noFill/>
          <a:ln cap="flat" cmpd="sng" w="28575">
            <a:solidFill>
              <a:srgbClr val="C41F2F"/>
            </a:solidFill>
            <a:prstDash val="solid"/>
            <a:round/>
            <a:headEnd len="med" w="med" type="none"/>
            <a:tailEnd len="med" w="med" type="none"/>
          </a:ln>
        </p:spPr>
      </p:cxnSp>
    </p:spTree>
  </p:cSld>
  <p:clrMapOvr>
    <a:masterClrMapping/>
  </p:clrMapOvr>
  <p:transition spd="slow">
    <p:fade thruBlk="1"/>
  </p:transition>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pic>
        <p:nvPicPr>
          <p:cNvPr id="1516" name="Google Shape;1516;p115"/>
          <p:cNvPicPr preferRelativeResize="0"/>
          <p:nvPr/>
        </p:nvPicPr>
        <p:blipFill rotWithShape="1">
          <a:blip r:embed="rId3">
            <a:alphaModFix/>
          </a:blip>
          <a:srcRect b="0" l="1931" r="0" t="0"/>
          <a:stretch/>
        </p:blipFill>
        <p:spPr>
          <a:xfrm>
            <a:off x="1188434" y="1650025"/>
            <a:ext cx="2716791" cy="4190501"/>
          </a:xfrm>
          <a:prstGeom prst="rect">
            <a:avLst/>
          </a:prstGeom>
          <a:noFill/>
          <a:ln>
            <a:noFill/>
          </a:ln>
          <a:effectLst>
            <a:outerShdw blurRad="57150" rotWithShape="0" algn="bl" dir="9000000" dist="19050">
              <a:srgbClr val="000000">
                <a:alpha val="80000"/>
              </a:srgbClr>
            </a:outerShdw>
          </a:effectLst>
        </p:spPr>
      </p:pic>
      <p:sp>
        <p:nvSpPr>
          <p:cNvPr id="1517" name="Google Shape;1517;p115"/>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Agent Group</a:t>
            </a:r>
            <a:endParaRPr b="1" i="0" sz="3600" u="none" cap="none" strike="noStrike">
              <a:solidFill>
                <a:srgbClr val="6D9EEB"/>
              </a:solidFill>
              <a:latin typeface="Poppins"/>
              <a:ea typeface="Poppins"/>
              <a:cs typeface="Poppins"/>
              <a:sym typeface="Poppins"/>
            </a:endParaRPr>
          </a:p>
        </p:txBody>
      </p:sp>
      <p:cxnSp>
        <p:nvCxnSpPr>
          <p:cNvPr id="1518" name="Google Shape;1518;p11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519" name="Google Shape;1519;p115"/>
          <p:cNvPicPr preferRelativeResize="0"/>
          <p:nvPr/>
        </p:nvPicPr>
        <p:blipFill rotWithShape="1">
          <a:blip r:embed="rId4">
            <a:alphaModFix/>
          </a:blip>
          <a:srcRect b="31378" l="6886" r="6713" t="33999"/>
          <a:stretch/>
        </p:blipFill>
        <p:spPr>
          <a:xfrm>
            <a:off x="382588" y="6456363"/>
            <a:ext cx="684212" cy="273047"/>
          </a:xfrm>
          <a:prstGeom prst="rect">
            <a:avLst/>
          </a:prstGeom>
          <a:noFill/>
          <a:ln>
            <a:noFill/>
          </a:ln>
        </p:spPr>
      </p:pic>
      <p:pic>
        <p:nvPicPr>
          <p:cNvPr id="1520" name="Google Shape;1520;p115"/>
          <p:cNvPicPr preferRelativeResize="0"/>
          <p:nvPr/>
        </p:nvPicPr>
        <p:blipFill rotWithShape="1">
          <a:blip r:embed="rId5">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521" name="Google Shape;1521;p115"/>
          <p:cNvPicPr preferRelativeResize="0"/>
          <p:nvPr/>
        </p:nvPicPr>
        <p:blipFill rotWithShape="1">
          <a:blip r:embed="rId6">
            <a:alphaModFix/>
          </a:blip>
          <a:srcRect b="31110" l="0" r="0" t="33866"/>
          <a:stretch/>
        </p:blipFill>
        <p:spPr>
          <a:xfrm>
            <a:off x="280988" y="6257925"/>
            <a:ext cx="1439863" cy="504824"/>
          </a:xfrm>
          <a:prstGeom prst="rect">
            <a:avLst/>
          </a:prstGeom>
          <a:noFill/>
          <a:ln>
            <a:noFill/>
          </a:ln>
        </p:spPr>
      </p:pic>
      <p:sp>
        <p:nvSpPr>
          <p:cNvPr id="1522" name="Google Shape;1522;p1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523" name="Google Shape;1523;p1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524" name="Google Shape;1524;p11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525" name="Google Shape;1525;p115"/>
          <p:cNvSpPr txBox="1"/>
          <p:nvPr/>
        </p:nvSpPr>
        <p:spPr>
          <a:xfrm>
            <a:off x="6221400" y="2518525"/>
            <a:ext cx="5151000" cy="11949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282">
                <a:solidFill>
                  <a:schemeClr val="dk1"/>
                </a:solidFill>
                <a:latin typeface="Archivo Medium"/>
                <a:ea typeface="Archivo Medium"/>
                <a:cs typeface="Archivo Medium"/>
                <a:sym typeface="Archivo Medium"/>
              </a:rPr>
              <a:t>Wazuh Group bisa akses ke </a:t>
            </a:r>
            <a:r>
              <a:rPr b="1" lang="en-US" sz="2282">
                <a:solidFill>
                  <a:schemeClr val="dk1"/>
                </a:solidFill>
                <a:latin typeface="Archivo"/>
                <a:ea typeface="Archivo"/>
                <a:cs typeface="Archivo"/>
                <a:sym typeface="Archivo"/>
              </a:rPr>
              <a:t>Server Manager </a:t>
            </a:r>
            <a:r>
              <a:rPr lang="en-US" sz="2282">
                <a:solidFill>
                  <a:schemeClr val="dk1"/>
                </a:solidFill>
                <a:latin typeface="Archivo Medium"/>
                <a:ea typeface="Archivo Medium"/>
                <a:cs typeface="Archivo Medium"/>
                <a:sym typeface="Archivo Medium"/>
              </a:rPr>
              <a:t>untuk membuat  </a:t>
            </a:r>
            <a:r>
              <a:rPr b="1" lang="en-US" sz="2282">
                <a:solidFill>
                  <a:schemeClr val="dk1"/>
                </a:solidFill>
                <a:latin typeface="Archivo"/>
                <a:ea typeface="Archivo"/>
                <a:cs typeface="Archivo"/>
                <a:sym typeface="Archivo"/>
              </a:rPr>
              <a:t>Centralized Management </a:t>
            </a:r>
            <a:r>
              <a:rPr lang="en-US" sz="2282">
                <a:solidFill>
                  <a:schemeClr val="dk1"/>
                </a:solidFill>
                <a:latin typeface="Archivo Medium"/>
                <a:ea typeface="Archivo Medium"/>
                <a:cs typeface="Archivo Medium"/>
                <a:sym typeface="Archivo Medium"/>
              </a:rPr>
              <a:t>dengan configuration </a:t>
            </a:r>
            <a:r>
              <a:rPr b="1" lang="en-US" sz="2282">
                <a:solidFill>
                  <a:schemeClr val="dk1"/>
                </a:solidFill>
                <a:latin typeface="Archivo"/>
                <a:ea typeface="Archivo"/>
                <a:cs typeface="Archivo"/>
                <a:sym typeface="Archivo"/>
              </a:rPr>
              <a:t>Endpoint Groups</a:t>
            </a:r>
            <a:endParaRPr b="1" sz="2282">
              <a:solidFill>
                <a:schemeClr val="dk1"/>
              </a:solidFill>
              <a:latin typeface="Archivo"/>
              <a:ea typeface="Archivo"/>
              <a:cs typeface="Archivo"/>
              <a:sym typeface="Archivo"/>
            </a:endParaRPr>
          </a:p>
        </p:txBody>
      </p:sp>
      <p:cxnSp>
        <p:nvCxnSpPr>
          <p:cNvPr id="1526" name="Google Shape;1526;p115"/>
          <p:cNvCxnSpPr>
            <a:endCxn id="1525" idx="1"/>
          </p:cNvCxnSpPr>
          <p:nvPr/>
        </p:nvCxnSpPr>
        <p:spPr>
          <a:xfrm>
            <a:off x="2572500" y="2306275"/>
            <a:ext cx="3648900" cy="809700"/>
          </a:xfrm>
          <a:prstGeom prst="curvedConnector3">
            <a:avLst>
              <a:gd fmla="val 50000" name="adj1"/>
            </a:avLst>
          </a:prstGeom>
          <a:noFill/>
          <a:ln cap="flat" cmpd="sng" w="28575">
            <a:solidFill>
              <a:srgbClr val="C41F2F"/>
            </a:solidFill>
            <a:prstDash val="solid"/>
            <a:round/>
            <a:headEnd len="med" w="med" type="none"/>
            <a:tailEnd len="med" w="med" type="none"/>
          </a:ln>
        </p:spPr>
      </p:cxnSp>
    </p:spTree>
  </p:cSld>
  <p:clrMapOvr>
    <a:masterClrMapping/>
  </p:clrMapOvr>
  <p:transition spd="slow">
    <p:fade thruBlk="1"/>
  </p:transition>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0" name="Shape 1530"/>
        <p:cNvGrpSpPr/>
        <p:nvPr/>
      </p:nvGrpSpPr>
      <p:grpSpPr>
        <a:xfrm>
          <a:off x="0" y="0"/>
          <a:ext cx="0" cy="0"/>
          <a:chOff x="0" y="0"/>
          <a:chExt cx="0" cy="0"/>
        </a:xfrm>
      </p:grpSpPr>
      <p:pic>
        <p:nvPicPr>
          <p:cNvPr id="1531" name="Google Shape;1531;p116"/>
          <p:cNvPicPr preferRelativeResize="0"/>
          <p:nvPr/>
        </p:nvPicPr>
        <p:blipFill>
          <a:blip r:embed="rId3">
            <a:alphaModFix/>
          </a:blip>
          <a:stretch>
            <a:fillRect/>
          </a:stretch>
        </p:blipFill>
        <p:spPr>
          <a:xfrm>
            <a:off x="432375" y="1608700"/>
            <a:ext cx="10348116" cy="2446187"/>
          </a:xfrm>
          <a:prstGeom prst="rect">
            <a:avLst/>
          </a:prstGeom>
          <a:noFill/>
          <a:ln>
            <a:noFill/>
          </a:ln>
        </p:spPr>
      </p:pic>
      <p:sp>
        <p:nvSpPr>
          <p:cNvPr id="1532" name="Google Shape;1532;p116"/>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Agent Group</a:t>
            </a:r>
            <a:endParaRPr b="1" i="0" sz="3600" u="none" cap="none" strike="noStrike">
              <a:solidFill>
                <a:srgbClr val="6D9EEB"/>
              </a:solidFill>
              <a:latin typeface="Poppins"/>
              <a:ea typeface="Poppins"/>
              <a:cs typeface="Poppins"/>
              <a:sym typeface="Poppins"/>
            </a:endParaRPr>
          </a:p>
        </p:txBody>
      </p:sp>
      <p:cxnSp>
        <p:nvCxnSpPr>
          <p:cNvPr id="1533" name="Google Shape;1533;p11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534" name="Google Shape;1534;p116"/>
          <p:cNvPicPr preferRelativeResize="0"/>
          <p:nvPr/>
        </p:nvPicPr>
        <p:blipFill rotWithShape="1">
          <a:blip r:embed="rId4">
            <a:alphaModFix/>
          </a:blip>
          <a:srcRect b="31378" l="6886" r="6713" t="33999"/>
          <a:stretch/>
        </p:blipFill>
        <p:spPr>
          <a:xfrm>
            <a:off x="382588" y="6456363"/>
            <a:ext cx="684212" cy="273047"/>
          </a:xfrm>
          <a:prstGeom prst="rect">
            <a:avLst/>
          </a:prstGeom>
          <a:noFill/>
          <a:ln>
            <a:noFill/>
          </a:ln>
        </p:spPr>
      </p:pic>
      <p:pic>
        <p:nvPicPr>
          <p:cNvPr id="1535" name="Google Shape;1535;p116"/>
          <p:cNvPicPr preferRelativeResize="0"/>
          <p:nvPr/>
        </p:nvPicPr>
        <p:blipFill rotWithShape="1">
          <a:blip r:embed="rId5">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536" name="Google Shape;1536;p116"/>
          <p:cNvPicPr preferRelativeResize="0"/>
          <p:nvPr/>
        </p:nvPicPr>
        <p:blipFill rotWithShape="1">
          <a:blip r:embed="rId6">
            <a:alphaModFix/>
          </a:blip>
          <a:srcRect b="31110" l="0" r="0" t="33866"/>
          <a:stretch/>
        </p:blipFill>
        <p:spPr>
          <a:xfrm>
            <a:off x="280988" y="6257925"/>
            <a:ext cx="1439863" cy="504824"/>
          </a:xfrm>
          <a:prstGeom prst="rect">
            <a:avLst/>
          </a:prstGeom>
          <a:noFill/>
          <a:ln>
            <a:noFill/>
          </a:ln>
        </p:spPr>
      </p:pic>
      <p:sp>
        <p:nvSpPr>
          <p:cNvPr id="1537" name="Google Shape;1537;p11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538" name="Google Shape;1538;p1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539" name="Google Shape;1539;p11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cxnSp>
        <p:nvCxnSpPr>
          <p:cNvPr id="1540" name="Google Shape;1540;p116"/>
          <p:cNvCxnSpPr>
            <a:stCxn id="1541" idx="1"/>
            <a:endCxn id="1542" idx="3"/>
          </p:cNvCxnSpPr>
          <p:nvPr/>
        </p:nvCxnSpPr>
        <p:spPr>
          <a:xfrm flipH="1">
            <a:off x="6364150" y="2159025"/>
            <a:ext cx="2519400" cy="2997300"/>
          </a:xfrm>
          <a:prstGeom prst="curvedConnector3">
            <a:avLst>
              <a:gd fmla="val 50001" name="adj1"/>
            </a:avLst>
          </a:prstGeom>
          <a:noFill/>
          <a:ln cap="flat" cmpd="sng" w="28575">
            <a:solidFill>
              <a:srgbClr val="C41F2F"/>
            </a:solidFill>
            <a:prstDash val="solid"/>
            <a:round/>
            <a:headEnd len="med" w="med" type="none"/>
            <a:tailEnd len="med" w="med" type="none"/>
          </a:ln>
        </p:spPr>
      </p:cxnSp>
      <p:sp>
        <p:nvSpPr>
          <p:cNvPr id="1541" name="Google Shape;1541;p116"/>
          <p:cNvSpPr/>
          <p:nvPr/>
        </p:nvSpPr>
        <p:spPr>
          <a:xfrm>
            <a:off x="8883550" y="2022525"/>
            <a:ext cx="993600" cy="273000"/>
          </a:xfrm>
          <a:prstGeom prst="roundRect">
            <a:avLst>
              <a:gd fmla="val 16667" name="adj"/>
            </a:avLst>
          </a:prstGeom>
          <a:noFill/>
          <a:ln cap="flat" cmpd="sng" w="28575">
            <a:solidFill>
              <a:srgbClr val="C41F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542" name="Google Shape;1542;p116"/>
          <p:cNvPicPr preferRelativeResize="0"/>
          <p:nvPr/>
        </p:nvPicPr>
        <p:blipFill>
          <a:blip r:embed="rId7">
            <a:alphaModFix/>
          </a:blip>
          <a:stretch>
            <a:fillRect/>
          </a:stretch>
        </p:blipFill>
        <p:spPr>
          <a:xfrm>
            <a:off x="1000925" y="4254912"/>
            <a:ext cx="5363172" cy="1802988"/>
          </a:xfrm>
          <a:prstGeom prst="rect">
            <a:avLst/>
          </a:prstGeom>
          <a:noFill/>
          <a:ln>
            <a:noFill/>
          </a:ln>
        </p:spPr>
      </p:pic>
    </p:spTree>
  </p:cSld>
  <p:clrMapOvr>
    <a:masterClrMapping/>
  </p:clrMapOvr>
  <p:transition spd="slow">
    <p:fade thruBlk="1"/>
  </p:transition>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sp>
        <p:nvSpPr>
          <p:cNvPr id="1547" name="Google Shape;1547;p117"/>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Summary</a:t>
            </a:r>
            <a:endParaRPr b="1" i="0" sz="3600" u="none" cap="none" strike="noStrike">
              <a:solidFill>
                <a:srgbClr val="6D9EEB"/>
              </a:solidFill>
              <a:latin typeface="Poppins"/>
              <a:ea typeface="Poppins"/>
              <a:cs typeface="Poppins"/>
              <a:sym typeface="Poppins"/>
            </a:endParaRPr>
          </a:p>
        </p:txBody>
      </p:sp>
      <p:cxnSp>
        <p:nvCxnSpPr>
          <p:cNvPr id="1548" name="Google Shape;1548;p11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549" name="Google Shape;1549;p11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550" name="Google Shape;1550;p11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551" name="Google Shape;1551;p11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552" name="Google Shape;1552;p11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553" name="Google Shape;1553;p1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554" name="Google Shape;1554;p11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1555" name="Google Shape;1555;p117"/>
          <p:cNvPicPr preferRelativeResize="0"/>
          <p:nvPr/>
        </p:nvPicPr>
        <p:blipFill>
          <a:blip r:embed="rId6">
            <a:alphaModFix/>
          </a:blip>
          <a:stretch>
            <a:fillRect/>
          </a:stretch>
        </p:blipFill>
        <p:spPr>
          <a:xfrm>
            <a:off x="242400" y="1818111"/>
            <a:ext cx="11887202" cy="324432"/>
          </a:xfrm>
          <a:prstGeom prst="rect">
            <a:avLst/>
          </a:prstGeom>
          <a:noFill/>
          <a:ln>
            <a:noFill/>
          </a:ln>
        </p:spPr>
      </p:pic>
      <p:pic>
        <p:nvPicPr>
          <p:cNvPr id="1556" name="Google Shape;1556;p117"/>
          <p:cNvPicPr preferRelativeResize="0"/>
          <p:nvPr/>
        </p:nvPicPr>
        <p:blipFill>
          <a:blip r:embed="rId7">
            <a:alphaModFix/>
          </a:blip>
          <a:stretch>
            <a:fillRect/>
          </a:stretch>
        </p:blipFill>
        <p:spPr>
          <a:xfrm>
            <a:off x="691563" y="2452576"/>
            <a:ext cx="10662227" cy="2684100"/>
          </a:xfrm>
          <a:prstGeom prst="rect">
            <a:avLst/>
          </a:prstGeom>
          <a:noFill/>
          <a:ln>
            <a:noFill/>
          </a:ln>
          <a:effectLst>
            <a:outerShdw blurRad="57150" rotWithShape="0" algn="bl" dir="10200000" dist="19050">
              <a:srgbClr val="000000"/>
            </a:outerShdw>
          </a:effectLst>
        </p:spPr>
      </p:pic>
    </p:spTree>
  </p:cSld>
  <p:clrMapOvr>
    <a:masterClrMapping/>
  </p:clrMapOvr>
  <p:transition spd="slow">
    <p:fade thruBlk="1"/>
  </p:transition>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560" name="Shape 1560"/>
        <p:cNvGrpSpPr/>
        <p:nvPr/>
      </p:nvGrpSpPr>
      <p:grpSpPr>
        <a:xfrm>
          <a:off x="0" y="0"/>
          <a:ext cx="0" cy="0"/>
          <a:chOff x="0" y="0"/>
          <a:chExt cx="0" cy="0"/>
        </a:xfrm>
      </p:grpSpPr>
      <p:pic>
        <p:nvPicPr>
          <p:cNvPr descr="A picture containing food, drawing, shirt&#10;&#10;Description automatically generated" id="1561" name="Google Shape;1561;p11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1562" name="Google Shape;1562;p1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63" name="Google Shape;1563;p1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564" name="Google Shape;1564;p118"/>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565" name="Google Shape;1565;p11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566" name="Google Shape;1566;p118"/>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567" name="Google Shape;1567;p118"/>
          <p:cNvSpPr txBox="1"/>
          <p:nvPr/>
        </p:nvSpPr>
        <p:spPr>
          <a:xfrm>
            <a:off x="1357489" y="3803851"/>
            <a:ext cx="9477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lt1"/>
                </a:solidFill>
                <a:highlight>
                  <a:srgbClr val="3585F9"/>
                </a:highlight>
                <a:latin typeface="Poppins"/>
                <a:ea typeface="Poppins"/>
                <a:cs typeface="Poppins"/>
                <a:sym typeface="Poppins"/>
              </a:rPr>
              <a:t>Labs </a:t>
            </a:r>
            <a:r>
              <a:rPr lang="en-US" sz="4400">
                <a:solidFill>
                  <a:schemeClr val="lt1"/>
                </a:solidFill>
                <a:highlight>
                  <a:srgbClr val="3585F9"/>
                </a:highlight>
                <a:latin typeface="Poppins"/>
                <a:ea typeface="Poppins"/>
                <a:cs typeface="Poppins"/>
                <a:sym typeface="Poppins"/>
              </a:rPr>
              <a:t>Wazuh Push Upgrades</a:t>
            </a:r>
            <a:endParaRPr sz="4400">
              <a:solidFill>
                <a:schemeClr val="lt1"/>
              </a:solidFill>
              <a:highlight>
                <a:srgbClr val="3585F9"/>
              </a:highlight>
              <a:latin typeface="Poppins"/>
              <a:ea typeface="Poppins"/>
              <a:cs typeface="Poppins"/>
              <a:sym typeface="Poppins"/>
            </a:endParaRPr>
          </a:p>
        </p:txBody>
      </p:sp>
      <p:pic>
        <p:nvPicPr>
          <p:cNvPr id="1568" name="Google Shape;1568;p118"/>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sp>
        <p:nvSpPr>
          <p:cNvPr id="1573" name="Google Shape;1573;p119"/>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Remote</a:t>
            </a:r>
            <a:r>
              <a:rPr b="1" lang="en-US" sz="3600">
                <a:solidFill>
                  <a:srgbClr val="6D9EEB"/>
                </a:solidFill>
                <a:latin typeface="Poppins"/>
                <a:ea typeface="Poppins"/>
                <a:cs typeface="Poppins"/>
                <a:sym typeface="Poppins"/>
              </a:rPr>
              <a:t> </a:t>
            </a:r>
            <a:r>
              <a:rPr b="1" lang="en-US" sz="3600">
                <a:solidFill>
                  <a:srgbClr val="6D9EEB"/>
                </a:solidFill>
                <a:latin typeface="Poppins"/>
                <a:ea typeface="Poppins"/>
                <a:cs typeface="Poppins"/>
                <a:sym typeface="Poppins"/>
              </a:rPr>
              <a:t>Upgrade</a:t>
            </a:r>
            <a:r>
              <a:rPr b="1" lang="en-US" sz="3600">
                <a:solidFill>
                  <a:srgbClr val="6D9EEB"/>
                </a:solidFill>
                <a:latin typeface="Poppins"/>
                <a:ea typeface="Poppins"/>
                <a:cs typeface="Poppins"/>
                <a:sym typeface="Poppins"/>
              </a:rPr>
              <a:t> Agent</a:t>
            </a:r>
            <a:endParaRPr b="1" i="0" sz="3600" u="none" cap="none" strike="noStrike">
              <a:solidFill>
                <a:srgbClr val="6D9EEB"/>
              </a:solidFill>
              <a:latin typeface="Poppins"/>
              <a:ea typeface="Poppins"/>
              <a:cs typeface="Poppins"/>
              <a:sym typeface="Poppins"/>
            </a:endParaRPr>
          </a:p>
        </p:txBody>
      </p:sp>
      <p:cxnSp>
        <p:nvCxnSpPr>
          <p:cNvPr id="1574" name="Google Shape;1574;p11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575" name="Google Shape;1575;p11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576" name="Google Shape;1576;p11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577" name="Google Shape;1577;p11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578" name="Google Shape;1578;p1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579" name="Google Shape;1579;p1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580" name="Google Shape;1580;p11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581" name="Google Shape;1581;p119"/>
          <p:cNvSpPr txBox="1"/>
          <p:nvPr/>
        </p:nvSpPr>
        <p:spPr>
          <a:xfrm>
            <a:off x="1000925" y="1708275"/>
            <a:ext cx="99198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Using Command Line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p:txBody>
      </p:sp>
      <p:pic>
        <p:nvPicPr>
          <p:cNvPr id="1582" name="Google Shape;1582;p119"/>
          <p:cNvPicPr preferRelativeResize="0"/>
          <p:nvPr/>
        </p:nvPicPr>
        <p:blipFill rotWithShape="1">
          <a:blip r:embed="rId6">
            <a:alphaModFix/>
          </a:blip>
          <a:srcRect b="15371" l="7758" r="7452" t="15975"/>
          <a:stretch/>
        </p:blipFill>
        <p:spPr>
          <a:xfrm>
            <a:off x="1557275" y="2503450"/>
            <a:ext cx="6948550" cy="2706525"/>
          </a:xfrm>
          <a:prstGeom prst="rect">
            <a:avLst/>
          </a:prstGeom>
          <a:noFill/>
          <a:ln>
            <a:noFill/>
          </a:ln>
          <a:effectLst>
            <a:outerShdw blurRad="57150" rotWithShape="0" algn="bl" dir="12600000" dist="19050">
              <a:srgbClr val="000000">
                <a:alpha val="80000"/>
              </a:srgbClr>
            </a:outerShdw>
          </a:effectLst>
        </p:spPr>
      </p:pic>
    </p:spTree>
  </p:cSld>
  <p:clrMapOvr>
    <a:masterClrMapping/>
  </p:clrMapOvr>
  <p:transition spd="slow">
    <p:fade thruBlk="1"/>
  </p:transition>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
        <p:nvSpPr>
          <p:cNvPr id="1587" name="Google Shape;1587;p120"/>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Remote </a:t>
            </a:r>
            <a:r>
              <a:rPr b="1" lang="en-US" sz="3600">
                <a:solidFill>
                  <a:srgbClr val="6D9EEB"/>
                </a:solidFill>
                <a:latin typeface="Poppins"/>
                <a:ea typeface="Poppins"/>
                <a:cs typeface="Poppins"/>
                <a:sym typeface="Poppins"/>
              </a:rPr>
              <a:t>Upgrade</a:t>
            </a:r>
            <a:r>
              <a:rPr b="1" lang="en-US" sz="3600">
                <a:solidFill>
                  <a:srgbClr val="6D9EEB"/>
                </a:solidFill>
                <a:latin typeface="Poppins"/>
                <a:ea typeface="Poppins"/>
                <a:cs typeface="Poppins"/>
                <a:sym typeface="Poppins"/>
              </a:rPr>
              <a:t> </a:t>
            </a:r>
            <a:r>
              <a:rPr b="1" lang="en-US" sz="3600">
                <a:solidFill>
                  <a:srgbClr val="6D9EEB"/>
                </a:solidFill>
                <a:latin typeface="Poppins"/>
                <a:ea typeface="Poppins"/>
                <a:cs typeface="Poppins"/>
                <a:sym typeface="Poppins"/>
              </a:rPr>
              <a:t>Agent</a:t>
            </a:r>
            <a:endParaRPr b="1" i="0" sz="3600" u="none" cap="none" strike="noStrike">
              <a:solidFill>
                <a:srgbClr val="6D9EEB"/>
              </a:solidFill>
              <a:latin typeface="Poppins"/>
              <a:ea typeface="Poppins"/>
              <a:cs typeface="Poppins"/>
              <a:sym typeface="Poppins"/>
            </a:endParaRPr>
          </a:p>
        </p:txBody>
      </p:sp>
      <p:cxnSp>
        <p:nvCxnSpPr>
          <p:cNvPr id="1588" name="Google Shape;1588;p12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589" name="Google Shape;1589;p12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590" name="Google Shape;1590;p12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591" name="Google Shape;1591;p12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592" name="Google Shape;1592;p1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593" name="Google Shape;1593;p1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594" name="Google Shape;1594;p12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595" name="Google Shape;1595;p120"/>
          <p:cNvSpPr txBox="1"/>
          <p:nvPr/>
        </p:nvSpPr>
        <p:spPr>
          <a:xfrm>
            <a:off x="819450" y="1708275"/>
            <a:ext cx="10553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Using Command Line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p:txBody>
      </p:sp>
      <p:pic>
        <p:nvPicPr>
          <p:cNvPr id="1596" name="Google Shape;1596;p120"/>
          <p:cNvPicPr preferRelativeResize="0"/>
          <p:nvPr/>
        </p:nvPicPr>
        <p:blipFill rotWithShape="1">
          <a:blip r:embed="rId6">
            <a:alphaModFix/>
          </a:blip>
          <a:srcRect b="17348" l="7638" r="7400" t="17918"/>
          <a:stretch/>
        </p:blipFill>
        <p:spPr>
          <a:xfrm>
            <a:off x="1292550" y="2335800"/>
            <a:ext cx="9363301" cy="3073875"/>
          </a:xfrm>
          <a:prstGeom prst="rect">
            <a:avLst/>
          </a:prstGeom>
          <a:noFill/>
          <a:ln>
            <a:noFill/>
          </a:ln>
          <a:effectLst>
            <a:outerShdw blurRad="57150" rotWithShape="0" algn="bl" dir="10200000" dist="19050">
              <a:srgbClr val="000000">
                <a:alpha val="80000"/>
              </a:srgbClr>
            </a:outerShdw>
          </a:effectLst>
        </p:spPr>
      </p:pic>
    </p:spTree>
  </p:cSld>
  <p:clrMapOvr>
    <a:masterClrMapping/>
  </p:clrMapOvr>
  <p:transition spd="slow">
    <p:fade thruBlk="1"/>
  </p:transition>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0" name="Shape 1600"/>
        <p:cNvGrpSpPr/>
        <p:nvPr/>
      </p:nvGrpSpPr>
      <p:grpSpPr>
        <a:xfrm>
          <a:off x="0" y="0"/>
          <a:ext cx="0" cy="0"/>
          <a:chOff x="0" y="0"/>
          <a:chExt cx="0" cy="0"/>
        </a:xfrm>
      </p:grpSpPr>
      <p:sp>
        <p:nvSpPr>
          <p:cNvPr id="1601" name="Google Shape;1601;p121"/>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Remote Upgrade Agent </a:t>
            </a:r>
            <a:endParaRPr b="1" i="0" sz="3600" u="none" cap="none" strike="noStrike">
              <a:solidFill>
                <a:srgbClr val="6D9EEB"/>
              </a:solidFill>
              <a:latin typeface="Poppins"/>
              <a:ea typeface="Poppins"/>
              <a:cs typeface="Poppins"/>
              <a:sym typeface="Poppins"/>
            </a:endParaRPr>
          </a:p>
        </p:txBody>
      </p:sp>
      <p:cxnSp>
        <p:nvCxnSpPr>
          <p:cNvPr id="1602" name="Google Shape;1602;p12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603" name="Google Shape;1603;p12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604" name="Google Shape;1604;p12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605" name="Google Shape;1605;p12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606" name="Google Shape;1606;p12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607" name="Google Shape;1607;p1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608" name="Google Shape;1608;p12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609" name="Google Shape;1609;p121"/>
          <p:cNvSpPr txBox="1"/>
          <p:nvPr/>
        </p:nvSpPr>
        <p:spPr>
          <a:xfrm>
            <a:off x="819450" y="1708275"/>
            <a:ext cx="10553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Using API</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p:txBody>
      </p:sp>
      <p:sp>
        <p:nvSpPr>
          <p:cNvPr id="1610" name="Google Shape;1610;p121"/>
          <p:cNvSpPr txBox="1"/>
          <p:nvPr/>
        </p:nvSpPr>
        <p:spPr>
          <a:xfrm>
            <a:off x="652225" y="2273200"/>
            <a:ext cx="11260500" cy="26013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Font typeface="Archivo Medium"/>
              <a:buAutoNum type="arabicPeriod"/>
            </a:pPr>
            <a:r>
              <a:rPr lang="en-US" sz="1600">
                <a:latin typeface="Archivo Medium"/>
                <a:ea typeface="Archivo Medium"/>
                <a:cs typeface="Archivo Medium"/>
                <a:sym typeface="Archivo Medium"/>
              </a:rPr>
              <a:t>List Agent Outdated </a:t>
            </a:r>
            <a:endParaRPr sz="1600">
              <a:latin typeface="Archivo Medium"/>
              <a:ea typeface="Archivo Medium"/>
              <a:cs typeface="Archivo Medium"/>
              <a:sym typeface="Archivo Medium"/>
            </a:endParaRPr>
          </a:p>
          <a:p>
            <a:pPr indent="0" lvl="0" marL="0" rtl="0" algn="l">
              <a:spcBef>
                <a:spcPts val="0"/>
              </a:spcBef>
              <a:spcAft>
                <a:spcPts val="0"/>
              </a:spcAft>
              <a:buNone/>
            </a:pPr>
            <a:r>
              <a:t/>
            </a:r>
            <a:endParaRPr sz="1600">
              <a:latin typeface="Archivo Medium"/>
              <a:ea typeface="Archivo Medium"/>
              <a:cs typeface="Archivo Medium"/>
              <a:sym typeface="Archivo Medium"/>
            </a:endParaRPr>
          </a:p>
          <a:p>
            <a:pPr indent="0" lvl="0" marL="0" rtl="0" algn="l">
              <a:spcBef>
                <a:spcPts val="0"/>
              </a:spcBef>
              <a:spcAft>
                <a:spcPts val="0"/>
              </a:spcAft>
              <a:buNone/>
            </a:pPr>
            <a:r>
              <a:rPr lang="en-US" sz="1600">
                <a:latin typeface="Courier New"/>
                <a:ea typeface="Courier New"/>
                <a:cs typeface="Courier New"/>
                <a:sym typeface="Courier New"/>
              </a:rPr>
              <a:t>curl -k -X GET "https://&lt;WAZUH_MANAGER_IP&gt;:55000/agents/outdated?pretty=true" -H  "Authorization: Bearer $TOKEN"</a:t>
            </a:r>
            <a:endParaRPr sz="1600">
              <a:latin typeface="Courier New"/>
              <a:ea typeface="Courier New"/>
              <a:cs typeface="Courier New"/>
              <a:sym typeface="Courier New"/>
            </a:endParaRPr>
          </a:p>
          <a:p>
            <a:pPr indent="0" lvl="0" marL="0" rtl="0" algn="l">
              <a:spcBef>
                <a:spcPts val="0"/>
              </a:spcBef>
              <a:spcAft>
                <a:spcPts val="0"/>
              </a:spcAft>
              <a:buNone/>
            </a:pPr>
            <a:r>
              <a:t/>
            </a:r>
            <a:endParaRPr sz="1600">
              <a:latin typeface="Courier New"/>
              <a:ea typeface="Courier New"/>
              <a:cs typeface="Courier New"/>
              <a:sym typeface="Courier New"/>
            </a:endParaRPr>
          </a:p>
          <a:p>
            <a:pPr indent="-330200" lvl="0" marL="457200" rtl="0" algn="l">
              <a:spcBef>
                <a:spcPts val="0"/>
              </a:spcBef>
              <a:spcAft>
                <a:spcPts val="0"/>
              </a:spcAft>
              <a:buSzPts val="1600"/>
              <a:buFont typeface="Archivo Medium"/>
              <a:buAutoNum type="arabicPeriod"/>
            </a:pPr>
            <a:r>
              <a:rPr lang="en-US" sz="1600">
                <a:latin typeface="Archivo Medium"/>
                <a:ea typeface="Archivo Medium"/>
                <a:cs typeface="Archivo Medium"/>
                <a:sym typeface="Archivo Medium"/>
              </a:rPr>
              <a:t>Upgrade </a:t>
            </a:r>
            <a:endParaRPr sz="1600">
              <a:latin typeface="Archivo Medium"/>
              <a:ea typeface="Archivo Medium"/>
              <a:cs typeface="Archivo Medium"/>
              <a:sym typeface="Archivo Medium"/>
            </a:endParaRPr>
          </a:p>
          <a:p>
            <a:pPr indent="0" lvl="0" marL="0" rtl="0" algn="l">
              <a:spcBef>
                <a:spcPts val="0"/>
              </a:spcBef>
              <a:spcAft>
                <a:spcPts val="0"/>
              </a:spcAft>
              <a:buNone/>
            </a:pPr>
            <a:r>
              <a:t/>
            </a:r>
            <a:endParaRPr sz="1600">
              <a:latin typeface="Archivo Medium"/>
              <a:ea typeface="Archivo Medium"/>
              <a:cs typeface="Archivo Medium"/>
              <a:sym typeface="Archivo Medium"/>
            </a:endParaRPr>
          </a:p>
          <a:p>
            <a:pPr indent="0" lvl="0" marL="0" rtl="0" algn="l">
              <a:spcBef>
                <a:spcPts val="0"/>
              </a:spcBef>
              <a:spcAft>
                <a:spcPts val="0"/>
              </a:spcAft>
              <a:buNone/>
            </a:pPr>
            <a:r>
              <a:rPr lang="en-US" sz="1500">
                <a:latin typeface="Courier New"/>
                <a:ea typeface="Courier New"/>
                <a:cs typeface="Courier New"/>
                <a:sym typeface="Courier New"/>
              </a:rPr>
              <a:t>curl -k -X PUT "https://&lt;WAZUH_MANAGER_IP&gt;:55000/agents/upgrade?agents_list=</a:t>
            </a:r>
            <a:r>
              <a:rPr b="1" lang="en-US" sz="1500">
                <a:latin typeface="Courier New"/>
                <a:ea typeface="Courier New"/>
                <a:cs typeface="Courier New"/>
                <a:sym typeface="Courier New"/>
              </a:rPr>
              <a:t>&lt;NUMBER-ID-AGENT&gt;</a:t>
            </a:r>
            <a:r>
              <a:rPr lang="en-US" sz="1500">
                <a:latin typeface="Courier New"/>
                <a:ea typeface="Courier New"/>
                <a:cs typeface="Courier New"/>
                <a:sym typeface="Courier New"/>
              </a:rPr>
              <a:t>&amp;pretty=true" -H  "Authorization: Bearer $TOKEN"</a:t>
            </a:r>
            <a:endParaRPr sz="1500">
              <a:latin typeface="Courier New"/>
              <a:ea typeface="Courier New"/>
              <a:cs typeface="Courier New"/>
              <a:sym typeface="Courier New"/>
            </a:endParaRPr>
          </a:p>
        </p:txBody>
      </p:sp>
    </p:spTree>
  </p:cSld>
  <p:clrMapOvr>
    <a:masterClrMapping/>
  </p:clrMapOvr>
  <p:transition spd="slow">
    <p:fade thruBlk="1"/>
  </p:transition>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4" name="Shape 1614"/>
        <p:cNvGrpSpPr/>
        <p:nvPr/>
      </p:nvGrpSpPr>
      <p:grpSpPr>
        <a:xfrm>
          <a:off x="0" y="0"/>
          <a:ext cx="0" cy="0"/>
          <a:chOff x="0" y="0"/>
          <a:chExt cx="0" cy="0"/>
        </a:xfrm>
      </p:grpSpPr>
      <p:sp>
        <p:nvSpPr>
          <p:cNvPr id="1615" name="Google Shape;1615;p122"/>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Remote Upgrade Agent Example </a:t>
            </a:r>
            <a:endParaRPr b="1" i="0" sz="3600" u="none" cap="none" strike="noStrike">
              <a:solidFill>
                <a:srgbClr val="6D9EEB"/>
              </a:solidFill>
              <a:latin typeface="Poppins"/>
              <a:ea typeface="Poppins"/>
              <a:cs typeface="Poppins"/>
              <a:sym typeface="Poppins"/>
            </a:endParaRPr>
          </a:p>
        </p:txBody>
      </p:sp>
      <p:cxnSp>
        <p:nvCxnSpPr>
          <p:cNvPr id="1616" name="Google Shape;1616;p12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617" name="Google Shape;1617;p12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618" name="Google Shape;1618;p12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619" name="Google Shape;1619;p12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620" name="Google Shape;1620;p1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621" name="Google Shape;1621;p1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622" name="Google Shape;1622;p12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623" name="Google Shape;1623;p122"/>
          <p:cNvSpPr txBox="1"/>
          <p:nvPr/>
        </p:nvSpPr>
        <p:spPr>
          <a:xfrm>
            <a:off x="819450" y="1708275"/>
            <a:ext cx="10553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p:txBody>
      </p:sp>
      <p:sp>
        <p:nvSpPr>
          <p:cNvPr id="1624" name="Google Shape;1624;p122"/>
          <p:cNvSpPr txBox="1"/>
          <p:nvPr/>
        </p:nvSpPr>
        <p:spPr>
          <a:xfrm>
            <a:off x="652250" y="1341350"/>
            <a:ext cx="11260500" cy="52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"data": {</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"affected_items": [</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"agent": "002",</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"task_id": 1</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"agent": "003",</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"task_id": 2</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"total_affected_items": 2,</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"total_failed_items": 0,</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"failed_items": []</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"message": "</a:t>
            </a:r>
            <a:r>
              <a:rPr b="1" lang="en-US" sz="1550">
                <a:solidFill>
                  <a:schemeClr val="dk1"/>
                </a:solidFill>
                <a:latin typeface="Courier New"/>
                <a:ea typeface="Courier New"/>
                <a:cs typeface="Courier New"/>
                <a:sym typeface="Courier New"/>
              </a:rPr>
              <a:t>All upgrade tasks were created</a:t>
            </a:r>
            <a:r>
              <a:rPr lang="en-US" sz="1550">
                <a:solidFill>
                  <a:schemeClr val="dk1"/>
                </a:solidFill>
                <a:latin typeface="Courier New"/>
                <a:ea typeface="Courier New"/>
                <a:cs typeface="Courier New"/>
                <a:sym typeface="Courier New"/>
              </a:rPr>
              <a:t>",</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550">
                <a:solidFill>
                  <a:schemeClr val="dk1"/>
                </a:solidFill>
                <a:latin typeface="Courier New"/>
                <a:ea typeface="Courier New"/>
                <a:cs typeface="Courier New"/>
                <a:sym typeface="Courier New"/>
              </a:rPr>
              <a:t>  "error": 0</a:t>
            </a:r>
            <a:endParaRPr sz="1550">
              <a:solidFill>
                <a:schemeClr val="dk1"/>
              </a:solidFill>
              <a:latin typeface="Courier New"/>
              <a:ea typeface="Courier New"/>
              <a:cs typeface="Courier New"/>
              <a:sym typeface="Courier New"/>
            </a:endParaRPr>
          </a:p>
          <a:p>
            <a:pPr indent="0" lvl="0" marL="190500" marR="190500" rtl="0" algn="l">
              <a:lnSpc>
                <a:spcPct val="171428"/>
              </a:lnSpc>
              <a:spcBef>
                <a:spcPts val="0"/>
              </a:spcBef>
              <a:spcAft>
                <a:spcPts val="0"/>
              </a:spcAft>
              <a:buClr>
                <a:schemeClr val="dk1"/>
              </a:buClr>
              <a:buSzPts val="1100"/>
              <a:buFont typeface="Arial"/>
              <a:buNone/>
            </a:pPr>
            <a:r>
              <a:rPr lang="en-US" sz="1550">
                <a:solidFill>
                  <a:schemeClr val="dk1"/>
                </a:solidFill>
                <a:latin typeface="Courier New"/>
                <a:ea typeface="Courier New"/>
                <a:cs typeface="Courier New"/>
                <a:sym typeface="Courier New"/>
              </a:rPr>
              <a:t>}</a:t>
            </a:r>
            <a:endParaRPr sz="15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2100">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28" name="Shape 1628"/>
        <p:cNvGrpSpPr/>
        <p:nvPr/>
      </p:nvGrpSpPr>
      <p:grpSpPr>
        <a:xfrm>
          <a:off x="0" y="0"/>
          <a:ext cx="0" cy="0"/>
          <a:chOff x="0" y="0"/>
          <a:chExt cx="0" cy="0"/>
        </a:xfrm>
      </p:grpSpPr>
      <p:pic>
        <p:nvPicPr>
          <p:cNvPr descr="A picture containing food, drawing, shirt&#10;&#10;Description automatically generated" id="1629" name="Google Shape;1629;p12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1630" name="Google Shape;1630;p1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31" name="Google Shape;1631;p12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632" name="Google Shape;1632;p123"/>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633" name="Google Shape;1633;p12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634" name="Google Shape;1634;p123"/>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635" name="Google Shape;1635;p123"/>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Wazuh Configurations</a:t>
            </a:r>
            <a:endParaRPr sz="4800">
              <a:solidFill>
                <a:schemeClr val="lt1"/>
              </a:solidFill>
              <a:highlight>
                <a:srgbClr val="3585F9"/>
              </a:highlight>
              <a:latin typeface="Poppins"/>
              <a:ea typeface="Poppins"/>
              <a:cs typeface="Poppins"/>
              <a:sym typeface="Poppins"/>
            </a:endParaRPr>
          </a:p>
        </p:txBody>
      </p:sp>
      <p:pic>
        <p:nvPicPr>
          <p:cNvPr id="1636" name="Google Shape;1636;p123"/>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0" name="Shape 1640"/>
        <p:cNvGrpSpPr/>
        <p:nvPr/>
      </p:nvGrpSpPr>
      <p:grpSpPr>
        <a:xfrm>
          <a:off x="0" y="0"/>
          <a:ext cx="0" cy="0"/>
          <a:chOff x="0" y="0"/>
          <a:chExt cx="0" cy="0"/>
        </a:xfrm>
      </p:grpSpPr>
      <p:sp>
        <p:nvSpPr>
          <p:cNvPr id="1641" name="Google Shape;1641;p124"/>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a:t>
            </a:r>
            <a:endParaRPr b="1" i="0" sz="3600" u="none" cap="none" strike="noStrike">
              <a:solidFill>
                <a:srgbClr val="6D9EEB"/>
              </a:solidFill>
              <a:latin typeface="Poppins"/>
              <a:ea typeface="Poppins"/>
              <a:cs typeface="Poppins"/>
              <a:sym typeface="Poppins"/>
            </a:endParaRPr>
          </a:p>
        </p:txBody>
      </p:sp>
      <p:cxnSp>
        <p:nvCxnSpPr>
          <p:cNvPr id="1642" name="Google Shape;1642;p12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643" name="Google Shape;1643;p12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644" name="Google Shape;1644;p12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645" name="Google Shape;1645;p12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646" name="Google Shape;1646;p1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647" name="Google Shape;1647;p1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648" name="Google Shape;1648;p12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649" name="Google Shape;1649;p124"/>
          <p:cNvSpPr txBox="1"/>
          <p:nvPr/>
        </p:nvSpPr>
        <p:spPr>
          <a:xfrm>
            <a:off x="819450" y="1708275"/>
            <a:ext cx="10553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p:txBody>
      </p:sp>
      <p:sp>
        <p:nvSpPr>
          <p:cNvPr id="1650" name="Google Shape;1650;p124"/>
          <p:cNvSpPr txBox="1"/>
          <p:nvPr/>
        </p:nvSpPr>
        <p:spPr>
          <a:xfrm>
            <a:off x="1000925" y="1708275"/>
            <a:ext cx="9972000" cy="3702900"/>
          </a:xfrm>
          <a:prstGeom prst="rect">
            <a:avLst/>
          </a:prstGeom>
          <a:noFill/>
          <a:ln>
            <a:noFill/>
          </a:ln>
        </p:spPr>
        <p:txBody>
          <a:bodyPr anchorCtr="0" anchor="t" bIns="45700" lIns="91425" spcFirstLastPara="1" rIns="91425" wrap="square" tIns="45700">
            <a:noAutofit/>
          </a:bodyPr>
          <a:lstStyle/>
          <a:p>
            <a:pPr indent="-367188" lvl="0" marL="457200" rtl="0" algn="l">
              <a:lnSpc>
                <a:spcPct val="80000"/>
              </a:lnSpc>
              <a:spcBef>
                <a:spcPts val="0"/>
              </a:spcBef>
              <a:spcAft>
                <a:spcPts val="0"/>
              </a:spcAft>
              <a:buClr>
                <a:schemeClr val="dk1"/>
              </a:buClr>
              <a:buSzPts val="2183"/>
              <a:buFont typeface="Archivo Medium"/>
              <a:buChar char="●"/>
            </a:pPr>
            <a:r>
              <a:rPr lang="en-US" sz="2182">
                <a:solidFill>
                  <a:schemeClr val="dk1"/>
                </a:solidFill>
                <a:latin typeface="Archivo Medium"/>
                <a:ea typeface="Archivo Medium"/>
                <a:cs typeface="Archivo Medium"/>
                <a:sym typeface="Archivo Medium"/>
              </a:rPr>
              <a:t>Identifikasi file konfigurasi seperti ossec.conf dan agent.conf, serta pahami file dan kategori konfigurasi mana yang dapat didistribusikan secara terpusat versus yang dikelola secara individual di manager atau agent.</a:t>
            </a:r>
            <a:endParaRPr sz="21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a:p>
            <a:pPr indent="-367188" lvl="0" marL="457200" rtl="0" algn="l">
              <a:lnSpc>
                <a:spcPct val="80000"/>
              </a:lnSpc>
              <a:spcBef>
                <a:spcPts val="0"/>
              </a:spcBef>
              <a:spcAft>
                <a:spcPts val="0"/>
              </a:spcAft>
              <a:buClr>
                <a:schemeClr val="dk1"/>
              </a:buClr>
              <a:buSzPts val="2183"/>
              <a:buFont typeface="Archivo Medium"/>
              <a:buChar char="●"/>
            </a:pPr>
            <a:r>
              <a:rPr lang="en-US" sz="2182">
                <a:solidFill>
                  <a:schemeClr val="dk1"/>
                </a:solidFill>
                <a:latin typeface="Archivo Medium"/>
                <a:ea typeface="Archivo Medium"/>
                <a:cs typeface="Archivo Medium"/>
                <a:sym typeface="Archivo Medium"/>
              </a:rPr>
              <a:t>Lakukan perubahan konfigurasi melalui aplikasi web atau baris perintah (command line).</a:t>
            </a:r>
            <a:endParaRPr sz="2182">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a:p>
            <a:pPr indent="-367188" lvl="0" marL="457200" rtl="0" algn="l">
              <a:lnSpc>
                <a:spcPct val="80000"/>
              </a:lnSpc>
              <a:spcBef>
                <a:spcPts val="0"/>
              </a:spcBef>
              <a:spcAft>
                <a:spcPts val="0"/>
              </a:spcAft>
              <a:buClr>
                <a:schemeClr val="dk1"/>
              </a:buClr>
              <a:buSzPts val="2183"/>
              <a:buFont typeface="Archivo Medium"/>
              <a:buChar char="●"/>
            </a:pPr>
            <a:r>
              <a:rPr lang="en-US" sz="2182">
                <a:solidFill>
                  <a:schemeClr val="dk1"/>
                </a:solidFill>
                <a:latin typeface="Archivo Medium"/>
                <a:ea typeface="Archivo Medium"/>
                <a:cs typeface="Archivo Medium"/>
                <a:sym typeface="Archivo Medium"/>
              </a:rPr>
              <a:t>Pahami kategori dasar pengaturan konfigurasi untuk manager dan agent.</a:t>
            </a:r>
            <a:endParaRPr sz="2182">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a:p>
            <a:pPr indent="-367188" lvl="0" marL="457200" rtl="0" algn="l">
              <a:lnSpc>
                <a:spcPct val="80000"/>
              </a:lnSpc>
              <a:spcBef>
                <a:spcPts val="0"/>
              </a:spcBef>
              <a:spcAft>
                <a:spcPts val="0"/>
              </a:spcAft>
              <a:buClr>
                <a:schemeClr val="dk1"/>
              </a:buClr>
              <a:buSzPts val="2183"/>
              <a:buFont typeface="Archivo Medium"/>
              <a:buChar char="●"/>
            </a:pPr>
            <a:r>
              <a:rPr lang="en-US" sz="2182">
                <a:solidFill>
                  <a:schemeClr val="dk1"/>
                </a:solidFill>
                <a:latin typeface="Archivo Medium"/>
                <a:ea typeface="Archivo Medium"/>
                <a:cs typeface="Archivo Medium"/>
                <a:sym typeface="Archivo Medium"/>
              </a:rPr>
              <a:t>Pahami bagaimana konfigurasi disebarkan antar manager dan dari manager ke agent.</a:t>
            </a:r>
            <a:endParaRPr sz="2182">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a:p>
            <a:pPr indent="-367188" lvl="0" marL="457200" rtl="0" algn="l">
              <a:lnSpc>
                <a:spcPct val="80000"/>
              </a:lnSpc>
              <a:spcBef>
                <a:spcPts val="0"/>
              </a:spcBef>
              <a:spcAft>
                <a:spcPts val="0"/>
              </a:spcAft>
              <a:buClr>
                <a:schemeClr val="dk1"/>
              </a:buClr>
              <a:buSzPts val="2183"/>
              <a:buFont typeface="Archivo Medium"/>
              <a:buChar char="●"/>
            </a:pPr>
            <a:r>
              <a:rPr lang="en-US" sz="2182">
                <a:solidFill>
                  <a:schemeClr val="dk1"/>
                </a:solidFill>
                <a:latin typeface="Archivo Medium"/>
                <a:ea typeface="Archivo Medium"/>
                <a:cs typeface="Archivo Medium"/>
                <a:sym typeface="Archivo Medium"/>
              </a:rPr>
              <a:t>Gunakan grup agen dan profil untuk mengatur penyebaran elemen konfigurasi yang sesuai ke agent yang tepat, bahkan ketika menangani jumlah agent yang besar.</a:t>
            </a:r>
            <a:endParaRPr sz="2182">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4" name="Shape 1654"/>
        <p:cNvGrpSpPr/>
        <p:nvPr/>
      </p:nvGrpSpPr>
      <p:grpSpPr>
        <a:xfrm>
          <a:off x="0" y="0"/>
          <a:ext cx="0" cy="0"/>
          <a:chOff x="0" y="0"/>
          <a:chExt cx="0" cy="0"/>
        </a:xfrm>
      </p:grpSpPr>
      <p:sp>
        <p:nvSpPr>
          <p:cNvPr id="1655" name="Google Shape;1655;p125"/>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Configuration </a:t>
            </a:r>
            <a:endParaRPr b="1" i="0" sz="3600" u="none" cap="none" strike="noStrike">
              <a:solidFill>
                <a:srgbClr val="6D9EEB"/>
              </a:solidFill>
              <a:latin typeface="Poppins"/>
              <a:ea typeface="Poppins"/>
              <a:cs typeface="Poppins"/>
              <a:sym typeface="Poppins"/>
            </a:endParaRPr>
          </a:p>
        </p:txBody>
      </p:sp>
      <p:cxnSp>
        <p:nvCxnSpPr>
          <p:cNvPr id="1656" name="Google Shape;1656;p12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657" name="Google Shape;1657;p12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658" name="Google Shape;1658;p12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659" name="Google Shape;1659;p12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660" name="Google Shape;1660;p1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661" name="Google Shape;1661;p1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662" name="Google Shape;1662;p12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663" name="Google Shape;1663;p125"/>
          <p:cNvSpPr txBox="1"/>
          <p:nvPr/>
        </p:nvSpPr>
        <p:spPr>
          <a:xfrm>
            <a:off x="1000925" y="1737200"/>
            <a:ext cx="99720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2282">
                <a:solidFill>
                  <a:schemeClr val="dk1"/>
                </a:solidFill>
                <a:latin typeface="Archivo Medium"/>
                <a:ea typeface="Archivo Medium"/>
                <a:cs typeface="Archivo Medium"/>
                <a:sym typeface="Archivo Medium"/>
              </a:rPr>
              <a:t>Dalam lingkungan Wazuh, beberapa file konfigurasi seperti ossec.conf dan agent.conf digunakan untuk menetapkan pengaturan operasional bagi Wazuh manager dan agent.</a:t>
            </a:r>
            <a:endParaRPr sz="22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2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282">
                <a:solidFill>
                  <a:schemeClr val="dk1"/>
                </a:solidFill>
                <a:latin typeface="Archivo Medium"/>
                <a:ea typeface="Archivo Medium"/>
                <a:cs typeface="Archivo Medium"/>
                <a:sym typeface="Archivo Medium"/>
              </a:rPr>
              <a:t>Sebagian dari konfigurasi ini dapat didistribusikan secara terpusat dari manager ke seluruh agent, sementara konfigurasi lainnya dikelola secara individual di masing-masing agent atau di manager itu sendiri.</a:t>
            </a:r>
            <a:endParaRPr sz="22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2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2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7" name="Shape 1667"/>
        <p:cNvGrpSpPr/>
        <p:nvPr/>
      </p:nvGrpSpPr>
      <p:grpSpPr>
        <a:xfrm>
          <a:off x="0" y="0"/>
          <a:ext cx="0" cy="0"/>
          <a:chOff x="0" y="0"/>
          <a:chExt cx="0" cy="0"/>
        </a:xfrm>
      </p:grpSpPr>
      <p:sp>
        <p:nvSpPr>
          <p:cNvPr id="1668" name="Google Shape;1668;p126"/>
          <p:cNvSpPr txBox="1"/>
          <p:nvPr/>
        </p:nvSpPr>
        <p:spPr>
          <a:xfrm>
            <a:off x="603088" y="486375"/>
            <a:ext cx="84678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Wazuh Configuration ( Ossec.conf ) Manager &amp; Agent Conf File.</a:t>
            </a:r>
            <a:endParaRPr b="1" i="0" sz="3300" u="none" cap="none" strike="noStrike">
              <a:solidFill>
                <a:srgbClr val="6D9EEB"/>
              </a:solidFill>
              <a:latin typeface="Poppins"/>
              <a:ea typeface="Poppins"/>
              <a:cs typeface="Poppins"/>
              <a:sym typeface="Poppins"/>
            </a:endParaRPr>
          </a:p>
        </p:txBody>
      </p:sp>
      <p:cxnSp>
        <p:nvCxnSpPr>
          <p:cNvPr id="1669" name="Google Shape;1669;p12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670" name="Google Shape;1670;p12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671" name="Google Shape;1671;p12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672" name="Google Shape;1672;p12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673" name="Google Shape;1673;p12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674" name="Google Shape;1674;p1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675" name="Google Shape;1675;p12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676" name="Google Shape;1676;p126"/>
          <p:cNvSpPr txBox="1"/>
          <p:nvPr/>
        </p:nvSpPr>
        <p:spPr>
          <a:xfrm>
            <a:off x="1000925" y="1936875"/>
            <a:ext cx="99720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Archivo Medium"/>
                <a:ea typeface="Archivo Medium"/>
                <a:cs typeface="Archivo Medium"/>
                <a:sym typeface="Archivo Medium"/>
              </a:rPr>
              <a:t>File ossec.conf adalah file konfigurasi utama yang digunakan baik oleh Wazuh manager maupun agent. File ini menentukan fungsi inti dari komponen Wazuh, termasuk pencatatan log, pengiriman peringatan (alerting), aturan (rules), serta komunikasi antara manager dan agent.</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Archivo Medium"/>
                <a:ea typeface="Archivo Medium"/>
                <a:cs typeface="Archivo Medium"/>
                <a:sym typeface="Archivo Medium"/>
              </a:rPr>
              <a:t>Path:</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Archivo Medium"/>
                <a:ea typeface="Archivo Medium"/>
                <a:cs typeface="Archivo Medium"/>
                <a:sym typeface="Archivo Medium"/>
              </a:rPr>
              <a:t>Wazuh Manager &amp; Agent: /var/ossec/etc/ossec.conf</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0" name="Shape 1680"/>
        <p:cNvGrpSpPr/>
        <p:nvPr/>
      </p:nvGrpSpPr>
      <p:grpSpPr>
        <a:xfrm>
          <a:off x="0" y="0"/>
          <a:ext cx="0" cy="0"/>
          <a:chOff x="0" y="0"/>
          <a:chExt cx="0" cy="0"/>
        </a:xfrm>
      </p:grpSpPr>
      <p:sp>
        <p:nvSpPr>
          <p:cNvPr id="1681" name="Google Shape;1681;p127"/>
          <p:cNvSpPr txBox="1"/>
          <p:nvPr/>
        </p:nvSpPr>
        <p:spPr>
          <a:xfrm>
            <a:off x="603088" y="486375"/>
            <a:ext cx="84678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Wazuh Configuration ( Ossec.conf ) Global Distributed Configuration</a:t>
            </a:r>
            <a:endParaRPr b="1" i="0" sz="3300" u="none" cap="none" strike="noStrike">
              <a:solidFill>
                <a:srgbClr val="6D9EEB"/>
              </a:solidFill>
              <a:latin typeface="Poppins"/>
              <a:ea typeface="Poppins"/>
              <a:cs typeface="Poppins"/>
              <a:sym typeface="Poppins"/>
            </a:endParaRPr>
          </a:p>
        </p:txBody>
      </p:sp>
      <p:cxnSp>
        <p:nvCxnSpPr>
          <p:cNvPr id="1682" name="Google Shape;1682;p12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683" name="Google Shape;1683;p12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684" name="Google Shape;1684;p12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685" name="Google Shape;1685;p12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686" name="Google Shape;1686;p1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687" name="Google Shape;1687;p1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688" name="Google Shape;1688;p12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689" name="Google Shape;1689;p127"/>
          <p:cNvSpPr txBox="1"/>
          <p:nvPr/>
        </p:nvSpPr>
        <p:spPr>
          <a:xfrm>
            <a:off x="1000925" y="1901200"/>
            <a:ext cx="9972000" cy="35871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682">
                <a:solidFill>
                  <a:schemeClr val="dk1"/>
                </a:solidFill>
                <a:latin typeface="Archivo Medium"/>
                <a:ea typeface="Archivo Medium"/>
                <a:cs typeface="Archivo Medium"/>
                <a:sym typeface="Archivo Medium"/>
              </a:rPr>
              <a:t>Konfigurasi yang Didistribusikan Secara Global (Dikelola Secara Terpusat di Manager):</a:t>
            </a:r>
            <a:endParaRPr sz="16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682">
                <a:solidFill>
                  <a:schemeClr val="dk1"/>
                </a:solidFill>
                <a:latin typeface="Archivo Medium"/>
                <a:ea typeface="Archivo Medium"/>
                <a:cs typeface="Archivo Medium"/>
                <a:sym typeface="Archivo Medium"/>
              </a:rPr>
              <a:t>Beberapa konfigurasi dalam file ossec.conf dapat dikelola secara terpusat di Wazuh Manager dan didistribusikan ke agent. Bagian penting yang termasuk dalam kategori ini meliputi:</a:t>
            </a:r>
            <a:endParaRPr sz="16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682">
              <a:solidFill>
                <a:schemeClr val="dk1"/>
              </a:solidFill>
              <a:latin typeface="Archivo Medium"/>
              <a:ea typeface="Archivo Medium"/>
              <a:cs typeface="Archivo Medium"/>
              <a:sym typeface="Archivo Medium"/>
            </a:endParaRPr>
          </a:p>
          <a:p>
            <a:pPr indent="-335438" lvl="0" marL="457200" rtl="0" algn="l">
              <a:lnSpc>
                <a:spcPct val="80000"/>
              </a:lnSpc>
              <a:spcBef>
                <a:spcPts val="0"/>
              </a:spcBef>
              <a:spcAft>
                <a:spcPts val="0"/>
              </a:spcAft>
              <a:buClr>
                <a:schemeClr val="dk1"/>
              </a:buClr>
              <a:buSzPts val="1683"/>
              <a:buFont typeface="Archivo Medium"/>
              <a:buChar char="●"/>
            </a:pPr>
            <a:r>
              <a:rPr lang="en-US" sz="1682">
                <a:solidFill>
                  <a:schemeClr val="dk1"/>
                </a:solidFill>
                <a:latin typeface="Archivo Medium"/>
                <a:ea typeface="Archivo Medium"/>
                <a:cs typeface="Archivo Medium"/>
                <a:sym typeface="Archivo Medium"/>
              </a:rPr>
              <a:t>Konfigurasi Alerts (Peringatan):</a:t>
            </a:r>
            <a:endParaRPr sz="16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rPr lang="en-US" sz="1682">
                <a:solidFill>
                  <a:schemeClr val="dk1"/>
                </a:solidFill>
                <a:latin typeface="Archivo Medium"/>
                <a:ea typeface="Archivo Medium"/>
                <a:cs typeface="Archivo Medium"/>
                <a:sym typeface="Archivo Medium"/>
              </a:rPr>
              <a:t>Pengaturan yang berkaitan dengan notifikasi dan peringatan seperti email, syslog, Slack, dan lainnya dikelola langsung di sisi manager.</a:t>
            </a:r>
            <a:endParaRPr sz="16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682">
              <a:solidFill>
                <a:schemeClr val="dk1"/>
              </a:solidFill>
              <a:latin typeface="Archivo Medium"/>
              <a:ea typeface="Archivo Medium"/>
              <a:cs typeface="Archivo Medium"/>
              <a:sym typeface="Archivo Medium"/>
            </a:endParaRPr>
          </a:p>
          <a:p>
            <a:pPr indent="-335438" lvl="0" marL="457200" rtl="0" algn="l">
              <a:lnSpc>
                <a:spcPct val="80000"/>
              </a:lnSpc>
              <a:spcBef>
                <a:spcPts val="0"/>
              </a:spcBef>
              <a:spcAft>
                <a:spcPts val="0"/>
              </a:spcAft>
              <a:buClr>
                <a:schemeClr val="dk1"/>
              </a:buClr>
              <a:buSzPts val="1683"/>
              <a:buFont typeface="Archivo Medium"/>
              <a:buChar char="●"/>
            </a:pPr>
            <a:r>
              <a:rPr lang="en-US" sz="1682">
                <a:solidFill>
                  <a:schemeClr val="dk1"/>
                </a:solidFill>
                <a:latin typeface="Archivo Medium"/>
                <a:ea typeface="Archivo Medium"/>
                <a:cs typeface="Archivo Medium"/>
                <a:sym typeface="Archivo Medium"/>
              </a:rPr>
              <a:t>Konfigurasi Rules (Aturan):</a:t>
            </a:r>
            <a:endParaRPr sz="16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rPr lang="en-US" sz="1682">
                <a:solidFill>
                  <a:schemeClr val="dk1"/>
                </a:solidFill>
                <a:latin typeface="Archivo Medium"/>
                <a:ea typeface="Archivo Medium"/>
                <a:cs typeface="Archivo Medium"/>
                <a:sym typeface="Archivo Medium"/>
              </a:rPr>
              <a:t>Ruleset yang digunakan untuk menganalisis data yang dikirim oleh agent ditentukan di sisi manager dan secara otomatis diterapkan ke agent. Agent tidak mengubah aturan ini, melainkan hanya mengikuti instruksi dari manager.</a:t>
            </a:r>
            <a:endParaRPr sz="16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682">
              <a:solidFill>
                <a:schemeClr val="dk1"/>
              </a:solidFill>
              <a:latin typeface="Archivo Medium"/>
              <a:ea typeface="Archivo Medium"/>
              <a:cs typeface="Archivo Medium"/>
              <a:sym typeface="Archivo Medium"/>
            </a:endParaRPr>
          </a:p>
          <a:p>
            <a:pPr indent="-335438" lvl="0" marL="457200" rtl="0" algn="l">
              <a:lnSpc>
                <a:spcPct val="80000"/>
              </a:lnSpc>
              <a:spcBef>
                <a:spcPts val="0"/>
              </a:spcBef>
              <a:spcAft>
                <a:spcPts val="0"/>
              </a:spcAft>
              <a:buClr>
                <a:schemeClr val="dk1"/>
              </a:buClr>
              <a:buSzPts val="1683"/>
              <a:buFont typeface="Archivo Medium"/>
              <a:buChar char="●"/>
            </a:pPr>
            <a:r>
              <a:rPr lang="en-US" sz="1682">
                <a:solidFill>
                  <a:schemeClr val="dk1"/>
                </a:solidFill>
                <a:latin typeface="Archivo Medium"/>
                <a:ea typeface="Archivo Medium"/>
                <a:cs typeface="Archivo Medium"/>
                <a:sym typeface="Archivo Medium"/>
              </a:rPr>
              <a:t>Logging Global:</a:t>
            </a:r>
            <a:endParaRPr sz="16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rPr lang="en-US" sz="1682">
                <a:solidFill>
                  <a:schemeClr val="dk1"/>
                </a:solidFill>
                <a:latin typeface="Archivo Medium"/>
                <a:ea typeface="Archivo Medium"/>
                <a:cs typeface="Archivo Medium"/>
                <a:sym typeface="Archivo Medium"/>
              </a:rPr>
              <a:t>Pengaturan pencatatan log seperti level log, lokasi file log, dan opsi lainnya dapat diatur secara terpusat melalui Wazuh Manager.</a:t>
            </a:r>
            <a:endParaRPr sz="16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6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6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3" name="Shape 1693"/>
        <p:cNvGrpSpPr/>
        <p:nvPr/>
      </p:nvGrpSpPr>
      <p:grpSpPr>
        <a:xfrm>
          <a:off x="0" y="0"/>
          <a:ext cx="0" cy="0"/>
          <a:chOff x="0" y="0"/>
          <a:chExt cx="0" cy="0"/>
        </a:xfrm>
      </p:grpSpPr>
      <p:sp>
        <p:nvSpPr>
          <p:cNvPr id="1694" name="Google Shape;1694;p128"/>
          <p:cNvSpPr txBox="1"/>
          <p:nvPr/>
        </p:nvSpPr>
        <p:spPr>
          <a:xfrm>
            <a:off x="603088" y="486375"/>
            <a:ext cx="84678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Wazuh Configuration ( Ossec.conf ) </a:t>
            </a:r>
            <a:r>
              <a:rPr b="1" lang="en-US" sz="3300">
                <a:solidFill>
                  <a:srgbClr val="6D9EEB"/>
                </a:solidFill>
                <a:latin typeface="Poppins"/>
                <a:ea typeface="Poppins"/>
                <a:cs typeface="Poppins"/>
                <a:sym typeface="Poppins"/>
              </a:rPr>
              <a:t>Individual</a:t>
            </a:r>
            <a:r>
              <a:rPr b="1" lang="en-US" sz="3300">
                <a:solidFill>
                  <a:srgbClr val="6D9EEB"/>
                </a:solidFill>
                <a:latin typeface="Poppins"/>
                <a:ea typeface="Poppins"/>
                <a:cs typeface="Poppins"/>
                <a:sym typeface="Poppins"/>
              </a:rPr>
              <a:t> Maintained Configuration</a:t>
            </a:r>
            <a:endParaRPr b="1" i="0" sz="3300" u="none" cap="none" strike="noStrike">
              <a:solidFill>
                <a:srgbClr val="6D9EEB"/>
              </a:solidFill>
              <a:latin typeface="Poppins"/>
              <a:ea typeface="Poppins"/>
              <a:cs typeface="Poppins"/>
              <a:sym typeface="Poppins"/>
            </a:endParaRPr>
          </a:p>
        </p:txBody>
      </p:sp>
      <p:cxnSp>
        <p:nvCxnSpPr>
          <p:cNvPr id="1695" name="Google Shape;1695;p12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696" name="Google Shape;1696;p12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697" name="Google Shape;1697;p12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698" name="Google Shape;1698;p12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699" name="Google Shape;1699;p1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700" name="Google Shape;1700;p1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701" name="Google Shape;1701;p12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702" name="Google Shape;1702;p128"/>
          <p:cNvSpPr txBox="1"/>
          <p:nvPr/>
        </p:nvSpPr>
        <p:spPr>
          <a:xfrm>
            <a:off x="1000925" y="1901200"/>
            <a:ext cx="9972000" cy="35871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2282">
                <a:solidFill>
                  <a:schemeClr val="dk1"/>
                </a:solidFill>
                <a:latin typeface="Archivo Medium"/>
                <a:ea typeface="Archivo Medium"/>
                <a:cs typeface="Archivo Medium"/>
                <a:sym typeface="Archivo Medium"/>
              </a:rPr>
              <a:t>Konfigurasi yang Dikelola Secara Individu (Per Agent):</a:t>
            </a:r>
            <a:endParaRPr sz="2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rPr lang="en-US" sz="2282">
                <a:solidFill>
                  <a:schemeClr val="dk1"/>
                </a:solidFill>
                <a:latin typeface="Archivo Medium"/>
                <a:ea typeface="Archivo Medium"/>
                <a:cs typeface="Archivo Medium"/>
                <a:sym typeface="Archivo Medium"/>
              </a:rPr>
              <a:t>Beberapa konfigurasi harus disesuaikan secara spesifik pada setiap agent, karena berkaitan langsung dengan lingkungan tempat agent tersebut dijalankan.</a:t>
            </a:r>
            <a:endParaRPr sz="2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t/>
            </a:r>
            <a:endParaRPr sz="22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282">
                <a:solidFill>
                  <a:schemeClr val="dk1"/>
                </a:solidFill>
                <a:latin typeface="Archivo Medium"/>
                <a:ea typeface="Archivo Medium"/>
                <a:cs typeface="Archivo Medium"/>
                <a:sym typeface="Archivo Medium"/>
              </a:rPr>
              <a:t>Konfigurasi Lokal pada Agent:</a:t>
            </a:r>
            <a:endParaRPr sz="2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rPr lang="en-US" sz="2282">
                <a:solidFill>
                  <a:schemeClr val="dk1"/>
                </a:solidFill>
                <a:latin typeface="Archivo Medium"/>
                <a:ea typeface="Archivo Medium"/>
                <a:cs typeface="Archivo Medium"/>
                <a:sym typeface="Archivo Medium"/>
              </a:rPr>
              <a:t>Pengaturan seperti jalur file yang dipantau, eksekusi perintah, atau pemantauan log khusus bisa berbeda-beda tergantung pada jenis sistem, jenis aplikasi, dan kebutuhan spesifik dari agent tersebut.</a:t>
            </a:r>
            <a:endParaRPr sz="2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t/>
            </a:r>
            <a:endParaRPr sz="22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282">
                <a:solidFill>
                  <a:schemeClr val="dk1"/>
                </a:solidFill>
                <a:latin typeface="Archivo Medium"/>
                <a:ea typeface="Archivo Medium"/>
                <a:cs typeface="Archivo Medium"/>
                <a:sym typeface="Archivo Medium"/>
              </a:rPr>
              <a:t>Alamat Server pada Agent:</a:t>
            </a:r>
            <a:endParaRPr sz="2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rPr lang="en-US" sz="2282">
                <a:solidFill>
                  <a:schemeClr val="dk1"/>
                </a:solidFill>
                <a:latin typeface="Archivo Medium"/>
                <a:ea typeface="Archivo Medium"/>
                <a:cs typeface="Archivo Medium"/>
                <a:sym typeface="Archivo Medium"/>
              </a:rPr>
              <a:t>Blok &lt;server&gt; (dengan tag &lt;address&gt; dan &lt;port&gt;) mendefinisikan alamat IP atau hostname dari Wazuh Manager. Konfigurasi ini harus diatur pada setiap agent agar dapat terhubung ke manager yang sesuai.</a:t>
            </a:r>
            <a:endParaRPr sz="2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22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6" name="Shape 1706"/>
        <p:cNvGrpSpPr/>
        <p:nvPr/>
      </p:nvGrpSpPr>
      <p:grpSpPr>
        <a:xfrm>
          <a:off x="0" y="0"/>
          <a:ext cx="0" cy="0"/>
          <a:chOff x="0" y="0"/>
          <a:chExt cx="0" cy="0"/>
        </a:xfrm>
      </p:grpSpPr>
      <p:sp>
        <p:nvSpPr>
          <p:cNvPr id="1707" name="Google Shape;1707;p129"/>
          <p:cNvSpPr txBox="1"/>
          <p:nvPr/>
        </p:nvSpPr>
        <p:spPr>
          <a:xfrm>
            <a:off x="603088" y="486375"/>
            <a:ext cx="84678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Ossec.conf ( Manager &amp; Agent ) </a:t>
            </a:r>
            <a:endParaRPr b="1" i="0" sz="3300" u="none" cap="none" strike="noStrike">
              <a:solidFill>
                <a:srgbClr val="6D9EEB"/>
              </a:solidFill>
              <a:latin typeface="Poppins"/>
              <a:ea typeface="Poppins"/>
              <a:cs typeface="Poppins"/>
              <a:sym typeface="Poppins"/>
            </a:endParaRPr>
          </a:p>
        </p:txBody>
      </p:sp>
      <p:cxnSp>
        <p:nvCxnSpPr>
          <p:cNvPr id="1708" name="Google Shape;1708;p12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709" name="Google Shape;1709;p12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710" name="Google Shape;1710;p12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711" name="Google Shape;1711;p12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712" name="Google Shape;1712;p1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713" name="Google Shape;1713;p1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714" name="Google Shape;1714;p12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1715" name="Google Shape;1715;p129"/>
          <p:cNvPicPr preferRelativeResize="0"/>
          <p:nvPr/>
        </p:nvPicPr>
        <p:blipFill rotWithShape="1">
          <a:blip r:embed="rId6">
            <a:alphaModFix/>
          </a:blip>
          <a:srcRect b="7541" l="7427" r="7393" t="8190"/>
          <a:stretch/>
        </p:blipFill>
        <p:spPr>
          <a:xfrm>
            <a:off x="1772775" y="1660812"/>
            <a:ext cx="4449398" cy="4121425"/>
          </a:xfrm>
          <a:prstGeom prst="rect">
            <a:avLst/>
          </a:prstGeom>
          <a:noFill/>
          <a:ln>
            <a:noFill/>
          </a:ln>
          <a:effectLst>
            <a:outerShdw blurRad="57150" rotWithShape="0" algn="bl" dir="10800000" dist="19050">
              <a:srgbClr val="000000">
                <a:alpha val="80000"/>
              </a:srgbClr>
            </a:outerShdw>
          </a:effectLst>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9" name="Shape 1719"/>
        <p:cNvGrpSpPr/>
        <p:nvPr/>
      </p:nvGrpSpPr>
      <p:grpSpPr>
        <a:xfrm>
          <a:off x="0" y="0"/>
          <a:ext cx="0" cy="0"/>
          <a:chOff x="0" y="0"/>
          <a:chExt cx="0" cy="0"/>
        </a:xfrm>
      </p:grpSpPr>
      <p:sp>
        <p:nvSpPr>
          <p:cNvPr id="1720" name="Google Shape;1720;p130"/>
          <p:cNvSpPr txBox="1"/>
          <p:nvPr/>
        </p:nvSpPr>
        <p:spPr>
          <a:xfrm>
            <a:off x="603105" y="486375"/>
            <a:ext cx="116580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Agent.conf ( Centralized Agent Configuration )</a:t>
            </a:r>
            <a:endParaRPr b="1" i="0" sz="3300" u="none" cap="none" strike="noStrike">
              <a:solidFill>
                <a:srgbClr val="6D9EEB"/>
              </a:solidFill>
              <a:latin typeface="Poppins"/>
              <a:ea typeface="Poppins"/>
              <a:cs typeface="Poppins"/>
              <a:sym typeface="Poppins"/>
            </a:endParaRPr>
          </a:p>
        </p:txBody>
      </p:sp>
      <p:cxnSp>
        <p:nvCxnSpPr>
          <p:cNvPr id="1721" name="Google Shape;1721;p13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722" name="Google Shape;1722;p13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723" name="Google Shape;1723;p13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724" name="Google Shape;1724;p13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725" name="Google Shape;1725;p1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726" name="Google Shape;1726;p1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727" name="Google Shape;1727;p13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728" name="Google Shape;1728;p130"/>
          <p:cNvSpPr txBox="1"/>
          <p:nvPr/>
        </p:nvSpPr>
        <p:spPr>
          <a:xfrm>
            <a:off x="951650" y="1878750"/>
            <a:ext cx="9972000" cy="35871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882">
                <a:solidFill>
                  <a:schemeClr val="dk1"/>
                </a:solidFill>
                <a:latin typeface="Archivo Medium"/>
                <a:ea typeface="Archivo Medium"/>
                <a:cs typeface="Archivo Medium"/>
                <a:sym typeface="Archivo Medium"/>
              </a:rPr>
              <a:t>File agent.conf memungkinkan Anda untuk </a:t>
            </a:r>
            <a:r>
              <a:rPr lang="en-US" sz="1882">
                <a:solidFill>
                  <a:schemeClr val="dk1"/>
                </a:solidFill>
                <a:latin typeface="Archivo Medium"/>
                <a:ea typeface="Archivo Medium"/>
                <a:cs typeface="Archivo Medium"/>
                <a:sym typeface="Archivo Medium"/>
              </a:rPr>
              <a:t>mensentralisasi</a:t>
            </a:r>
            <a:r>
              <a:rPr lang="en-US" sz="1882">
                <a:solidFill>
                  <a:schemeClr val="dk1"/>
                </a:solidFill>
                <a:latin typeface="Archivo Medium"/>
                <a:ea typeface="Archivo Medium"/>
                <a:cs typeface="Archivo Medium"/>
                <a:sym typeface="Archivo Medium"/>
              </a:rPr>
              <a:t> beberapa pengaturan konfigurasi dan mendorongnya ke semua Wazuh agent dari sisi manager. Ini sangat berguna untuk pengaturan yang perlu seragam di seluruh agent, seperti:</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882">
              <a:solidFill>
                <a:schemeClr val="dk1"/>
              </a:solidFill>
              <a:latin typeface="Archivo Medium"/>
              <a:ea typeface="Archivo Medium"/>
              <a:cs typeface="Archivo Medium"/>
              <a:sym typeface="Archivo Medium"/>
            </a:endParaRPr>
          </a:p>
          <a:p>
            <a:pPr indent="-348138" lvl="0" marL="457200" rtl="0" algn="l">
              <a:lnSpc>
                <a:spcPct val="80000"/>
              </a:lnSpc>
              <a:spcBef>
                <a:spcPts val="0"/>
              </a:spcBef>
              <a:spcAft>
                <a:spcPts val="0"/>
              </a:spcAft>
              <a:buClr>
                <a:schemeClr val="dk1"/>
              </a:buClr>
              <a:buSzPts val="1883"/>
              <a:buFont typeface="Archivo Medium"/>
              <a:buChar char="●"/>
            </a:pPr>
            <a:r>
              <a:rPr lang="en-US" sz="1882">
                <a:solidFill>
                  <a:schemeClr val="dk1"/>
                </a:solidFill>
                <a:latin typeface="Archivo Medium"/>
                <a:ea typeface="Archivo Medium"/>
                <a:cs typeface="Archivo Medium"/>
                <a:sym typeface="Archivo Medium"/>
              </a:rPr>
              <a:t>Jalur file yang akan dimonitor,</a:t>
            </a:r>
            <a:endParaRPr sz="1882">
              <a:solidFill>
                <a:schemeClr val="dk1"/>
              </a:solidFill>
              <a:latin typeface="Archivo Medium"/>
              <a:ea typeface="Archivo Medium"/>
              <a:cs typeface="Archivo Medium"/>
              <a:sym typeface="Archivo Medium"/>
            </a:endParaRPr>
          </a:p>
          <a:p>
            <a:pPr indent="-348138" lvl="0" marL="457200" rtl="0" algn="l">
              <a:lnSpc>
                <a:spcPct val="80000"/>
              </a:lnSpc>
              <a:spcBef>
                <a:spcPts val="0"/>
              </a:spcBef>
              <a:spcAft>
                <a:spcPts val="0"/>
              </a:spcAft>
              <a:buClr>
                <a:schemeClr val="dk1"/>
              </a:buClr>
              <a:buSzPts val="1883"/>
              <a:buFont typeface="Archivo Medium"/>
              <a:buChar char="●"/>
            </a:pPr>
            <a:r>
              <a:rPr lang="en-US" sz="1882">
                <a:solidFill>
                  <a:schemeClr val="dk1"/>
                </a:solidFill>
                <a:latin typeface="Archivo Medium"/>
                <a:ea typeface="Archivo Medium"/>
                <a:cs typeface="Archivo Medium"/>
                <a:sym typeface="Archivo Medium"/>
              </a:rPr>
              <a:t>Pengaturan integritas file,</a:t>
            </a:r>
            <a:endParaRPr sz="1882">
              <a:solidFill>
                <a:schemeClr val="dk1"/>
              </a:solidFill>
              <a:latin typeface="Archivo Medium"/>
              <a:ea typeface="Archivo Medium"/>
              <a:cs typeface="Archivo Medium"/>
              <a:sym typeface="Archivo Medium"/>
            </a:endParaRPr>
          </a:p>
          <a:p>
            <a:pPr indent="-348138" lvl="0" marL="457200" rtl="0" algn="l">
              <a:lnSpc>
                <a:spcPct val="80000"/>
              </a:lnSpc>
              <a:spcBef>
                <a:spcPts val="0"/>
              </a:spcBef>
              <a:spcAft>
                <a:spcPts val="0"/>
              </a:spcAft>
              <a:buClr>
                <a:schemeClr val="dk1"/>
              </a:buClr>
              <a:buSzPts val="1883"/>
              <a:buFont typeface="Archivo Medium"/>
              <a:buChar char="●"/>
            </a:pPr>
            <a:r>
              <a:rPr lang="en-US" sz="1882">
                <a:solidFill>
                  <a:schemeClr val="dk1"/>
                </a:solidFill>
                <a:latin typeface="Archivo Medium"/>
                <a:ea typeface="Archivo Medium"/>
                <a:cs typeface="Archivo Medium"/>
                <a:sym typeface="Archivo Medium"/>
              </a:rPr>
              <a:t>Pemantauan log standar,</a:t>
            </a:r>
            <a:endParaRPr sz="1882">
              <a:solidFill>
                <a:schemeClr val="dk1"/>
              </a:solidFill>
              <a:latin typeface="Archivo Medium"/>
              <a:ea typeface="Archivo Medium"/>
              <a:cs typeface="Archivo Medium"/>
              <a:sym typeface="Archivo Medium"/>
            </a:endParaRPr>
          </a:p>
          <a:p>
            <a:pPr indent="-348138" lvl="0" marL="457200" rtl="0" algn="l">
              <a:lnSpc>
                <a:spcPct val="80000"/>
              </a:lnSpc>
              <a:spcBef>
                <a:spcPts val="0"/>
              </a:spcBef>
              <a:spcAft>
                <a:spcPts val="0"/>
              </a:spcAft>
              <a:buClr>
                <a:schemeClr val="dk1"/>
              </a:buClr>
              <a:buSzPts val="1883"/>
              <a:buFont typeface="Archivo Medium"/>
              <a:buChar char="●"/>
            </a:pPr>
            <a:r>
              <a:rPr lang="en-US" sz="1882">
                <a:solidFill>
                  <a:schemeClr val="dk1"/>
                </a:solidFill>
                <a:latin typeface="Archivo Medium"/>
                <a:ea typeface="Archivo Medium"/>
                <a:cs typeface="Archivo Medium"/>
                <a:sym typeface="Archivo Medium"/>
              </a:rPr>
              <a:t>Aturan khusus yang berlaku sama untuk semua endpoint.</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882">
                <a:solidFill>
                  <a:schemeClr val="dk1"/>
                </a:solidFill>
                <a:latin typeface="Archivo Medium"/>
                <a:ea typeface="Archivo Medium"/>
                <a:cs typeface="Archivo Medium"/>
                <a:sym typeface="Archivo Medium"/>
              </a:rPr>
              <a:t>Dengan menggunakan agent.conf, administrator dapat memastikan bahwa konfigurasi penting tersebar secara konsisten ke seluruh agent tanpa harus melakukan konfigurasi manual satu per satu.</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882">
                <a:solidFill>
                  <a:schemeClr val="dk1"/>
                </a:solidFill>
                <a:latin typeface="Archivo Medium"/>
                <a:ea typeface="Archivo Medium"/>
                <a:cs typeface="Archivo Medium"/>
                <a:sym typeface="Archivo Medium"/>
              </a:rPr>
              <a:t>Location : </a:t>
            </a:r>
            <a:r>
              <a:rPr lang="en-US" sz="1882">
                <a:solidFill>
                  <a:schemeClr val="dk1"/>
                </a:solidFill>
                <a:latin typeface="Courier New"/>
                <a:ea typeface="Courier New"/>
                <a:cs typeface="Courier New"/>
                <a:sym typeface="Courier New"/>
              </a:rPr>
              <a:t> /var/ossec/etc/shared/&lt;agent-name&gt;/agent.conf</a:t>
            </a:r>
            <a:endParaRPr sz="1882">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2" name="Shape 1732"/>
        <p:cNvGrpSpPr/>
        <p:nvPr/>
      </p:nvGrpSpPr>
      <p:grpSpPr>
        <a:xfrm>
          <a:off x="0" y="0"/>
          <a:ext cx="0" cy="0"/>
          <a:chOff x="0" y="0"/>
          <a:chExt cx="0" cy="0"/>
        </a:xfrm>
      </p:grpSpPr>
      <p:sp>
        <p:nvSpPr>
          <p:cNvPr id="1733" name="Google Shape;1733;p131"/>
          <p:cNvSpPr txBox="1"/>
          <p:nvPr/>
        </p:nvSpPr>
        <p:spPr>
          <a:xfrm>
            <a:off x="603105" y="486375"/>
            <a:ext cx="116580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Agent.conf ( Centralized Agent Configuration )</a:t>
            </a:r>
            <a:endParaRPr b="1" i="0" sz="3300" u="none" cap="none" strike="noStrike">
              <a:solidFill>
                <a:srgbClr val="6D9EEB"/>
              </a:solidFill>
              <a:latin typeface="Poppins"/>
              <a:ea typeface="Poppins"/>
              <a:cs typeface="Poppins"/>
              <a:sym typeface="Poppins"/>
            </a:endParaRPr>
          </a:p>
        </p:txBody>
      </p:sp>
      <p:cxnSp>
        <p:nvCxnSpPr>
          <p:cNvPr id="1734" name="Google Shape;1734;p13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735" name="Google Shape;1735;p13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736" name="Google Shape;1736;p13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737" name="Google Shape;1737;p13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738" name="Google Shape;1738;p13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739" name="Google Shape;1739;p1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740" name="Google Shape;1740;p13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741" name="Google Shape;1741;p131"/>
          <p:cNvSpPr txBox="1"/>
          <p:nvPr/>
        </p:nvSpPr>
        <p:spPr>
          <a:xfrm>
            <a:off x="1000925" y="1734875"/>
            <a:ext cx="9972000" cy="35871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282">
                <a:solidFill>
                  <a:schemeClr val="dk1"/>
                </a:solidFill>
                <a:latin typeface="Archivo Medium"/>
                <a:ea typeface="Archivo Medium"/>
                <a:cs typeface="Archivo Medium"/>
                <a:sym typeface="Archivo Medium"/>
              </a:rPr>
              <a:t>Konfigurasi yang Didistribusikan Secara Global (Dikelola di Sisi Manager):</a:t>
            </a:r>
            <a:endParaRPr sz="1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t/>
            </a:r>
            <a:endParaRPr sz="1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rPr lang="en-US" sz="1282">
                <a:solidFill>
                  <a:schemeClr val="dk1"/>
                </a:solidFill>
                <a:latin typeface="Archivo Medium"/>
                <a:ea typeface="Archivo Medium"/>
                <a:cs typeface="Archivo Medium"/>
                <a:sym typeface="Archivo Medium"/>
              </a:rPr>
              <a:t>Beberapa pengaturan dalam lingkungan Wazuh dapat dikonfigurasi secara terpusat melalui agent.conf dan didistribusikan ke semua agent. Ini mencakup:</a:t>
            </a:r>
            <a:endParaRPr sz="1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t/>
            </a:r>
            <a:endParaRPr sz="1282">
              <a:solidFill>
                <a:schemeClr val="dk1"/>
              </a:solidFill>
              <a:latin typeface="Archivo Medium"/>
              <a:ea typeface="Archivo Medium"/>
              <a:cs typeface="Archivo Medium"/>
              <a:sym typeface="Archivo Medium"/>
            </a:endParaRPr>
          </a:p>
          <a:p>
            <a:pPr indent="-310038" lvl="0" marL="457200" rtl="0" algn="l">
              <a:lnSpc>
                <a:spcPct val="80000"/>
              </a:lnSpc>
              <a:spcBef>
                <a:spcPts val="0"/>
              </a:spcBef>
              <a:spcAft>
                <a:spcPts val="0"/>
              </a:spcAft>
              <a:buClr>
                <a:schemeClr val="dk1"/>
              </a:buClr>
              <a:buSzPts val="1283"/>
              <a:buFont typeface="Archivo Medium"/>
              <a:buChar char="●"/>
            </a:pPr>
            <a:r>
              <a:rPr lang="en-US" sz="1282">
                <a:solidFill>
                  <a:schemeClr val="dk1"/>
                </a:solidFill>
                <a:latin typeface="Archivo Medium"/>
                <a:ea typeface="Archivo Medium"/>
                <a:cs typeface="Archivo Medium"/>
                <a:sym typeface="Archivo Medium"/>
              </a:rPr>
              <a:t>File Integrity Monitoring (FIM):</a:t>
            </a:r>
            <a:endParaRPr sz="1282">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rPr lang="en-US" sz="1282">
                <a:solidFill>
                  <a:schemeClr val="dk1"/>
                </a:solidFill>
                <a:latin typeface="Archivo Medium"/>
                <a:ea typeface="Archivo Medium"/>
                <a:cs typeface="Archivo Medium"/>
                <a:sym typeface="Archivo Medium"/>
              </a:rPr>
              <a:t>Anda dapat menentukan secara terpusat file dan direktori mana yang harus dipantau terhadap perubahan di seluruh agent.</a:t>
            </a:r>
            <a:endParaRPr sz="1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282">
              <a:solidFill>
                <a:schemeClr val="dk1"/>
              </a:solidFill>
              <a:latin typeface="Archivo Medium"/>
              <a:ea typeface="Archivo Medium"/>
              <a:cs typeface="Archivo Medium"/>
              <a:sym typeface="Archivo Medium"/>
            </a:endParaRPr>
          </a:p>
          <a:p>
            <a:pPr indent="-310038" lvl="0" marL="457200" rtl="0" algn="l">
              <a:lnSpc>
                <a:spcPct val="80000"/>
              </a:lnSpc>
              <a:spcBef>
                <a:spcPts val="0"/>
              </a:spcBef>
              <a:spcAft>
                <a:spcPts val="0"/>
              </a:spcAft>
              <a:buClr>
                <a:schemeClr val="dk1"/>
              </a:buClr>
              <a:buSzPts val="1283"/>
              <a:buFont typeface="Archivo Medium"/>
              <a:buChar char="●"/>
            </a:pPr>
            <a:r>
              <a:rPr lang="en-US" sz="1282">
                <a:solidFill>
                  <a:schemeClr val="dk1"/>
                </a:solidFill>
                <a:latin typeface="Archivo Medium"/>
                <a:ea typeface="Archivo Medium"/>
                <a:cs typeface="Archivo Medium"/>
                <a:sym typeface="Archivo Medium"/>
              </a:rPr>
              <a:t>Log Collection:</a:t>
            </a:r>
            <a:endParaRPr sz="1282">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rPr lang="en-US" sz="1282">
                <a:solidFill>
                  <a:schemeClr val="dk1"/>
                </a:solidFill>
                <a:latin typeface="Archivo Medium"/>
                <a:ea typeface="Archivo Medium"/>
                <a:cs typeface="Archivo Medium"/>
                <a:sym typeface="Archivo Medium"/>
              </a:rPr>
              <a:t>Menentukan log mana yang harus dikumpulkan dari setiap agent, seperti log sistem, log aplikasi, atau log khusus lainnya.</a:t>
            </a:r>
            <a:endParaRPr sz="1282">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t/>
            </a:r>
            <a:endParaRPr sz="1282">
              <a:solidFill>
                <a:schemeClr val="dk1"/>
              </a:solidFill>
              <a:latin typeface="Archivo Medium"/>
              <a:ea typeface="Archivo Medium"/>
              <a:cs typeface="Archivo Medium"/>
              <a:sym typeface="Archivo Medium"/>
            </a:endParaRPr>
          </a:p>
          <a:p>
            <a:pPr indent="-310038" lvl="0" marL="457200" rtl="0" algn="l">
              <a:lnSpc>
                <a:spcPct val="80000"/>
              </a:lnSpc>
              <a:spcBef>
                <a:spcPts val="0"/>
              </a:spcBef>
              <a:spcAft>
                <a:spcPts val="0"/>
              </a:spcAft>
              <a:buClr>
                <a:schemeClr val="dk1"/>
              </a:buClr>
              <a:buSzPts val="1283"/>
              <a:buFont typeface="Archivo Medium"/>
              <a:buChar char="●"/>
            </a:pPr>
            <a:r>
              <a:rPr lang="en-US" sz="1282">
                <a:solidFill>
                  <a:schemeClr val="dk1"/>
                </a:solidFill>
                <a:latin typeface="Archivo Medium"/>
                <a:ea typeface="Archivo Medium"/>
                <a:cs typeface="Archivo Medium"/>
                <a:sym typeface="Archivo Medium"/>
              </a:rPr>
              <a:t>Konfigurasi Syscheck:</a:t>
            </a:r>
            <a:endParaRPr sz="1282">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rPr lang="en-US" sz="1282">
                <a:solidFill>
                  <a:schemeClr val="dk1"/>
                </a:solidFill>
                <a:latin typeface="Archivo Medium"/>
                <a:ea typeface="Archivo Medium"/>
                <a:cs typeface="Archivo Medium"/>
                <a:sym typeface="Archivo Medium"/>
              </a:rPr>
              <a:t>Termasuk pemantauan checksum, interval pemeriksaan, dan pengaturan lainnya yang terkait dengan syscheck.</a:t>
            </a:r>
            <a:endParaRPr sz="1282">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t/>
            </a:r>
            <a:endParaRPr sz="1282">
              <a:solidFill>
                <a:schemeClr val="dk1"/>
              </a:solidFill>
              <a:latin typeface="Archivo Medium"/>
              <a:ea typeface="Archivo Medium"/>
              <a:cs typeface="Archivo Medium"/>
              <a:sym typeface="Archivo Medium"/>
            </a:endParaRPr>
          </a:p>
          <a:p>
            <a:pPr indent="-310038" lvl="0" marL="457200" rtl="0" algn="l">
              <a:lnSpc>
                <a:spcPct val="80000"/>
              </a:lnSpc>
              <a:spcBef>
                <a:spcPts val="0"/>
              </a:spcBef>
              <a:spcAft>
                <a:spcPts val="0"/>
              </a:spcAft>
              <a:buClr>
                <a:schemeClr val="dk1"/>
              </a:buClr>
              <a:buSzPts val="1283"/>
              <a:buFont typeface="Archivo Medium"/>
              <a:buChar char="●"/>
            </a:pPr>
            <a:r>
              <a:rPr lang="en-US" sz="1282">
                <a:solidFill>
                  <a:schemeClr val="dk1"/>
                </a:solidFill>
                <a:latin typeface="Archivo Medium"/>
                <a:ea typeface="Archivo Medium"/>
                <a:cs typeface="Archivo Medium"/>
                <a:sym typeface="Archivo Medium"/>
              </a:rPr>
              <a:t>Rootcheck:</a:t>
            </a:r>
            <a:endParaRPr sz="1282">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rPr lang="en-US" sz="1282">
                <a:solidFill>
                  <a:schemeClr val="dk1"/>
                </a:solidFill>
                <a:latin typeface="Archivo Medium"/>
                <a:ea typeface="Archivo Medium"/>
                <a:cs typeface="Archivo Medium"/>
                <a:sym typeface="Archivo Medium"/>
              </a:rPr>
              <a:t>Pengaturan deteksi rootkit yang dikonfigurasi secara terpusat dari manager dan diterapkan ke semua agent.</a:t>
            </a:r>
            <a:endParaRPr sz="1282">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t/>
            </a:r>
            <a:endParaRPr sz="1282">
              <a:solidFill>
                <a:schemeClr val="dk1"/>
              </a:solidFill>
              <a:latin typeface="Archivo Medium"/>
              <a:ea typeface="Archivo Medium"/>
              <a:cs typeface="Archivo Medium"/>
              <a:sym typeface="Archivo Medium"/>
            </a:endParaRPr>
          </a:p>
          <a:p>
            <a:pPr indent="-310038" lvl="0" marL="457200" rtl="0" algn="l">
              <a:lnSpc>
                <a:spcPct val="80000"/>
              </a:lnSpc>
              <a:spcBef>
                <a:spcPts val="0"/>
              </a:spcBef>
              <a:spcAft>
                <a:spcPts val="0"/>
              </a:spcAft>
              <a:buClr>
                <a:schemeClr val="dk1"/>
              </a:buClr>
              <a:buSzPts val="1283"/>
              <a:buFont typeface="Archivo Medium"/>
              <a:buChar char="●"/>
            </a:pPr>
            <a:r>
              <a:rPr lang="en-US" sz="1282">
                <a:solidFill>
                  <a:schemeClr val="dk1"/>
                </a:solidFill>
                <a:latin typeface="Archivo Medium"/>
                <a:ea typeface="Archivo Medium"/>
                <a:cs typeface="Archivo Medium"/>
                <a:sym typeface="Archivo Medium"/>
              </a:rPr>
              <a:t>Kebijakan CIS (CIS Policies):</a:t>
            </a:r>
            <a:endParaRPr sz="1282">
              <a:solidFill>
                <a:schemeClr val="dk1"/>
              </a:solidFill>
              <a:latin typeface="Archivo Medium"/>
              <a:ea typeface="Archivo Medium"/>
              <a:cs typeface="Archivo Medium"/>
              <a:sym typeface="Archivo Medium"/>
            </a:endParaRPr>
          </a:p>
          <a:p>
            <a:pPr indent="0" lvl="0" marL="914400" rtl="0" algn="l">
              <a:lnSpc>
                <a:spcPct val="80000"/>
              </a:lnSpc>
              <a:spcBef>
                <a:spcPts val="0"/>
              </a:spcBef>
              <a:spcAft>
                <a:spcPts val="0"/>
              </a:spcAft>
              <a:buNone/>
            </a:pPr>
            <a:r>
              <a:rPr lang="en-US" sz="1282">
                <a:solidFill>
                  <a:schemeClr val="dk1"/>
                </a:solidFill>
                <a:latin typeface="Archivo Medium"/>
                <a:ea typeface="Archivo Medium"/>
                <a:cs typeface="Archivo Medium"/>
                <a:sym typeface="Archivo Medium"/>
              </a:rPr>
              <a:t>Pengaturan kepatuhan (compliance monitoring) seperti berdasarkan benchmark CIS dapat dikonfigurasi dan didorong dari manager ke seluruh agent.</a:t>
            </a:r>
            <a:endParaRPr sz="1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Clr>
                <a:schemeClr val="dk1"/>
              </a:buClr>
              <a:buSzPts val="1100"/>
              <a:buFont typeface="Arial"/>
              <a:buNone/>
            </a:pPr>
            <a:r>
              <a:t/>
            </a:r>
            <a:endParaRPr sz="12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282">
                <a:solidFill>
                  <a:schemeClr val="dk1"/>
                </a:solidFill>
                <a:latin typeface="Archivo Medium"/>
                <a:ea typeface="Archivo Medium"/>
                <a:cs typeface="Archivo Medium"/>
                <a:sym typeface="Archivo Medium"/>
              </a:rPr>
              <a:t>Dengan menyentralisasi konfigurasi ini, Anda dapat dengan mudah memastikan bahwa semua endpoint mengikuti kebijakan keamanan yang konsisten tanpa perlu konfigurasi manual per agent.</a:t>
            </a:r>
            <a:endParaRPr sz="12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2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5" name="Shape 1745"/>
        <p:cNvGrpSpPr/>
        <p:nvPr/>
      </p:nvGrpSpPr>
      <p:grpSpPr>
        <a:xfrm>
          <a:off x="0" y="0"/>
          <a:ext cx="0" cy="0"/>
          <a:chOff x="0" y="0"/>
          <a:chExt cx="0" cy="0"/>
        </a:xfrm>
      </p:grpSpPr>
      <p:sp>
        <p:nvSpPr>
          <p:cNvPr id="1746" name="Google Shape;1746;p132"/>
          <p:cNvSpPr txBox="1"/>
          <p:nvPr/>
        </p:nvSpPr>
        <p:spPr>
          <a:xfrm>
            <a:off x="603105" y="486375"/>
            <a:ext cx="116580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Agent.conf ( Centralized Agent Configuration )</a:t>
            </a:r>
            <a:endParaRPr b="1" i="0" sz="3300" u="none" cap="none" strike="noStrike">
              <a:solidFill>
                <a:srgbClr val="6D9EEB"/>
              </a:solidFill>
              <a:latin typeface="Poppins"/>
              <a:ea typeface="Poppins"/>
              <a:cs typeface="Poppins"/>
              <a:sym typeface="Poppins"/>
            </a:endParaRPr>
          </a:p>
        </p:txBody>
      </p:sp>
      <p:cxnSp>
        <p:nvCxnSpPr>
          <p:cNvPr id="1747" name="Google Shape;1747;p13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748" name="Google Shape;1748;p13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749" name="Google Shape;1749;p13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750" name="Google Shape;1750;p13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751" name="Google Shape;1751;p1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752" name="Google Shape;1752;p1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753" name="Google Shape;1753;p13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1754" name="Google Shape;1754;p132"/>
          <p:cNvPicPr preferRelativeResize="0"/>
          <p:nvPr/>
        </p:nvPicPr>
        <p:blipFill rotWithShape="1">
          <a:blip r:embed="rId6">
            <a:alphaModFix/>
          </a:blip>
          <a:srcRect b="7316" l="7409" r="7808" t="7901"/>
          <a:stretch/>
        </p:blipFill>
        <p:spPr>
          <a:xfrm>
            <a:off x="6051675" y="1823375"/>
            <a:ext cx="4348724" cy="4178151"/>
          </a:xfrm>
          <a:prstGeom prst="rect">
            <a:avLst/>
          </a:prstGeom>
          <a:noFill/>
          <a:ln>
            <a:noFill/>
          </a:ln>
          <a:effectLst>
            <a:outerShdw blurRad="57150" rotWithShape="0" algn="bl" dir="11400000" dist="19050">
              <a:srgbClr val="000000">
                <a:alpha val="90000"/>
              </a:srgbClr>
            </a:outerShdw>
          </a:effectLst>
        </p:spPr>
      </p:pic>
      <p:sp>
        <p:nvSpPr>
          <p:cNvPr id="1755" name="Google Shape;1755;p132"/>
          <p:cNvSpPr txBox="1"/>
          <p:nvPr/>
        </p:nvSpPr>
        <p:spPr>
          <a:xfrm>
            <a:off x="1000925" y="1901200"/>
            <a:ext cx="4045500" cy="35871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800">
                <a:solidFill>
                  <a:schemeClr val="dk1"/>
                </a:solidFill>
                <a:latin typeface="Archivo"/>
                <a:ea typeface="Archivo"/>
                <a:cs typeface="Archivo"/>
                <a:sym typeface="Archivo"/>
              </a:rPr>
              <a:t>Jika terjadi perubahan pada file agent.conf, maka konfigurasi tersebut akan secara otomatis didistribusikan ke semua agen yang terhubung ke Wazuh manager.</a:t>
            </a:r>
            <a:endParaRPr sz="1800">
              <a:solidFill>
                <a:schemeClr val="dk1"/>
              </a:solidFill>
              <a:latin typeface="Archivo"/>
              <a:ea typeface="Archivo"/>
              <a:cs typeface="Archivo"/>
              <a:sym typeface="Archivo"/>
            </a:endParaRPr>
          </a:p>
          <a:p>
            <a:pPr indent="0" lvl="0" marL="0" rtl="0" algn="l">
              <a:lnSpc>
                <a:spcPct val="80000"/>
              </a:lnSpc>
              <a:spcBef>
                <a:spcPts val="0"/>
              </a:spcBef>
              <a:spcAft>
                <a:spcPts val="0"/>
              </a:spcAft>
              <a:buClr>
                <a:schemeClr val="dk1"/>
              </a:buClr>
              <a:buSzPts val="1100"/>
              <a:buFont typeface="Arial"/>
              <a:buNone/>
            </a:pPr>
            <a:r>
              <a:t/>
            </a:r>
            <a:endParaRPr sz="1800">
              <a:solidFill>
                <a:schemeClr val="dk1"/>
              </a:solidFill>
              <a:latin typeface="Archivo"/>
              <a:ea typeface="Archivo"/>
              <a:cs typeface="Archivo"/>
              <a:sym typeface="Archivo"/>
            </a:endParaRPr>
          </a:p>
          <a:p>
            <a:pPr indent="0" lvl="0" marL="0" rtl="0" algn="l">
              <a:lnSpc>
                <a:spcPct val="80000"/>
              </a:lnSpc>
              <a:spcBef>
                <a:spcPts val="0"/>
              </a:spcBef>
              <a:spcAft>
                <a:spcPts val="0"/>
              </a:spcAft>
              <a:buClr>
                <a:schemeClr val="dk1"/>
              </a:buClr>
              <a:buSzPts val="1100"/>
              <a:buFont typeface="Arial"/>
              <a:buNone/>
            </a:pPr>
            <a:r>
              <a:rPr lang="en-US" sz="1800">
                <a:solidFill>
                  <a:schemeClr val="dk1"/>
                </a:solidFill>
                <a:latin typeface="Archivo"/>
                <a:ea typeface="Archivo"/>
                <a:cs typeface="Archivo"/>
                <a:sym typeface="Archivo"/>
              </a:rPr>
              <a:t>Anda dapat memverifikasi bahwa konfigurasi telah berhasil didistribusikan ke agent dengan menjalankan perintah berikut di Wazuh manager:</a:t>
            </a:r>
            <a:endParaRPr sz="1800">
              <a:solidFill>
                <a:schemeClr val="dk1"/>
              </a:solidFill>
              <a:latin typeface="Archivo"/>
              <a:ea typeface="Archivo"/>
              <a:cs typeface="Archivo"/>
              <a:sym typeface="Archivo"/>
            </a:endParaRPr>
          </a:p>
          <a:p>
            <a:pPr indent="0" lvl="0" marL="0" rtl="0" algn="l">
              <a:lnSpc>
                <a:spcPct val="80000"/>
              </a:lnSpc>
              <a:spcBef>
                <a:spcPts val="0"/>
              </a:spcBef>
              <a:spcAft>
                <a:spcPts val="0"/>
              </a:spcAft>
              <a:buNone/>
            </a:pPr>
            <a:r>
              <a:t/>
            </a:r>
            <a:endParaRPr sz="1800">
              <a:solidFill>
                <a:schemeClr val="dk1"/>
              </a:solidFill>
              <a:latin typeface="Archivo"/>
              <a:ea typeface="Archivo"/>
              <a:cs typeface="Archivo"/>
              <a:sym typeface="Archivo"/>
            </a:endParaRPr>
          </a:p>
          <a:p>
            <a:pPr indent="0" lvl="0" marL="457200" rtl="0" algn="l">
              <a:lnSpc>
                <a:spcPct val="80000"/>
              </a:lnSpc>
              <a:spcBef>
                <a:spcPts val="0"/>
              </a:spcBef>
              <a:spcAft>
                <a:spcPts val="0"/>
              </a:spcAft>
              <a:buNone/>
            </a:pPr>
            <a:r>
              <a:t/>
            </a:r>
            <a:endParaRPr b="1" sz="1982">
              <a:solidFill>
                <a:schemeClr val="dk1"/>
              </a:solidFill>
              <a:latin typeface="Archivo"/>
              <a:ea typeface="Archivo"/>
              <a:cs typeface="Archivo"/>
              <a:sym typeface="Archivo"/>
            </a:endParaRPr>
          </a:p>
          <a:p>
            <a:pPr indent="0" lvl="0" marL="0" rtl="0" algn="l">
              <a:lnSpc>
                <a:spcPct val="80000"/>
              </a:lnSpc>
              <a:spcBef>
                <a:spcPts val="0"/>
              </a:spcBef>
              <a:spcAft>
                <a:spcPts val="0"/>
              </a:spcAft>
              <a:buClr>
                <a:schemeClr val="dk1"/>
              </a:buClr>
              <a:buSzPts val="1100"/>
              <a:buFont typeface="Arial"/>
              <a:buNone/>
            </a:pPr>
            <a:r>
              <a:rPr b="1" lang="en-US" sz="1982">
                <a:solidFill>
                  <a:schemeClr val="dk1"/>
                </a:solidFill>
                <a:latin typeface="Archivo"/>
                <a:ea typeface="Archivo"/>
                <a:cs typeface="Archivo"/>
                <a:sym typeface="Archivo"/>
              </a:rPr>
              <a:t>/var/ossec/bin/agent_control -l</a:t>
            </a:r>
            <a:endParaRPr b="1" sz="1982">
              <a:solidFill>
                <a:schemeClr val="dk1"/>
              </a:solidFill>
              <a:latin typeface="Archivo"/>
              <a:ea typeface="Archivo"/>
              <a:cs typeface="Archivo"/>
              <a:sym typeface="Archivo"/>
            </a:endParaRPr>
          </a:p>
          <a:p>
            <a:pPr indent="0" lvl="0" marL="457200" rtl="0" algn="l">
              <a:lnSpc>
                <a:spcPct val="80000"/>
              </a:lnSpc>
              <a:spcBef>
                <a:spcPts val="0"/>
              </a:spcBef>
              <a:spcAft>
                <a:spcPts val="0"/>
              </a:spcAft>
              <a:buClr>
                <a:schemeClr val="dk1"/>
              </a:buClr>
              <a:buSzPts val="1100"/>
              <a:buFont typeface="Arial"/>
              <a:buNone/>
            </a:pPr>
            <a:r>
              <a:t/>
            </a:r>
            <a:endParaRPr b="1" sz="1982">
              <a:solidFill>
                <a:schemeClr val="dk1"/>
              </a:solidFill>
              <a:latin typeface="Archivo"/>
              <a:ea typeface="Archivo"/>
              <a:cs typeface="Archivo"/>
              <a:sym typeface="Archivo"/>
            </a:endParaRPr>
          </a:p>
          <a:p>
            <a:pPr indent="0" lvl="0" marL="457200" rtl="0" algn="l">
              <a:lnSpc>
                <a:spcPct val="80000"/>
              </a:lnSpc>
              <a:spcBef>
                <a:spcPts val="0"/>
              </a:spcBef>
              <a:spcAft>
                <a:spcPts val="0"/>
              </a:spcAft>
              <a:buNone/>
            </a:pPr>
            <a:r>
              <a:t/>
            </a:r>
            <a:endParaRPr b="1" sz="1982">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9" name="Shape 1759"/>
        <p:cNvGrpSpPr/>
        <p:nvPr/>
      </p:nvGrpSpPr>
      <p:grpSpPr>
        <a:xfrm>
          <a:off x="0" y="0"/>
          <a:ext cx="0" cy="0"/>
          <a:chOff x="0" y="0"/>
          <a:chExt cx="0" cy="0"/>
        </a:xfrm>
      </p:grpSpPr>
      <p:sp>
        <p:nvSpPr>
          <p:cNvPr id="1760" name="Google Shape;1760;p133"/>
          <p:cNvSpPr txBox="1"/>
          <p:nvPr/>
        </p:nvSpPr>
        <p:spPr>
          <a:xfrm>
            <a:off x="603105" y="486375"/>
            <a:ext cx="116580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Configuration Files</a:t>
            </a:r>
            <a:endParaRPr b="1" i="0" sz="3300" u="none" cap="none" strike="noStrike">
              <a:solidFill>
                <a:srgbClr val="6D9EEB"/>
              </a:solidFill>
              <a:latin typeface="Poppins"/>
              <a:ea typeface="Poppins"/>
              <a:cs typeface="Poppins"/>
              <a:sym typeface="Poppins"/>
            </a:endParaRPr>
          </a:p>
        </p:txBody>
      </p:sp>
      <p:cxnSp>
        <p:nvCxnSpPr>
          <p:cNvPr id="1761" name="Google Shape;1761;p13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762" name="Google Shape;1762;p13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763" name="Google Shape;1763;p13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764" name="Google Shape;1764;p13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765" name="Google Shape;1765;p13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766" name="Google Shape;1766;p1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767" name="Google Shape;1767;p13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768" name="Google Shape;1768;p133"/>
          <p:cNvSpPr txBox="1"/>
          <p:nvPr/>
        </p:nvSpPr>
        <p:spPr>
          <a:xfrm>
            <a:off x="1000925" y="1368975"/>
            <a:ext cx="9972000" cy="42615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482">
                <a:solidFill>
                  <a:schemeClr val="dk1"/>
                </a:solidFill>
                <a:latin typeface="Courier New"/>
                <a:ea typeface="Courier New"/>
                <a:cs typeface="Courier New"/>
                <a:sym typeface="Courier New"/>
              </a:rPr>
              <a:t>/var/ossec/etc/ossec.conf</a:t>
            </a:r>
            <a:endParaRPr sz="1482">
              <a:solidFill>
                <a:schemeClr val="dk1"/>
              </a:solidFill>
              <a:latin typeface="Courier New"/>
              <a:ea typeface="Courier New"/>
              <a:cs typeface="Courier New"/>
              <a:sym typeface="Courier New"/>
            </a:endParaRPr>
          </a:p>
          <a:p>
            <a:pPr indent="0" lvl="0" marL="457200" rtl="0" algn="l">
              <a:lnSpc>
                <a:spcPct val="80000"/>
              </a:lnSpc>
              <a:spcBef>
                <a:spcPts val="0"/>
              </a:spcBef>
              <a:spcAft>
                <a:spcPts val="0"/>
              </a:spcAft>
              <a:buNone/>
            </a:pPr>
            <a:r>
              <a:t/>
            </a:r>
            <a:endParaRPr sz="1482">
              <a:solidFill>
                <a:schemeClr val="dk1"/>
              </a:solidFill>
              <a:latin typeface="Archivo Medium"/>
              <a:ea typeface="Archivo Medium"/>
              <a:cs typeface="Archivo Medium"/>
              <a:sym typeface="Archivo Medium"/>
            </a:endParaRPr>
          </a:p>
          <a:p>
            <a:pPr indent="-322738" lvl="0" marL="457200" rtl="0" algn="l">
              <a:lnSpc>
                <a:spcPct val="80000"/>
              </a:lnSpc>
              <a:spcBef>
                <a:spcPts val="0"/>
              </a:spcBef>
              <a:spcAft>
                <a:spcPts val="0"/>
              </a:spcAft>
              <a:buClr>
                <a:schemeClr val="dk1"/>
              </a:buClr>
              <a:buSzPts val="1483"/>
              <a:buFont typeface="Archivo Medium"/>
              <a:buChar char="●"/>
            </a:pPr>
            <a:r>
              <a:rPr lang="en-US" sz="1482">
                <a:solidFill>
                  <a:schemeClr val="dk1"/>
                </a:solidFill>
                <a:latin typeface="Archivo Medium"/>
                <a:ea typeface="Archivo Medium"/>
                <a:cs typeface="Archivo Medium"/>
                <a:sym typeface="Archivo Medium"/>
              </a:rPr>
              <a:t>Main configuration file for the Wazuh manager and agents.</a:t>
            </a:r>
            <a:endParaRPr sz="1482">
              <a:solidFill>
                <a:schemeClr val="dk1"/>
              </a:solidFill>
              <a:latin typeface="Archivo Medium"/>
              <a:ea typeface="Archivo Medium"/>
              <a:cs typeface="Archivo Medium"/>
              <a:sym typeface="Archivo Medium"/>
            </a:endParaRPr>
          </a:p>
          <a:p>
            <a:pPr indent="-322738" lvl="0" marL="457200" rtl="0" algn="l">
              <a:lnSpc>
                <a:spcPct val="80000"/>
              </a:lnSpc>
              <a:spcBef>
                <a:spcPts val="0"/>
              </a:spcBef>
              <a:spcAft>
                <a:spcPts val="0"/>
              </a:spcAft>
              <a:buClr>
                <a:schemeClr val="dk1"/>
              </a:buClr>
              <a:buSzPts val="1483"/>
              <a:buFont typeface="Archivo Medium"/>
              <a:buChar char="●"/>
            </a:pPr>
            <a:r>
              <a:rPr lang="en-US" sz="1482">
                <a:solidFill>
                  <a:schemeClr val="dk1"/>
                </a:solidFill>
                <a:latin typeface="Archivo Medium"/>
                <a:ea typeface="Archivo Medium"/>
                <a:cs typeface="Archivo Medium"/>
                <a:sym typeface="Archivo Medium"/>
              </a:rPr>
              <a:t>Defines global settings like log monitoring, alerts, rules, and agent communication.</a:t>
            </a:r>
            <a:endParaRPr sz="14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4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482">
                <a:solidFill>
                  <a:schemeClr val="dk1"/>
                </a:solidFill>
                <a:latin typeface="Courier New"/>
                <a:ea typeface="Courier New"/>
                <a:cs typeface="Courier New"/>
                <a:sym typeface="Courier New"/>
              </a:rPr>
              <a:t>/var/ossec/etc/shared/agent.conf</a:t>
            </a:r>
            <a:endParaRPr sz="1482">
              <a:solidFill>
                <a:schemeClr val="dk1"/>
              </a:solidFill>
              <a:latin typeface="Courier New"/>
              <a:ea typeface="Courier New"/>
              <a:cs typeface="Courier New"/>
              <a:sym typeface="Courier New"/>
            </a:endParaRPr>
          </a:p>
          <a:p>
            <a:pPr indent="0" lvl="0" marL="457200" rtl="0" algn="l">
              <a:lnSpc>
                <a:spcPct val="80000"/>
              </a:lnSpc>
              <a:spcBef>
                <a:spcPts val="0"/>
              </a:spcBef>
              <a:spcAft>
                <a:spcPts val="0"/>
              </a:spcAft>
              <a:buNone/>
            </a:pPr>
            <a:r>
              <a:t/>
            </a:r>
            <a:endParaRPr sz="1482">
              <a:solidFill>
                <a:schemeClr val="dk1"/>
              </a:solidFill>
              <a:latin typeface="Archivo Medium"/>
              <a:ea typeface="Archivo Medium"/>
              <a:cs typeface="Archivo Medium"/>
              <a:sym typeface="Archivo Medium"/>
            </a:endParaRPr>
          </a:p>
          <a:p>
            <a:pPr indent="-322738" lvl="0" marL="457200" rtl="0" algn="l">
              <a:lnSpc>
                <a:spcPct val="80000"/>
              </a:lnSpc>
              <a:spcBef>
                <a:spcPts val="0"/>
              </a:spcBef>
              <a:spcAft>
                <a:spcPts val="0"/>
              </a:spcAft>
              <a:buClr>
                <a:schemeClr val="dk1"/>
              </a:buClr>
              <a:buSzPts val="1483"/>
              <a:buFont typeface="Archivo Medium"/>
              <a:buChar char="●"/>
            </a:pPr>
            <a:r>
              <a:rPr lang="en-US" sz="1482">
                <a:solidFill>
                  <a:schemeClr val="dk1"/>
                </a:solidFill>
                <a:latin typeface="Archivo Medium"/>
                <a:ea typeface="Archivo Medium"/>
                <a:cs typeface="Archivo Medium"/>
                <a:sym typeface="Archivo Medium"/>
              </a:rPr>
              <a:t>Centralized configuration file for pushing specific settings to all connected agents, such as file integrity monitoring or log collection.</a:t>
            </a:r>
            <a:endParaRPr sz="14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4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482">
                <a:solidFill>
                  <a:schemeClr val="dk1"/>
                </a:solidFill>
                <a:latin typeface="Courier New"/>
                <a:ea typeface="Courier New"/>
                <a:cs typeface="Courier New"/>
                <a:sym typeface="Courier New"/>
              </a:rPr>
              <a:t>/var/ossec/etc/client.keys</a:t>
            </a:r>
            <a:endParaRPr sz="1482">
              <a:solidFill>
                <a:schemeClr val="dk1"/>
              </a:solidFill>
              <a:latin typeface="Courier New"/>
              <a:ea typeface="Courier New"/>
              <a:cs typeface="Courier New"/>
              <a:sym typeface="Courier New"/>
            </a:endParaRPr>
          </a:p>
          <a:p>
            <a:pPr indent="0" lvl="0" marL="457200" rtl="0" algn="l">
              <a:lnSpc>
                <a:spcPct val="80000"/>
              </a:lnSpc>
              <a:spcBef>
                <a:spcPts val="0"/>
              </a:spcBef>
              <a:spcAft>
                <a:spcPts val="0"/>
              </a:spcAft>
              <a:buNone/>
            </a:pPr>
            <a:r>
              <a:t/>
            </a:r>
            <a:endParaRPr sz="1482">
              <a:solidFill>
                <a:schemeClr val="dk1"/>
              </a:solidFill>
              <a:latin typeface="Archivo Medium"/>
              <a:ea typeface="Archivo Medium"/>
              <a:cs typeface="Archivo Medium"/>
              <a:sym typeface="Archivo Medium"/>
            </a:endParaRPr>
          </a:p>
          <a:p>
            <a:pPr indent="-322738" lvl="0" marL="457200" rtl="0" algn="l">
              <a:lnSpc>
                <a:spcPct val="80000"/>
              </a:lnSpc>
              <a:spcBef>
                <a:spcPts val="0"/>
              </a:spcBef>
              <a:spcAft>
                <a:spcPts val="0"/>
              </a:spcAft>
              <a:buClr>
                <a:schemeClr val="dk1"/>
              </a:buClr>
              <a:buSzPts val="1483"/>
              <a:buFont typeface="Archivo Medium"/>
              <a:buChar char="●"/>
            </a:pPr>
            <a:r>
              <a:rPr lang="en-US" sz="1482">
                <a:solidFill>
                  <a:schemeClr val="dk1"/>
                </a:solidFill>
                <a:latin typeface="Archivo Medium"/>
                <a:ea typeface="Archivo Medium"/>
                <a:cs typeface="Archivo Medium"/>
                <a:sym typeface="Archivo Medium"/>
              </a:rPr>
              <a:t>Stores authentication keys for each registered agent.</a:t>
            </a:r>
            <a:endParaRPr sz="1482">
              <a:solidFill>
                <a:schemeClr val="dk1"/>
              </a:solidFill>
              <a:latin typeface="Archivo Medium"/>
              <a:ea typeface="Archivo Medium"/>
              <a:cs typeface="Archivo Medium"/>
              <a:sym typeface="Archivo Medium"/>
            </a:endParaRPr>
          </a:p>
          <a:p>
            <a:pPr indent="-322738" lvl="0" marL="457200" rtl="0" algn="l">
              <a:lnSpc>
                <a:spcPct val="80000"/>
              </a:lnSpc>
              <a:spcBef>
                <a:spcPts val="0"/>
              </a:spcBef>
              <a:spcAft>
                <a:spcPts val="0"/>
              </a:spcAft>
              <a:buClr>
                <a:schemeClr val="dk1"/>
              </a:buClr>
              <a:buSzPts val="1483"/>
              <a:buFont typeface="Archivo Medium"/>
              <a:buChar char="●"/>
            </a:pPr>
            <a:r>
              <a:rPr lang="en-US" sz="1482">
                <a:solidFill>
                  <a:schemeClr val="dk1"/>
                </a:solidFill>
                <a:latin typeface="Archivo Medium"/>
                <a:ea typeface="Archivo Medium"/>
                <a:cs typeface="Archivo Medium"/>
                <a:sym typeface="Archivo Medium"/>
              </a:rPr>
              <a:t>Each entry corresponds to a specific agent, and this file is critical for agent-manager communication.</a:t>
            </a:r>
            <a:endParaRPr sz="14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4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482">
                <a:solidFill>
                  <a:schemeClr val="dk1"/>
                </a:solidFill>
                <a:latin typeface="Courier New"/>
                <a:ea typeface="Courier New"/>
                <a:cs typeface="Courier New"/>
                <a:sym typeface="Courier New"/>
              </a:rPr>
              <a:t>/var/ossec/etc/rules/ &amp; /var/ossec/etc/decoder/</a:t>
            </a:r>
            <a:endParaRPr sz="1482">
              <a:solidFill>
                <a:schemeClr val="dk1"/>
              </a:solidFill>
              <a:latin typeface="Courier New"/>
              <a:ea typeface="Courier New"/>
              <a:cs typeface="Courier New"/>
              <a:sym typeface="Courier New"/>
            </a:endParaRPr>
          </a:p>
          <a:p>
            <a:pPr indent="0" lvl="0" marL="457200" rtl="0" algn="l">
              <a:lnSpc>
                <a:spcPct val="80000"/>
              </a:lnSpc>
              <a:spcBef>
                <a:spcPts val="0"/>
              </a:spcBef>
              <a:spcAft>
                <a:spcPts val="0"/>
              </a:spcAft>
              <a:buNone/>
            </a:pPr>
            <a:r>
              <a:t/>
            </a:r>
            <a:endParaRPr sz="1482">
              <a:solidFill>
                <a:schemeClr val="dk1"/>
              </a:solidFill>
              <a:latin typeface="Archivo Medium"/>
              <a:ea typeface="Archivo Medium"/>
              <a:cs typeface="Archivo Medium"/>
              <a:sym typeface="Archivo Medium"/>
            </a:endParaRPr>
          </a:p>
          <a:p>
            <a:pPr indent="-322738" lvl="0" marL="457200" rtl="0" algn="l">
              <a:lnSpc>
                <a:spcPct val="80000"/>
              </a:lnSpc>
              <a:spcBef>
                <a:spcPts val="0"/>
              </a:spcBef>
              <a:spcAft>
                <a:spcPts val="0"/>
              </a:spcAft>
              <a:buClr>
                <a:schemeClr val="dk1"/>
              </a:buClr>
              <a:buSzPts val="1483"/>
              <a:buFont typeface="Archivo Medium"/>
              <a:buChar char="●"/>
            </a:pPr>
            <a:r>
              <a:rPr lang="en-US" sz="1482">
                <a:solidFill>
                  <a:schemeClr val="dk1"/>
                </a:solidFill>
                <a:latin typeface="Archivo Medium"/>
                <a:ea typeface="Archivo Medium"/>
                <a:cs typeface="Archivo Medium"/>
                <a:sym typeface="Archivo Medium"/>
              </a:rPr>
              <a:t>Contains predefined and custom rules used to analyze data received from agents.</a:t>
            </a:r>
            <a:endParaRPr sz="1482">
              <a:solidFill>
                <a:schemeClr val="dk1"/>
              </a:solidFill>
              <a:latin typeface="Archivo Medium"/>
              <a:ea typeface="Archivo Medium"/>
              <a:cs typeface="Archivo Medium"/>
              <a:sym typeface="Archivo Medium"/>
            </a:endParaRPr>
          </a:p>
          <a:p>
            <a:pPr indent="-322738" lvl="0" marL="457200" rtl="0" algn="l">
              <a:lnSpc>
                <a:spcPct val="80000"/>
              </a:lnSpc>
              <a:spcBef>
                <a:spcPts val="0"/>
              </a:spcBef>
              <a:spcAft>
                <a:spcPts val="0"/>
              </a:spcAft>
              <a:buClr>
                <a:schemeClr val="dk1"/>
              </a:buClr>
              <a:buSzPts val="1483"/>
              <a:buFont typeface="Archivo Medium"/>
              <a:buChar char="●"/>
            </a:pPr>
            <a:r>
              <a:rPr lang="en-US" sz="1482">
                <a:solidFill>
                  <a:schemeClr val="dk1"/>
                </a:solidFill>
                <a:latin typeface="Archivo Medium"/>
                <a:ea typeface="Archivo Medium"/>
                <a:cs typeface="Archivo Medium"/>
                <a:sym typeface="Archivo Medium"/>
              </a:rPr>
              <a:t>You can add or modify rules for intrusion detection, compliance, etc.</a:t>
            </a:r>
            <a:endParaRPr sz="14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4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482">
                <a:solidFill>
                  <a:schemeClr val="dk1"/>
                </a:solidFill>
                <a:latin typeface="Courier New"/>
                <a:ea typeface="Courier New"/>
                <a:cs typeface="Courier New"/>
                <a:sym typeface="Courier New"/>
              </a:rPr>
              <a:t>/var/ossec/etc/internal_options.conf</a:t>
            </a:r>
            <a:endParaRPr sz="1482">
              <a:solidFill>
                <a:schemeClr val="dk1"/>
              </a:solidFill>
              <a:latin typeface="Courier New"/>
              <a:ea typeface="Courier New"/>
              <a:cs typeface="Courier New"/>
              <a:sym typeface="Courier New"/>
            </a:endParaRPr>
          </a:p>
          <a:p>
            <a:pPr indent="0" lvl="0" marL="457200" rtl="0" algn="l">
              <a:lnSpc>
                <a:spcPct val="80000"/>
              </a:lnSpc>
              <a:spcBef>
                <a:spcPts val="0"/>
              </a:spcBef>
              <a:spcAft>
                <a:spcPts val="0"/>
              </a:spcAft>
              <a:buNone/>
            </a:pPr>
            <a:r>
              <a:t/>
            </a:r>
            <a:endParaRPr sz="1482">
              <a:solidFill>
                <a:schemeClr val="dk1"/>
              </a:solidFill>
              <a:latin typeface="Archivo Medium"/>
              <a:ea typeface="Archivo Medium"/>
              <a:cs typeface="Archivo Medium"/>
              <a:sym typeface="Archivo Medium"/>
            </a:endParaRPr>
          </a:p>
          <a:p>
            <a:pPr indent="-322738" lvl="0" marL="457200" rtl="0" algn="l">
              <a:lnSpc>
                <a:spcPct val="80000"/>
              </a:lnSpc>
              <a:spcBef>
                <a:spcPts val="0"/>
              </a:spcBef>
              <a:spcAft>
                <a:spcPts val="0"/>
              </a:spcAft>
              <a:buClr>
                <a:schemeClr val="dk1"/>
              </a:buClr>
              <a:buSzPts val="1483"/>
              <a:buFont typeface="Archivo Medium"/>
              <a:buChar char="●"/>
            </a:pPr>
            <a:r>
              <a:rPr lang="en-US" sz="1482">
                <a:solidFill>
                  <a:schemeClr val="dk1"/>
                </a:solidFill>
                <a:latin typeface="Archivo Medium"/>
                <a:ea typeface="Archivo Medium"/>
                <a:cs typeface="Archivo Medium"/>
                <a:sym typeface="Archivo Medium"/>
              </a:rPr>
              <a:t>Internal configuration file for advanced settings like communication frequency, buffer sizes, and performance tuning.</a:t>
            </a:r>
            <a:endParaRPr sz="14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4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772" name="Shape 1772"/>
        <p:cNvGrpSpPr/>
        <p:nvPr/>
      </p:nvGrpSpPr>
      <p:grpSpPr>
        <a:xfrm>
          <a:off x="0" y="0"/>
          <a:ext cx="0" cy="0"/>
          <a:chOff x="0" y="0"/>
          <a:chExt cx="0" cy="0"/>
        </a:xfrm>
      </p:grpSpPr>
      <p:pic>
        <p:nvPicPr>
          <p:cNvPr descr="A picture containing food, drawing, shirt&#10;&#10;Description automatically generated" id="1773" name="Google Shape;1773;p13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1774" name="Google Shape;1774;p1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75" name="Google Shape;1775;p1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776" name="Google Shape;1776;p134"/>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777" name="Google Shape;1777;p13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778" name="Google Shape;1778;p134"/>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779" name="Google Shape;1779;p134"/>
          <p:cNvSpPr txBox="1"/>
          <p:nvPr/>
        </p:nvSpPr>
        <p:spPr>
          <a:xfrm>
            <a:off x="1357489" y="3803851"/>
            <a:ext cx="9477000" cy="1262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800">
                <a:solidFill>
                  <a:schemeClr val="lt1"/>
                </a:solidFill>
                <a:highlight>
                  <a:srgbClr val="3585F9"/>
                </a:highlight>
                <a:latin typeface="Poppins"/>
                <a:ea typeface="Poppins"/>
                <a:cs typeface="Poppins"/>
                <a:sym typeface="Poppins"/>
              </a:rPr>
              <a:t>Labs Centralized Agent configuration Using Agent And Profiles</a:t>
            </a:r>
            <a:endParaRPr sz="3800">
              <a:solidFill>
                <a:schemeClr val="lt1"/>
              </a:solidFill>
              <a:highlight>
                <a:srgbClr val="3585F9"/>
              </a:highlight>
              <a:latin typeface="Poppins"/>
              <a:ea typeface="Poppins"/>
              <a:cs typeface="Poppins"/>
              <a:sym typeface="Poppins"/>
            </a:endParaRPr>
          </a:p>
        </p:txBody>
      </p:sp>
      <p:pic>
        <p:nvPicPr>
          <p:cNvPr id="1780" name="Google Shape;1780;p134"/>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4" name="Shape 1784"/>
        <p:cNvGrpSpPr/>
        <p:nvPr/>
      </p:nvGrpSpPr>
      <p:grpSpPr>
        <a:xfrm>
          <a:off x="0" y="0"/>
          <a:ext cx="0" cy="0"/>
          <a:chOff x="0" y="0"/>
          <a:chExt cx="0" cy="0"/>
        </a:xfrm>
      </p:grpSpPr>
      <p:sp>
        <p:nvSpPr>
          <p:cNvPr id="1785" name="Google Shape;1785;p135"/>
          <p:cNvSpPr txBox="1"/>
          <p:nvPr/>
        </p:nvSpPr>
        <p:spPr>
          <a:xfrm>
            <a:off x="603105" y="486375"/>
            <a:ext cx="116580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Lab Configuration Central </a:t>
            </a:r>
            <a:endParaRPr b="1" i="0" sz="3300" u="none" cap="none" strike="noStrike">
              <a:solidFill>
                <a:srgbClr val="6D9EEB"/>
              </a:solidFill>
              <a:latin typeface="Poppins"/>
              <a:ea typeface="Poppins"/>
              <a:cs typeface="Poppins"/>
              <a:sym typeface="Poppins"/>
            </a:endParaRPr>
          </a:p>
        </p:txBody>
      </p:sp>
      <p:cxnSp>
        <p:nvCxnSpPr>
          <p:cNvPr id="1786" name="Google Shape;1786;p13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787" name="Google Shape;1787;p13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788" name="Google Shape;1788;p13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789" name="Google Shape;1789;p13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790" name="Google Shape;1790;p13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791" name="Google Shape;1791;p1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792" name="Google Shape;1792;p13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793" name="Google Shape;1793;p135"/>
          <p:cNvSpPr txBox="1"/>
          <p:nvPr/>
        </p:nvSpPr>
        <p:spPr>
          <a:xfrm>
            <a:off x="1000925" y="1901200"/>
            <a:ext cx="9972000" cy="4261500"/>
          </a:xfrm>
          <a:prstGeom prst="rect">
            <a:avLst/>
          </a:prstGeom>
          <a:noFill/>
          <a:ln>
            <a:noFill/>
          </a:ln>
        </p:spPr>
        <p:txBody>
          <a:bodyPr anchorCtr="0" anchor="t" bIns="45700" lIns="91425" spcFirstLastPara="1" rIns="91425" wrap="square" tIns="45700">
            <a:noAutofit/>
          </a:bodyPr>
          <a:lstStyle/>
          <a:p>
            <a:pPr indent="-360838" lvl="0" marL="457200" rtl="0" algn="l">
              <a:lnSpc>
                <a:spcPct val="80000"/>
              </a:lnSpc>
              <a:spcBef>
                <a:spcPts val="0"/>
              </a:spcBef>
              <a:spcAft>
                <a:spcPts val="0"/>
              </a:spcAft>
              <a:buClr>
                <a:schemeClr val="dk1"/>
              </a:buClr>
              <a:buSzPts val="2083"/>
              <a:buFont typeface="Archivo Medium"/>
              <a:buAutoNum type="arabicPeriod"/>
            </a:pPr>
            <a:r>
              <a:rPr lang="en-US" sz="2082">
                <a:solidFill>
                  <a:schemeClr val="dk1"/>
                </a:solidFill>
                <a:latin typeface="Archivo Medium"/>
                <a:ea typeface="Archivo Medium"/>
                <a:cs typeface="Archivo Medium"/>
                <a:sym typeface="Archivo Medium"/>
              </a:rPr>
              <a:t>List Agent In Wazuh Server</a:t>
            </a:r>
            <a:endParaRPr sz="20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0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082">
                <a:solidFill>
                  <a:schemeClr val="dk1"/>
                </a:solidFill>
                <a:latin typeface="Courier New"/>
                <a:ea typeface="Courier New"/>
                <a:cs typeface="Courier New"/>
                <a:sym typeface="Courier New"/>
              </a:rPr>
              <a:t>sudo /var/ossec/bin/agent_control -l</a:t>
            </a:r>
            <a:endParaRPr sz="20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20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882">
                <a:solidFill>
                  <a:schemeClr val="dk1"/>
                </a:solidFill>
                <a:latin typeface="Courier New"/>
                <a:ea typeface="Courier New"/>
                <a:cs typeface="Courier New"/>
                <a:sym typeface="Courier New"/>
              </a:rPr>
              <a:t>Wazuh agent_control. List of available agents:</a:t>
            </a:r>
            <a:endParaRPr sz="18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882">
                <a:solidFill>
                  <a:schemeClr val="dk1"/>
                </a:solidFill>
                <a:latin typeface="Courier New"/>
                <a:ea typeface="Courier New"/>
                <a:cs typeface="Courier New"/>
                <a:sym typeface="Courier New"/>
              </a:rPr>
              <a:t>   ID: 000, Name: srv-siem (server), IP: 127.0.0.1, Active/Local</a:t>
            </a:r>
            <a:endParaRPr sz="18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882">
                <a:solidFill>
                  <a:schemeClr val="dk1"/>
                </a:solidFill>
                <a:latin typeface="Courier New"/>
                <a:ea typeface="Courier New"/>
                <a:cs typeface="Courier New"/>
                <a:sym typeface="Courier New"/>
              </a:rPr>
              <a:t>   ID: 001, Name: Client1-Ubuntu, IP: any, Active</a:t>
            </a:r>
            <a:endParaRPr sz="18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882">
                <a:solidFill>
                  <a:schemeClr val="dk1"/>
                </a:solidFill>
                <a:latin typeface="Courier New"/>
                <a:ea typeface="Courier New"/>
                <a:cs typeface="Courier New"/>
                <a:sym typeface="Courier New"/>
              </a:rPr>
              <a:t>   ID: 002, Name: Client2-Windows, IP: any, Active</a:t>
            </a:r>
            <a:endParaRPr sz="18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882">
              <a:solidFill>
                <a:schemeClr val="dk1"/>
              </a:solidFill>
              <a:latin typeface="Courier New"/>
              <a:ea typeface="Courier New"/>
              <a:cs typeface="Courier New"/>
              <a:sym typeface="Courier New"/>
            </a:endParaRPr>
          </a:p>
          <a:p>
            <a:pPr indent="-348138" lvl="0" marL="457200" rtl="0" algn="l">
              <a:lnSpc>
                <a:spcPct val="80000"/>
              </a:lnSpc>
              <a:spcBef>
                <a:spcPts val="0"/>
              </a:spcBef>
              <a:spcAft>
                <a:spcPts val="0"/>
              </a:spcAft>
              <a:buClr>
                <a:schemeClr val="dk1"/>
              </a:buClr>
              <a:buSzPts val="1883"/>
              <a:buFont typeface="Archivo"/>
              <a:buAutoNum type="arabicPeriod"/>
            </a:pPr>
            <a:r>
              <a:rPr lang="en-US" sz="1882">
                <a:solidFill>
                  <a:schemeClr val="dk1"/>
                </a:solidFill>
                <a:latin typeface="Archivo"/>
                <a:ea typeface="Archivo"/>
                <a:cs typeface="Archivo"/>
                <a:sym typeface="Archivo"/>
              </a:rPr>
              <a:t>Edit /var/ossec/etc/shared/&lt;name-group&gt;</a:t>
            </a:r>
            <a:endParaRPr sz="1882">
              <a:solidFill>
                <a:schemeClr val="dk1"/>
              </a:solidFill>
              <a:latin typeface="Archivo"/>
              <a:ea typeface="Archivo"/>
              <a:cs typeface="Archivo"/>
              <a:sym typeface="Archivo"/>
            </a:endParaRPr>
          </a:p>
          <a:p>
            <a:pPr indent="0" lvl="0" marL="0" rtl="0" algn="l">
              <a:lnSpc>
                <a:spcPct val="80000"/>
              </a:lnSpc>
              <a:spcBef>
                <a:spcPts val="0"/>
              </a:spcBef>
              <a:spcAft>
                <a:spcPts val="0"/>
              </a:spcAft>
              <a:buClr>
                <a:schemeClr val="dk1"/>
              </a:buClr>
              <a:buSzPts val="1100"/>
              <a:buFont typeface="Arial"/>
              <a:buNone/>
            </a:pPr>
            <a:r>
              <a:t/>
            </a:r>
            <a:endParaRPr sz="20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0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sp>
        <p:nvSpPr>
          <p:cNvPr id="1798" name="Google Shape;1798;p136"/>
          <p:cNvSpPr txBox="1"/>
          <p:nvPr/>
        </p:nvSpPr>
        <p:spPr>
          <a:xfrm>
            <a:off x="603105" y="486375"/>
            <a:ext cx="116580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Lab Configuration Central </a:t>
            </a:r>
            <a:endParaRPr b="1" i="0" sz="3300" u="none" cap="none" strike="noStrike">
              <a:solidFill>
                <a:srgbClr val="6D9EEB"/>
              </a:solidFill>
              <a:latin typeface="Poppins"/>
              <a:ea typeface="Poppins"/>
              <a:cs typeface="Poppins"/>
              <a:sym typeface="Poppins"/>
            </a:endParaRPr>
          </a:p>
        </p:txBody>
      </p:sp>
      <p:cxnSp>
        <p:nvCxnSpPr>
          <p:cNvPr id="1799" name="Google Shape;1799;p13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800" name="Google Shape;1800;p13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801" name="Google Shape;1801;p13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802" name="Google Shape;1802;p13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803" name="Google Shape;1803;p1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804" name="Google Shape;1804;p1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805" name="Google Shape;1805;p13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806" name="Google Shape;1806;p136"/>
          <p:cNvSpPr txBox="1"/>
          <p:nvPr/>
        </p:nvSpPr>
        <p:spPr>
          <a:xfrm>
            <a:off x="1000925" y="1901200"/>
            <a:ext cx="9972000" cy="42615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882">
                <a:solidFill>
                  <a:schemeClr val="dk1"/>
                </a:solidFill>
                <a:latin typeface="Archivo"/>
                <a:ea typeface="Archivo"/>
                <a:cs typeface="Archivo"/>
                <a:sym typeface="Archivo"/>
              </a:rPr>
              <a:t>2.    </a:t>
            </a:r>
            <a:r>
              <a:rPr lang="en-US" sz="1882">
                <a:solidFill>
                  <a:schemeClr val="dk1"/>
                </a:solidFill>
                <a:latin typeface="Archivo"/>
                <a:ea typeface="Archivo"/>
                <a:cs typeface="Archivo"/>
                <a:sym typeface="Archivo"/>
              </a:rPr>
              <a:t>Edit /var/ossec/etc/shared/&lt;name-group&gt;/agent.conf</a:t>
            </a:r>
            <a:endParaRPr sz="1882">
              <a:solidFill>
                <a:schemeClr val="dk1"/>
              </a:solidFill>
              <a:latin typeface="Archivo"/>
              <a:ea typeface="Archivo"/>
              <a:cs typeface="Archivo"/>
              <a:sym typeface="Archivo"/>
            </a:endParaRPr>
          </a:p>
          <a:p>
            <a:pPr indent="0" lvl="0" marL="0" rtl="0" algn="l">
              <a:lnSpc>
                <a:spcPct val="80000"/>
              </a:lnSpc>
              <a:spcBef>
                <a:spcPts val="0"/>
              </a:spcBef>
              <a:spcAft>
                <a:spcPts val="0"/>
              </a:spcAft>
              <a:buNone/>
            </a:pPr>
            <a:r>
              <a:t/>
            </a:r>
            <a:endParaRPr sz="20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082">
              <a:solidFill>
                <a:schemeClr val="dk1"/>
              </a:solidFill>
              <a:latin typeface="Archivo Medium"/>
              <a:ea typeface="Archivo Medium"/>
              <a:cs typeface="Archivo Medium"/>
              <a:sym typeface="Archivo Medium"/>
            </a:endParaRPr>
          </a:p>
        </p:txBody>
      </p:sp>
      <p:sp>
        <p:nvSpPr>
          <p:cNvPr id="1807" name="Google Shape;1807;p136"/>
          <p:cNvSpPr txBox="1"/>
          <p:nvPr/>
        </p:nvSpPr>
        <p:spPr>
          <a:xfrm>
            <a:off x="1876250" y="2301400"/>
            <a:ext cx="69411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ourier New"/>
                <a:ea typeface="Courier New"/>
                <a:cs typeface="Courier New"/>
                <a:sym typeface="Courier New"/>
              </a:rPr>
              <a:t>&lt;agent_config&gt;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&lt;group name="</a:t>
            </a:r>
            <a:r>
              <a:rPr b="1" lang="en-US">
                <a:latin typeface="Courier New"/>
                <a:ea typeface="Courier New"/>
                <a:cs typeface="Courier New"/>
                <a:sym typeface="Courier New"/>
              </a:rPr>
              <a:t>HQ-SRV</a:t>
            </a:r>
            <a:r>
              <a:rPr lang="en-US">
                <a:latin typeface="Courier New"/>
                <a:ea typeface="Courier New"/>
                <a:cs typeface="Courier New"/>
                <a:sym typeface="Courier New"/>
              </a:rPr>
              <a:t>"&gt;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&lt;syscheck&gt;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&lt;frequency&gt;3600&lt;/frequency&gt;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&lt;directories check_all="yes"&gt;/</a:t>
            </a:r>
            <a:r>
              <a:rPr b="1" lang="en-US">
                <a:latin typeface="Courier New"/>
                <a:ea typeface="Courier New"/>
                <a:cs typeface="Courier New"/>
                <a:sym typeface="Courier New"/>
              </a:rPr>
              <a:t>PATH/TO/FIM</a:t>
            </a:r>
            <a:r>
              <a:rPr lang="en-US">
                <a:latin typeface="Courier New"/>
                <a:ea typeface="Courier New"/>
                <a:cs typeface="Courier New"/>
                <a:sym typeface="Courier New"/>
              </a:rPr>
              <a:t>&lt;/directories&gt;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&lt;/syscheck&gt;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&lt;/group&gt;</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&lt;group name="</a:t>
            </a:r>
            <a:r>
              <a:rPr b="1" lang="en-US">
                <a:latin typeface="Courier New"/>
                <a:ea typeface="Courier New"/>
                <a:cs typeface="Courier New"/>
                <a:sym typeface="Courier New"/>
              </a:rPr>
              <a:t>Linux Agent</a:t>
            </a:r>
            <a:r>
              <a:rPr lang="en-US">
                <a:latin typeface="Courier New"/>
                <a:ea typeface="Courier New"/>
                <a:cs typeface="Courier New"/>
                <a:sym typeface="Courier New"/>
              </a:rPr>
              <a:t>"&gt;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&lt;syscheck&gt;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&lt;frequency&gt;3600&lt;/frequency&gt;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&lt;directories check_all="yes"&gt;</a:t>
            </a:r>
            <a:r>
              <a:rPr b="1" lang="en-US">
                <a:latin typeface="Courier New"/>
                <a:ea typeface="Courier New"/>
                <a:cs typeface="Courier New"/>
                <a:sym typeface="Courier New"/>
              </a:rPr>
              <a:t>/</a:t>
            </a:r>
            <a:r>
              <a:rPr b="1" lang="en-US">
                <a:solidFill>
                  <a:schemeClr val="dk1"/>
                </a:solidFill>
                <a:latin typeface="Courier New"/>
                <a:ea typeface="Courier New"/>
                <a:cs typeface="Courier New"/>
                <a:sym typeface="Courier New"/>
              </a:rPr>
              <a:t>PATH/TO/FIM</a:t>
            </a:r>
            <a:r>
              <a:rPr lang="en-US">
                <a:latin typeface="Courier New"/>
                <a:ea typeface="Courier New"/>
                <a:cs typeface="Courier New"/>
                <a:sym typeface="Courier New"/>
              </a:rPr>
              <a:t>&lt;/directories&gt;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&lt;/syscheck&gt;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&lt;/group&gt;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&lt;/agent_config&gt;</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p:txBody>
      </p:sp>
    </p:spTree>
  </p:cSld>
  <p:clrMapOvr>
    <a:masterClrMapping/>
  </p:clrMapOvr>
  <p:transition spd="slow">
    <p:fade thruBlk="1"/>
  </p:transition>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1" name="Shape 1811"/>
        <p:cNvGrpSpPr/>
        <p:nvPr/>
      </p:nvGrpSpPr>
      <p:grpSpPr>
        <a:xfrm>
          <a:off x="0" y="0"/>
          <a:ext cx="0" cy="0"/>
          <a:chOff x="0" y="0"/>
          <a:chExt cx="0" cy="0"/>
        </a:xfrm>
      </p:grpSpPr>
      <p:sp>
        <p:nvSpPr>
          <p:cNvPr id="1812" name="Google Shape;1812;p137"/>
          <p:cNvSpPr txBox="1"/>
          <p:nvPr/>
        </p:nvSpPr>
        <p:spPr>
          <a:xfrm>
            <a:off x="603105" y="486375"/>
            <a:ext cx="116580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Lab Configuration Central  Validate </a:t>
            </a:r>
            <a:endParaRPr b="1" i="0" sz="3300" u="none" cap="none" strike="noStrike">
              <a:solidFill>
                <a:srgbClr val="6D9EEB"/>
              </a:solidFill>
              <a:latin typeface="Poppins"/>
              <a:ea typeface="Poppins"/>
              <a:cs typeface="Poppins"/>
              <a:sym typeface="Poppins"/>
            </a:endParaRPr>
          </a:p>
        </p:txBody>
      </p:sp>
      <p:cxnSp>
        <p:nvCxnSpPr>
          <p:cNvPr id="1813" name="Google Shape;1813;p13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814" name="Google Shape;1814;p13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815" name="Google Shape;1815;p13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816" name="Google Shape;1816;p13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817" name="Google Shape;1817;p13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818" name="Google Shape;1818;p1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819" name="Google Shape;1819;p13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820" name="Google Shape;1820;p137"/>
          <p:cNvSpPr txBox="1"/>
          <p:nvPr/>
        </p:nvSpPr>
        <p:spPr>
          <a:xfrm>
            <a:off x="1000925" y="1901200"/>
            <a:ext cx="9972000" cy="42615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882">
                <a:solidFill>
                  <a:schemeClr val="dk1"/>
                </a:solidFill>
                <a:latin typeface="Archivo"/>
                <a:ea typeface="Archivo"/>
                <a:cs typeface="Archivo"/>
                <a:sym typeface="Archivo"/>
              </a:rPr>
              <a:t>3 .   On each agent, you can confirm that the correct configuration has been applied by checking the agent's </a:t>
            </a:r>
            <a:r>
              <a:rPr lang="en-US" sz="1882">
                <a:solidFill>
                  <a:schemeClr val="dk1"/>
                </a:solidFill>
                <a:latin typeface="Courier New"/>
                <a:ea typeface="Courier New"/>
                <a:cs typeface="Courier New"/>
                <a:sym typeface="Courier New"/>
              </a:rPr>
              <a:t>ossec.log</a:t>
            </a:r>
            <a:endParaRPr sz="20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0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4" name="Shape 1824"/>
        <p:cNvGrpSpPr/>
        <p:nvPr/>
      </p:nvGrpSpPr>
      <p:grpSpPr>
        <a:xfrm>
          <a:off x="0" y="0"/>
          <a:ext cx="0" cy="0"/>
          <a:chOff x="0" y="0"/>
          <a:chExt cx="0" cy="0"/>
        </a:xfrm>
      </p:grpSpPr>
      <p:sp>
        <p:nvSpPr>
          <p:cNvPr id="1825" name="Google Shape;1825;p138"/>
          <p:cNvSpPr txBox="1"/>
          <p:nvPr/>
        </p:nvSpPr>
        <p:spPr>
          <a:xfrm>
            <a:off x="603105" y="486375"/>
            <a:ext cx="116580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Best Practice</a:t>
            </a:r>
            <a:endParaRPr b="1" i="0" sz="3300" u="none" cap="none" strike="noStrike">
              <a:solidFill>
                <a:srgbClr val="6D9EEB"/>
              </a:solidFill>
              <a:latin typeface="Poppins"/>
              <a:ea typeface="Poppins"/>
              <a:cs typeface="Poppins"/>
              <a:sym typeface="Poppins"/>
            </a:endParaRPr>
          </a:p>
        </p:txBody>
      </p:sp>
      <p:cxnSp>
        <p:nvCxnSpPr>
          <p:cNvPr id="1826" name="Google Shape;1826;p13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827" name="Google Shape;1827;p13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828" name="Google Shape;1828;p13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829" name="Google Shape;1829;p13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830" name="Google Shape;1830;p13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831" name="Google Shape;1831;p1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832" name="Google Shape;1832;p13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833" name="Google Shape;1833;p138"/>
          <p:cNvSpPr txBox="1"/>
          <p:nvPr/>
        </p:nvSpPr>
        <p:spPr>
          <a:xfrm>
            <a:off x="1000925" y="1901200"/>
            <a:ext cx="9972000" cy="4261500"/>
          </a:xfrm>
          <a:prstGeom prst="rect">
            <a:avLst/>
          </a:prstGeom>
          <a:noFill/>
          <a:ln>
            <a:noFill/>
          </a:ln>
        </p:spPr>
        <p:txBody>
          <a:bodyPr anchorCtr="0" anchor="t" bIns="45700" lIns="91425" spcFirstLastPara="1" rIns="91425" wrap="square" tIns="45700">
            <a:noAutofit/>
          </a:bodyPr>
          <a:lstStyle/>
          <a:p>
            <a:pPr indent="-348138" lvl="0" marL="457200" rtl="0" algn="l">
              <a:lnSpc>
                <a:spcPct val="80000"/>
              </a:lnSpc>
              <a:spcBef>
                <a:spcPts val="0"/>
              </a:spcBef>
              <a:spcAft>
                <a:spcPts val="0"/>
              </a:spcAft>
              <a:buClr>
                <a:schemeClr val="dk1"/>
              </a:buClr>
              <a:buSzPts val="1883"/>
              <a:buFont typeface="Archivo"/>
              <a:buChar char="●"/>
            </a:pPr>
            <a:r>
              <a:rPr lang="en-US" sz="1882">
                <a:solidFill>
                  <a:schemeClr val="dk1"/>
                </a:solidFill>
                <a:latin typeface="Archivo"/>
                <a:ea typeface="Archivo"/>
                <a:cs typeface="Archivo"/>
                <a:sym typeface="Archivo"/>
              </a:rPr>
              <a:t>Group Agents Based on Purpose: Organize agents based on roles like "web servers," "database servers," or "application servers" to maintain consistency and manage configurations easily.</a:t>
            </a:r>
            <a:endParaRPr sz="1882">
              <a:solidFill>
                <a:schemeClr val="dk1"/>
              </a:solidFill>
              <a:latin typeface="Archivo"/>
              <a:ea typeface="Archivo"/>
              <a:cs typeface="Archivo"/>
              <a:sym typeface="Archivo"/>
            </a:endParaRPr>
          </a:p>
          <a:p>
            <a:pPr indent="0" lvl="0" marL="0" rtl="0" algn="l">
              <a:lnSpc>
                <a:spcPct val="80000"/>
              </a:lnSpc>
              <a:spcBef>
                <a:spcPts val="0"/>
              </a:spcBef>
              <a:spcAft>
                <a:spcPts val="0"/>
              </a:spcAft>
              <a:buNone/>
            </a:pPr>
            <a:r>
              <a:t/>
            </a:r>
            <a:endParaRPr sz="1882">
              <a:solidFill>
                <a:schemeClr val="dk1"/>
              </a:solidFill>
              <a:latin typeface="Archivo"/>
              <a:ea typeface="Archivo"/>
              <a:cs typeface="Archivo"/>
              <a:sym typeface="Archivo"/>
            </a:endParaRPr>
          </a:p>
          <a:p>
            <a:pPr indent="-348138" lvl="0" marL="457200" rtl="0" algn="l">
              <a:lnSpc>
                <a:spcPct val="80000"/>
              </a:lnSpc>
              <a:spcBef>
                <a:spcPts val="0"/>
              </a:spcBef>
              <a:spcAft>
                <a:spcPts val="0"/>
              </a:spcAft>
              <a:buClr>
                <a:schemeClr val="dk1"/>
              </a:buClr>
              <a:buSzPts val="1883"/>
              <a:buFont typeface="Archivo"/>
              <a:buChar char="●"/>
            </a:pPr>
            <a:r>
              <a:rPr lang="en-US" sz="1882">
                <a:solidFill>
                  <a:schemeClr val="dk1"/>
                </a:solidFill>
                <a:latin typeface="Archivo"/>
                <a:ea typeface="Archivo"/>
                <a:cs typeface="Archivo"/>
                <a:sym typeface="Archivo"/>
              </a:rPr>
              <a:t>Minimize Config Changes on Agents: Keep agent configurations centrally managed using agent.conf to minimize errors or misconfigurations on individual agents.</a:t>
            </a:r>
            <a:endParaRPr sz="1882">
              <a:solidFill>
                <a:schemeClr val="dk1"/>
              </a:solidFill>
              <a:latin typeface="Archivo"/>
              <a:ea typeface="Archivo"/>
              <a:cs typeface="Archivo"/>
              <a:sym typeface="Archivo"/>
            </a:endParaRPr>
          </a:p>
          <a:p>
            <a:pPr indent="0" lvl="0" marL="0" rtl="0" algn="l">
              <a:lnSpc>
                <a:spcPct val="80000"/>
              </a:lnSpc>
              <a:spcBef>
                <a:spcPts val="0"/>
              </a:spcBef>
              <a:spcAft>
                <a:spcPts val="0"/>
              </a:spcAft>
              <a:buNone/>
            </a:pPr>
            <a:r>
              <a:t/>
            </a:r>
            <a:endParaRPr sz="1882">
              <a:solidFill>
                <a:schemeClr val="dk1"/>
              </a:solidFill>
              <a:latin typeface="Archivo"/>
              <a:ea typeface="Archivo"/>
              <a:cs typeface="Archivo"/>
              <a:sym typeface="Archivo"/>
            </a:endParaRPr>
          </a:p>
          <a:p>
            <a:pPr indent="-348138" lvl="0" marL="457200" rtl="0" algn="l">
              <a:lnSpc>
                <a:spcPct val="80000"/>
              </a:lnSpc>
              <a:spcBef>
                <a:spcPts val="0"/>
              </a:spcBef>
              <a:spcAft>
                <a:spcPts val="0"/>
              </a:spcAft>
              <a:buClr>
                <a:schemeClr val="dk1"/>
              </a:buClr>
              <a:buSzPts val="1883"/>
              <a:buFont typeface="Archivo"/>
              <a:buChar char="●"/>
            </a:pPr>
            <a:r>
              <a:rPr lang="en-US" sz="1882">
                <a:solidFill>
                  <a:schemeClr val="dk1"/>
                </a:solidFill>
                <a:latin typeface="Archivo"/>
                <a:ea typeface="Archivo"/>
                <a:cs typeface="Archivo"/>
                <a:sym typeface="Archivo"/>
              </a:rPr>
              <a:t>Use Version Control: Track changes to your ossec.conf and agent.conf files using version control (e.g., Git) to ensure changes are tracked and recoverable.</a:t>
            </a:r>
            <a:endParaRPr sz="1882">
              <a:solidFill>
                <a:schemeClr val="dk1"/>
              </a:solidFill>
              <a:latin typeface="Archivo"/>
              <a:ea typeface="Archivo"/>
              <a:cs typeface="Archivo"/>
              <a:sym typeface="Archivo"/>
            </a:endParaRPr>
          </a:p>
          <a:p>
            <a:pPr indent="0" lvl="0" marL="457200" rtl="0" algn="l">
              <a:lnSpc>
                <a:spcPct val="80000"/>
              </a:lnSpc>
              <a:spcBef>
                <a:spcPts val="0"/>
              </a:spcBef>
              <a:spcAft>
                <a:spcPts val="0"/>
              </a:spcAft>
              <a:buNone/>
            </a:pPr>
            <a:r>
              <a:t/>
            </a:r>
            <a:endParaRPr sz="1882">
              <a:solidFill>
                <a:schemeClr val="dk1"/>
              </a:solidFill>
              <a:latin typeface="Archivo"/>
              <a:ea typeface="Archivo"/>
              <a:cs typeface="Archivo"/>
              <a:sym typeface="Archivo"/>
            </a:endParaRPr>
          </a:p>
          <a:p>
            <a:pPr indent="0" lvl="0" marL="457200" rtl="0" algn="l">
              <a:lnSpc>
                <a:spcPct val="80000"/>
              </a:lnSpc>
              <a:spcBef>
                <a:spcPts val="0"/>
              </a:spcBef>
              <a:spcAft>
                <a:spcPts val="0"/>
              </a:spcAft>
              <a:buNone/>
            </a:pPr>
            <a:r>
              <a:t/>
            </a:r>
            <a:endParaRPr sz="1882">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7" name="Shape 1837"/>
        <p:cNvGrpSpPr/>
        <p:nvPr/>
      </p:nvGrpSpPr>
      <p:grpSpPr>
        <a:xfrm>
          <a:off x="0" y="0"/>
          <a:ext cx="0" cy="0"/>
          <a:chOff x="0" y="0"/>
          <a:chExt cx="0" cy="0"/>
        </a:xfrm>
      </p:grpSpPr>
      <p:sp>
        <p:nvSpPr>
          <p:cNvPr id="1838" name="Google Shape;1838;p139"/>
          <p:cNvSpPr txBox="1"/>
          <p:nvPr/>
        </p:nvSpPr>
        <p:spPr>
          <a:xfrm>
            <a:off x="603105" y="486375"/>
            <a:ext cx="116580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Challenge</a:t>
            </a:r>
            <a:r>
              <a:rPr b="1" lang="en-US" sz="3300">
                <a:solidFill>
                  <a:srgbClr val="6D9EEB"/>
                </a:solidFill>
                <a:latin typeface="Poppins"/>
                <a:ea typeface="Poppins"/>
                <a:cs typeface="Poppins"/>
                <a:sym typeface="Poppins"/>
              </a:rPr>
              <a:t> </a:t>
            </a:r>
            <a:endParaRPr b="1" i="0" sz="3300" u="none" cap="none" strike="noStrike">
              <a:solidFill>
                <a:srgbClr val="6D9EEB"/>
              </a:solidFill>
              <a:latin typeface="Poppins"/>
              <a:ea typeface="Poppins"/>
              <a:cs typeface="Poppins"/>
              <a:sym typeface="Poppins"/>
            </a:endParaRPr>
          </a:p>
        </p:txBody>
      </p:sp>
      <p:cxnSp>
        <p:nvCxnSpPr>
          <p:cNvPr id="1839" name="Google Shape;1839;p13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840" name="Google Shape;1840;p13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841" name="Google Shape;1841;p13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842" name="Google Shape;1842;p13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843" name="Google Shape;1843;p13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844" name="Google Shape;1844;p13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845" name="Google Shape;1845;p13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846" name="Google Shape;1846;p139"/>
          <p:cNvSpPr txBox="1"/>
          <p:nvPr/>
        </p:nvSpPr>
        <p:spPr>
          <a:xfrm>
            <a:off x="1000925" y="1377450"/>
            <a:ext cx="9972000" cy="4261500"/>
          </a:xfrm>
          <a:prstGeom prst="rect">
            <a:avLst/>
          </a:prstGeom>
          <a:noFill/>
          <a:ln>
            <a:noFill/>
          </a:ln>
        </p:spPr>
        <p:txBody>
          <a:bodyPr anchorCtr="0" anchor="t" bIns="45700" lIns="91425" spcFirstLastPara="1" rIns="91425" wrap="square" tIns="45700">
            <a:noAutofit/>
          </a:bodyPr>
          <a:lstStyle/>
          <a:p>
            <a:pPr indent="-349250" lvl="0" marL="457200" rtl="0" algn="l">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Kebutuhan Spesifik Agen: Mengonfigurasi semua agen dari satu file dapat mempersulit pengaturan yang disesuaikan untuk masing-masing agen, karena semua agen yang terhubung akan mewarisi konfigurasi yang sama.</a:t>
            </a:r>
            <a:endParaRPr sz="1900">
              <a:solidFill>
                <a:schemeClr val="dk1"/>
              </a:solidFill>
              <a:latin typeface="Archivo Medium"/>
              <a:ea typeface="Archivo Medium"/>
              <a:cs typeface="Archivo Medium"/>
              <a:sym typeface="Archivo Medium"/>
            </a:endParaRPr>
          </a:p>
          <a:p>
            <a:pPr indent="0" lvl="0" marL="1371600" rtl="0" algn="l">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349250" lvl="0" marL="457200" rtl="0" algn="l">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Sinkronisasi Konfigurasi: Kesalahan konfigurasi atau keterlambatan dalam sinkronisasi dapat menyebabkan agen menjalankan kebijakan yang sudah usang sementara waktu, yang berdampak pada kepatuhan dan konsistensi pemantauan.</a:t>
            </a:r>
            <a:endParaRPr sz="1900">
              <a:solidFill>
                <a:schemeClr val="dk1"/>
              </a:solidFill>
              <a:latin typeface="Archivo Medium"/>
              <a:ea typeface="Archivo Medium"/>
              <a:cs typeface="Archivo Medium"/>
              <a:sym typeface="Archivo Medium"/>
            </a:endParaRPr>
          </a:p>
          <a:p>
            <a:pPr indent="0" lvl="0" marL="1371600" rtl="0" algn="l">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349250" lvl="0" marL="457200" rtl="0" algn="l">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Kompatibilitas Versi: Agen Wazuh versi lama mungkin tidak mendukung konfigurasi baru dalam agent.conf, yang dapat menyebabkan kesalahan atau pengaturan yang diabaikan.</a:t>
            </a:r>
            <a:endParaRPr sz="1900">
              <a:solidFill>
                <a:schemeClr val="dk1"/>
              </a:solidFill>
              <a:latin typeface="Archivo Medium"/>
              <a:ea typeface="Archivo Medium"/>
              <a:cs typeface="Archivo Medium"/>
              <a:sym typeface="Archivo Medium"/>
            </a:endParaRPr>
          </a:p>
          <a:p>
            <a:pPr indent="0" lvl="0" marL="1371600" rtl="0" algn="l">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349250" lvl="0" marL="457200" rtl="0" algn="l">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Skalabilitas: Mengelola jumlah agen yang terus bertambah membutuhkan pengorganisasian yang cermat, seperti mengelompokkan agen berdasarkan profil.</a:t>
            </a:r>
            <a:endParaRPr sz="1900">
              <a:solidFill>
                <a:schemeClr val="dk1"/>
              </a:solidFill>
              <a:latin typeface="Archivo Medium"/>
              <a:ea typeface="Archivo Medium"/>
              <a:cs typeface="Archivo Medium"/>
              <a:sym typeface="Archivo Medium"/>
            </a:endParaRPr>
          </a:p>
          <a:p>
            <a:pPr indent="0" lvl="0" marL="457200" rtl="0" algn="l">
              <a:lnSpc>
                <a:spcPct val="10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1850" name="Shape 1850"/>
        <p:cNvGrpSpPr/>
        <p:nvPr/>
      </p:nvGrpSpPr>
      <p:grpSpPr>
        <a:xfrm>
          <a:off x="0" y="0"/>
          <a:ext cx="0" cy="0"/>
          <a:chOff x="0" y="0"/>
          <a:chExt cx="0" cy="0"/>
        </a:xfrm>
      </p:grpSpPr>
      <p:pic>
        <p:nvPicPr>
          <p:cNvPr id="1851" name="Google Shape;1851;p140"/>
          <p:cNvPicPr preferRelativeResize="0"/>
          <p:nvPr/>
        </p:nvPicPr>
        <p:blipFill rotWithShape="1">
          <a:blip r:embed="rId3">
            <a:alphaModFix/>
          </a:blip>
          <a:srcRect b="0" l="0" r="0" t="0"/>
          <a:stretch/>
        </p:blipFill>
        <p:spPr>
          <a:xfrm>
            <a:off x="8735306" y="4992977"/>
            <a:ext cx="1855917" cy="1473975"/>
          </a:xfrm>
          <a:prstGeom prst="rect">
            <a:avLst/>
          </a:prstGeom>
          <a:noFill/>
          <a:ln>
            <a:noFill/>
          </a:ln>
        </p:spPr>
      </p:pic>
      <p:sp>
        <p:nvSpPr>
          <p:cNvPr id="1852" name="Google Shape;1852;p140"/>
          <p:cNvSpPr txBox="1"/>
          <p:nvPr/>
        </p:nvSpPr>
        <p:spPr>
          <a:xfrm>
            <a:off x="842064" y="2423701"/>
            <a:ext cx="94770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chemeClr val="lt1"/>
                </a:solidFill>
                <a:latin typeface="Poppins"/>
                <a:ea typeface="Poppins"/>
                <a:cs typeface="Poppins"/>
                <a:sym typeface="Poppins"/>
              </a:rPr>
              <a:t>Day </a:t>
            </a:r>
            <a:r>
              <a:rPr b="1" lang="en-US" sz="6000">
                <a:solidFill>
                  <a:schemeClr val="lt1"/>
                </a:solidFill>
                <a:latin typeface="Poppins"/>
                <a:ea typeface="Poppins"/>
                <a:cs typeface="Poppins"/>
                <a:sym typeface="Poppins"/>
              </a:rPr>
              <a:t>2</a:t>
            </a:r>
            <a:r>
              <a:rPr b="1" lang="en-US" sz="6000">
                <a:solidFill>
                  <a:schemeClr val="lt1"/>
                </a:solidFill>
                <a:latin typeface="Poppins"/>
                <a:ea typeface="Poppins"/>
                <a:cs typeface="Poppins"/>
                <a:sym typeface="Poppins"/>
              </a:rPr>
              <a:t> </a:t>
            </a:r>
            <a:endParaRPr b="1" sz="6000">
              <a:solidFill>
                <a:schemeClr val="lt1"/>
              </a:solidFill>
              <a:latin typeface="Poppins"/>
              <a:ea typeface="Poppins"/>
              <a:cs typeface="Poppins"/>
              <a:sym typeface="Poppins"/>
            </a:endParaRPr>
          </a:p>
          <a:p>
            <a:pPr indent="0" lvl="0" marL="0" marR="0" rtl="0" algn="l">
              <a:spcBef>
                <a:spcPts val="0"/>
              </a:spcBef>
              <a:spcAft>
                <a:spcPts val="0"/>
              </a:spcAft>
              <a:buNone/>
            </a:pPr>
            <a:r>
              <a:rPr b="1" lang="en-US" sz="6000">
                <a:solidFill>
                  <a:schemeClr val="lt1"/>
                </a:solidFill>
                <a:latin typeface="Poppins"/>
                <a:ea typeface="Poppins"/>
                <a:cs typeface="Poppins"/>
                <a:sym typeface="Poppins"/>
              </a:rPr>
              <a:t>Wazuh Training</a:t>
            </a:r>
            <a:endParaRPr b="1" sz="6000">
              <a:solidFill>
                <a:schemeClr val="lt1"/>
              </a:solidFill>
              <a:latin typeface="Poppins"/>
              <a:ea typeface="Poppins"/>
              <a:cs typeface="Poppins"/>
              <a:sym typeface="Poppins"/>
            </a:endParaRPr>
          </a:p>
        </p:txBody>
      </p:sp>
      <p:sp>
        <p:nvSpPr>
          <p:cNvPr id="1853" name="Google Shape;1853;p140"/>
          <p:cNvSpPr txBox="1"/>
          <p:nvPr/>
        </p:nvSpPr>
        <p:spPr>
          <a:xfrm>
            <a:off x="902361" y="2056611"/>
            <a:ext cx="24240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Poppins"/>
                <a:ea typeface="Poppins"/>
                <a:cs typeface="Poppins"/>
                <a:sym typeface="Poppins"/>
              </a:rPr>
              <a:t>Cyber Security</a:t>
            </a:r>
            <a:endParaRPr/>
          </a:p>
        </p:txBody>
      </p:sp>
      <p:sp>
        <p:nvSpPr>
          <p:cNvPr id="1854" name="Google Shape;1854;p140"/>
          <p:cNvSpPr txBox="1"/>
          <p:nvPr/>
        </p:nvSpPr>
        <p:spPr>
          <a:xfrm>
            <a:off x="1103436" y="4459188"/>
            <a:ext cx="2735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Poppins"/>
                <a:ea typeface="Poppins"/>
                <a:cs typeface="Poppins"/>
                <a:sym typeface="Poppins"/>
              </a:rPr>
              <a:t>Aditya Firman Nugroho</a:t>
            </a:r>
            <a:br>
              <a:rPr lang="en-US" sz="1200">
                <a:solidFill>
                  <a:schemeClr val="lt1"/>
                </a:solidFill>
                <a:latin typeface="Poppins"/>
                <a:ea typeface="Poppins"/>
                <a:cs typeface="Poppins"/>
                <a:sym typeface="Poppins"/>
              </a:rPr>
            </a:br>
            <a:r>
              <a:rPr b="1" lang="en-US" sz="1200">
                <a:solidFill>
                  <a:schemeClr val="lt1"/>
                </a:solidFill>
                <a:latin typeface="Poppins"/>
                <a:ea typeface="Poppins"/>
                <a:cs typeface="Poppins"/>
                <a:sym typeface="Poppins"/>
              </a:rPr>
              <a:t>Cyber Geek</a:t>
            </a:r>
            <a:r>
              <a:rPr lang="en-US" sz="1200">
                <a:solidFill>
                  <a:schemeClr val="lt1"/>
                </a:solidFill>
                <a:latin typeface="Poppins"/>
                <a:ea typeface="Poppins"/>
                <a:cs typeface="Poppins"/>
                <a:sym typeface="Poppins"/>
              </a:rPr>
              <a:t> </a:t>
            </a:r>
            <a:endParaRPr/>
          </a:p>
        </p:txBody>
      </p:sp>
      <p:sp>
        <p:nvSpPr>
          <p:cNvPr id="1855" name="Google Shape;1855;p140"/>
          <p:cNvSpPr txBox="1"/>
          <p:nvPr/>
        </p:nvSpPr>
        <p:spPr>
          <a:xfrm>
            <a:off x="2045414" y="5739660"/>
            <a:ext cx="8757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oppins"/>
                <a:ea typeface="Poppins"/>
                <a:cs typeface="Poppins"/>
                <a:sym typeface="Poppins"/>
              </a:rPr>
              <a:t>www.idn.id</a:t>
            </a:r>
            <a:endParaRPr/>
          </a:p>
        </p:txBody>
      </p:sp>
      <p:pic>
        <p:nvPicPr>
          <p:cNvPr id="1856" name="Google Shape;1856;p140"/>
          <p:cNvPicPr preferRelativeResize="0"/>
          <p:nvPr/>
        </p:nvPicPr>
        <p:blipFill rotWithShape="1">
          <a:blip r:embed="rId4">
            <a:alphaModFix/>
          </a:blip>
          <a:srcRect b="0" l="0" r="0" t="0"/>
          <a:stretch/>
        </p:blipFill>
        <p:spPr>
          <a:xfrm>
            <a:off x="1101757" y="5716543"/>
            <a:ext cx="943658" cy="276471"/>
          </a:xfrm>
          <a:prstGeom prst="rect">
            <a:avLst/>
          </a:prstGeom>
          <a:noFill/>
          <a:ln>
            <a:noFill/>
          </a:ln>
        </p:spPr>
      </p:pic>
      <p:sp>
        <p:nvSpPr>
          <p:cNvPr id="1857" name="Google Shape;1857;p140"/>
          <p:cNvSpPr txBox="1"/>
          <p:nvPr/>
        </p:nvSpPr>
        <p:spPr>
          <a:xfrm>
            <a:off x="1207326" y="5740708"/>
            <a:ext cx="7377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oppins"/>
                <a:ea typeface="Poppins"/>
                <a:cs typeface="Poppins"/>
                <a:sym typeface="Poppins"/>
              </a:rPr>
              <a:t>visit now</a:t>
            </a:r>
            <a:endParaRPr/>
          </a:p>
        </p:txBody>
      </p:sp>
      <p:pic>
        <p:nvPicPr>
          <p:cNvPr id="1858" name="Google Shape;1858;p140"/>
          <p:cNvPicPr preferRelativeResize="0"/>
          <p:nvPr/>
        </p:nvPicPr>
        <p:blipFill rotWithShape="1">
          <a:blip r:embed="rId5">
            <a:alphaModFix/>
          </a:blip>
          <a:srcRect b="0" l="0" r="0" t="0"/>
          <a:stretch/>
        </p:blipFill>
        <p:spPr>
          <a:xfrm>
            <a:off x="7420619" y="949737"/>
            <a:ext cx="157143" cy="157143"/>
          </a:xfrm>
          <a:prstGeom prst="rect">
            <a:avLst/>
          </a:prstGeom>
          <a:noFill/>
          <a:ln>
            <a:noFill/>
          </a:ln>
        </p:spPr>
      </p:pic>
      <p:pic>
        <p:nvPicPr>
          <p:cNvPr id="1859" name="Google Shape;1859;p140"/>
          <p:cNvPicPr preferRelativeResize="0"/>
          <p:nvPr/>
        </p:nvPicPr>
        <p:blipFill rotWithShape="1">
          <a:blip r:embed="rId5">
            <a:alphaModFix/>
          </a:blip>
          <a:srcRect b="0" l="0" r="0" t="0"/>
          <a:stretch/>
        </p:blipFill>
        <p:spPr>
          <a:xfrm>
            <a:off x="7664459" y="949736"/>
            <a:ext cx="157143" cy="157143"/>
          </a:xfrm>
          <a:prstGeom prst="rect">
            <a:avLst/>
          </a:prstGeom>
          <a:noFill/>
          <a:ln>
            <a:noFill/>
          </a:ln>
        </p:spPr>
      </p:pic>
      <p:pic>
        <p:nvPicPr>
          <p:cNvPr id="1860" name="Google Shape;1860;p140"/>
          <p:cNvPicPr preferRelativeResize="0"/>
          <p:nvPr/>
        </p:nvPicPr>
        <p:blipFill rotWithShape="1">
          <a:blip r:embed="rId5">
            <a:alphaModFix/>
          </a:blip>
          <a:srcRect b="0" l="0" r="0" t="0"/>
          <a:stretch/>
        </p:blipFill>
        <p:spPr>
          <a:xfrm>
            <a:off x="7908299" y="949735"/>
            <a:ext cx="157143" cy="157143"/>
          </a:xfrm>
          <a:prstGeom prst="rect">
            <a:avLst/>
          </a:prstGeom>
          <a:noFill/>
          <a:ln>
            <a:noFill/>
          </a:ln>
        </p:spPr>
      </p:pic>
      <p:pic>
        <p:nvPicPr>
          <p:cNvPr id="1861" name="Google Shape;1861;p140"/>
          <p:cNvPicPr preferRelativeResize="0"/>
          <p:nvPr/>
        </p:nvPicPr>
        <p:blipFill rotWithShape="1">
          <a:blip r:embed="rId5">
            <a:alphaModFix/>
          </a:blip>
          <a:srcRect b="0" l="0" r="0" t="0"/>
          <a:stretch/>
        </p:blipFill>
        <p:spPr>
          <a:xfrm>
            <a:off x="8152139" y="949734"/>
            <a:ext cx="157143" cy="157143"/>
          </a:xfrm>
          <a:prstGeom prst="rect">
            <a:avLst/>
          </a:prstGeom>
          <a:noFill/>
          <a:ln>
            <a:noFill/>
          </a:ln>
        </p:spPr>
      </p:pic>
      <p:pic>
        <p:nvPicPr>
          <p:cNvPr id="1862" name="Google Shape;1862;p140"/>
          <p:cNvPicPr preferRelativeResize="0"/>
          <p:nvPr/>
        </p:nvPicPr>
        <p:blipFill rotWithShape="1">
          <a:blip r:embed="rId5">
            <a:alphaModFix/>
          </a:blip>
          <a:srcRect b="0" l="0" r="0" t="0"/>
          <a:stretch/>
        </p:blipFill>
        <p:spPr>
          <a:xfrm>
            <a:off x="8395979" y="949733"/>
            <a:ext cx="157143" cy="157143"/>
          </a:xfrm>
          <a:prstGeom prst="rect">
            <a:avLst/>
          </a:prstGeom>
          <a:noFill/>
          <a:ln>
            <a:noFill/>
          </a:ln>
        </p:spPr>
      </p:pic>
      <p:pic>
        <p:nvPicPr>
          <p:cNvPr id="1863" name="Google Shape;1863;p140"/>
          <p:cNvPicPr preferRelativeResize="0"/>
          <p:nvPr/>
        </p:nvPicPr>
        <p:blipFill rotWithShape="1">
          <a:blip r:embed="rId5">
            <a:alphaModFix/>
          </a:blip>
          <a:srcRect b="0" l="0" r="0" t="0"/>
          <a:stretch/>
        </p:blipFill>
        <p:spPr>
          <a:xfrm>
            <a:off x="8639819" y="949732"/>
            <a:ext cx="157143" cy="157143"/>
          </a:xfrm>
          <a:prstGeom prst="rect">
            <a:avLst/>
          </a:prstGeom>
          <a:noFill/>
          <a:ln>
            <a:noFill/>
          </a:ln>
        </p:spPr>
      </p:pic>
      <p:pic>
        <p:nvPicPr>
          <p:cNvPr id="1864" name="Google Shape;1864;p140"/>
          <p:cNvPicPr preferRelativeResize="0"/>
          <p:nvPr/>
        </p:nvPicPr>
        <p:blipFill rotWithShape="1">
          <a:blip r:embed="rId5">
            <a:alphaModFix/>
          </a:blip>
          <a:srcRect b="0" l="0" r="0" t="0"/>
          <a:stretch/>
        </p:blipFill>
        <p:spPr>
          <a:xfrm>
            <a:off x="7420619" y="1162524"/>
            <a:ext cx="157143" cy="157143"/>
          </a:xfrm>
          <a:prstGeom prst="rect">
            <a:avLst/>
          </a:prstGeom>
          <a:noFill/>
          <a:ln>
            <a:noFill/>
          </a:ln>
        </p:spPr>
      </p:pic>
      <p:pic>
        <p:nvPicPr>
          <p:cNvPr id="1865" name="Google Shape;1865;p140"/>
          <p:cNvPicPr preferRelativeResize="0"/>
          <p:nvPr/>
        </p:nvPicPr>
        <p:blipFill rotWithShape="1">
          <a:blip r:embed="rId5">
            <a:alphaModFix/>
          </a:blip>
          <a:srcRect b="0" l="0" r="0" t="0"/>
          <a:stretch/>
        </p:blipFill>
        <p:spPr>
          <a:xfrm>
            <a:off x="7664458" y="1162523"/>
            <a:ext cx="157143" cy="157143"/>
          </a:xfrm>
          <a:prstGeom prst="rect">
            <a:avLst/>
          </a:prstGeom>
          <a:noFill/>
          <a:ln>
            <a:noFill/>
          </a:ln>
        </p:spPr>
      </p:pic>
      <p:pic>
        <p:nvPicPr>
          <p:cNvPr id="1866" name="Google Shape;1866;p140"/>
          <p:cNvPicPr preferRelativeResize="0"/>
          <p:nvPr/>
        </p:nvPicPr>
        <p:blipFill rotWithShape="1">
          <a:blip r:embed="rId5">
            <a:alphaModFix/>
          </a:blip>
          <a:srcRect b="0" l="0" r="0" t="0"/>
          <a:stretch/>
        </p:blipFill>
        <p:spPr>
          <a:xfrm>
            <a:off x="7908297" y="1162522"/>
            <a:ext cx="157143" cy="157143"/>
          </a:xfrm>
          <a:prstGeom prst="rect">
            <a:avLst/>
          </a:prstGeom>
          <a:noFill/>
          <a:ln>
            <a:noFill/>
          </a:ln>
        </p:spPr>
      </p:pic>
      <p:pic>
        <p:nvPicPr>
          <p:cNvPr id="1867" name="Google Shape;1867;p140"/>
          <p:cNvPicPr preferRelativeResize="0"/>
          <p:nvPr/>
        </p:nvPicPr>
        <p:blipFill rotWithShape="1">
          <a:blip r:embed="rId5">
            <a:alphaModFix/>
          </a:blip>
          <a:srcRect b="0" l="0" r="0" t="0"/>
          <a:stretch/>
        </p:blipFill>
        <p:spPr>
          <a:xfrm>
            <a:off x="8152136" y="1162521"/>
            <a:ext cx="157143" cy="157143"/>
          </a:xfrm>
          <a:prstGeom prst="rect">
            <a:avLst/>
          </a:prstGeom>
          <a:noFill/>
          <a:ln>
            <a:noFill/>
          </a:ln>
        </p:spPr>
      </p:pic>
      <p:pic>
        <p:nvPicPr>
          <p:cNvPr id="1868" name="Google Shape;1868;p140"/>
          <p:cNvPicPr preferRelativeResize="0"/>
          <p:nvPr/>
        </p:nvPicPr>
        <p:blipFill rotWithShape="1">
          <a:blip r:embed="rId5">
            <a:alphaModFix/>
          </a:blip>
          <a:srcRect b="0" l="0" r="0" t="0"/>
          <a:stretch/>
        </p:blipFill>
        <p:spPr>
          <a:xfrm>
            <a:off x="8395975" y="1162520"/>
            <a:ext cx="157143" cy="157143"/>
          </a:xfrm>
          <a:prstGeom prst="rect">
            <a:avLst/>
          </a:prstGeom>
          <a:noFill/>
          <a:ln>
            <a:noFill/>
          </a:ln>
        </p:spPr>
      </p:pic>
      <p:pic>
        <p:nvPicPr>
          <p:cNvPr id="1869" name="Google Shape;1869;p140"/>
          <p:cNvPicPr preferRelativeResize="0"/>
          <p:nvPr/>
        </p:nvPicPr>
        <p:blipFill rotWithShape="1">
          <a:blip r:embed="rId5">
            <a:alphaModFix/>
          </a:blip>
          <a:srcRect b="0" l="0" r="0" t="0"/>
          <a:stretch/>
        </p:blipFill>
        <p:spPr>
          <a:xfrm>
            <a:off x="8639814" y="1162519"/>
            <a:ext cx="157143" cy="157143"/>
          </a:xfrm>
          <a:prstGeom prst="rect">
            <a:avLst/>
          </a:prstGeom>
          <a:noFill/>
          <a:ln>
            <a:noFill/>
          </a:ln>
        </p:spPr>
      </p:pic>
      <p:pic>
        <p:nvPicPr>
          <p:cNvPr id="1870" name="Google Shape;1870;p140"/>
          <p:cNvPicPr preferRelativeResize="0"/>
          <p:nvPr/>
        </p:nvPicPr>
        <p:blipFill rotWithShape="1">
          <a:blip r:embed="rId5">
            <a:alphaModFix/>
          </a:blip>
          <a:srcRect b="0" l="0" r="0" t="0"/>
          <a:stretch/>
        </p:blipFill>
        <p:spPr>
          <a:xfrm>
            <a:off x="10046787" y="5767072"/>
            <a:ext cx="157143" cy="157143"/>
          </a:xfrm>
          <a:prstGeom prst="rect">
            <a:avLst/>
          </a:prstGeom>
          <a:noFill/>
          <a:ln>
            <a:noFill/>
          </a:ln>
        </p:spPr>
      </p:pic>
      <p:pic>
        <p:nvPicPr>
          <p:cNvPr id="1871" name="Google Shape;1871;p140"/>
          <p:cNvPicPr preferRelativeResize="0"/>
          <p:nvPr/>
        </p:nvPicPr>
        <p:blipFill rotWithShape="1">
          <a:blip r:embed="rId5">
            <a:alphaModFix/>
          </a:blip>
          <a:srcRect b="0" l="0" r="0" t="0"/>
          <a:stretch/>
        </p:blipFill>
        <p:spPr>
          <a:xfrm>
            <a:off x="10290627" y="5767071"/>
            <a:ext cx="157143" cy="157143"/>
          </a:xfrm>
          <a:prstGeom prst="rect">
            <a:avLst/>
          </a:prstGeom>
          <a:noFill/>
          <a:ln>
            <a:noFill/>
          </a:ln>
        </p:spPr>
      </p:pic>
      <p:pic>
        <p:nvPicPr>
          <p:cNvPr id="1872" name="Google Shape;1872;p140"/>
          <p:cNvPicPr preferRelativeResize="0"/>
          <p:nvPr/>
        </p:nvPicPr>
        <p:blipFill rotWithShape="1">
          <a:blip r:embed="rId5">
            <a:alphaModFix/>
          </a:blip>
          <a:srcRect b="0" l="0" r="0" t="0"/>
          <a:stretch/>
        </p:blipFill>
        <p:spPr>
          <a:xfrm>
            <a:off x="10534467" y="5767070"/>
            <a:ext cx="157143" cy="157143"/>
          </a:xfrm>
          <a:prstGeom prst="rect">
            <a:avLst/>
          </a:prstGeom>
          <a:noFill/>
          <a:ln>
            <a:noFill/>
          </a:ln>
        </p:spPr>
      </p:pic>
      <p:pic>
        <p:nvPicPr>
          <p:cNvPr id="1873" name="Google Shape;1873;p140"/>
          <p:cNvPicPr preferRelativeResize="0"/>
          <p:nvPr/>
        </p:nvPicPr>
        <p:blipFill rotWithShape="1">
          <a:blip r:embed="rId5">
            <a:alphaModFix/>
          </a:blip>
          <a:srcRect b="0" l="0" r="0" t="0"/>
          <a:stretch/>
        </p:blipFill>
        <p:spPr>
          <a:xfrm>
            <a:off x="10778307" y="5767069"/>
            <a:ext cx="157143" cy="157143"/>
          </a:xfrm>
          <a:prstGeom prst="rect">
            <a:avLst/>
          </a:prstGeom>
          <a:noFill/>
          <a:ln>
            <a:noFill/>
          </a:ln>
        </p:spPr>
      </p:pic>
      <p:pic>
        <p:nvPicPr>
          <p:cNvPr id="1874" name="Google Shape;1874;p140"/>
          <p:cNvPicPr preferRelativeResize="0"/>
          <p:nvPr/>
        </p:nvPicPr>
        <p:blipFill rotWithShape="1">
          <a:blip r:embed="rId5">
            <a:alphaModFix/>
          </a:blip>
          <a:srcRect b="0" l="0" r="0" t="0"/>
          <a:stretch/>
        </p:blipFill>
        <p:spPr>
          <a:xfrm>
            <a:off x="11022147" y="5767068"/>
            <a:ext cx="157143" cy="157143"/>
          </a:xfrm>
          <a:prstGeom prst="rect">
            <a:avLst/>
          </a:prstGeom>
          <a:noFill/>
          <a:ln>
            <a:noFill/>
          </a:ln>
        </p:spPr>
      </p:pic>
      <p:pic>
        <p:nvPicPr>
          <p:cNvPr id="1875" name="Google Shape;1875;p140"/>
          <p:cNvPicPr preferRelativeResize="0"/>
          <p:nvPr/>
        </p:nvPicPr>
        <p:blipFill rotWithShape="1">
          <a:blip r:embed="rId5">
            <a:alphaModFix/>
          </a:blip>
          <a:srcRect b="0" l="0" r="0" t="0"/>
          <a:stretch/>
        </p:blipFill>
        <p:spPr>
          <a:xfrm>
            <a:off x="11265987" y="5767067"/>
            <a:ext cx="157143" cy="157143"/>
          </a:xfrm>
          <a:prstGeom prst="rect">
            <a:avLst/>
          </a:prstGeom>
          <a:noFill/>
          <a:ln>
            <a:noFill/>
          </a:ln>
        </p:spPr>
      </p:pic>
      <p:pic>
        <p:nvPicPr>
          <p:cNvPr id="1876" name="Google Shape;1876;p140"/>
          <p:cNvPicPr preferRelativeResize="0"/>
          <p:nvPr/>
        </p:nvPicPr>
        <p:blipFill rotWithShape="1">
          <a:blip r:embed="rId5">
            <a:alphaModFix/>
          </a:blip>
          <a:srcRect b="0" l="0" r="0" t="0"/>
          <a:stretch/>
        </p:blipFill>
        <p:spPr>
          <a:xfrm>
            <a:off x="10046787" y="5979859"/>
            <a:ext cx="157143" cy="157143"/>
          </a:xfrm>
          <a:prstGeom prst="rect">
            <a:avLst/>
          </a:prstGeom>
          <a:noFill/>
          <a:ln>
            <a:noFill/>
          </a:ln>
        </p:spPr>
      </p:pic>
      <p:pic>
        <p:nvPicPr>
          <p:cNvPr id="1877" name="Google Shape;1877;p140"/>
          <p:cNvPicPr preferRelativeResize="0"/>
          <p:nvPr/>
        </p:nvPicPr>
        <p:blipFill rotWithShape="1">
          <a:blip r:embed="rId5">
            <a:alphaModFix/>
          </a:blip>
          <a:srcRect b="0" l="0" r="0" t="0"/>
          <a:stretch/>
        </p:blipFill>
        <p:spPr>
          <a:xfrm>
            <a:off x="10290626" y="5979858"/>
            <a:ext cx="157143" cy="157143"/>
          </a:xfrm>
          <a:prstGeom prst="rect">
            <a:avLst/>
          </a:prstGeom>
          <a:noFill/>
          <a:ln>
            <a:noFill/>
          </a:ln>
        </p:spPr>
      </p:pic>
      <p:pic>
        <p:nvPicPr>
          <p:cNvPr id="1878" name="Google Shape;1878;p140"/>
          <p:cNvPicPr preferRelativeResize="0"/>
          <p:nvPr/>
        </p:nvPicPr>
        <p:blipFill rotWithShape="1">
          <a:blip r:embed="rId5">
            <a:alphaModFix/>
          </a:blip>
          <a:srcRect b="0" l="0" r="0" t="0"/>
          <a:stretch/>
        </p:blipFill>
        <p:spPr>
          <a:xfrm>
            <a:off x="10534465" y="5979857"/>
            <a:ext cx="157143" cy="157143"/>
          </a:xfrm>
          <a:prstGeom prst="rect">
            <a:avLst/>
          </a:prstGeom>
          <a:noFill/>
          <a:ln>
            <a:noFill/>
          </a:ln>
        </p:spPr>
      </p:pic>
      <p:pic>
        <p:nvPicPr>
          <p:cNvPr id="1879" name="Google Shape;1879;p140"/>
          <p:cNvPicPr preferRelativeResize="0"/>
          <p:nvPr/>
        </p:nvPicPr>
        <p:blipFill rotWithShape="1">
          <a:blip r:embed="rId5">
            <a:alphaModFix/>
          </a:blip>
          <a:srcRect b="0" l="0" r="0" t="0"/>
          <a:stretch/>
        </p:blipFill>
        <p:spPr>
          <a:xfrm>
            <a:off x="10778304" y="5979856"/>
            <a:ext cx="157143" cy="157143"/>
          </a:xfrm>
          <a:prstGeom prst="rect">
            <a:avLst/>
          </a:prstGeom>
          <a:noFill/>
          <a:ln>
            <a:noFill/>
          </a:ln>
        </p:spPr>
      </p:pic>
      <p:pic>
        <p:nvPicPr>
          <p:cNvPr id="1880" name="Google Shape;1880;p140"/>
          <p:cNvPicPr preferRelativeResize="0"/>
          <p:nvPr/>
        </p:nvPicPr>
        <p:blipFill rotWithShape="1">
          <a:blip r:embed="rId5">
            <a:alphaModFix/>
          </a:blip>
          <a:srcRect b="0" l="0" r="0" t="0"/>
          <a:stretch/>
        </p:blipFill>
        <p:spPr>
          <a:xfrm>
            <a:off x="11022143" y="5979855"/>
            <a:ext cx="157143" cy="157143"/>
          </a:xfrm>
          <a:prstGeom prst="rect">
            <a:avLst/>
          </a:prstGeom>
          <a:noFill/>
          <a:ln>
            <a:noFill/>
          </a:ln>
        </p:spPr>
      </p:pic>
      <p:pic>
        <p:nvPicPr>
          <p:cNvPr id="1881" name="Google Shape;1881;p140"/>
          <p:cNvPicPr preferRelativeResize="0"/>
          <p:nvPr/>
        </p:nvPicPr>
        <p:blipFill rotWithShape="1">
          <a:blip r:embed="rId5">
            <a:alphaModFix/>
          </a:blip>
          <a:srcRect b="0" l="0" r="0" t="0"/>
          <a:stretch/>
        </p:blipFill>
        <p:spPr>
          <a:xfrm>
            <a:off x="11265982" y="5979854"/>
            <a:ext cx="157143" cy="157143"/>
          </a:xfrm>
          <a:prstGeom prst="rect">
            <a:avLst/>
          </a:prstGeom>
          <a:noFill/>
          <a:ln>
            <a:noFill/>
          </a:ln>
        </p:spPr>
      </p:pic>
      <p:pic>
        <p:nvPicPr>
          <p:cNvPr id="1882" name="Google Shape;1882;p140"/>
          <p:cNvPicPr preferRelativeResize="0"/>
          <p:nvPr/>
        </p:nvPicPr>
        <p:blipFill rotWithShape="1">
          <a:blip r:embed="rId6">
            <a:alphaModFix/>
          </a:blip>
          <a:srcRect b="0" l="0" r="0" t="0"/>
          <a:stretch/>
        </p:blipFill>
        <p:spPr>
          <a:xfrm rot="6280505">
            <a:off x="9663482" y="1641145"/>
            <a:ext cx="2166077" cy="2256331"/>
          </a:xfrm>
          <a:prstGeom prst="rect">
            <a:avLst/>
          </a:prstGeom>
          <a:noFill/>
          <a:ln>
            <a:noFill/>
          </a:ln>
        </p:spPr>
      </p:pic>
      <p:pic>
        <p:nvPicPr>
          <p:cNvPr id="1883" name="Google Shape;1883;p140"/>
          <p:cNvPicPr preferRelativeResize="0"/>
          <p:nvPr/>
        </p:nvPicPr>
        <p:blipFill rotWithShape="1">
          <a:blip r:embed="rId7">
            <a:alphaModFix/>
          </a:blip>
          <a:srcRect b="0" l="0" r="0" t="0"/>
          <a:stretch/>
        </p:blipFill>
        <p:spPr>
          <a:xfrm>
            <a:off x="8553122" y="2267369"/>
            <a:ext cx="501941" cy="501941"/>
          </a:xfrm>
          <a:prstGeom prst="rect">
            <a:avLst/>
          </a:prstGeom>
          <a:noFill/>
          <a:ln>
            <a:noFill/>
          </a:ln>
        </p:spPr>
      </p:pic>
      <p:pic>
        <p:nvPicPr>
          <p:cNvPr id="1884" name="Google Shape;1884;p140"/>
          <p:cNvPicPr preferRelativeResize="0"/>
          <p:nvPr/>
        </p:nvPicPr>
        <p:blipFill rotWithShape="1">
          <a:blip r:embed="rId8">
            <a:alphaModFix/>
          </a:blip>
          <a:srcRect b="0" l="0" r="0" t="0"/>
          <a:stretch/>
        </p:blipFill>
        <p:spPr>
          <a:xfrm>
            <a:off x="8767747" y="5108544"/>
            <a:ext cx="854810" cy="854810"/>
          </a:xfrm>
          <a:prstGeom prst="rect">
            <a:avLst/>
          </a:prstGeom>
          <a:noFill/>
          <a:ln>
            <a:noFill/>
          </a:ln>
        </p:spPr>
      </p:pic>
      <p:pic>
        <p:nvPicPr>
          <p:cNvPr id="1885" name="Google Shape;1885;p140"/>
          <p:cNvPicPr preferRelativeResize="0"/>
          <p:nvPr/>
        </p:nvPicPr>
        <p:blipFill rotWithShape="1">
          <a:blip r:embed="rId9">
            <a:alphaModFix/>
          </a:blip>
          <a:srcRect b="0" l="0" r="0" t="0"/>
          <a:stretch/>
        </p:blipFill>
        <p:spPr>
          <a:xfrm>
            <a:off x="7426365" y="5740908"/>
            <a:ext cx="215541" cy="215541"/>
          </a:xfrm>
          <a:prstGeom prst="rect">
            <a:avLst/>
          </a:prstGeom>
          <a:noFill/>
          <a:ln>
            <a:noFill/>
          </a:ln>
        </p:spPr>
      </p:pic>
      <p:pic>
        <p:nvPicPr>
          <p:cNvPr id="1886" name="Google Shape;1886;p140"/>
          <p:cNvPicPr preferRelativeResize="0"/>
          <p:nvPr/>
        </p:nvPicPr>
        <p:blipFill rotWithShape="1">
          <a:blip r:embed="rId10">
            <a:alphaModFix/>
          </a:blip>
          <a:srcRect b="0" l="0" r="0" t="0"/>
          <a:stretch/>
        </p:blipFill>
        <p:spPr>
          <a:xfrm>
            <a:off x="1034046" y="4445778"/>
            <a:ext cx="67711" cy="461665"/>
          </a:xfrm>
          <a:prstGeom prst="rect">
            <a:avLst/>
          </a:prstGeom>
          <a:noFill/>
          <a:ln>
            <a:noFill/>
          </a:ln>
        </p:spPr>
      </p:pic>
      <p:pic>
        <p:nvPicPr>
          <p:cNvPr id="1887" name="Google Shape;1887;p140"/>
          <p:cNvPicPr preferRelativeResize="0"/>
          <p:nvPr/>
        </p:nvPicPr>
        <p:blipFill rotWithShape="1">
          <a:blip r:embed="rId11">
            <a:alphaModFix/>
          </a:blip>
          <a:srcRect b="0" l="0" r="0" t="0"/>
          <a:stretch/>
        </p:blipFill>
        <p:spPr>
          <a:xfrm>
            <a:off x="902361" y="587968"/>
            <a:ext cx="2817438" cy="880669"/>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1" name="Shape 1891"/>
        <p:cNvGrpSpPr/>
        <p:nvPr/>
      </p:nvGrpSpPr>
      <p:grpSpPr>
        <a:xfrm>
          <a:off x="0" y="0"/>
          <a:ext cx="0" cy="0"/>
          <a:chOff x="0" y="0"/>
          <a:chExt cx="0" cy="0"/>
        </a:xfrm>
      </p:grpSpPr>
      <p:sp>
        <p:nvSpPr>
          <p:cNvPr id="1892" name="Google Shape;1892;p141"/>
          <p:cNvSpPr txBox="1"/>
          <p:nvPr/>
        </p:nvSpPr>
        <p:spPr>
          <a:xfrm>
            <a:off x="603105" y="486375"/>
            <a:ext cx="116580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300">
                <a:solidFill>
                  <a:srgbClr val="6D9EEB"/>
                </a:solidFill>
                <a:latin typeface="Poppins"/>
                <a:ea typeface="Poppins"/>
                <a:cs typeface="Poppins"/>
                <a:sym typeface="Poppins"/>
              </a:rPr>
              <a:t>Objective</a:t>
            </a:r>
            <a:endParaRPr b="1" i="0" sz="3300" u="none" cap="none" strike="noStrike">
              <a:solidFill>
                <a:srgbClr val="6D9EEB"/>
              </a:solidFill>
              <a:latin typeface="Poppins"/>
              <a:ea typeface="Poppins"/>
              <a:cs typeface="Poppins"/>
              <a:sym typeface="Poppins"/>
            </a:endParaRPr>
          </a:p>
        </p:txBody>
      </p:sp>
      <p:cxnSp>
        <p:nvCxnSpPr>
          <p:cNvPr id="1893" name="Google Shape;1893;p14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1894" name="Google Shape;1894;p14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895" name="Google Shape;1895;p14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896" name="Google Shape;1896;p14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897" name="Google Shape;1897;p1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898" name="Google Shape;1898;p1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899" name="Google Shape;1899;p14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1900" name="Google Shape;1900;p141"/>
          <p:cNvSpPr txBox="1"/>
          <p:nvPr/>
        </p:nvSpPr>
        <p:spPr>
          <a:xfrm>
            <a:off x="933800" y="1541550"/>
            <a:ext cx="9972000" cy="4261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a:ea typeface="Archivo"/>
                <a:cs typeface="Archivo"/>
                <a:sym typeface="Archivo"/>
              </a:rPr>
              <a:t>● Memahami kemampuan dari mesin analisis log.</a:t>
            </a:r>
            <a:endParaRPr sz="1982">
              <a:solidFill>
                <a:schemeClr val="dk1"/>
              </a:solidFill>
              <a:latin typeface="Archivo"/>
              <a:ea typeface="Archivo"/>
              <a:cs typeface="Archivo"/>
              <a:sym typeface="Archivo"/>
            </a:endParaRPr>
          </a:p>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a:ea typeface="Archivo"/>
                <a:cs typeface="Archivo"/>
                <a:sym typeface="Archivo"/>
              </a:rPr>
              <a:t>● Membedakan antara proses pengumpulan (collection) dan proses analisis (analysis).</a:t>
            </a:r>
            <a:endParaRPr sz="1982">
              <a:solidFill>
                <a:schemeClr val="dk1"/>
              </a:solidFill>
              <a:latin typeface="Archivo"/>
              <a:ea typeface="Archivo"/>
              <a:cs typeface="Archivo"/>
              <a:sym typeface="Archivo"/>
            </a:endParaRPr>
          </a:p>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a:ea typeface="Archivo"/>
                <a:cs typeface="Archivo"/>
                <a:sym typeface="Archivo"/>
              </a:rPr>
              <a:t>● Mengekstrak isi dari pesan log.</a:t>
            </a:r>
            <a:endParaRPr sz="1982">
              <a:solidFill>
                <a:schemeClr val="dk1"/>
              </a:solidFill>
              <a:latin typeface="Archivo"/>
              <a:ea typeface="Archivo"/>
              <a:cs typeface="Archivo"/>
              <a:sym typeface="Archivo"/>
            </a:endParaRPr>
          </a:p>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a:ea typeface="Archivo"/>
                <a:cs typeface="Archivo"/>
                <a:sym typeface="Archivo"/>
              </a:rPr>
              <a:t>● Menjelaskan bagaimana alur pesan log melalui pipeline Wazuh.</a:t>
            </a:r>
            <a:endParaRPr sz="1982">
              <a:solidFill>
                <a:schemeClr val="dk1"/>
              </a:solidFill>
              <a:latin typeface="Archivo"/>
              <a:ea typeface="Archivo"/>
              <a:cs typeface="Archivo"/>
              <a:sym typeface="Archivo"/>
            </a:endParaRPr>
          </a:p>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a:ea typeface="Archivo"/>
                <a:cs typeface="Archivo"/>
                <a:sym typeface="Archivo"/>
              </a:rPr>
              <a:t>● Memahami tahapan analisis: pra-decoding, decoding, dan analisis berbasis aturan (rule-based analysis).</a:t>
            </a:r>
            <a:endParaRPr sz="1982">
              <a:solidFill>
                <a:schemeClr val="dk1"/>
              </a:solidFill>
              <a:latin typeface="Archivo"/>
              <a:ea typeface="Archivo"/>
              <a:cs typeface="Archivo"/>
              <a:sym typeface="Archivo"/>
            </a:endParaRPr>
          </a:p>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a:ea typeface="Archivo"/>
                <a:cs typeface="Archivo"/>
                <a:sym typeface="Archivo"/>
              </a:rPr>
              <a:t>● Menemukan file tempat log dan alert disimpan.</a:t>
            </a:r>
            <a:endParaRPr sz="1982">
              <a:solidFill>
                <a:schemeClr val="dk1"/>
              </a:solidFill>
              <a:latin typeface="Archivo"/>
              <a:ea typeface="Archivo"/>
              <a:cs typeface="Archivo"/>
              <a:sym typeface="Archivo"/>
            </a:endParaRPr>
          </a:p>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a:ea typeface="Archivo"/>
                <a:cs typeface="Archivo"/>
                <a:sym typeface="Archivo"/>
              </a:rPr>
              <a:t>● Memantau perangkat jaringan melalui syslog.</a:t>
            </a:r>
            <a:endParaRPr sz="1982">
              <a:solidFill>
                <a:schemeClr val="dk1"/>
              </a:solidFill>
              <a:latin typeface="Archivo"/>
              <a:ea typeface="Archivo"/>
              <a:cs typeface="Archivo"/>
              <a:sym typeface="Archivo"/>
            </a:endParaRPr>
          </a:p>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a:ea typeface="Archivo"/>
                <a:cs typeface="Archivo"/>
                <a:sym typeface="Archivo"/>
              </a:rPr>
              <a:t>● Memahami bagaimana komponen ini mendukung kepatuhan terhadap regulasi.</a:t>
            </a:r>
            <a:endParaRPr sz="1982">
              <a:solidFill>
                <a:schemeClr val="dk1"/>
              </a:solidFill>
              <a:latin typeface="Archivo"/>
              <a:ea typeface="Archivo"/>
              <a:cs typeface="Archivo"/>
              <a:sym typeface="Archivo"/>
            </a:endParaRPr>
          </a:p>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a:ea typeface="Archivo"/>
                <a:cs typeface="Archivo"/>
                <a:sym typeface="Archivo"/>
              </a:rPr>
              <a:t>● Mendapatkan manfaat dari ruleset Wazuh dan pemetaan kepatuhannya terhadap regulasi.</a:t>
            </a:r>
            <a:endParaRPr sz="1982">
              <a:solidFill>
                <a:schemeClr val="dk1"/>
              </a:solidFill>
              <a:latin typeface="Archivo"/>
              <a:ea typeface="Archivo"/>
              <a:cs typeface="Archivo"/>
              <a:sym typeface="Archivo"/>
            </a:endParaRPr>
          </a:p>
          <a:p>
            <a:pPr indent="0" lvl="0" marL="457200" rtl="0" algn="l">
              <a:lnSpc>
                <a:spcPct val="115000"/>
              </a:lnSpc>
              <a:spcBef>
                <a:spcPts val="0"/>
              </a:spcBef>
              <a:spcAft>
                <a:spcPts val="0"/>
              </a:spcAft>
              <a:buClr>
                <a:schemeClr val="dk1"/>
              </a:buClr>
              <a:buSzPts val="1100"/>
              <a:buFont typeface="Arial"/>
              <a:buNone/>
            </a:pPr>
            <a:r>
              <a:t/>
            </a:r>
            <a:endParaRPr sz="1982">
              <a:solidFill>
                <a:schemeClr val="dk1"/>
              </a:solidFill>
              <a:latin typeface="Archivo"/>
              <a:ea typeface="Archivo"/>
              <a:cs typeface="Archivo"/>
              <a:sym typeface="Archivo"/>
            </a:endParaRPr>
          </a:p>
          <a:p>
            <a:pPr indent="0" lvl="0" marL="457200" rtl="0" algn="l">
              <a:lnSpc>
                <a:spcPct val="115000"/>
              </a:lnSpc>
              <a:spcBef>
                <a:spcPts val="0"/>
              </a:spcBef>
              <a:spcAft>
                <a:spcPts val="0"/>
              </a:spcAft>
              <a:buNone/>
            </a:pPr>
            <a:r>
              <a:t/>
            </a:r>
            <a:endParaRPr sz="1982">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904" name="Shape 1904"/>
        <p:cNvGrpSpPr/>
        <p:nvPr/>
      </p:nvGrpSpPr>
      <p:grpSpPr>
        <a:xfrm>
          <a:off x="0" y="0"/>
          <a:ext cx="0" cy="0"/>
          <a:chOff x="0" y="0"/>
          <a:chExt cx="0" cy="0"/>
        </a:xfrm>
      </p:grpSpPr>
      <p:pic>
        <p:nvPicPr>
          <p:cNvPr descr="A picture containing food, drawing, shirt&#10;&#10;Description automatically generated" id="1905" name="Google Shape;1905;p14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1906" name="Google Shape;1906;p1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07" name="Google Shape;1907;p14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1908" name="Google Shape;1908;p142"/>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1909" name="Google Shape;1909;p14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1910" name="Google Shape;1910;p142"/>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1911" name="Google Shape;1911;p142"/>
          <p:cNvSpPr txBox="1"/>
          <p:nvPr/>
        </p:nvSpPr>
        <p:spPr>
          <a:xfrm>
            <a:off x="1357489" y="3803851"/>
            <a:ext cx="9477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lt1"/>
                </a:solidFill>
                <a:highlight>
                  <a:srgbClr val="3585F9"/>
                </a:highlight>
                <a:latin typeface="Poppins"/>
                <a:ea typeface="Poppins"/>
                <a:cs typeface="Poppins"/>
                <a:sym typeface="Poppins"/>
              </a:rPr>
              <a:t>Log </a:t>
            </a:r>
            <a:r>
              <a:rPr lang="en-US" sz="4400">
                <a:solidFill>
                  <a:schemeClr val="lt1"/>
                </a:solidFill>
                <a:highlight>
                  <a:srgbClr val="3585F9"/>
                </a:highlight>
                <a:latin typeface="Poppins"/>
                <a:ea typeface="Poppins"/>
                <a:cs typeface="Poppins"/>
                <a:sym typeface="Poppins"/>
              </a:rPr>
              <a:t>Analysis</a:t>
            </a:r>
            <a:endParaRPr sz="4400">
              <a:solidFill>
                <a:schemeClr val="lt1"/>
              </a:solidFill>
              <a:highlight>
                <a:srgbClr val="3585F9"/>
              </a:highlight>
              <a:latin typeface="Poppins"/>
              <a:ea typeface="Poppins"/>
              <a:cs typeface="Poppins"/>
              <a:sym typeface="Poppins"/>
            </a:endParaRPr>
          </a:p>
        </p:txBody>
      </p:sp>
      <p:pic>
        <p:nvPicPr>
          <p:cNvPr id="1912" name="Google Shape;1912;p142"/>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6" name="Shape 1916"/>
        <p:cNvGrpSpPr/>
        <p:nvPr/>
      </p:nvGrpSpPr>
      <p:grpSpPr>
        <a:xfrm>
          <a:off x="0" y="0"/>
          <a:ext cx="0" cy="0"/>
          <a:chOff x="0" y="0"/>
          <a:chExt cx="0" cy="0"/>
        </a:xfrm>
      </p:grpSpPr>
      <p:sp>
        <p:nvSpPr>
          <p:cNvPr id="1917" name="Google Shape;1917;p143"/>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Log data collection</a:t>
            </a:r>
            <a:endParaRPr b="1" i="0" sz="3600" u="none" cap="none" strike="noStrike">
              <a:solidFill>
                <a:schemeClr val="accent1"/>
              </a:solidFill>
              <a:latin typeface="Poppins"/>
              <a:ea typeface="Poppins"/>
              <a:cs typeface="Poppins"/>
              <a:sym typeface="Poppins"/>
            </a:endParaRPr>
          </a:p>
        </p:txBody>
      </p:sp>
      <p:cxnSp>
        <p:nvCxnSpPr>
          <p:cNvPr id="1918" name="Google Shape;1918;p14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1919" name="Google Shape;1919;p14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920" name="Google Shape;1920;p14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921" name="Google Shape;1921;p14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922" name="Google Shape;1922;p14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923" name="Google Shape;1923;p1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24" name="Google Shape;1924;p143"/>
          <p:cNvSpPr txBox="1"/>
          <p:nvPr/>
        </p:nvSpPr>
        <p:spPr>
          <a:xfrm>
            <a:off x="725325" y="1439724"/>
            <a:ext cx="10917900" cy="438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2100">
                <a:solidFill>
                  <a:schemeClr val="dk1"/>
                </a:solidFill>
                <a:latin typeface="Archivo Medium"/>
                <a:ea typeface="Archivo Medium"/>
                <a:cs typeface="Archivo Medium"/>
                <a:sym typeface="Archivo Medium"/>
              </a:rPr>
              <a:t>Wazuh mengumpulkan log dari berbagai sumber, memungkinkan pemantauan menyeluruh terhadap berbagai aspek dari lingkungan TI Anda. Beberapa sumber log umum yang didukung oleh Wazuh meliputi:</a:t>
            </a:r>
            <a:endParaRPr sz="2100">
              <a:solidFill>
                <a:schemeClr val="dk1"/>
              </a:solidFill>
              <a:latin typeface="Archivo Medium"/>
              <a:ea typeface="Archivo Medium"/>
              <a:cs typeface="Archivo Medium"/>
              <a:sym typeface="Archivo Medium"/>
            </a:endParaRPr>
          </a:p>
          <a:p>
            <a:pPr indent="0" lvl="0" marL="0" rtl="0" algn="l">
              <a:lnSpc>
                <a:spcPct val="100000"/>
              </a:lnSpc>
              <a:spcBef>
                <a:spcPts val="0"/>
              </a:spcBef>
              <a:spcAft>
                <a:spcPts val="0"/>
              </a:spcAft>
              <a:buNone/>
            </a:pPr>
            <a:r>
              <a:t/>
            </a:r>
            <a:endParaRPr sz="2100">
              <a:solidFill>
                <a:schemeClr val="dk1"/>
              </a:solidFill>
              <a:latin typeface="Archivo Medium"/>
              <a:ea typeface="Archivo Medium"/>
              <a:cs typeface="Archivo Medium"/>
              <a:sym typeface="Archivo Medium"/>
            </a:endParaRPr>
          </a:p>
          <a:p>
            <a:pPr indent="-361950" lvl="0" marL="457200" rtl="0" algn="l">
              <a:lnSpc>
                <a:spcPct val="100000"/>
              </a:lnSpc>
              <a:spcBef>
                <a:spcPts val="0"/>
              </a:spcBef>
              <a:spcAft>
                <a:spcPts val="0"/>
              </a:spcAft>
              <a:buClr>
                <a:schemeClr val="dk1"/>
              </a:buClr>
              <a:buSzPts val="2100"/>
              <a:buFont typeface="Archivo Medium"/>
              <a:buAutoNum type="arabicPeriod"/>
            </a:pPr>
            <a:r>
              <a:rPr lang="en-US" sz="2100">
                <a:solidFill>
                  <a:schemeClr val="dk1"/>
                </a:solidFill>
                <a:latin typeface="Archivo Medium"/>
                <a:ea typeface="Archivo Medium"/>
                <a:cs typeface="Archivo Medium"/>
                <a:sym typeface="Archivo Medium"/>
              </a:rPr>
              <a:t>Operating System</a:t>
            </a:r>
            <a:endParaRPr sz="2100">
              <a:solidFill>
                <a:schemeClr val="dk1"/>
              </a:solidFill>
              <a:latin typeface="Archivo Medium"/>
              <a:ea typeface="Archivo Medium"/>
              <a:cs typeface="Archivo Medium"/>
              <a:sym typeface="Archivo Medium"/>
            </a:endParaRPr>
          </a:p>
          <a:p>
            <a:pPr indent="-361950" lvl="0" marL="457200" rtl="0" algn="l">
              <a:lnSpc>
                <a:spcPct val="100000"/>
              </a:lnSpc>
              <a:spcBef>
                <a:spcPts val="0"/>
              </a:spcBef>
              <a:spcAft>
                <a:spcPts val="0"/>
              </a:spcAft>
              <a:buClr>
                <a:schemeClr val="dk1"/>
              </a:buClr>
              <a:buSzPts val="2100"/>
              <a:buFont typeface="Archivo Medium"/>
              <a:buAutoNum type="arabicPeriod"/>
            </a:pPr>
            <a:r>
              <a:rPr lang="en-US" sz="2100">
                <a:solidFill>
                  <a:schemeClr val="dk1"/>
                </a:solidFill>
                <a:latin typeface="Archivo Medium"/>
                <a:ea typeface="Archivo Medium"/>
                <a:cs typeface="Archivo Medium"/>
                <a:sym typeface="Archivo Medium"/>
              </a:rPr>
              <a:t>Syslog Event</a:t>
            </a:r>
            <a:endParaRPr sz="2100">
              <a:solidFill>
                <a:schemeClr val="dk1"/>
              </a:solidFill>
              <a:latin typeface="Archivo Medium"/>
              <a:ea typeface="Archivo Medium"/>
              <a:cs typeface="Archivo Medium"/>
              <a:sym typeface="Archivo Medium"/>
            </a:endParaRPr>
          </a:p>
          <a:p>
            <a:pPr indent="-361950" lvl="0" marL="457200" rtl="0" algn="l">
              <a:lnSpc>
                <a:spcPct val="100000"/>
              </a:lnSpc>
              <a:spcBef>
                <a:spcPts val="0"/>
              </a:spcBef>
              <a:spcAft>
                <a:spcPts val="0"/>
              </a:spcAft>
              <a:buClr>
                <a:schemeClr val="dk1"/>
              </a:buClr>
              <a:buSzPts val="2100"/>
              <a:buFont typeface="Archivo Medium"/>
              <a:buAutoNum type="arabicPeriod"/>
            </a:pPr>
            <a:r>
              <a:rPr lang="en-US" sz="2100">
                <a:solidFill>
                  <a:schemeClr val="dk1"/>
                </a:solidFill>
                <a:latin typeface="Archivo Medium"/>
                <a:ea typeface="Archivo Medium"/>
                <a:cs typeface="Archivo Medium"/>
                <a:sym typeface="Archivo Medium"/>
              </a:rPr>
              <a:t>Agentless Monitoring</a:t>
            </a:r>
            <a:endParaRPr sz="2100">
              <a:solidFill>
                <a:schemeClr val="dk1"/>
              </a:solidFill>
              <a:latin typeface="Archivo Medium"/>
              <a:ea typeface="Archivo Medium"/>
              <a:cs typeface="Archivo Medium"/>
              <a:sym typeface="Archivo Medium"/>
            </a:endParaRPr>
          </a:p>
          <a:p>
            <a:pPr indent="-361950" lvl="0" marL="457200" rtl="0" algn="l">
              <a:lnSpc>
                <a:spcPct val="100000"/>
              </a:lnSpc>
              <a:spcBef>
                <a:spcPts val="0"/>
              </a:spcBef>
              <a:spcAft>
                <a:spcPts val="0"/>
              </a:spcAft>
              <a:buClr>
                <a:schemeClr val="dk1"/>
              </a:buClr>
              <a:buSzPts val="2100"/>
              <a:buFont typeface="Archivo Medium"/>
              <a:buAutoNum type="arabicPeriod"/>
            </a:pPr>
            <a:r>
              <a:rPr lang="en-US" sz="2100">
                <a:solidFill>
                  <a:schemeClr val="dk1"/>
                </a:solidFill>
                <a:latin typeface="Archivo Medium"/>
                <a:ea typeface="Archivo Medium"/>
                <a:cs typeface="Archivo Medium"/>
                <a:sym typeface="Archivo Medium"/>
              </a:rPr>
              <a:t>Cloud provider logs</a:t>
            </a:r>
            <a:endParaRPr sz="2100">
              <a:solidFill>
                <a:schemeClr val="dk1"/>
              </a:solidFill>
              <a:latin typeface="Archivo Medium"/>
              <a:ea typeface="Archivo Medium"/>
              <a:cs typeface="Archivo Medium"/>
              <a:sym typeface="Archivo Medium"/>
            </a:endParaRPr>
          </a:p>
          <a:p>
            <a:pPr indent="-361950" lvl="0" marL="457200" rtl="0" algn="l">
              <a:lnSpc>
                <a:spcPct val="100000"/>
              </a:lnSpc>
              <a:spcBef>
                <a:spcPts val="0"/>
              </a:spcBef>
              <a:spcAft>
                <a:spcPts val="0"/>
              </a:spcAft>
              <a:buClr>
                <a:schemeClr val="dk1"/>
              </a:buClr>
              <a:buSzPts val="2100"/>
              <a:buFont typeface="Archivo Medium"/>
              <a:buAutoNum type="arabicPeriod"/>
            </a:pPr>
            <a:r>
              <a:rPr lang="en-US" sz="2100">
                <a:solidFill>
                  <a:schemeClr val="dk1"/>
                </a:solidFill>
                <a:latin typeface="Archivo Medium"/>
                <a:ea typeface="Archivo Medium"/>
                <a:cs typeface="Archivo Medium"/>
                <a:sym typeface="Archivo Medium"/>
              </a:rPr>
              <a:t>Custom logs</a:t>
            </a:r>
            <a:endParaRPr sz="2100">
              <a:solidFill>
                <a:schemeClr val="dk1"/>
              </a:solidFill>
              <a:latin typeface="Archivo Medium"/>
              <a:ea typeface="Archivo Medium"/>
              <a:cs typeface="Archivo Medium"/>
              <a:sym typeface="Archivo Medium"/>
            </a:endParaRPr>
          </a:p>
          <a:p>
            <a:pPr indent="0" lvl="0" marL="0" rtl="0" algn="l">
              <a:lnSpc>
                <a:spcPct val="100000"/>
              </a:lnSpc>
              <a:spcBef>
                <a:spcPts val="0"/>
              </a:spcBef>
              <a:spcAft>
                <a:spcPts val="0"/>
              </a:spcAft>
              <a:buNone/>
            </a:pPr>
            <a:r>
              <a:t/>
            </a:r>
            <a:endParaRPr sz="21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8" name="Shape 1928"/>
        <p:cNvGrpSpPr/>
        <p:nvPr/>
      </p:nvGrpSpPr>
      <p:grpSpPr>
        <a:xfrm>
          <a:off x="0" y="0"/>
          <a:ext cx="0" cy="0"/>
          <a:chOff x="0" y="0"/>
          <a:chExt cx="0" cy="0"/>
        </a:xfrm>
      </p:grpSpPr>
      <p:sp>
        <p:nvSpPr>
          <p:cNvPr id="1929" name="Google Shape;1929;p144"/>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Syslog Event</a:t>
            </a:r>
            <a:endParaRPr b="1" i="0" sz="3600" u="none" cap="none" strike="noStrike">
              <a:solidFill>
                <a:schemeClr val="accent1"/>
              </a:solidFill>
              <a:latin typeface="Poppins"/>
              <a:ea typeface="Poppins"/>
              <a:cs typeface="Poppins"/>
              <a:sym typeface="Poppins"/>
            </a:endParaRPr>
          </a:p>
        </p:txBody>
      </p:sp>
      <p:cxnSp>
        <p:nvCxnSpPr>
          <p:cNvPr id="1930" name="Google Shape;1930;p14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1931" name="Google Shape;1931;p14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932" name="Google Shape;1932;p14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933" name="Google Shape;1933;p14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934" name="Google Shape;1934;p14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935" name="Google Shape;1935;p1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36" name="Google Shape;1936;p144"/>
          <p:cNvSpPr txBox="1"/>
          <p:nvPr/>
        </p:nvSpPr>
        <p:spPr>
          <a:xfrm>
            <a:off x="725325" y="1439724"/>
            <a:ext cx="10917900" cy="43806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1200"/>
              </a:spcAft>
              <a:buNone/>
            </a:pPr>
            <a:r>
              <a:rPr lang="en-US" sz="2100">
                <a:solidFill>
                  <a:schemeClr val="dk1"/>
                </a:solidFill>
                <a:latin typeface="Archivo Medium"/>
                <a:ea typeface="Archivo Medium"/>
                <a:cs typeface="Archivo Medium"/>
                <a:sym typeface="Archivo Medium"/>
              </a:rPr>
              <a:t>Wazuh mengumpulkan log dari perangkat yang mendukung syslog, mencakup berbagai sumber seperti sistem Linux/Unix dan perangkat jaringan yang tidak mendukung instalasi agen (agent).</a:t>
            </a:r>
            <a:endParaRPr sz="2100">
              <a:solidFill>
                <a:schemeClr val="dk1"/>
              </a:solidFill>
              <a:latin typeface="Archivo Medium"/>
              <a:ea typeface="Archivo Medium"/>
              <a:cs typeface="Archivo Medium"/>
              <a:sym typeface="Archivo Medium"/>
            </a:endParaRPr>
          </a:p>
        </p:txBody>
      </p:sp>
      <p:pic>
        <p:nvPicPr>
          <p:cNvPr id="1937" name="Google Shape;1937;p144"/>
          <p:cNvPicPr preferRelativeResize="0"/>
          <p:nvPr/>
        </p:nvPicPr>
        <p:blipFill>
          <a:blip r:embed="rId6">
            <a:alphaModFix/>
          </a:blip>
          <a:stretch>
            <a:fillRect/>
          </a:stretch>
        </p:blipFill>
        <p:spPr>
          <a:xfrm>
            <a:off x="2074275" y="2768950"/>
            <a:ext cx="8220001" cy="2740000"/>
          </a:xfrm>
          <a:prstGeom prst="rect">
            <a:avLst/>
          </a:prstGeom>
          <a:noFill/>
          <a:ln>
            <a:noFill/>
          </a:ln>
          <a:effectLst>
            <a:outerShdw blurRad="57150" rotWithShape="0" algn="bl" dir="9000000" dist="19050">
              <a:srgbClr val="000000">
                <a:alpha val="70000"/>
              </a:srgbClr>
            </a:outerShdw>
          </a:effectLst>
        </p:spPr>
      </p:pic>
    </p:spTree>
  </p:cSld>
  <p:clrMapOvr>
    <a:masterClrMapping/>
  </p:clrMapOvr>
  <p:transition spd="slow">
    <p:fade thruBlk="1"/>
  </p:transition>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1" name="Shape 1941"/>
        <p:cNvGrpSpPr/>
        <p:nvPr/>
      </p:nvGrpSpPr>
      <p:grpSpPr>
        <a:xfrm>
          <a:off x="0" y="0"/>
          <a:ext cx="0" cy="0"/>
          <a:chOff x="0" y="0"/>
          <a:chExt cx="0" cy="0"/>
        </a:xfrm>
      </p:grpSpPr>
      <p:sp>
        <p:nvSpPr>
          <p:cNvPr id="1942" name="Google Shape;1942;p145"/>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Agentless Event</a:t>
            </a:r>
            <a:endParaRPr b="1" i="0" sz="3600" u="none" cap="none" strike="noStrike">
              <a:solidFill>
                <a:schemeClr val="accent1"/>
              </a:solidFill>
              <a:latin typeface="Poppins"/>
              <a:ea typeface="Poppins"/>
              <a:cs typeface="Poppins"/>
              <a:sym typeface="Poppins"/>
            </a:endParaRPr>
          </a:p>
        </p:txBody>
      </p:sp>
      <p:cxnSp>
        <p:nvCxnSpPr>
          <p:cNvPr id="1943" name="Google Shape;1943;p14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1944" name="Google Shape;1944;p14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945" name="Google Shape;1945;p14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946" name="Google Shape;1946;p14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947" name="Google Shape;1947;p14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948" name="Google Shape;1948;p1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49" name="Google Shape;1949;p145"/>
          <p:cNvSpPr txBox="1"/>
          <p:nvPr/>
        </p:nvSpPr>
        <p:spPr>
          <a:xfrm>
            <a:off x="725325" y="1439724"/>
            <a:ext cx="10917900" cy="438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sz="2100">
                <a:solidFill>
                  <a:schemeClr val="dk1"/>
                </a:solidFill>
                <a:latin typeface="Archivo Medium"/>
                <a:ea typeface="Archivo Medium"/>
                <a:cs typeface="Archivo Medium"/>
                <a:sym typeface="Archivo Medium"/>
              </a:rPr>
              <a:t>Modul agentless monitoring</a:t>
            </a:r>
            <a:r>
              <a:rPr lang="en-US" sz="2100">
                <a:solidFill>
                  <a:schemeClr val="dk1"/>
                </a:solidFill>
                <a:latin typeface="Archivo Medium"/>
                <a:ea typeface="Archivo Medium"/>
                <a:cs typeface="Archivo Medium"/>
                <a:sym typeface="Archivo Medium"/>
              </a:rPr>
              <a:t> </a:t>
            </a:r>
            <a:r>
              <a:rPr lang="en-US" sz="2100">
                <a:solidFill>
                  <a:schemeClr val="dk1"/>
                </a:solidFill>
                <a:latin typeface="Archivo Medium"/>
                <a:ea typeface="Archivo Medium"/>
                <a:cs typeface="Archivo Medium"/>
                <a:sym typeface="Archivo Medium"/>
              </a:rPr>
              <a:t>Wazuh memungkinkan pemantauan terhadap endpoint yang </a:t>
            </a:r>
            <a:r>
              <a:rPr b="1" lang="en-US" sz="2100">
                <a:solidFill>
                  <a:schemeClr val="dk1"/>
                </a:solidFill>
                <a:latin typeface="Archivo"/>
                <a:ea typeface="Archivo"/>
                <a:cs typeface="Archivo"/>
                <a:sym typeface="Archivo"/>
              </a:rPr>
              <a:t>tidak mendukung instalasi agen</a:t>
            </a:r>
            <a:r>
              <a:rPr lang="en-US" sz="2100">
                <a:solidFill>
                  <a:schemeClr val="dk1"/>
                </a:solidFill>
                <a:latin typeface="Archivo Medium"/>
                <a:ea typeface="Archivo Medium"/>
                <a:cs typeface="Archivo Medium"/>
                <a:sym typeface="Archivo Medium"/>
              </a:rPr>
              <a:t> Modul ini membutuhkan koneksi </a:t>
            </a:r>
            <a:r>
              <a:rPr b="1" lang="en-US" sz="2100">
                <a:solidFill>
                  <a:schemeClr val="dk1"/>
                </a:solidFill>
                <a:latin typeface="Archivo"/>
                <a:ea typeface="Archivo"/>
                <a:cs typeface="Archivo"/>
                <a:sym typeface="Archivo"/>
              </a:rPr>
              <a:t>SSH </a:t>
            </a:r>
            <a:r>
              <a:rPr lang="en-US" sz="2100">
                <a:solidFill>
                  <a:schemeClr val="dk1"/>
                </a:solidFill>
                <a:latin typeface="Archivo Medium"/>
                <a:ea typeface="Archivo Medium"/>
                <a:cs typeface="Archivo Medium"/>
                <a:sym typeface="Archivo Medium"/>
              </a:rPr>
              <a:t>antara endpoint dan server Wazuh.</a:t>
            </a:r>
            <a:endParaRPr sz="21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sz="21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rPr lang="en-US" sz="2100">
                <a:solidFill>
                  <a:schemeClr val="dk1"/>
                </a:solidFill>
                <a:latin typeface="Archivo Medium"/>
                <a:ea typeface="Archivo Medium"/>
                <a:cs typeface="Archivo Medium"/>
                <a:sym typeface="Archivo Medium"/>
              </a:rPr>
              <a:t>Wazuh menyediakan skrip bernama `</a:t>
            </a:r>
            <a:r>
              <a:rPr i="1" lang="en-US" sz="2100">
                <a:solidFill>
                  <a:schemeClr val="dk1"/>
                </a:solidFill>
                <a:latin typeface="Archivo Medium"/>
                <a:ea typeface="Archivo Medium"/>
                <a:cs typeface="Archivo Medium"/>
                <a:sym typeface="Archivo Medium"/>
              </a:rPr>
              <a:t>register_host.sh</a:t>
            </a:r>
            <a:r>
              <a:rPr lang="en-US" sz="2100">
                <a:solidFill>
                  <a:schemeClr val="dk1"/>
                </a:solidFill>
                <a:latin typeface="Archivo Medium"/>
                <a:ea typeface="Archivo Medium"/>
                <a:cs typeface="Archivo Medium"/>
                <a:sym typeface="Archivo Medium"/>
              </a:rPr>
              <a:t>` yang digunakan untuk menghubungkan endpoint agentless ke server Wazuh melalui autentikasi SSH.</a:t>
            </a:r>
            <a:endParaRPr sz="21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sz="2100">
              <a:solidFill>
                <a:schemeClr val="dk1"/>
              </a:solidFill>
              <a:latin typeface="Archivo Medium"/>
              <a:ea typeface="Archivo Medium"/>
              <a:cs typeface="Archivo Medium"/>
              <a:sym typeface="Archivo Medium"/>
            </a:endParaRPr>
          </a:p>
          <a:p>
            <a:pPr indent="0" lvl="0" marL="0" rtl="0" algn="l">
              <a:lnSpc>
                <a:spcPct val="100000"/>
              </a:lnSpc>
              <a:spcBef>
                <a:spcPts val="0"/>
              </a:spcBef>
              <a:spcAft>
                <a:spcPts val="0"/>
              </a:spcAft>
              <a:buNone/>
            </a:pPr>
            <a:r>
              <a:t/>
            </a:r>
            <a:endParaRPr sz="1800">
              <a:solidFill>
                <a:schemeClr val="dk1"/>
              </a:solidFill>
              <a:latin typeface="Archivo Medium"/>
              <a:ea typeface="Archivo Medium"/>
              <a:cs typeface="Archivo Medium"/>
              <a:sym typeface="Archivo Medium"/>
            </a:endParaRPr>
          </a:p>
          <a:p>
            <a:pPr indent="0" lvl="0" marL="0" rtl="0" algn="ctr">
              <a:lnSpc>
                <a:spcPct val="100000"/>
              </a:lnSpc>
              <a:spcBef>
                <a:spcPts val="0"/>
              </a:spcBef>
              <a:spcAft>
                <a:spcPts val="0"/>
              </a:spcAft>
              <a:buNone/>
            </a:pPr>
            <a:r>
              <a:rPr lang="en-US" sz="1900">
                <a:solidFill>
                  <a:schemeClr val="dk1"/>
                </a:solidFill>
                <a:latin typeface="Courier New"/>
                <a:ea typeface="Courier New"/>
                <a:cs typeface="Courier New"/>
                <a:sym typeface="Courier New"/>
              </a:rPr>
              <a:t>/var/ossec/agentless/register_host.sh add user@test.com test_password</a:t>
            </a:r>
            <a:endParaRPr sz="1900">
              <a:solidFill>
                <a:schemeClr val="dk1"/>
              </a:solidFill>
              <a:latin typeface="Courier New"/>
              <a:ea typeface="Courier New"/>
              <a:cs typeface="Courier New"/>
              <a:sym typeface="Courier New"/>
            </a:endParaRPr>
          </a:p>
          <a:p>
            <a:pPr indent="0" lvl="0" marL="0" rtl="0" algn="ctr">
              <a:lnSpc>
                <a:spcPct val="100000"/>
              </a:lnSpc>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rtl="0" algn="ctr">
              <a:lnSpc>
                <a:spcPct val="100000"/>
              </a:lnSpc>
              <a:spcBef>
                <a:spcPts val="0"/>
              </a:spcBef>
              <a:spcAft>
                <a:spcPts val="0"/>
              </a:spcAft>
              <a:buNone/>
            </a:pPr>
            <a:r>
              <a:rPr lang="en-US" sz="1800">
                <a:solidFill>
                  <a:schemeClr val="dk1"/>
                </a:solidFill>
                <a:latin typeface="Courier New"/>
                <a:ea typeface="Courier New"/>
                <a:cs typeface="Courier New"/>
                <a:sym typeface="Courier New"/>
              </a:rPr>
              <a:t>/var/ossec/agentless/register_host.sh list</a:t>
            </a:r>
            <a:endParaRPr sz="18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800">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3" name="Shape 1953"/>
        <p:cNvGrpSpPr/>
        <p:nvPr/>
      </p:nvGrpSpPr>
      <p:grpSpPr>
        <a:xfrm>
          <a:off x="0" y="0"/>
          <a:ext cx="0" cy="0"/>
          <a:chOff x="0" y="0"/>
          <a:chExt cx="0" cy="0"/>
        </a:xfrm>
      </p:grpSpPr>
      <p:sp>
        <p:nvSpPr>
          <p:cNvPr id="1954" name="Google Shape;1954;p146"/>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Data Analysis</a:t>
            </a:r>
            <a:endParaRPr b="1" i="0" sz="3600" u="none" cap="none" strike="noStrike">
              <a:solidFill>
                <a:schemeClr val="accent1"/>
              </a:solidFill>
              <a:latin typeface="Poppins"/>
              <a:ea typeface="Poppins"/>
              <a:cs typeface="Poppins"/>
              <a:sym typeface="Poppins"/>
            </a:endParaRPr>
          </a:p>
        </p:txBody>
      </p:sp>
      <p:cxnSp>
        <p:nvCxnSpPr>
          <p:cNvPr id="1955" name="Google Shape;1955;p14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1956" name="Google Shape;1956;p14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957" name="Google Shape;1957;p14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958" name="Google Shape;1958;p14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959" name="Google Shape;1959;p14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960" name="Google Shape;1960;p14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61" name="Google Shape;1961;p146"/>
          <p:cNvSpPr txBox="1"/>
          <p:nvPr/>
        </p:nvSpPr>
        <p:spPr>
          <a:xfrm>
            <a:off x="725325" y="1439724"/>
            <a:ext cx="10917900" cy="43806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1100"/>
              <a:buFont typeface="Arial"/>
              <a:buNone/>
            </a:pPr>
            <a:r>
              <a:rPr lang="en-US" sz="2300">
                <a:solidFill>
                  <a:schemeClr val="dk1"/>
                </a:solidFill>
                <a:latin typeface="Archivo Medium"/>
                <a:ea typeface="Archivo Medium"/>
                <a:cs typeface="Archivo Medium"/>
                <a:sym typeface="Archivo Medium"/>
              </a:rPr>
              <a:t>Data log diproses oleh mesin analisis data Wazuh. Mesin ini menggunakan decoder untuk mem-parsing pesan log menjadi field yang berguna, lalu mencocokkannya dengan aturan bawaan (out-of-the-box) atau aturan kustom. Data yang telah dianalisis kemudian digunakan untuk deteksi ancaman, penilaian konfigurasi keamanan, dan kapabilitas lainnya dari Wazuh.</a:t>
            </a:r>
            <a:endParaRPr sz="23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sz="2300">
              <a:solidFill>
                <a:schemeClr val="dk1"/>
              </a:solidFill>
              <a:latin typeface="Archivo Medium"/>
              <a:ea typeface="Archivo Medium"/>
              <a:cs typeface="Archivo Medium"/>
              <a:sym typeface="Archivo Medium"/>
            </a:endParaRPr>
          </a:p>
          <a:p>
            <a:pPr indent="-374650" lvl="0" marL="457200" rtl="0" algn="l">
              <a:spcBef>
                <a:spcPts val="0"/>
              </a:spcBef>
              <a:spcAft>
                <a:spcPts val="0"/>
              </a:spcAft>
              <a:buClr>
                <a:schemeClr val="dk1"/>
              </a:buClr>
              <a:buSzPts val="2300"/>
              <a:buFont typeface="Archivo Medium"/>
              <a:buChar char="●"/>
            </a:pPr>
            <a:r>
              <a:rPr lang="en-US" sz="2300">
                <a:solidFill>
                  <a:schemeClr val="dk1"/>
                </a:solidFill>
                <a:latin typeface="Archivo Medium"/>
                <a:ea typeface="Archivo Medium"/>
                <a:cs typeface="Archivo Medium"/>
                <a:sym typeface="Archivo Medium"/>
              </a:rPr>
              <a:t>Log Collection </a:t>
            </a:r>
            <a:endParaRPr sz="2300">
              <a:solidFill>
                <a:schemeClr val="dk1"/>
              </a:solidFill>
              <a:latin typeface="Archivo Medium"/>
              <a:ea typeface="Archivo Medium"/>
              <a:cs typeface="Archivo Medium"/>
              <a:sym typeface="Archivo Medium"/>
            </a:endParaRPr>
          </a:p>
          <a:p>
            <a:pPr indent="-374650" lvl="0" marL="457200" rtl="0" algn="l">
              <a:spcBef>
                <a:spcPts val="0"/>
              </a:spcBef>
              <a:spcAft>
                <a:spcPts val="0"/>
              </a:spcAft>
              <a:buClr>
                <a:schemeClr val="dk1"/>
              </a:buClr>
              <a:buSzPts val="2300"/>
              <a:buFont typeface="Archivo Medium"/>
              <a:buChar char="●"/>
            </a:pPr>
            <a:r>
              <a:rPr lang="en-US" sz="2300">
                <a:solidFill>
                  <a:schemeClr val="dk1"/>
                </a:solidFill>
                <a:latin typeface="Archivo Medium"/>
                <a:ea typeface="Archivo Medium"/>
                <a:cs typeface="Archivo Medium"/>
                <a:sym typeface="Archivo Medium"/>
              </a:rPr>
              <a:t>Log Decoding </a:t>
            </a:r>
            <a:endParaRPr sz="2300">
              <a:solidFill>
                <a:schemeClr val="dk1"/>
              </a:solidFill>
              <a:latin typeface="Archivo Medium"/>
              <a:ea typeface="Archivo Medium"/>
              <a:cs typeface="Archivo Medium"/>
              <a:sym typeface="Archivo Medium"/>
            </a:endParaRPr>
          </a:p>
          <a:p>
            <a:pPr indent="-374650" lvl="0" marL="457200" rtl="0" algn="l">
              <a:spcBef>
                <a:spcPts val="0"/>
              </a:spcBef>
              <a:spcAft>
                <a:spcPts val="0"/>
              </a:spcAft>
              <a:buClr>
                <a:schemeClr val="dk1"/>
              </a:buClr>
              <a:buSzPts val="2300"/>
              <a:buFont typeface="Archivo Medium"/>
              <a:buChar char="●"/>
            </a:pPr>
            <a:r>
              <a:rPr lang="en-US" sz="2300">
                <a:solidFill>
                  <a:schemeClr val="dk1"/>
                </a:solidFill>
                <a:latin typeface="Archivo Medium"/>
                <a:ea typeface="Archivo Medium"/>
                <a:cs typeface="Archivo Medium"/>
                <a:sym typeface="Archivo Medium"/>
              </a:rPr>
              <a:t>Rule Matching and Alert Visualization</a:t>
            </a:r>
            <a:endParaRPr sz="23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sz="23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rPr lang="en-US" sz="2300">
                <a:solidFill>
                  <a:schemeClr val="dk1"/>
                </a:solidFill>
                <a:latin typeface="Archivo Medium"/>
                <a:ea typeface="Archivo Medium"/>
                <a:cs typeface="Archivo Medium"/>
                <a:sym typeface="Archivo Medium"/>
              </a:rPr>
              <a:t>Dengan proses ini, Wazuh mampu menyaring log dalam jumlah besar dan mengubahnya menjadi informasi keamanan yang bermakna.</a:t>
            </a:r>
            <a:endParaRPr sz="2300">
              <a:solidFill>
                <a:schemeClr val="dk1"/>
              </a:solidFill>
              <a:latin typeface="Archivo Medium"/>
              <a:ea typeface="Archivo Medium"/>
              <a:cs typeface="Archivo Medium"/>
              <a:sym typeface="Archivo Medium"/>
            </a:endParaRPr>
          </a:p>
          <a:p>
            <a:pPr indent="0" lvl="0" marL="0" rtl="0" algn="l">
              <a:lnSpc>
                <a:spcPct val="100000"/>
              </a:lnSpc>
              <a:spcBef>
                <a:spcPts val="0"/>
              </a:spcBef>
              <a:spcAft>
                <a:spcPts val="0"/>
              </a:spcAft>
              <a:buNone/>
            </a:pPr>
            <a:r>
              <a:t/>
            </a:r>
            <a:endParaRPr sz="23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sp>
        <p:nvSpPr>
          <p:cNvPr id="1966" name="Google Shape;1966;p147"/>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Flow Log Analysis </a:t>
            </a:r>
            <a:endParaRPr b="1" i="0" sz="3600" u="none" cap="none" strike="noStrike">
              <a:solidFill>
                <a:schemeClr val="accent1"/>
              </a:solidFill>
              <a:latin typeface="Poppins"/>
              <a:ea typeface="Poppins"/>
              <a:cs typeface="Poppins"/>
              <a:sym typeface="Poppins"/>
            </a:endParaRPr>
          </a:p>
        </p:txBody>
      </p:sp>
      <p:cxnSp>
        <p:nvCxnSpPr>
          <p:cNvPr id="1967" name="Google Shape;1967;p14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1968" name="Google Shape;1968;p14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969" name="Google Shape;1969;p14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970" name="Google Shape;1970;p14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971" name="Google Shape;1971;p14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972" name="Google Shape;1972;p1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73" name="Google Shape;1973;p147"/>
          <p:cNvSpPr txBox="1"/>
          <p:nvPr/>
        </p:nvSpPr>
        <p:spPr>
          <a:xfrm>
            <a:off x="725325" y="1439724"/>
            <a:ext cx="10917900" cy="43806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None/>
            </a:pPr>
            <a:r>
              <a:rPr lang="en-US" sz="2300">
                <a:solidFill>
                  <a:schemeClr val="dk1"/>
                </a:solidFill>
                <a:latin typeface="Archivo Medium"/>
                <a:ea typeface="Archivo Medium"/>
                <a:cs typeface="Archivo Medium"/>
                <a:sym typeface="Archivo Medium"/>
              </a:rPr>
              <a:t>Analisis data log adalah proses penting yang melibatkan pemeriksaan dan ekstraksi wawasan berharga dari file log yang dihasilkan oleh berbagai sistem, aplikasi, atau perangkat.</a:t>
            </a:r>
            <a:endParaRPr sz="23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23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rPr lang="en-US" sz="2300">
                <a:solidFill>
                  <a:schemeClr val="dk1"/>
                </a:solidFill>
                <a:latin typeface="Archivo Medium"/>
                <a:ea typeface="Archivo Medium"/>
                <a:cs typeface="Archivo Medium"/>
                <a:sym typeface="Archivo Medium"/>
              </a:rPr>
              <a:t>Log ini berisi catatan peristiwa yang memberikan informasi berguna untuk:</a:t>
            </a:r>
            <a:endParaRPr sz="2300">
              <a:solidFill>
                <a:schemeClr val="dk1"/>
              </a:solidFill>
              <a:latin typeface="Archivo Medium"/>
              <a:ea typeface="Archivo Medium"/>
              <a:cs typeface="Archivo Medium"/>
              <a:sym typeface="Archivo Medium"/>
            </a:endParaRPr>
          </a:p>
          <a:p>
            <a:pPr indent="-374650" lvl="0" marL="457200" rtl="0" algn="l">
              <a:spcBef>
                <a:spcPts val="0"/>
              </a:spcBef>
              <a:spcAft>
                <a:spcPts val="0"/>
              </a:spcAft>
              <a:buClr>
                <a:schemeClr val="dk1"/>
              </a:buClr>
              <a:buSzPts val="2300"/>
              <a:buFont typeface="Archivo Medium"/>
              <a:buChar char="●"/>
            </a:pPr>
            <a:r>
              <a:rPr lang="en-US" sz="2300">
                <a:solidFill>
                  <a:schemeClr val="dk1"/>
                </a:solidFill>
                <a:latin typeface="Archivo Medium"/>
                <a:ea typeface="Archivo Medium"/>
                <a:cs typeface="Archivo Medium"/>
                <a:sym typeface="Archivo Medium"/>
              </a:rPr>
              <a:t>Pemecahan masalah (troubleshooting)</a:t>
            </a:r>
            <a:endParaRPr sz="2300">
              <a:solidFill>
                <a:schemeClr val="dk1"/>
              </a:solidFill>
              <a:latin typeface="Archivo Medium"/>
              <a:ea typeface="Archivo Medium"/>
              <a:cs typeface="Archivo Medium"/>
              <a:sym typeface="Archivo Medium"/>
            </a:endParaRPr>
          </a:p>
          <a:p>
            <a:pPr indent="-374650" lvl="0" marL="457200" rtl="0" algn="l">
              <a:spcBef>
                <a:spcPts val="0"/>
              </a:spcBef>
              <a:spcAft>
                <a:spcPts val="0"/>
              </a:spcAft>
              <a:buClr>
                <a:schemeClr val="dk1"/>
              </a:buClr>
              <a:buSzPts val="2300"/>
              <a:buFont typeface="Archivo Medium"/>
              <a:buChar char="●"/>
            </a:pPr>
            <a:r>
              <a:rPr lang="en-US" sz="2300">
                <a:solidFill>
                  <a:schemeClr val="dk1"/>
                </a:solidFill>
                <a:latin typeface="Archivo Medium"/>
                <a:ea typeface="Archivo Medium"/>
                <a:cs typeface="Archivo Medium"/>
                <a:sym typeface="Archivo Medium"/>
              </a:rPr>
              <a:t>Analisis dan pemantauan keamanan</a:t>
            </a:r>
            <a:endParaRPr sz="2300">
              <a:solidFill>
                <a:schemeClr val="dk1"/>
              </a:solidFill>
              <a:latin typeface="Archivo Medium"/>
              <a:ea typeface="Archivo Medium"/>
              <a:cs typeface="Archivo Medium"/>
              <a:sym typeface="Archivo Medium"/>
            </a:endParaRPr>
          </a:p>
          <a:p>
            <a:pPr indent="-374650" lvl="0" marL="457200" rtl="0" algn="l">
              <a:spcBef>
                <a:spcPts val="0"/>
              </a:spcBef>
              <a:spcAft>
                <a:spcPts val="0"/>
              </a:spcAft>
              <a:buClr>
                <a:schemeClr val="dk1"/>
              </a:buClr>
              <a:buSzPts val="2300"/>
              <a:buFont typeface="Archivo Medium"/>
              <a:buChar char="●"/>
            </a:pPr>
            <a:r>
              <a:rPr lang="en-US" sz="2300">
                <a:solidFill>
                  <a:schemeClr val="dk1"/>
                </a:solidFill>
                <a:latin typeface="Archivo Medium"/>
                <a:ea typeface="Archivo Medium"/>
                <a:cs typeface="Archivo Medium"/>
                <a:sym typeface="Archivo Medium"/>
              </a:rPr>
              <a:t>Optimalisasi kinerja sistem</a:t>
            </a:r>
            <a:endParaRPr sz="23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23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rPr lang="en-US" sz="2300">
                <a:solidFill>
                  <a:schemeClr val="dk1"/>
                </a:solidFill>
                <a:latin typeface="Archivo Medium"/>
                <a:ea typeface="Archivo Medium"/>
                <a:cs typeface="Archivo Medium"/>
                <a:sym typeface="Archivo Medium"/>
              </a:rPr>
              <a:t>Dengan menganalisis data log secara menyeluruh, kita dapat mendeteksi anomali, mengidentifikasi ancaman keamanan, serta meningkatkan efisiensi operasional.</a:t>
            </a:r>
            <a:endParaRPr sz="2300">
              <a:solidFill>
                <a:schemeClr val="dk1"/>
              </a:solidFill>
              <a:latin typeface="Archivo Medium"/>
              <a:ea typeface="Archivo Medium"/>
              <a:cs typeface="Archivo Medium"/>
              <a:sym typeface="Archivo Medium"/>
            </a:endParaRPr>
          </a:p>
          <a:p>
            <a:pPr indent="0" lvl="0" marL="0" rtl="0" algn="l">
              <a:lnSpc>
                <a:spcPct val="100000"/>
              </a:lnSpc>
              <a:spcBef>
                <a:spcPts val="0"/>
              </a:spcBef>
              <a:spcAft>
                <a:spcPts val="0"/>
              </a:spcAft>
              <a:buNone/>
            </a:pPr>
            <a:r>
              <a:t/>
            </a:r>
            <a:endParaRPr sz="23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7" name="Shape 1977"/>
        <p:cNvGrpSpPr/>
        <p:nvPr/>
      </p:nvGrpSpPr>
      <p:grpSpPr>
        <a:xfrm>
          <a:off x="0" y="0"/>
          <a:ext cx="0" cy="0"/>
          <a:chOff x="0" y="0"/>
          <a:chExt cx="0" cy="0"/>
        </a:xfrm>
      </p:grpSpPr>
      <p:sp>
        <p:nvSpPr>
          <p:cNvPr id="1978" name="Google Shape;1978;p148"/>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Event &amp; Alert Logging</a:t>
            </a:r>
            <a:endParaRPr b="1" i="0" sz="3600" u="none" cap="none" strike="noStrike">
              <a:solidFill>
                <a:schemeClr val="accent1"/>
              </a:solidFill>
              <a:latin typeface="Poppins"/>
              <a:ea typeface="Poppins"/>
              <a:cs typeface="Poppins"/>
              <a:sym typeface="Poppins"/>
            </a:endParaRPr>
          </a:p>
        </p:txBody>
      </p:sp>
      <p:cxnSp>
        <p:nvCxnSpPr>
          <p:cNvPr id="1979" name="Google Shape;1979;p14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1980" name="Google Shape;1980;p14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981" name="Google Shape;1981;p14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982" name="Google Shape;1982;p14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983" name="Google Shape;1983;p14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984" name="Google Shape;1984;p14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85" name="Google Shape;1985;p148"/>
          <p:cNvSpPr txBox="1"/>
          <p:nvPr/>
        </p:nvSpPr>
        <p:spPr>
          <a:xfrm>
            <a:off x="725325" y="1439724"/>
            <a:ext cx="10917900" cy="4380600"/>
          </a:xfrm>
          <a:prstGeom prst="rect">
            <a:avLst/>
          </a:prstGeom>
          <a:noFill/>
          <a:ln>
            <a:noFill/>
          </a:ln>
        </p:spPr>
        <p:txBody>
          <a:bodyPr anchorCtr="0" anchor="t" bIns="45700" lIns="91425" spcFirstLastPara="1" rIns="91425" wrap="square" tIns="45700">
            <a:normAutofit/>
          </a:bodyPr>
          <a:lstStyle/>
          <a:p>
            <a:pPr indent="-374650" lvl="0" marL="457200" rtl="0" algn="l">
              <a:lnSpc>
                <a:spcPct val="100000"/>
              </a:lnSpc>
              <a:spcBef>
                <a:spcPts val="0"/>
              </a:spcBef>
              <a:spcAft>
                <a:spcPts val="0"/>
              </a:spcAft>
              <a:buClr>
                <a:schemeClr val="dk1"/>
              </a:buClr>
              <a:buSzPts val="2300"/>
              <a:buFont typeface="Archivo Medium"/>
              <a:buChar char="●"/>
            </a:pPr>
            <a:r>
              <a:rPr lang="en-US" sz="2300">
                <a:solidFill>
                  <a:schemeClr val="dk1"/>
                </a:solidFill>
                <a:latin typeface="Courier New"/>
                <a:ea typeface="Courier New"/>
                <a:cs typeface="Courier New"/>
                <a:sym typeface="Courier New"/>
              </a:rPr>
              <a:t>/var/ossec/logs/ossec.logs </a:t>
            </a:r>
            <a:r>
              <a:rPr lang="en-US" sz="2300">
                <a:solidFill>
                  <a:schemeClr val="dk1"/>
                </a:solidFill>
                <a:latin typeface="Archivo Medium"/>
                <a:ea typeface="Archivo Medium"/>
                <a:cs typeface="Archivo Medium"/>
                <a:sym typeface="Archivo Medium"/>
              </a:rPr>
              <a:t>→ Stores all informational level logs generated by the Wazuh server.</a:t>
            </a:r>
            <a:endParaRPr sz="2300">
              <a:solidFill>
                <a:schemeClr val="dk1"/>
              </a:solidFill>
              <a:latin typeface="Archivo Medium"/>
              <a:ea typeface="Archivo Medium"/>
              <a:cs typeface="Archivo Medium"/>
              <a:sym typeface="Archivo Medium"/>
            </a:endParaRPr>
          </a:p>
          <a:p>
            <a:pPr indent="0" lvl="0" marL="0" rtl="0" algn="l">
              <a:lnSpc>
                <a:spcPct val="100000"/>
              </a:lnSpc>
              <a:spcBef>
                <a:spcPts val="0"/>
              </a:spcBef>
              <a:spcAft>
                <a:spcPts val="0"/>
              </a:spcAft>
              <a:buNone/>
            </a:pPr>
            <a:r>
              <a:t/>
            </a:r>
            <a:endParaRPr sz="2300">
              <a:solidFill>
                <a:schemeClr val="dk1"/>
              </a:solidFill>
              <a:latin typeface="Archivo Medium"/>
              <a:ea typeface="Archivo Medium"/>
              <a:cs typeface="Archivo Medium"/>
              <a:sym typeface="Archivo Medium"/>
            </a:endParaRPr>
          </a:p>
          <a:p>
            <a:pPr indent="-374650" lvl="0" marL="457200" rtl="0" algn="l">
              <a:lnSpc>
                <a:spcPct val="100000"/>
              </a:lnSpc>
              <a:spcBef>
                <a:spcPts val="0"/>
              </a:spcBef>
              <a:spcAft>
                <a:spcPts val="0"/>
              </a:spcAft>
              <a:buClr>
                <a:schemeClr val="dk1"/>
              </a:buClr>
              <a:buSzPts val="2300"/>
              <a:buFont typeface="Courier New"/>
              <a:buChar char="●"/>
            </a:pPr>
            <a:r>
              <a:rPr lang="en-US" sz="2300">
                <a:solidFill>
                  <a:schemeClr val="dk1"/>
                </a:solidFill>
                <a:latin typeface="Courier New"/>
                <a:ea typeface="Courier New"/>
                <a:cs typeface="Courier New"/>
                <a:sym typeface="Courier New"/>
              </a:rPr>
              <a:t>/var/ossec/logs/alerts/alerts.log </a:t>
            </a:r>
            <a:r>
              <a:rPr lang="en-US" sz="2300">
                <a:solidFill>
                  <a:schemeClr val="dk1"/>
                </a:solidFill>
                <a:latin typeface="Archivo"/>
                <a:ea typeface="Archivo"/>
                <a:cs typeface="Archivo"/>
                <a:sym typeface="Archivo"/>
              </a:rPr>
              <a:t>and</a:t>
            </a:r>
            <a:r>
              <a:rPr lang="en-US" sz="2300">
                <a:solidFill>
                  <a:schemeClr val="dk1"/>
                </a:solidFill>
                <a:latin typeface="Courier New"/>
                <a:ea typeface="Courier New"/>
                <a:cs typeface="Courier New"/>
                <a:sym typeface="Courier New"/>
              </a:rPr>
              <a:t> /var/ossec/logs/alerts/alerts.json files.  →</a:t>
            </a:r>
            <a:r>
              <a:rPr lang="en-US" sz="2300">
                <a:solidFill>
                  <a:schemeClr val="dk1"/>
                </a:solidFill>
                <a:latin typeface="Archivo Medium"/>
                <a:ea typeface="Archivo Medium"/>
                <a:cs typeface="Archivo Medium"/>
                <a:sym typeface="Archivo Medium"/>
              </a:rPr>
              <a:t>Store Information Alert</a:t>
            </a:r>
            <a:endParaRPr sz="23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9" name="Shape 1989"/>
        <p:cNvGrpSpPr/>
        <p:nvPr/>
      </p:nvGrpSpPr>
      <p:grpSpPr>
        <a:xfrm>
          <a:off x="0" y="0"/>
          <a:ext cx="0" cy="0"/>
          <a:chOff x="0" y="0"/>
          <a:chExt cx="0" cy="0"/>
        </a:xfrm>
      </p:grpSpPr>
      <p:sp>
        <p:nvSpPr>
          <p:cNvPr id="1990" name="Google Shape;1990;p149"/>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Flow Log Analysis </a:t>
            </a:r>
            <a:endParaRPr b="1" i="0" sz="3600" u="none" cap="none" strike="noStrike">
              <a:solidFill>
                <a:schemeClr val="accent1"/>
              </a:solidFill>
              <a:latin typeface="Poppins"/>
              <a:ea typeface="Poppins"/>
              <a:cs typeface="Poppins"/>
              <a:sym typeface="Poppins"/>
            </a:endParaRPr>
          </a:p>
        </p:txBody>
      </p:sp>
      <p:cxnSp>
        <p:nvCxnSpPr>
          <p:cNvPr id="1991" name="Google Shape;1991;p14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1992" name="Google Shape;1992;p14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1993" name="Google Shape;1993;p14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1994" name="Google Shape;1994;p14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1995" name="Google Shape;1995;p14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1996" name="Google Shape;1996;p14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97" name="Google Shape;1997;p149"/>
          <p:cNvSpPr txBox="1"/>
          <p:nvPr/>
        </p:nvSpPr>
        <p:spPr>
          <a:xfrm>
            <a:off x="725325" y="1439724"/>
            <a:ext cx="10917900" cy="438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2300">
                <a:solidFill>
                  <a:schemeClr val="dk1"/>
                </a:solidFill>
                <a:latin typeface="Archivo Medium"/>
                <a:ea typeface="Archivo Medium"/>
                <a:cs typeface="Archivo Medium"/>
                <a:sym typeface="Archivo Medium"/>
              </a:rPr>
              <a:t>Analisis data log melibatkan peninjauan log yang dihasilkan oleh perangkat jaringan, endpoint, dan aplikasi untuk mendapatkan visibilitas terhadap infrastruktur TI.</a:t>
            </a:r>
            <a:endParaRPr sz="23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23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rPr lang="en-US" sz="2300">
                <a:solidFill>
                  <a:schemeClr val="dk1"/>
                </a:solidFill>
                <a:latin typeface="Archivo Medium"/>
                <a:ea typeface="Archivo Medium"/>
                <a:cs typeface="Archivo Medium"/>
                <a:sym typeface="Archivo Medium"/>
              </a:rPr>
              <a:t>Dalam Wazuh, proses analisis log terdiri dari tiga fase utama, yaitu</a:t>
            </a:r>
            <a:endParaRPr sz="2300">
              <a:solidFill>
                <a:schemeClr val="dk1"/>
              </a:solidFill>
              <a:latin typeface="Archivo Medium"/>
              <a:ea typeface="Archivo Medium"/>
              <a:cs typeface="Archivo Medium"/>
              <a:sym typeface="Archivo Medium"/>
            </a:endParaRPr>
          </a:p>
          <a:p>
            <a:pPr indent="-374650" lvl="0" marL="457200" rtl="0" algn="l">
              <a:spcBef>
                <a:spcPts val="0"/>
              </a:spcBef>
              <a:spcAft>
                <a:spcPts val="0"/>
              </a:spcAft>
              <a:buClr>
                <a:schemeClr val="dk1"/>
              </a:buClr>
              <a:buSzPts val="2300"/>
              <a:buFont typeface="Archivo Medium"/>
              <a:buChar char="●"/>
            </a:pPr>
            <a:r>
              <a:rPr lang="en-US" sz="2300">
                <a:solidFill>
                  <a:schemeClr val="dk1"/>
                </a:solidFill>
                <a:latin typeface="Archivo Medium"/>
                <a:ea typeface="Archivo Medium"/>
                <a:cs typeface="Archivo Medium"/>
                <a:sym typeface="Archivo Medium"/>
              </a:rPr>
              <a:t>Pre-</a:t>
            </a:r>
            <a:r>
              <a:rPr lang="en-US" sz="2300">
                <a:solidFill>
                  <a:schemeClr val="dk1"/>
                </a:solidFill>
                <a:latin typeface="Archivo Medium"/>
                <a:ea typeface="Archivo Medium"/>
                <a:cs typeface="Archivo Medium"/>
                <a:sym typeface="Archivo Medium"/>
              </a:rPr>
              <a:t>d</a:t>
            </a:r>
            <a:r>
              <a:rPr lang="en-US" sz="2300">
                <a:solidFill>
                  <a:schemeClr val="dk1"/>
                </a:solidFill>
                <a:latin typeface="Archivo Medium"/>
                <a:ea typeface="Archivo Medium"/>
                <a:cs typeface="Archivo Medium"/>
                <a:sym typeface="Archivo Medium"/>
              </a:rPr>
              <a:t>ecoding</a:t>
            </a:r>
            <a:endParaRPr sz="2300">
              <a:solidFill>
                <a:schemeClr val="dk1"/>
              </a:solidFill>
              <a:latin typeface="Archivo Medium"/>
              <a:ea typeface="Archivo Medium"/>
              <a:cs typeface="Archivo Medium"/>
              <a:sym typeface="Archivo Medium"/>
            </a:endParaRPr>
          </a:p>
          <a:p>
            <a:pPr indent="-374650" lvl="0" marL="457200" rtl="0" algn="l">
              <a:spcBef>
                <a:spcPts val="0"/>
              </a:spcBef>
              <a:spcAft>
                <a:spcPts val="0"/>
              </a:spcAft>
              <a:buClr>
                <a:schemeClr val="dk1"/>
              </a:buClr>
              <a:buSzPts val="2300"/>
              <a:buFont typeface="Archivo Medium"/>
              <a:buChar char="●"/>
            </a:pPr>
            <a:r>
              <a:rPr lang="en-US" sz="2300">
                <a:solidFill>
                  <a:schemeClr val="dk1"/>
                </a:solidFill>
                <a:latin typeface="Archivo Medium"/>
                <a:ea typeface="Archivo Medium"/>
                <a:cs typeface="Archivo Medium"/>
                <a:sym typeface="Archivo Medium"/>
              </a:rPr>
              <a:t>Decoding</a:t>
            </a:r>
            <a:endParaRPr sz="2300">
              <a:solidFill>
                <a:schemeClr val="dk1"/>
              </a:solidFill>
              <a:latin typeface="Archivo Medium"/>
              <a:ea typeface="Archivo Medium"/>
              <a:cs typeface="Archivo Medium"/>
              <a:sym typeface="Archivo Medium"/>
            </a:endParaRPr>
          </a:p>
          <a:p>
            <a:pPr indent="-374650" lvl="0" marL="457200" rtl="0" algn="l">
              <a:spcBef>
                <a:spcPts val="0"/>
              </a:spcBef>
              <a:spcAft>
                <a:spcPts val="0"/>
              </a:spcAft>
              <a:buClr>
                <a:schemeClr val="dk1"/>
              </a:buClr>
              <a:buSzPts val="2300"/>
              <a:buFont typeface="Archivo Medium"/>
              <a:buChar char="●"/>
            </a:pPr>
            <a:r>
              <a:rPr lang="en-US" sz="2300">
                <a:solidFill>
                  <a:schemeClr val="dk1"/>
                </a:solidFill>
                <a:latin typeface="Archivo Medium"/>
                <a:ea typeface="Archivo Medium"/>
                <a:cs typeface="Archivo Medium"/>
                <a:sym typeface="Archivo Medium"/>
              </a:rPr>
              <a:t>Rule matching</a:t>
            </a:r>
            <a:endParaRPr sz="23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sz="2300">
              <a:solidFill>
                <a:schemeClr val="dk1"/>
              </a:solidFill>
              <a:latin typeface="Archivo Medium"/>
              <a:ea typeface="Archivo Medium"/>
              <a:cs typeface="Archivo Medium"/>
              <a:sym typeface="Archivo Medium"/>
            </a:endParaRPr>
          </a:p>
          <a:p>
            <a:pPr indent="0" lvl="0" marL="0" rtl="0" algn="l">
              <a:lnSpc>
                <a:spcPct val="100000"/>
              </a:lnSpc>
              <a:spcBef>
                <a:spcPts val="0"/>
              </a:spcBef>
              <a:spcAft>
                <a:spcPts val="0"/>
              </a:spcAft>
              <a:buNone/>
            </a:pPr>
            <a:r>
              <a:t/>
            </a:r>
            <a:endParaRPr sz="23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sp>
        <p:nvSpPr>
          <p:cNvPr id="2002" name="Google Shape;2002;p150"/>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Flow Log Analysis </a:t>
            </a:r>
            <a:endParaRPr b="1" i="0" sz="3600" u="none" cap="none" strike="noStrike">
              <a:solidFill>
                <a:schemeClr val="accent1"/>
              </a:solidFill>
              <a:latin typeface="Poppins"/>
              <a:ea typeface="Poppins"/>
              <a:cs typeface="Poppins"/>
              <a:sym typeface="Poppins"/>
            </a:endParaRPr>
          </a:p>
        </p:txBody>
      </p:sp>
      <p:cxnSp>
        <p:nvCxnSpPr>
          <p:cNvPr id="2003" name="Google Shape;2003;p15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004" name="Google Shape;2004;p15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005" name="Google Shape;2005;p15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006" name="Google Shape;2006;p15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007" name="Google Shape;2007;p15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008" name="Google Shape;2008;p15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09" name="Google Shape;2009;p150"/>
          <p:cNvSpPr txBox="1"/>
          <p:nvPr/>
        </p:nvSpPr>
        <p:spPr>
          <a:xfrm>
            <a:off x="952125" y="1485450"/>
            <a:ext cx="10917900" cy="419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sz="1600">
                <a:solidFill>
                  <a:schemeClr val="dk1"/>
                </a:solidFill>
                <a:latin typeface="Archivo Medium"/>
                <a:ea typeface="Archivo Medium"/>
                <a:cs typeface="Archivo Medium"/>
                <a:sym typeface="Archivo Medium"/>
              </a:rPr>
              <a:t>Feb 14 12:19:04 192.168.1.1 sshd[25474]: Accepted password for Stephen from 192.168.1.133 port 49765 ssh2</a:t>
            </a:r>
            <a:endParaRPr sz="1600">
              <a:solidFill>
                <a:schemeClr val="dk1"/>
              </a:solidFill>
              <a:latin typeface="Archivo Medium"/>
              <a:ea typeface="Archivo Medium"/>
              <a:cs typeface="Archivo Medium"/>
              <a:sym typeface="Archivo Medium"/>
            </a:endParaRPr>
          </a:p>
        </p:txBody>
      </p:sp>
      <p:sp>
        <p:nvSpPr>
          <p:cNvPr id="2010" name="Google Shape;2010;p150"/>
          <p:cNvSpPr txBox="1"/>
          <p:nvPr/>
        </p:nvSpPr>
        <p:spPr>
          <a:xfrm>
            <a:off x="603100" y="257405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ourier New"/>
                <a:ea typeface="Courier New"/>
                <a:cs typeface="Courier New"/>
                <a:sym typeface="Courier New"/>
              </a:rPr>
              <a:t>timestamp: 'Feb 14 12:19:04'</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hostname: '192.168.1.1'</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program_name: 'sshd'</a:t>
            </a:r>
            <a:endParaRPr sz="1200">
              <a:latin typeface="Courier New"/>
              <a:ea typeface="Courier New"/>
              <a:cs typeface="Courier New"/>
              <a:sym typeface="Courier New"/>
            </a:endParaRPr>
          </a:p>
        </p:txBody>
      </p:sp>
      <p:sp>
        <p:nvSpPr>
          <p:cNvPr id="2011" name="Google Shape;2011;p150"/>
          <p:cNvSpPr txBox="1"/>
          <p:nvPr/>
        </p:nvSpPr>
        <p:spPr>
          <a:xfrm>
            <a:off x="518675" y="3554088"/>
            <a:ext cx="67839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ourier New"/>
                <a:ea typeface="Courier New"/>
                <a:cs typeface="Courier New"/>
                <a:sym typeface="Courier New"/>
              </a:rPr>
              <a:t>&lt;decoder name="sshd"&gt;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&lt;program_name&gt;^sshd&lt;/program_name&gt;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&lt;decoder name="sshd-success"&gt;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&lt;parent&gt;sshd&lt;/parent&gt;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&lt;prematch&gt;^Accepted&lt;/prematch&gt;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&lt;regex offset="after_prematch"&gt;^ \S+ for (\S+) from (\S+) port (\S+)&lt;/regex&gt;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&lt;order&gt;user, srcip, srcport&lt;/order&gt;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&lt;fts&gt;name, user, location&lt;/fts&gt;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p:txBody>
      </p:sp>
      <p:sp>
        <p:nvSpPr>
          <p:cNvPr id="2012" name="Google Shape;2012;p150"/>
          <p:cNvSpPr txBox="1"/>
          <p:nvPr/>
        </p:nvSpPr>
        <p:spPr>
          <a:xfrm>
            <a:off x="5235475" y="2409575"/>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ourier New"/>
                <a:ea typeface="Courier New"/>
                <a:cs typeface="Courier New"/>
                <a:sym typeface="Courier New"/>
              </a:rPr>
              <a:t>dstuser: 'Stephen'</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srcip: '192.168.1.133'</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srcport: '49765'</a:t>
            </a:r>
            <a:endParaRPr>
              <a:latin typeface="Courier New"/>
              <a:ea typeface="Courier New"/>
              <a:cs typeface="Courier New"/>
              <a:sym typeface="Courier New"/>
            </a:endParaRPr>
          </a:p>
        </p:txBody>
      </p:sp>
      <p:sp>
        <p:nvSpPr>
          <p:cNvPr id="2013" name="Google Shape;2013;p150"/>
          <p:cNvSpPr txBox="1"/>
          <p:nvPr/>
        </p:nvSpPr>
        <p:spPr>
          <a:xfrm>
            <a:off x="8353800" y="3005475"/>
            <a:ext cx="35163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ourier New"/>
                <a:ea typeface="Courier New"/>
                <a:cs typeface="Courier New"/>
                <a:sym typeface="Courier New"/>
              </a:rPr>
              <a:t>&lt;rule id="5715" level="3"&gt;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&lt;if_sid&gt;5700&lt;/if_sid&gt;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&lt;match&gt;^Accepted|authenticated.$&lt;/match&gt;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&lt;description&gt;sshd: authentication success.&lt;/description&gt;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&lt;group&gt;authentication_success,pci_dss_10.2.5,&lt;/group&gt;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&lt;/rule&gt;</a:t>
            </a:r>
            <a:endParaRPr>
              <a:latin typeface="Courier New"/>
              <a:ea typeface="Courier New"/>
              <a:cs typeface="Courier New"/>
              <a:sym typeface="Courier New"/>
            </a:endParaRPr>
          </a:p>
        </p:txBody>
      </p:sp>
      <p:cxnSp>
        <p:nvCxnSpPr>
          <p:cNvPr id="2014" name="Google Shape;2014;p150"/>
          <p:cNvCxnSpPr>
            <a:stCxn id="2009" idx="2"/>
            <a:endCxn id="2010" idx="0"/>
          </p:cNvCxnSpPr>
          <p:nvPr/>
        </p:nvCxnSpPr>
        <p:spPr>
          <a:xfrm rot="5400000">
            <a:off x="3922425" y="85500"/>
            <a:ext cx="669300" cy="4308000"/>
          </a:xfrm>
          <a:prstGeom prst="curvedConnector3">
            <a:avLst>
              <a:gd fmla="val 49993" name="adj1"/>
            </a:avLst>
          </a:prstGeom>
          <a:noFill/>
          <a:ln cap="flat" cmpd="sng" w="38100">
            <a:solidFill>
              <a:srgbClr val="C41F2F"/>
            </a:solidFill>
            <a:prstDash val="solid"/>
            <a:round/>
            <a:headEnd len="med" w="med" type="none"/>
            <a:tailEnd len="med" w="med" type="stealth"/>
          </a:ln>
        </p:spPr>
      </p:cxnSp>
      <p:cxnSp>
        <p:nvCxnSpPr>
          <p:cNvPr id="2015" name="Google Shape;2015;p150"/>
          <p:cNvCxnSpPr>
            <a:stCxn id="2010" idx="3"/>
            <a:endCxn id="2011" idx="0"/>
          </p:cNvCxnSpPr>
          <p:nvPr/>
        </p:nvCxnSpPr>
        <p:spPr>
          <a:xfrm>
            <a:off x="3603100" y="2943500"/>
            <a:ext cx="307500" cy="610500"/>
          </a:xfrm>
          <a:prstGeom prst="curvedConnector2">
            <a:avLst/>
          </a:prstGeom>
          <a:noFill/>
          <a:ln cap="flat" cmpd="sng" w="38100">
            <a:solidFill>
              <a:srgbClr val="C41F2F"/>
            </a:solidFill>
            <a:prstDash val="solid"/>
            <a:round/>
            <a:headEnd len="med" w="med" type="none"/>
            <a:tailEnd len="med" w="med" type="stealth"/>
          </a:ln>
        </p:spPr>
      </p:cxnSp>
      <p:cxnSp>
        <p:nvCxnSpPr>
          <p:cNvPr id="2016" name="Google Shape;2016;p150"/>
          <p:cNvCxnSpPr>
            <a:stCxn id="2011" idx="3"/>
            <a:endCxn id="2012" idx="2"/>
          </p:cNvCxnSpPr>
          <p:nvPr/>
        </p:nvCxnSpPr>
        <p:spPr>
          <a:xfrm rot="10800000">
            <a:off x="6735575" y="3240888"/>
            <a:ext cx="567000" cy="1513800"/>
          </a:xfrm>
          <a:prstGeom prst="curvedConnector4">
            <a:avLst>
              <a:gd fmla="val -41997" name="adj1"/>
              <a:gd fmla="val 89656" name="adj2"/>
            </a:avLst>
          </a:prstGeom>
          <a:noFill/>
          <a:ln cap="flat" cmpd="sng" w="38100">
            <a:solidFill>
              <a:srgbClr val="C41F2F"/>
            </a:solidFill>
            <a:prstDash val="solid"/>
            <a:round/>
            <a:headEnd len="med" w="med" type="none"/>
            <a:tailEnd len="med" w="med" type="stealth"/>
          </a:ln>
        </p:spPr>
      </p:cxnSp>
      <p:cxnSp>
        <p:nvCxnSpPr>
          <p:cNvPr id="2017" name="Google Shape;2017;p150"/>
          <p:cNvCxnSpPr>
            <a:stCxn id="2012" idx="3"/>
            <a:endCxn id="2013" idx="0"/>
          </p:cNvCxnSpPr>
          <p:nvPr/>
        </p:nvCxnSpPr>
        <p:spPr>
          <a:xfrm>
            <a:off x="8235475" y="2825225"/>
            <a:ext cx="1876500" cy="180300"/>
          </a:xfrm>
          <a:prstGeom prst="curvedConnector2">
            <a:avLst/>
          </a:prstGeom>
          <a:noFill/>
          <a:ln cap="flat" cmpd="sng" w="38100">
            <a:solidFill>
              <a:srgbClr val="C41F2F"/>
            </a:solidFill>
            <a:prstDash val="solid"/>
            <a:round/>
            <a:headEnd len="med" w="med" type="none"/>
            <a:tailEnd len="med" w="med" type="stealth"/>
          </a:ln>
        </p:spPr>
      </p:cxnSp>
    </p:spTree>
  </p:cSld>
  <p:clrMapOvr>
    <a:masterClrMapping/>
  </p:clrMapOvr>
  <p:transition spd="slow">
    <p:fade thruBlk="1"/>
  </p:transition>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1" name="Shape 2021"/>
        <p:cNvGrpSpPr/>
        <p:nvPr/>
      </p:nvGrpSpPr>
      <p:grpSpPr>
        <a:xfrm>
          <a:off x="0" y="0"/>
          <a:ext cx="0" cy="0"/>
          <a:chOff x="0" y="0"/>
          <a:chExt cx="0" cy="0"/>
        </a:xfrm>
      </p:grpSpPr>
      <p:sp>
        <p:nvSpPr>
          <p:cNvPr id="2022" name="Google Shape;2022;p151"/>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Flow Log Analysis ( Pre-decoding )</a:t>
            </a:r>
            <a:endParaRPr b="1" i="0" sz="3600" u="none" cap="none" strike="noStrike">
              <a:solidFill>
                <a:schemeClr val="accent1"/>
              </a:solidFill>
              <a:latin typeface="Poppins"/>
              <a:ea typeface="Poppins"/>
              <a:cs typeface="Poppins"/>
              <a:sym typeface="Poppins"/>
            </a:endParaRPr>
          </a:p>
        </p:txBody>
      </p:sp>
      <p:cxnSp>
        <p:nvCxnSpPr>
          <p:cNvPr id="2023" name="Google Shape;2023;p15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024" name="Google Shape;2024;p15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025" name="Google Shape;2025;p15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026" name="Google Shape;2026;p15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027" name="Google Shape;2027;p15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028" name="Google Shape;2028;p1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29" name="Google Shape;2029;p151"/>
          <p:cNvSpPr txBox="1"/>
          <p:nvPr/>
        </p:nvSpPr>
        <p:spPr>
          <a:xfrm>
            <a:off x="952125" y="1485450"/>
            <a:ext cx="10917900" cy="419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sz="1600">
                <a:solidFill>
                  <a:schemeClr val="dk1"/>
                </a:solidFill>
                <a:latin typeface="Archivo Medium"/>
                <a:ea typeface="Archivo Medium"/>
                <a:cs typeface="Archivo Medium"/>
                <a:sym typeface="Archivo Medium"/>
              </a:rPr>
              <a:t>Feb 14 12:19:04 192.168.1.1 sshd[25474]: Accepted password for Stephen from 192.168.1.133 port 49765 ssh2</a:t>
            </a:r>
            <a:endParaRPr sz="1600">
              <a:solidFill>
                <a:schemeClr val="dk1"/>
              </a:solidFill>
              <a:latin typeface="Archivo Medium"/>
              <a:ea typeface="Archivo Medium"/>
              <a:cs typeface="Archivo Medium"/>
              <a:sym typeface="Archivo Medium"/>
            </a:endParaRPr>
          </a:p>
        </p:txBody>
      </p:sp>
      <p:sp>
        <p:nvSpPr>
          <p:cNvPr id="2030" name="Google Shape;2030;p151"/>
          <p:cNvSpPr txBox="1"/>
          <p:nvPr/>
        </p:nvSpPr>
        <p:spPr>
          <a:xfrm>
            <a:off x="603100" y="257405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ourier New"/>
                <a:ea typeface="Courier New"/>
                <a:cs typeface="Courier New"/>
                <a:sym typeface="Courier New"/>
              </a:rPr>
              <a:t>timestamp: 'Feb 14 12:19:04'</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hostname: '192.168.1.1'</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program_name: 'sshd'</a:t>
            </a:r>
            <a:endParaRPr sz="1200">
              <a:latin typeface="Courier New"/>
              <a:ea typeface="Courier New"/>
              <a:cs typeface="Courier New"/>
              <a:sym typeface="Courier New"/>
            </a:endParaRPr>
          </a:p>
        </p:txBody>
      </p:sp>
      <p:cxnSp>
        <p:nvCxnSpPr>
          <p:cNvPr id="2031" name="Google Shape;2031;p151"/>
          <p:cNvCxnSpPr>
            <a:stCxn id="2029" idx="2"/>
            <a:endCxn id="2030" idx="0"/>
          </p:cNvCxnSpPr>
          <p:nvPr/>
        </p:nvCxnSpPr>
        <p:spPr>
          <a:xfrm rot="5400000">
            <a:off x="3922425" y="85500"/>
            <a:ext cx="669300" cy="4308000"/>
          </a:xfrm>
          <a:prstGeom prst="curvedConnector3">
            <a:avLst>
              <a:gd fmla="val 49993" name="adj1"/>
            </a:avLst>
          </a:prstGeom>
          <a:noFill/>
          <a:ln cap="flat" cmpd="sng" w="38100">
            <a:solidFill>
              <a:srgbClr val="C41F2F"/>
            </a:solidFill>
            <a:prstDash val="solid"/>
            <a:round/>
            <a:headEnd len="med" w="med" type="none"/>
            <a:tailEnd len="med" w="med" type="stealth"/>
          </a:ln>
        </p:spPr>
      </p:cxnSp>
      <p:sp>
        <p:nvSpPr>
          <p:cNvPr id="2032" name="Google Shape;2032;p151"/>
          <p:cNvSpPr txBox="1"/>
          <p:nvPr/>
        </p:nvSpPr>
        <p:spPr>
          <a:xfrm>
            <a:off x="952125" y="3671275"/>
            <a:ext cx="10917900" cy="4194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Pada fase pre-decoding, mesin analisis log Wazuh mengekstrak informasi dasar dari header log yang mirip dengan format syslog. Informasi yang diambil mencakup:</a:t>
            </a:r>
            <a:endParaRPr sz="1900">
              <a:solidFill>
                <a:schemeClr val="dk1"/>
              </a:solidFill>
              <a:latin typeface="Archivo Medium"/>
              <a:ea typeface="Archivo Medium"/>
              <a:cs typeface="Archivo Medium"/>
              <a:sym typeface="Archivo Medium"/>
            </a:endParaRPr>
          </a:p>
          <a:p>
            <a:pPr indent="-349250" lvl="0" marL="457200" rtl="0" algn="l">
              <a:spcBef>
                <a:spcPts val="120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Timestamp: Waktu saat log dicatat.</a:t>
            </a:r>
            <a:endParaRPr sz="1900">
              <a:solidFill>
                <a:schemeClr val="dk1"/>
              </a:solidFill>
              <a:latin typeface="Archivo Medium"/>
              <a:ea typeface="Archivo Medium"/>
              <a:cs typeface="Archivo Medium"/>
              <a:sym typeface="Archivo Medium"/>
            </a:endParaRPr>
          </a:p>
          <a:p>
            <a:pPr indent="-349250" lvl="0" marL="457200" rtl="0" algn="l">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Hostname: Nama host atau IP address dari sumber log.</a:t>
            </a:r>
            <a:endParaRPr sz="1900">
              <a:solidFill>
                <a:schemeClr val="dk1"/>
              </a:solidFill>
              <a:latin typeface="Archivo Medium"/>
              <a:ea typeface="Archivo Medium"/>
              <a:cs typeface="Archivo Medium"/>
              <a:sym typeface="Archivo Medium"/>
            </a:endParaRPr>
          </a:p>
          <a:p>
            <a:pPr indent="-349250" lvl="0" marL="457200" rtl="0" algn="l">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Program name: Nama aplikasi atau proses yang menghasilkan log.</a:t>
            </a:r>
            <a:endParaRPr sz="1900">
              <a:solidFill>
                <a:schemeClr val="dk1"/>
              </a:solidFill>
              <a:latin typeface="Archivo Medium"/>
              <a:ea typeface="Archivo Medium"/>
              <a:cs typeface="Archivo Medium"/>
              <a:sym typeface="Archivo Medium"/>
            </a:endParaRPr>
          </a:p>
          <a:p>
            <a:pPr indent="0" lvl="0" marL="0" rtl="0" algn="l">
              <a:lnSpc>
                <a:spcPct val="100000"/>
              </a:lnSpc>
              <a:spcBef>
                <a:spcPts val="1200"/>
              </a:spcBef>
              <a:spcAft>
                <a:spcPts val="0"/>
              </a:spcAft>
              <a:buClr>
                <a:schemeClr val="dk1"/>
              </a:buClr>
              <a:buSzPts val="1100"/>
              <a:buFont typeface="Arial"/>
              <a:buNone/>
            </a:pPr>
            <a:r>
              <a:t/>
            </a:r>
            <a:endParaRPr sz="1900">
              <a:solidFill>
                <a:schemeClr val="dk1"/>
              </a:solidFill>
              <a:latin typeface="Archivo Medium"/>
              <a:ea typeface="Archivo Medium"/>
              <a:cs typeface="Archivo Medium"/>
              <a:sym typeface="Archivo Medium"/>
            </a:endParaRPr>
          </a:p>
          <a:p>
            <a:pPr indent="0" lvl="0" marL="0" rtl="0" algn="l">
              <a:lnSpc>
                <a:spcPct val="100000"/>
              </a:lnSpc>
              <a:spcBef>
                <a:spcPts val="1200"/>
              </a:spcBef>
              <a:spcAft>
                <a:spcPts val="0"/>
              </a:spcAft>
              <a:buClr>
                <a:schemeClr val="dk1"/>
              </a:buClr>
              <a:buSzPts val="1100"/>
              <a:buFont typeface="Arial"/>
              <a:buNone/>
            </a:pPr>
            <a:r>
              <a:t/>
            </a:r>
            <a:endParaRPr sz="1900">
              <a:solidFill>
                <a:schemeClr val="dk1"/>
              </a:solidFill>
              <a:latin typeface="Archivo Medium"/>
              <a:ea typeface="Archivo Medium"/>
              <a:cs typeface="Archivo Medium"/>
              <a:sym typeface="Archivo Medium"/>
            </a:endParaRPr>
          </a:p>
          <a:p>
            <a:pPr indent="0" lvl="0" marL="0" rtl="0" algn="l">
              <a:lnSpc>
                <a:spcPct val="10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6" name="Shape 2036"/>
        <p:cNvGrpSpPr/>
        <p:nvPr/>
      </p:nvGrpSpPr>
      <p:grpSpPr>
        <a:xfrm>
          <a:off x="0" y="0"/>
          <a:ext cx="0" cy="0"/>
          <a:chOff x="0" y="0"/>
          <a:chExt cx="0" cy="0"/>
        </a:xfrm>
      </p:grpSpPr>
      <p:sp>
        <p:nvSpPr>
          <p:cNvPr id="2037" name="Google Shape;2037;p152"/>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Flow Log Analysis ( Decoding )</a:t>
            </a:r>
            <a:endParaRPr b="1" i="0" sz="3600" u="none" cap="none" strike="noStrike">
              <a:solidFill>
                <a:schemeClr val="accent1"/>
              </a:solidFill>
              <a:latin typeface="Poppins"/>
              <a:ea typeface="Poppins"/>
              <a:cs typeface="Poppins"/>
              <a:sym typeface="Poppins"/>
            </a:endParaRPr>
          </a:p>
        </p:txBody>
      </p:sp>
      <p:cxnSp>
        <p:nvCxnSpPr>
          <p:cNvPr id="2038" name="Google Shape;2038;p15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039" name="Google Shape;2039;p15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040" name="Google Shape;2040;p15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041" name="Google Shape;2041;p15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042" name="Google Shape;2042;p15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043" name="Google Shape;2043;p15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44" name="Google Shape;2044;p152"/>
          <p:cNvSpPr txBox="1"/>
          <p:nvPr/>
        </p:nvSpPr>
        <p:spPr>
          <a:xfrm>
            <a:off x="952125" y="1485450"/>
            <a:ext cx="10917900" cy="419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sz="1600">
                <a:solidFill>
                  <a:schemeClr val="dk1"/>
                </a:solidFill>
                <a:latin typeface="Archivo Medium"/>
                <a:ea typeface="Archivo Medium"/>
                <a:cs typeface="Archivo Medium"/>
                <a:sym typeface="Archivo Medium"/>
              </a:rPr>
              <a:t>Feb 14 12:19:04 192.168.1.1 sshd[25474]: Accepted password for Stephen from 192.168.1.133 port 49765 ssh2</a:t>
            </a:r>
            <a:endParaRPr sz="1600">
              <a:solidFill>
                <a:schemeClr val="dk1"/>
              </a:solidFill>
              <a:latin typeface="Archivo Medium"/>
              <a:ea typeface="Archivo Medium"/>
              <a:cs typeface="Archivo Medium"/>
              <a:sym typeface="Archivo Medium"/>
            </a:endParaRPr>
          </a:p>
        </p:txBody>
      </p:sp>
      <p:cxnSp>
        <p:nvCxnSpPr>
          <p:cNvPr id="2045" name="Google Shape;2045;p152"/>
          <p:cNvCxnSpPr>
            <a:stCxn id="2044" idx="2"/>
            <a:endCxn id="2046" idx="3"/>
          </p:cNvCxnSpPr>
          <p:nvPr/>
        </p:nvCxnSpPr>
        <p:spPr>
          <a:xfrm flipH="1" rot="-5400000">
            <a:off x="6243525" y="2072400"/>
            <a:ext cx="1524000" cy="1188900"/>
          </a:xfrm>
          <a:prstGeom prst="curvedConnector4">
            <a:avLst>
              <a:gd fmla="val 13646" name="adj1"/>
              <a:gd fmla="val 120023" name="adj2"/>
            </a:avLst>
          </a:prstGeom>
          <a:noFill/>
          <a:ln cap="flat" cmpd="sng" w="38100">
            <a:solidFill>
              <a:srgbClr val="C41F2F"/>
            </a:solidFill>
            <a:prstDash val="solid"/>
            <a:round/>
            <a:headEnd len="med" w="med" type="none"/>
            <a:tailEnd len="med" w="med" type="stealth"/>
          </a:ln>
        </p:spPr>
      </p:cxnSp>
      <p:sp>
        <p:nvSpPr>
          <p:cNvPr id="2047" name="Google Shape;2047;p152"/>
          <p:cNvSpPr txBox="1"/>
          <p:nvPr/>
        </p:nvSpPr>
        <p:spPr>
          <a:xfrm>
            <a:off x="952125" y="4841450"/>
            <a:ext cx="10917900" cy="419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solidFill>
                  <a:schemeClr val="dk1"/>
                </a:solidFill>
                <a:latin typeface="Archivo Medium"/>
                <a:ea typeface="Archivo Medium"/>
                <a:cs typeface="Archivo Medium"/>
                <a:sym typeface="Archivo Medium"/>
              </a:rPr>
              <a:t>Pada fase decoding, mesin analisis log Wazuh mencari decoder yang sesuai untuk log yang diterima.</a:t>
            </a:r>
            <a:endParaRPr sz="1800">
              <a:solidFill>
                <a:schemeClr val="dk1"/>
              </a:solidFill>
              <a:latin typeface="Archivo Medium"/>
              <a:ea typeface="Archivo Medium"/>
              <a:cs typeface="Archivo Medium"/>
              <a:sym typeface="Archivo Medium"/>
            </a:endParaRPr>
          </a:p>
        </p:txBody>
      </p:sp>
      <p:sp>
        <p:nvSpPr>
          <p:cNvPr id="2046" name="Google Shape;2046;p152"/>
          <p:cNvSpPr txBox="1"/>
          <p:nvPr/>
        </p:nvSpPr>
        <p:spPr>
          <a:xfrm>
            <a:off x="816000" y="2320788"/>
            <a:ext cx="67839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ourier New"/>
                <a:ea typeface="Courier New"/>
                <a:cs typeface="Courier New"/>
                <a:sym typeface="Courier New"/>
              </a:rPr>
              <a:t>&lt;decoder name="sshd"&gt;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&lt;program_name&gt;^sshd&lt;/program_name&gt;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&lt;decoder name="sshd-success"&gt;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&lt;parent&gt;sshd&lt;/parent&gt;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&lt;prematch&gt;^Accepted&lt;/prematch&gt;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&lt;regex offset="after_prematch"&gt;^ \S+ for (\S+) from (\S+) port (\S+)&lt;/regex&gt;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&lt;order&gt;user, srcip, srcport&lt;/order&gt;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&lt;fts&gt;name, user, location&lt;/fts&gt;</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p:txBody>
      </p:sp>
    </p:spTree>
  </p:cSld>
  <p:clrMapOvr>
    <a:masterClrMapping/>
  </p:clrMapOvr>
  <p:transition spd="slow">
    <p:fade thruBlk="1"/>
  </p:transition>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1" name="Shape 2051"/>
        <p:cNvGrpSpPr/>
        <p:nvPr/>
      </p:nvGrpSpPr>
      <p:grpSpPr>
        <a:xfrm>
          <a:off x="0" y="0"/>
          <a:ext cx="0" cy="0"/>
          <a:chOff x="0" y="0"/>
          <a:chExt cx="0" cy="0"/>
        </a:xfrm>
      </p:grpSpPr>
      <p:sp>
        <p:nvSpPr>
          <p:cNvPr id="2052" name="Google Shape;2052;p153"/>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Flow Log Analysis - Decoding</a:t>
            </a:r>
            <a:endParaRPr b="1" i="0" sz="3600" u="none" cap="none" strike="noStrike">
              <a:solidFill>
                <a:schemeClr val="accent1"/>
              </a:solidFill>
              <a:latin typeface="Poppins"/>
              <a:ea typeface="Poppins"/>
              <a:cs typeface="Poppins"/>
              <a:sym typeface="Poppins"/>
            </a:endParaRPr>
          </a:p>
        </p:txBody>
      </p:sp>
      <p:cxnSp>
        <p:nvCxnSpPr>
          <p:cNvPr id="2053" name="Google Shape;2053;p15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054" name="Google Shape;2054;p15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055" name="Google Shape;2055;p15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056" name="Google Shape;2056;p15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057" name="Google Shape;2057;p15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058" name="Google Shape;2058;p15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59" name="Google Shape;2059;p153"/>
          <p:cNvSpPr txBox="1"/>
          <p:nvPr/>
        </p:nvSpPr>
        <p:spPr>
          <a:xfrm>
            <a:off x="603100" y="1462775"/>
            <a:ext cx="81534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ourier New"/>
                <a:ea typeface="Courier New"/>
                <a:cs typeface="Courier New"/>
                <a:sym typeface="Courier New"/>
              </a:rPr>
              <a:t>&lt;decoder name="sshd"&gt;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&lt;program_name&gt;^sshd&lt;/program_name&gt;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&lt;/decoder&gt;</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&lt;decoder name="sshd-success"&gt;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&lt;parent&gt;sshd&lt;/parent&gt;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&lt;prematch&gt;^Accepted&lt;/prematch&gt;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&lt;regex offset="after_prematch"&gt;^ \S+ for (\S+) from (\S+) port (\S+)&lt;/regex&gt;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&lt;order&gt;user, srcip, srcport&lt;/order&gt;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&lt;fts&gt;name, user, location&lt;/fts&gt;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&lt;/decoder&gt;</a:t>
            </a:r>
            <a:endParaRPr>
              <a:latin typeface="Courier New"/>
              <a:ea typeface="Courier New"/>
              <a:cs typeface="Courier New"/>
              <a:sym typeface="Courier New"/>
            </a:endParaRPr>
          </a:p>
        </p:txBody>
      </p:sp>
      <p:sp>
        <p:nvSpPr>
          <p:cNvPr id="2060" name="Google Shape;2060;p153"/>
          <p:cNvSpPr txBox="1"/>
          <p:nvPr/>
        </p:nvSpPr>
        <p:spPr>
          <a:xfrm>
            <a:off x="827400" y="5027425"/>
            <a:ext cx="10917900" cy="419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sz="1600">
                <a:solidFill>
                  <a:schemeClr val="dk1"/>
                </a:solidFill>
                <a:latin typeface="Archivo Medium"/>
                <a:ea typeface="Archivo Medium"/>
                <a:cs typeface="Archivo Medium"/>
                <a:sym typeface="Archivo Medium"/>
              </a:rPr>
              <a:t>/var/ossec/rulesets/decoders/0310-ssh_decoders.xml</a:t>
            </a:r>
            <a:endParaRPr sz="1600">
              <a:solidFill>
                <a:schemeClr val="dk1"/>
              </a:solidFill>
              <a:latin typeface="Archivo Medium"/>
              <a:ea typeface="Archivo Medium"/>
              <a:cs typeface="Archivo Medium"/>
              <a:sym typeface="Archivo Medium"/>
            </a:endParaRPr>
          </a:p>
        </p:txBody>
      </p:sp>
      <p:cxnSp>
        <p:nvCxnSpPr>
          <p:cNvPr id="2061" name="Google Shape;2061;p153"/>
          <p:cNvCxnSpPr>
            <a:stCxn id="2059" idx="2"/>
            <a:endCxn id="2060" idx="0"/>
          </p:cNvCxnSpPr>
          <p:nvPr/>
        </p:nvCxnSpPr>
        <p:spPr>
          <a:xfrm flipH="1" rot="-5400000">
            <a:off x="5086000" y="3827075"/>
            <a:ext cx="794100" cy="1606500"/>
          </a:xfrm>
          <a:prstGeom prst="curvedConnector3">
            <a:avLst>
              <a:gd fmla="val 50003" name="adj1"/>
            </a:avLst>
          </a:prstGeom>
          <a:noFill/>
          <a:ln cap="flat" cmpd="sng" w="28575">
            <a:solidFill>
              <a:srgbClr val="C41F2F"/>
            </a:solidFill>
            <a:prstDash val="solid"/>
            <a:round/>
            <a:headEnd len="med" w="med" type="none"/>
            <a:tailEnd len="med" w="med" type="triangle"/>
          </a:ln>
        </p:spPr>
      </p:cxnSp>
    </p:spTree>
  </p:cSld>
  <p:clrMapOvr>
    <a:masterClrMapping/>
  </p:clrMapOvr>
  <p:transition spd="slow">
    <p:fade thruBlk="1"/>
  </p:transition>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5" name="Shape 2065"/>
        <p:cNvGrpSpPr/>
        <p:nvPr/>
      </p:nvGrpSpPr>
      <p:grpSpPr>
        <a:xfrm>
          <a:off x="0" y="0"/>
          <a:ext cx="0" cy="0"/>
          <a:chOff x="0" y="0"/>
          <a:chExt cx="0" cy="0"/>
        </a:xfrm>
      </p:grpSpPr>
      <p:sp>
        <p:nvSpPr>
          <p:cNvPr id="2066" name="Google Shape;2066;p154"/>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Flow Log Analysis ( Rule Matching)</a:t>
            </a:r>
            <a:endParaRPr b="1" i="0" sz="3600" u="none" cap="none" strike="noStrike">
              <a:solidFill>
                <a:schemeClr val="accent1"/>
              </a:solidFill>
              <a:latin typeface="Poppins"/>
              <a:ea typeface="Poppins"/>
              <a:cs typeface="Poppins"/>
              <a:sym typeface="Poppins"/>
            </a:endParaRPr>
          </a:p>
        </p:txBody>
      </p:sp>
      <p:cxnSp>
        <p:nvCxnSpPr>
          <p:cNvPr id="2067" name="Google Shape;2067;p15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068" name="Google Shape;2068;p15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069" name="Google Shape;2069;p15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070" name="Google Shape;2070;p15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071" name="Google Shape;2071;p15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072" name="Google Shape;2072;p15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73" name="Google Shape;2073;p154"/>
          <p:cNvSpPr txBox="1"/>
          <p:nvPr/>
        </p:nvSpPr>
        <p:spPr>
          <a:xfrm>
            <a:off x="952125" y="1485450"/>
            <a:ext cx="10917900" cy="419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sz="1600">
                <a:solidFill>
                  <a:schemeClr val="dk1"/>
                </a:solidFill>
                <a:latin typeface="Archivo Medium"/>
                <a:ea typeface="Archivo Medium"/>
                <a:cs typeface="Archivo Medium"/>
                <a:sym typeface="Archivo Medium"/>
              </a:rPr>
              <a:t>Feb 14 12:19:04 192.168.1.1 sshd[25474]: Accepted password for Stephen from 192.168.1.133 port 49765 ssh2</a:t>
            </a:r>
            <a:endParaRPr sz="1600">
              <a:solidFill>
                <a:schemeClr val="dk1"/>
              </a:solidFill>
              <a:latin typeface="Archivo Medium"/>
              <a:ea typeface="Archivo Medium"/>
              <a:cs typeface="Archivo Medium"/>
              <a:sym typeface="Archivo Medium"/>
            </a:endParaRPr>
          </a:p>
        </p:txBody>
      </p:sp>
      <p:cxnSp>
        <p:nvCxnSpPr>
          <p:cNvPr id="2074" name="Google Shape;2074;p154"/>
          <p:cNvCxnSpPr>
            <a:stCxn id="2073" idx="2"/>
            <a:endCxn id="2075" idx="3"/>
          </p:cNvCxnSpPr>
          <p:nvPr/>
        </p:nvCxnSpPr>
        <p:spPr>
          <a:xfrm flipH="1" rot="-5400000">
            <a:off x="6381975" y="1933950"/>
            <a:ext cx="1247100" cy="1188900"/>
          </a:xfrm>
          <a:prstGeom prst="curvedConnector4">
            <a:avLst>
              <a:gd fmla="val 16676" name="adj1"/>
              <a:gd fmla="val 120023" name="adj2"/>
            </a:avLst>
          </a:prstGeom>
          <a:noFill/>
          <a:ln cap="flat" cmpd="sng" w="38100">
            <a:solidFill>
              <a:srgbClr val="C41F2F"/>
            </a:solidFill>
            <a:prstDash val="solid"/>
            <a:round/>
            <a:headEnd len="med" w="med" type="none"/>
            <a:tailEnd len="med" w="med" type="stealth"/>
          </a:ln>
        </p:spPr>
      </p:cxnSp>
      <p:sp>
        <p:nvSpPr>
          <p:cNvPr id="2076" name="Google Shape;2076;p154"/>
          <p:cNvSpPr txBox="1"/>
          <p:nvPr/>
        </p:nvSpPr>
        <p:spPr>
          <a:xfrm>
            <a:off x="952125" y="4841450"/>
            <a:ext cx="10917900" cy="419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800">
                <a:solidFill>
                  <a:schemeClr val="dk1"/>
                </a:solidFill>
                <a:latin typeface="Archivo Medium"/>
                <a:ea typeface="Archivo Medium"/>
                <a:cs typeface="Archivo Medium"/>
                <a:sym typeface="Archivo Medium"/>
              </a:rPr>
              <a:t>Pada fase ini, server Wazuh membandingkan log dengan ruleset (aturan-aturan yang telah ditentukan).</a:t>
            </a:r>
            <a:endParaRPr sz="18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sz="1800">
              <a:solidFill>
                <a:schemeClr val="dk1"/>
              </a:solidFill>
              <a:latin typeface="Archivo Medium"/>
              <a:ea typeface="Archivo Medium"/>
              <a:cs typeface="Archivo Medium"/>
              <a:sym typeface="Archivo Medium"/>
            </a:endParaRPr>
          </a:p>
          <a:p>
            <a:pPr indent="0" lvl="0" marL="0" rtl="0" algn="l">
              <a:lnSpc>
                <a:spcPct val="100000"/>
              </a:lnSpc>
              <a:spcBef>
                <a:spcPts val="0"/>
              </a:spcBef>
              <a:spcAft>
                <a:spcPts val="0"/>
              </a:spcAft>
              <a:buNone/>
            </a:pPr>
            <a:r>
              <a:t/>
            </a:r>
            <a:endParaRPr sz="1800">
              <a:solidFill>
                <a:schemeClr val="dk1"/>
              </a:solidFill>
              <a:latin typeface="Archivo Medium"/>
              <a:ea typeface="Archivo Medium"/>
              <a:cs typeface="Archivo Medium"/>
              <a:sym typeface="Archivo Medium"/>
            </a:endParaRPr>
          </a:p>
        </p:txBody>
      </p:sp>
      <p:sp>
        <p:nvSpPr>
          <p:cNvPr id="2075" name="Google Shape;2075;p154"/>
          <p:cNvSpPr txBox="1"/>
          <p:nvPr/>
        </p:nvSpPr>
        <p:spPr>
          <a:xfrm>
            <a:off x="816000" y="2320788"/>
            <a:ext cx="67839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ourier New"/>
                <a:ea typeface="Courier New"/>
                <a:cs typeface="Courier New"/>
                <a:sym typeface="Courier New"/>
              </a:rPr>
              <a:t>&lt;rule id="5715" level="3"&gt;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&lt;if_sid&gt;5700&lt;/if_sid&gt;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&lt;match&gt;^Accepted|authenticated.$&lt;/match&gt;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&lt;description&gt;sshd: authentication success.&lt;/description&gt;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&lt;group&gt;authentication_success,pci_dss_10.2.5,&lt;/group&gt;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&lt;/rule&gt;</a:t>
            </a:r>
            <a:endParaRPr>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Tree>
  </p:cSld>
  <p:clrMapOvr>
    <a:masterClrMapping/>
  </p:clrMapOvr>
  <p:transition spd="slow">
    <p:fade thruBlk="1"/>
  </p:transition>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0" name="Shape 2080"/>
        <p:cNvGrpSpPr/>
        <p:nvPr/>
      </p:nvGrpSpPr>
      <p:grpSpPr>
        <a:xfrm>
          <a:off x="0" y="0"/>
          <a:ext cx="0" cy="0"/>
          <a:chOff x="0" y="0"/>
          <a:chExt cx="0" cy="0"/>
        </a:xfrm>
      </p:grpSpPr>
      <p:sp>
        <p:nvSpPr>
          <p:cNvPr id="2081" name="Google Shape;2081;p155"/>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Log Analysis Decoding - Static Fields</a:t>
            </a:r>
            <a:endParaRPr b="1" i="0" sz="3600" u="none" cap="none" strike="noStrike">
              <a:solidFill>
                <a:schemeClr val="accent1"/>
              </a:solidFill>
              <a:latin typeface="Poppins"/>
              <a:ea typeface="Poppins"/>
              <a:cs typeface="Poppins"/>
              <a:sym typeface="Poppins"/>
            </a:endParaRPr>
          </a:p>
        </p:txBody>
      </p:sp>
      <p:cxnSp>
        <p:nvCxnSpPr>
          <p:cNvPr id="2082" name="Google Shape;2082;p15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083" name="Google Shape;2083;p15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084" name="Google Shape;2084;p15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085" name="Google Shape;2085;p15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086" name="Google Shape;2086;p15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087" name="Google Shape;2087;p15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88" name="Google Shape;2088;p155"/>
          <p:cNvSpPr txBox="1"/>
          <p:nvPr/>
        </p:nvSpPr>
        <p:spPr>
          <a:xfrm>
            <a:off x="603100" y="1462775"/>
            <a:ext cx="10750800" cy="292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latin typeface="Archivo Medium"/>
                <a:ea typeface="Archivo Medium"/>
                <a:cs typeface="Archivo Medium"/>
                <a:sym typeface="Archivo Medium"/>
              </a:rPr>
              <a:t>Secara tradisional, Wazuh menyediakan tiga belas field (kolom) yang telah ditentukan sebelumnya untuk menyimpan informasi yang diekstraksi dari log</a:t>
            </a:r>
            <a:r>
              <a:rPr lang="en-US" sz="1700">
                <a:latin typeface="Archivo"/>
                <a:ea typeface="Archivo"/>
                <a:cs typeface="Archivo"/>
                <a:sym typeface="Archivo"/>
              </a:rPr>
              <a:t>: </a:t>
            </a:r>
            <a:r>
              <a:rPr lang="en-US" sz="1700">
                <a:latin typeface="Courier New"/>
                <a:ea typeface="Courier New"/>
                <a:cs typeface="Courier New"/>
                <a:sym typeface="Courier New"/>
              </a:rPr>
              <a:t>user, srcip, dstip, srcport, dstport, protocol, action, id, url, data, extra_data, status, </a:t>
            </a:r>
            <a:r>
              <a:rPr lang="en-US" sz="1700">
                <a:latin typeface="Archivo Medium"/>
                <a:ea typeface="Archivo Medium"/>
                <a:cs typeface="Archivo Medium"/>
                <a:sym typeface="Archivo Medium"/>
              </a:rPr>
              <a:t>and </a:t>
            </a:r>
            <a:r>
              <a:rPr lang="en-US" sz="1700">
                <a:latin typeface="Courier New"/>
                <a:ea typeface="Courier New"/>
                <a:cs typeface="Courier New"/>
                <a:sym typeface="Courier New"/>
              </a:rPr>
              <a:t>system_name.</a:t>
            </a:r>
            <a:endParaRPr sz="1700">
              <a:latin typeface="Courier New"/>
              <a:ea typeface="Courier New"/>
              <a:cs typeface="Courier New"/>
              <a:sym typeface="Courier New"/>
            </a:endParaRPr>
          </a:p>
          <a:p>
            <a:pPr indent="0" lvl="0" marL="0" rtl="0" algn="l">
              <a:spcBef>
                <a:spcPts val="0"/>
              </a:spcBef>
              <a:spcAft>
                <a:spcPts val="0"/>
              </a:spcAft>
              <a:buNone/>
            </a:pPr>
            <a:r>
              <a:t/>
            </a:r>
            <a:endParaRPr sz="1700">
              <a:latin typeface="Courier New"/>
              <a:ea typeface="Courier New"/>
              <a:cs typeface="Courier New"/>
              <a:sym typeface="Courier New"/>
            </a:endParaRPr>
          </a:p>
          <a:p>
            <a:pPr indent="0" lvl="0" marL="0" rtl="0" algn="l">
              <a:spcBef>
                <a:spcPts val="0"/>
              </a:spcBef>
              <a:spcAft>
                <a:spcPts val="0"/>
              </a:spcAft>
              <a:buNone/>
            </a:pPr>
            <a:r>
              <a:t/>
            </a:r>
            <a:endParaRPr sz="1700">
              <a:latin typeface="Archivo Medium"/>
              <a:ea typeface="Archivo Medium"/>
              <a:cs typeface="Archivo Medium"/>
              <a:sym typeface="Archivo Medium"/>
            </a:endParaRPr>
          </a:p>
          <a:p>
            <a:pPr indent="0" lvl="0" marL="0" rtl="0" algn="l">
              <a:spcBef>
                <a:spcPts val="0"/>
              </a:spcBef>
              <a:spcAft>
                <a:spcPts val="0"/>
              </a:spcAft>
              <a:buNone/>
            </a:pPr>
            <a:r>
              <a:rPr lang="en-US" sz="1700">
                <a:latin typeface="Archivo Medium"/>
                <a:ea typeface="Archivo Medium"/>
                <a:cs typeface="Archivo Medium"/>
                <a:sym typeface="Archivo Medium"/>
              </a:rPr>
              <a:t>Field-field ini juga dikenal sebagai "static fields" karena telah ditentukan sebelumnya oleh sistem Wazuh. Namun, hanya delapan field yang dapat diekstraksi secara bersamaan dalam satu proses decoding log </a:t>
            </a:r>
            <a:endParaRPr sz="1700">
              <a:latin typeface="Archivo Medium"/>
              <a:ea typeface="Archivo Medium"/>
              <a:cs typeface="Archivo Medium"/>
              <a:sym typeface="Archivo Medium"/>
            </a:endParaRPr>
          </a:p>
          <a:p>
            <a:pPr indent="0" lvl="0" marL="0" rtl="0" algn="l">
              <a:spcBef>
                <a:spcPts val="0"/>
              </a:spcBef>
              <a:spcAft>
                <a:spcPts val="0"/>
              </a:spcAft>
              <a:buNone/>
            </a:pPr>
            <a:r>
              <a:rPr lang="en-US" sz="1700">
                <a:latin typeface="Courier New"/>
                <a:ea typeface="Courier New"/>
                <a:cs typeface="Courier New"/>
                <a:sym typeface="Courier New"/>
              </a:rPr>
              <a:t>user, srcip, dstip, srcport, dstport, protocol, action </a:t>
            </a:r>
            <a:r>
              <a:rPr lang="en-US" sz="1700">
                <a:latin typeface="Archivo Medium"/>
                <a:ea typeface="Archivo Medium"/>
                <a:cs typeface="Archivo Medium"/>
                <a:sym typeface="Archivo Medium"/>
              </a:rPr>
              <a:t>and </a:t>
            </a:r>
            <a:r>
              <a:rPr lang="en-US" sz="1700">
                <a:latin typeface="Courier New"/>
                <a:ea typeface="Courier New"/>
                <a:cs typeface="Courier New"/>
                <a:sym typeface="Courier New"/>
              </a:rPr>
              <a:t>id</a:t>
            </a:r>
            <a:r>
              <a:rPr lang="en-US" sz="1700">
                <a:latin typeface="Archivo Medium"/>
                <a:ea typeface="Archivo Medium"/>
                <a:cs typeface="Archivo Medium"/>
                <a:sym typeface="Archivo Medium"/>
              </a:rPr>
              <a:t>.</a:t>
            </a:r>
            <a:endParaRPr sz="1700">
              <a:latin typeface="Archivo Medium"/>
              <a:ea typeface="Archivo Medium"/>
              <a:cs typeface="Archivo Medium"/>
              <a:sym typeface="Archivo Medium"/>
            </a:endParaRPr>
          </a:p>
          <a:p>
            <a:pPr indent="0" lvl="0" marL="0" rtl="0" algn="l">
              <a:spcBef>
                <a:spcPts val="0"/>
              </a:spcBef>
              <a:spcAft>
                <a:spcPts val="0"/>
              </a:spcAft>
              <a:buNone/>
            </a:pPr>
            <a:r>
              <a:t/>
            </a:r>
            <a:endParaRPr>
              <a:latin typeface="Archivo Medium"/>
              <a:ea typeface="Archivo Medium"/>
              <a:cs typeface="Archivo Medium"/>
              <a:sym typeface="Archivo Medium"/>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p:txBody>
      </p:sp>
      <p:sp>
        <p:nvSpPr>
          <p:cNvPr id="2089" name="Google Shape;2089;p155"/>
          <p:cNvSpPr txBox="1"/>
          <p:nvPr/>
        </p:nvSpPr>
        <p:spPr>
          <a:xfrm>
            <a:off x="827400" y="3840875"/>
            <a:ext cx="5458800" cy="2215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sz="1600">
                <a:solidFill>
                  <a:schemeClr val="dk1"/>
                </a:solidFill>
                <a:latin typeface="Courier New"/>
                <a:ea typeface="Courier New"/>
                <a:cs typeface="Courier New"/>
                <a:sym typeface="Courier New"/>
              </a:rPr>
              <a:t>&lt;decoder name="web-accesslog"&gt;</a:t>
            </a:r>
            <a:endParaRPr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600">
                <a:solidFill>
                  <a:schemeClr val="dk1"/>
                </a:solidFill>
                <a:latin typeface="Courier New"/>
                <a:ea typeface="Courier New"/>
                <a:cs typeface="Courier New"/>
                <a:sym typeface="Courier New"/>
              </a:rPr>
              <a:t>  &lt;type&gt;web-log&lt;/type&gt;</a:t>
            </a:r>
            <a:endParaRPr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600">
                <a:solidFill>
                  <a:schemeClr val="dk1"/>
                </a:solidFill>
                <a:latin typeface="Courier New"/>
                <a:ea typeface="Courier New"/>
                <a:cs typeface="Courier New"/>
                <a:sym typeface="Courier New"/>
              </a:rPr>
              <a:t>  &lt;prematch&gt;^\d+.\d+.\d+.\d+ - &lt;/prematch&gt;</a:t>
            </a:r>
            <a:endParaRPr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600">
                <a:solidFill>
                  <a:schemeClr val="dk1"/>
                </a:solidFill>
                <a:latin typeface="Courier New"/>
                <a:ea typeface="Courier New"/>
                <a:cs typeface="Courier New"/>
                <a:sym typeface="Courier New"/>
              </a:rPr>
              <a:t>  &lt;regex&gt;^(\d+.\d+.\d+.\d+) - \S+ [\S+ -\d+] &lt;/regex&gt;</a:t>
            </a:r>
            <a:endParaRPr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600">
                <a:solidFill>
                  <a:schemeClr val="dk1"/>
                </a:solidFill>
                <a:latin typeface="Courier New"/>
                <a:ea typeface="Courier New"/>
                <a:cs typeface="Courier New"/>
                <a:sym typeface="Courier New"/>
              </a:rPr>
              <a:t>  &lt;regex&gt;"\w+ (\S+) HTTP\S+ (\d+) &lt;/regex&gt;</a:t>
            </a:r>
            <a:endParaRPr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600">
                <a:solidFill>
                  <a:schemeClr val="dk1"/>
                </a:solidFill>
                <a:latin typeface="Courier New"/>
                <a:ea typeface="Courier New"/>
                <a:cs typeface="Courier New"/>
                <a:sym typeface="Courier New"/>
              </a:rPr>
              <a:t>  &lt;order&gt;</a:t>
            </a:r>
            <a:r>
              <a:rPr b="1" lang="en-US" sz="1600">
                <a:solidFill>
                  <a:schemeClr val="dk1"/>
                </a:solidFill>
                <a:latin typeface="Courier New"/>
                <a:ea typeface="Courier New"/>
                <a:cs typeface="Courier New"/>
                <a:sym typeface="Courier New"/>
              </a:rPr>
              <a:t>srcip,url,id</a:t>
            </a:r>
            <a:r>
              <a:rPr lang="en-US" sz="1600">
                <a:solidFill>
                  <a:schemeClr val="dk1"/>
                </a:solidFill>
                <a:latin typeface="Courier New"/>
                <a:ea typeface="Courier New"/>
                <a:cs typeface="Courier New"/>
                <a:sym typeface="Courier New"/>
              </a:rPr>
              <a:t>&lt;/order&gt;</a:t>
            </a:r>
            <a:endParaRPr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600">
                <a:solidFill>
                  <a:schemeClr val="dk1"/>
                </a:solidFill>
                <a:latin typeface="Courier New"/>
                <a:ea typeface="Courier New"/>
                <a:cs typeface="Courier New"/>
                <a:sym typeface="Courier New"/>
              </a:rPr>
              <a:t>&lt;/decoder&gt;</a:t>
            </a:r>
            <a:endParaRPr sz="1600">
              <a:solidFill>
                <a:schemeClr val="dk1"/>
              </a:solidFill>
              <a:latin typeface="Courier New"/>
              <a:ea typeface="Courier New"/>
              <a:cs typeface="Courier New"/>
              <a:sym typeface="Courier New"/>
            </a:endParaRPr>
          </a:p>
        </p:txBody>
      </p:sp>
      <p:cxnSp>
        <p:nvCxnSpPr>
          <p:cNvPr id="2090" name="Google Shape;2090;p155"/>
          <p:cNvCxnSpPr>
            <a:stCxn id="2088" idx="3"/>
            <a:endCxn id="2089" idx="3"/>
          </p:cNvCxnSpPr>
          <p:nvPr/>
        </p:nvCxnSpPr>
        <p:spPr>
          <a:xfrm flipH="1">
            <a:off x="6286300" y="2924975"/>
            <a:ext cx="5067600" cy="2023800"/>
          </a:xfrm>
          <a:prstGeom prst="curvedConnector3">
            <a:avLst>
              <a:gd fmla="val -4699" name="adj1"/>
            </a:avLst>
          </a:prstGeom>
          <a:noFill/>
          <a:ln cap="flat" cmpd="sng" w="28575">
            <a:solidFill>
              <a:srgbClr val="C41F2F"/>
            </a:solidFill>
            <a:prstDash val="solid"/>
            <a:round/>
            <a:headEnd len="med" w="med" type="none"/>
            <a:tailEnd len="med" w="med" type="triangle"/>
          </a:ln>
        </p:spPr>
      </p:cxnSp>
    </p:spTree>
  </p:cSld>
  <p:clrMapOvr>
    <a:masterClrMapping/>
  </p:clrMapOvr>
  <p:transition spd="slow">
    <p:fade thruBlk="1"/>
  </p:transition>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Google Shape;2095;p156"/>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Log Analysis Decoding - Dynamic Fields</a:t>
            </a:r>
            <a:endParaRPr b="1" i="0" sz="3600" u="none" cap="none" strike="noStrike">
              <a:solidFill>
                <a:schemeClr val="accent1"/>
              </a:solidFill>
              <a:latin typeface="Poppins"/>
              <a:ea typeface="Poppins"/>
              <a:cs typeface="Poppins"/>
              <a:sym typeface="Poppins"/>
            </a:endParaRPr>
          </a:p>
        </p:txBody>
      </p:sp>
      <p:cxnSp>
        <p:nvCxnSpPr>
          <p:cNvPr id="2096" name="Google Shape;2096;p15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097" name="Google Shape;2097;p15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098" name="Google Shape;2098;p15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099" name="Google Shape;2099;p15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100" name="Google Shape;2100;p15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101" name="Google Shape;2101;p15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02" name="Google Shape;2102;p156"/>
          <p:cNvSpPr txBox="1"/>
          <p:nvPr/>
        </p:nvSpPr>
        <p:spPr>
          <a:xfrm>
            <a:off x="603100" y="1462775"/>
            <a:ext cx="107508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latin typeface="Archivo Medium"/>
                <a:ea typeface="Archivo Medium"/>
                <a:cs typeface="Archivo Medium"/>
                <a:sym typeface="Archivo Medium"/>
              </a:rPr>
              <a:t>Sering kali dalam praktiknya, diperlukan untuk mengekstrak lebih dari delapan field penting dari suatu event log. Namun, terdapat dua tantangan utama</a:t>
            </a:r>
            <a:endParaRPr sz="1900">
              <a:latin typeface="Archivo Medium"/>
              <a:ea typeface="Archivo Medium"/>
              <a:cs typeface="Archivo Medium"/>
              <a:sym typeface="Archivo Medium"/>
            </a:endParaRPr>
          </a:p>
        </p:txBody>
      </p:sp>
      <p:sp>
        <p:nvSpPr>
          <p:cNvPr id="2103" name="Google Shape;2103;p156"/>
          <p:cNvSpPr txBox="1"/>
          <p:nvPr/>
        </p:nvSpPr>
        <p:spPr>
          <a:xfrm>
            <a:off x="827400" y="3231275"/>
            <a:ext cx="5458800" cy="2215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sz="1600">
                <a:solidFill>
                  <a:schemeClr val="dk1"/>
                </a:solidFill>
                <a:latin typeface="Courier New"/>
                <a:ea typeface="Courier New"/>
                <a:cs typeface="Courier New"/>
                <a:sym typeface="Courier New"/>
              </a:rPr>
              <a:t>&lt;decoder name="auditd-config_change"&gt;</a:t>
            </a:r>
            <a:endParaRPr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600">
                <a:solidFill>
                  <a:schemeClr val="dk1"/>
                </a:solidFill>
                <a:latin typeface="Courier New"/>
                <a:ea typeface="Courier New"/>
                <a:cs typeface="Courier New"/>
                <a:sym typeface="Courier New"/>
              </a:rPr>
              <a:t>  &lt;parent&gt;</a:t>
            </a:r>
            <a:r>
              <a:rPr lang="en-US" sz="1600">
                <a:solidFill>
                  <a:schemeClr val="dk1"/>
                </a:solidFill>
                <a:latin typeface="Courier New"/>
                <a:ea typeface="Courier New"/>
                <a:cs typeface="Courier New"/>
                <a:sym typeface="Courier New"/>
              </a:rPr>
              <a:t>auditd</a:t>
            </a:r>
            <a:r>
              <a:rPr lang="en-US" sz="1600">
                <a:solidFill>
                  <a:schemeClr val="dk1"/>
                </a:solidFill>
                <a:latin typeface="Courier New"/>
                <a:ea typeface="Courier New"/>
                <a:cs typeface="Courier New"/>
                <a:sym typeface="Courier New"/>
              </a:rPr>
              <a:t>&lt;/parent&gt;</a:t>
            </a:r>
            <a:endParaRPr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600">
                <a:solidFill>
                  <a:schemeClr val="dk1"/>
                </a:solidFill>
                <a:latin typeface="Courier New"/>
                <a:ea typeface="Courier New"/>
                <a:cs typeface="Courier New"/>
                <a:sym typeface="Courier New"/>
              </a:rPr>
              <a:t>  &lt;regex offset="after_regex"&gt;^</a:t>
            </a:r>
            <a:r>
              <a:rPr lang="en-US" sz="1600">
                <a:solidFill>
                  <a:schemeClr val="dk1"/>
                </a:solidFill>
                <a:latin typeface="Courier New"/>
                <a:ea typeface="Courier New"/>
                <a:cs typeface="Courier New"/>
                <a:sym typeface="Courier New"/>
              </a:rPr>
              <a:t>audit</a:t>
            </a:r>
            <a:r>
              <a:rPr lang="en-US" sz="1600">
                <a:solidFill>
                  <a:schemeClr val="dk1"/>
                </a:solidFill>
                <a:latin typeface="Courier New"/>
                <a:ea typeface="Courier New"/>
                <a:cs typeface="Courier New"/>
                <a:sym typeface="Courier New"/>
              </a:rPr>
              <a:t>=(\S+) ses=(\S+) op="(\.+)"&lt;/regex&gt;</a:t>
            </a:r>
            <a:endParaRPr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600">
                <a:solidFill>
                  <a:schemeClr val="dk1"/>
                </a:solidFill>
                <a:latin typeface="Courier New"/>
                <a:ea typeface="Courier New"/>
                <a:cs typeface="Courier New"/>
                <a:sym typeface="Courier New"/>
              </a:rPr>
              <a:t>  &lt;order&gt;</a:t>
            </a:r>
            <a:r>
              <a:rPr b="1" lang="en-US" sz="1600">
                <a:solidFill>
                  <a:schemeClr val="dk1"/>
                </a:solidFill>
                <a:latin typeface="Courier New"/>
                <a:ea typeface="Courier New"/>
                <a:cs typeface="Courier New"/>
                <a:sym typeface="Courier New"/>
              </a:rPr>
              <a:t>audit.auid,audit.session,audit.op</a:t>
            </a:r>
            <a:r>
              <a:rPr lang="en-US" sz="1600">
                <a:solidFill>
                  <a:schemeClr val="dk1"/>
                </a:solidFill>
                <a:latin typeface="Courier New"/>
                <a:ea typeface="Courier New"/>
                <a:cs typeface="Courier New"/>
                <a:sym typeface="Courier New"/>
              </a:rPr>
              <a:t>&lt;/order&gt;</a:t>
            </a:r>
            <a:endParaRPr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600">
                <a:solidFill>
                  <a:schemeClr val="dk1"/>
                </a:solidFill>
                <a:latin typeface="Courier New"/>
                <a:ea typeface="Courier New"/>
                <a:cs typeface="Courier New"/>
                <a:sym typeface="Courier New"/>
              </a:rPr>
              <a:t>&lt;/decoder&gt;</a:t>
            </a:r>
            <a:endParaRPr sz="1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0">
              <a:solidFill>
                <a:schemeClr val="dk1"/>
              </a:solidFill>
              <a:latin typeface="Courier New"/>
              <a:ea typeface="Courier New"/>
              <a:cs typeface="Courier New"/>
              <a:sym typeface="Courier New"/>
            </a:endParaRPr>
          </a:p>
        </p:txBody>
      </p:sp>
      <p:cxnSp>
        <p:nvCxnSpPr>
          <p:cNvPr id="2104" name="Google Shape;2104;p156"/>
          <p:cNvCxnSpPr>
            <a:stCxn id="2102" idx="3"/>
            <a:endCxn id="2103" idx="3"/>
          </p:cNvCxnSpPr>
          <p:nvPr/>
        </p:nvCxnSpPr>
        <p:spPr>
          <a:xfrm flipH="1">
            <a:off x="6286300" y="1847525"/>
            <a:ext cx="5067600" cy="2491500"/>
          </a:xfrm>
          <a:prstGeom prst="curvedConnector3">
            <a:avLst>
              <a:gd fmla="val -4699" name="adj1"/>
            </a:avLst>
          </a:prstGeom>
          <a:noFill/>
          <a:ln cap="flat" cmpd="sng" w="28575">
            <a:solidFill>
              <a:srgbClr val="C41F2F"/>
            </a:solidFill>
            <a:prstDash val="solid"/>
            <a:round/>
            <a:headEnd len="med" w="med" type="none"/>
            <a:tailEnd len="med" w="med" type="triangle"/>
          </a:ln>
        </p:spPr>
      </p:cxnSp>
    </p:spTree>
  </p:cSld>
  <p:clrMapOvr>
    <a:masterClrMapping/>
  </p:clrMapOvr>
  <p:transition spd="slow">
    <p:fade thruBlk="1"/>
  </p:transition>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8" name="Shape 2108"/>
        <p:cNvGrpSpPr/>
        <p:nvPr/>
      </p:nvGrpSpPr>
      <p:grpSpPr>
        <a:xfrm>
          <a:off x="0" y="0"/>
          <a:ext cx="0" cy="0"/>
          <a:chOff x="0" y="0"/>
          <a:chExt cx="0" cy="0"/>
        </a:xfrm>
      </p:grpSpPr>
      <p:sp>
        <p:nvSpPr>
          <p:cNvPr id="2109" name="Google Shape;2109;p157"/>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Log Analysis Decoding - Sibling Decoder </a:t>
            </a:r>
            <a:endParaRPr b="1" i="0" sz="3600" u="none" cap="none" strike="noStrike">
              <a:solidFill>
                <a:schemeClr val="accent1"/>
              </a:solidFill>
              <a:latin typeface="Poppins"/>
              <a:ea typeface="Poppins"/>
              <a:cs typeface="Poppins"/>
              <a:sym typeface="Poppins"/>
            </a:endParaRPr>
          </a:p>
        </p:txBody>
      </p:sp>
      <p:cxnSp>
        <p:nvCxnSpPr>
          <p:cNvPr id="2110" name="Google Shape;2110;p15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111" name="Google Shape;2111;p15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112" name="Google Shape;2112;p15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113" name="Google Shape;2113;p15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114" name="Google Shape;2114;p15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115" name="Google Shape;2115;p15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16" name="Google Shape;2116;p157"/>
          <p:cNvPicPr preferRelativeResize="0"/>
          <p:nvPr/>
        </p:nvPicPr>
        <p:blipFill>
          <a:blip r:embed="rId6">
            <a:alphaModFix/>
          </a:blip>
          <a:stretch>
            <a:fillRect/>
          </a:stretch>
        </p:blipFill>
        <p:spPr>
          <a:xfrm>
            <a:off x="1161618" y="1486050"/>
            <a:ext cx="9382020" cy="4220949"/>
          </a:xfrm>
          <a:prstGeom prst="rect">
            <a:avLst/>
          </a:prstGeom>
          <a:noFill/>
          <a:ln>
            <a:noFill/>
          </a:ln>
          <a:effectLst>
            <a:outerShdw blurRad="57150" rotWithShape="0" algn="bl" dir="9600000" dist="19050">
              <a:srgbClr val="000000">
                <a:alpha val="80000"/>
              </a:srgbClr>
            </a:outerShdw>
          </a:effectLst>
        </p:spPr>
      </p:pic>
    </p:spTree>
  </p:cSld>
  <p:clrMapOvr>
    <a:masterClrMapping/>
  </p:clrMapOvr>
  <p:transition spd="slow">
    <p:fade thruBlk="1"/>
  </p:transition>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0" name="Shape 2120"/>
        <p:cNvGrpSpPr/>
        <p:nvPr/>
      </p:nvGrpSpPr>
      <p:grpSpPr>
        <a:xfrm>
          <a:off x="0" y="0"/>
          <a:ext cx="0" cy="0"/>
          <a:chOff x="0" y="0"/>
          <a:chExt cx="0" cy="0"/>
        </a:xfrm>
      </p:grpSpPr>
      <p:sp>
        <p:nvSpPr>
          <p:cNvPr id="2121" name="Google Shape;2121;p158"/>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Practical Example - Single </a:t>
            </a:r>
            <a:r>
              <a:rPr b="1" lang="en-US" sz="3600">
                <a:solidFill>
                  <a:schemeClr val="accent1"/>
                </a:solidFill>
                <a:latin typeface="Poppins"/>
                <a:ea typeface="Poppins"/>
                <a:cs typeface="Poppins"/>
                <a:sym typeface="Poppins"/>
              </a:rPr>
              <a:t>Decoder</a:t>
            </a:r>
            <a:endParaRPr b="1" i="0" sz="3600" u="none" cap="none" strike="noStrike">
              <a:solidFill>
                <a:schemeClr val="accent1"/>
              </a:solidFill>
              <a:latin typeface="Poppins"/>
              <a:ea typeface="Poppins"/>
              <a:cs typeface="Poppins"/>
              <a:sym typeface="Poppins"/>
            </a:endParaRPr>
          </a:p>
        </p:txBody>
      </p:sp>
      <p:cxnSp>
        <p:nvCxnSpPr>
          <p:cNvPr id="2122" name="Google Shape;2122;p15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123" name="Google Shape;2123;p15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124" name="Google Shape;2124;p15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125" name="Google Shape;2125;p15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126" name="Google Shape;2126;p15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127" name="Google Shape;2127;p15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28" name="Google Shape;2128;p15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129" name="Google Shape;2129;p15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130" name="Google Shape;2130;p158"/>
          <p:cNvSpPr txBox="1"/>
          <p:nvPr/>
        </p:nvSpPr>
        <p:spPr>
          <a:xfrm>
            <a:off x="952125" y="1485450"/>
            <a:ext cx="10917900" cy="419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sz="1600">
                <a:solidFill>
                  <a:schemeClr val="dk1"/>
                </a:solidFill>
                <a:latin typeface="Archivo Medium"/>
                <a:ea typeface="Archivo Medium"/>
                <a:cs typeface="Archivo Medium"/>
                <a:sym typeface="Archivo Medium"/>
              </a:rPr>
              <a:t>Apr 01 19:21:24 securityapp: INFO: action="logged on" srcuser="Bob"</a:t>
            </a:r>
            <a:endParaRPr sz="1600">
              <a:solidFill>
                <a:schemeClr val="dk1"/>
              </a:solidFill>
              <a:latin typeface="Archivo Medium"/>
              <a:ea typeface="Archivo Medium"/>
              <a:cs typeface="Archivo Medium"/>
              <a:sym typeface="Archivo Medium"/>
            </a:endParaRPr>
          </a:p>
        </p:txBody>
      </p:sp>
      <p:cxnSp>
        <p:nvCxnSpPr>
          <p:cNvPr id="2131" name="Google Shape;2131;p158"/>
          <p:cNvCxnSpPr>
            <a:stCxn id="2130" idx="2"/>
            <a:endCxn id="2132" idx="1"/>
          </p:cNvCxnSpPr>
          <p:nvPr/>
        </p:nvCxnSpPr>
        <p:spPr>
          <a:xfrm rot="5400000">
            <a:off x="2572575" y="32550"/>
            <a:ext cx="1966200" cy="5710800"/>
          </a:xfrm>
          <a:prstGeom prst="curvedConnector4">
            <a:avLst>
              <a:gd fmla="val 31216" name="adj1"/>
              <a:gd fmla="val 104169" name="adj2"/>
            </a:avLst>
          </a:prstGeom>
          <a:noFill/>
          <a:ln cap="flat" cmpd="sng" w="38100">
            <a:solidFill>
              <a:srgbClr val="C41F2F"/>
            </a:solidFill>
            <a:prstDash val="solid"/>
            <a:round/>
            <a:headEnd len="med" w="med" type="none"/>
            <a:tailEnd len="med" w="med" type="stealth"/>
          </a:ln>
        </p:spPr>
      </p:cxnSp>
      <p:sp>
        <p:nvSpPr>
          <p:cNvPr id="2132" name="Google Shape;2132;p158"/>
          <p:cNvSpPr txBox="1"/>
          <p:nvPr/>
        </p:nvSpPr>
        <p:spPr>
          <a:xfrm>
            <a:off x="700300" y="3132400"/>
            <a:ext cx="4161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name="securityapp"&gt;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&lt;program_name&gt;securityapp&lt;/program_name&gt;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&lt;regex&gt;(\w+): srcuser="(\.+)" action="(\.+)" dstusr="(\.+)"&lt;/regex&gt;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&lt;order&gt;type,srcuser,action,dstuser&lt;/order&gt;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
        <p:nvSpPr>
          <p:cNvPr id="2133" name="Google Shape;2133;p158"/>
          <p:cNvSpPr txBox="1"/>
          <p:nvPr/>
        </p:nvSpPr>
        <p:spPr>
          <a:xfrm>
            <a:off x="5670100" y="3771900"/>
            <a:ext cx="3375000" cy="21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dk1"/>
                </a:solidFill>
                <a:latin typeface="Courier New"/>
                <a:ea typeface="Courier New"/>
                <a:cs typeface="Courier New"/>
                <a:sym typeface="Courier New"/>
              </a:rPr>
              <a:t>**Phase 1: Completed pre-decoding.</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100">
                <a:solidFill>
                  <a:schemeClr val="dk1"/>
                </a:solidFill>
                <a:latin typeface="Courier New"/>
                <a:ea typeface="Courier New"/>
                <a:cs typeface="Courier New"/>
                <a:sym typeface="Courier New"/>
              </a:rPr>
              <a:t>	full event: 'Apr 01 19:21:24 securityapp: INFO: action="logged on" srcuser="Bob"'</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100">
                <a:solidFill>
                  <a:schemeClr val="dk1"/>
                </a:solidFill>
                <a:latin typeface="Courier New"/>
                <a:ea typeface="Courier New"/>
                <a:cs typeface="Courier New"/>
                <a:sym typeface="Courier New"/>
              </a:rPr>
              <a:t>	timestamp: 'Apr 01 19:21:24'</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100">
                <a:solidFill>
                  <a:schemeClr val="dk1"/>
                </a:solidFill>
                <a:latin typeface="Courier New"/>
                <a:ea typeface="Courier New"/>
                <a:cs typeface="Courier New"/>
                <a:sym typeface="Courier New"/>
              </a:rPr>
              <a:t>	hostname: 'securityapp:'</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100">
                <a:solidFill>
                  <a:schemeClr val="dk1"/>
                </a:solidFill>
                <a:latin typeface="Courier New"/>
                <a:ea typeface="Courier New"/>
                <a:cs typeface="Courier New"/>
                <a:sym typeface="Courier New"/>
              </a:rPr>
              <a:t>	program_name: 'securityapp'</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100">
                <a:solidFill>
                  <a:schemeClr val="dk1"/>
                </a:solidFill>
                <a:latin typeface="Courier New"/>
                <a:ea typeface="Courier New"/>
                <a:cs typeface="Courier New"/>
                <a:sym typeface="Courier New"/>
              </a:rPr>
              <a:t>**Phase 2: Completed decoding.</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latin typeface="Courier New"/>
                <a:ea typeface="Courier New"/>
                <a:cs typeface="Courier New"/>
                <a:sym typeface="Courier New"/>
              </a:rPr>
              <a:t>	name: 'securityapp'</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p:txBody>
      </p:sp>
      <p:sp>
        <p:nvSpPr>
          <p:cNvPr id="2134" name="Google Shape;2134;p158"/>
          <p:cNvSpPr txBox="1"/>
          <p:nvPr/>
        </p:nvSpPr>
        <p:spPr>
          <a:xfrm>
            <a:off x="7603100" y="2257413"/>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**Phase 3: Completed rule matching. No rule matched.</a:t>
            </a:r>
            <a:endParaRPr sz="1200">
              <a:solidFill>
                <a:schemeClr val="dk1"/>
              </a:solidFill>
              <a:latin typeface="Courier New"/>
              <a:ea typeface="Courier New"/>
              <a:cs typeface="Courier New"/>
              <a:sym typeface="Courier New"/>
            </a:endParaRPr>
          </a:p>
        </p:txBody>
      </p:sp>
      <p:cxnSp>
        <p:nvCxnSpPr>
          <p:cNvPr id="2135" name="Google Shape;2135;p158"/>
          <p:cNvCxnSpPr>
            <a:stCxn id="2132" idx="3"/>
            <a:endCxn id="2133" idx="1"/>
          </p:cNvCxnSpPr>
          <p:nvPr/>
        </p:nvCxnSpPr>
        <p:spPr>
          <a:xfrm>
            <a:off x="4861300" y="3871150"/>
            <a:ext cx="808800" cy="985500"/>
          </a:xfrm>
          <a:prstGeom prst="curvedConnector3">
            <a:avLst>
              <a:gd fmla="val 50000" name="adj1"/>
            </a:avLst>
          </a:prstGeom>
          <a:noFill/>
          <a:ln cap="flat" cmpd="sng" w="28575">
            <a:solidFill>
              <a:srgbClr val="C41F2F"/>
            </a:solidFill>
            <a:prstDash val="solid"/>
            <a:round/>
            <a:headEnd len="med" w="med" type="none"/>
            <a:tailEnd len="med" w="med" type="triangle"/>
          </a:ln>
        </p:spPr>
      </p:cxnSp>
      <p:cxnSp>
        <p:nvCxnSpPr>
          <p:cNvPr id="2136" name="Google Shape;2136;p158"/>
          <p:cNvCxnSpPr>
            <a:stCxn id="2133" idx="3"/>
            <a:endCxn id="2134" idx="0"/>
          </p:cNvCxnSpPr>
          <p:nvPr/>
        </p:nvCxnSpPr>
        <p:spPr>
          <a:xfrm flipH="1" rot="10800000">
            <a:off x="9045100" y="2257500"/>
            <a:ext cx="57900" cy="2599200"/>
          </a:xfrm>
          <a:prstGeom prst="curvedConnector4">
            <a:avLst>
              <a:gd fmla="val 3102116" name="adj1"/>
              <a:gd fmla="val 109165" name="adj2"/>
            </a:avLst>
          </a:prstGeom>
          <a:noFill/>
          <a:ln cap="flat" cmpd="sng" w="28575">
            <a:solidFill>
              <a:srgbClr val="C41F2F"/>
            </a:solidFill>
            <a:prstDash val="solid"/>
            <a:round/>
            <a:headEnd len="med" w="med" type="none"/>
            <a:tailEnd len="med" w="med" type="triangle"/>
          </a:ln>
        </p:spPr>
      </p:cxnSp>
    </p:spTree>
  </p:cSld>
  <p:clrMapOvr>
    <a:masterClrMapping/>
  </p:clrMapOvr>
  <p:transition spd="slow">
    <p:fade thruBlk="1"/>
  </p:transition>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0" name="Shape 2140"/>
        <p:cNvGrpSpPr/>
        <p:nvPr/>
      </p:nvGrpSpPr>
      <p:grpSpPr>
        <a:xfrm>
          <a:off x="0" y="0"/>
          <a:ext cx="0" cy="0"/>
          <a:chOff x="0" y="0"/>
          <a:chExt cx="0" cy="0"/>
        </a:xfrm>
      </p:grpSpPr>
      <p:sp>
        <p:nvSpPr>
          <p:cNvPr id="2141" name="Google Shape;2141;p159"/>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Practical Example - Siblings Decoder</a:t>
            </a:r>
            <a:endParaRPr b="1" i="0" sz="3600" u="none" cap="none" strike="noStrike">
              <a:solidFill>
                <a:schemeClr val="accent1"/>
              </a:solidFill>
              <a:latin typeface="Poppins"/>
              <a:ea typeface="Poppins"/>
              <a:cs typeface="Poppins"/>
              <a:sym typeface="Poppins"/>
            </a:endParaRPr>
          </a:p>
        </p:txBody>
      </p:sp>
      <p:cxnSp>
        <p:nvCxnSpPr>
          <p:cNvPr id="2142" name="Google Shape;2142;p15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143" name="Google Shape;2143;p15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144" name="Google Shape;2144;p15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145" name="Google Shape;2145;p15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146" name="Google Shape;2146;p15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147" name="Google Shape;2147;p15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48" name="Google Shape;2148;p15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149" name="Google Shape;2149;p15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150" name="Google Shape;2150;p159"/>
          <p:cNvSpPr txBox="1"/>
          <p:nvPr/>
        </p:nvSpPr>
        <p:spPr>
          <a:xfrm>
            <a:off x="952125" y="1485450"/>
            <a:ext cx="10917900" cy="419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sz="1600">
                <a:solidFill>
                  <a:schemeClr val="dk1"/>
                </a:solidFill>
                <a:latin typeface="Archivo Medium"/>
                <a:ea typeface="Archivo Medium"/>
                <a:cs typeface="Archivo Medium"/>
                <a:sym typeface="Archivo Medium"/>
              </a:rPr>
              <a:t>Apr 01 19:21:24 </a:t>
            </a:r>
            <a:r>
              <a:rPr lang="en-US" sz="1600">
                <a:solidFill>
                  <a:schemeClr val="dk1"/>
                </a:solidFill>
                <a:highlight>
                  <a:srgbClr val="FF9900"/>
                </a:highlight>
                <a:latin typeface="Archivo Medium"/>
                <a:ea typeface="Archivo Medium"/>
                <a:cs typeface="Archivo Medium"/>
                <a:sym typeface="Archivo Medium"/>
              </a:rPr>
              <a:t>hostname2</a:t>
            </a:r>
            <a:r>
              <a:rPr lang="en-US" sz="1600">
                <a:solidFill>
                  <a:schemeClr val="dk1"/>
                </a:solidFill>
                <a:latin typeface="Archivo Medium"/>
                <a:ea typeface="Archivo Medium"/>
                <a:cs typeface="Archivo Medium"/>
                <a:sym typeface="Archivo Medium"/>
              </a:rPr>
              <a:t> securityapp: INFO: action="logged on" srcuser="Bob"</a:t>
            </a:r>
            <a:endParaRPr sz="1600">
              <a:solidFill>
                <a:schemeClr val="dk1"/>
              </a:solidFill>
              <a:latin typeface="Archivo Medium"/>
              <a:ea typeface="Archivo Medium"/>
              <a:cs typeface="Archivo Medium"/>
              <a:sym typeface="Archivo Medium"/>
            </a:endParaRPr>
          </a:p>
        </p:txBody>
      </p:sp>
      <p:sp>
        <p:nvSpPr>
          <p:cNvPr id="2151" name="Google Shape;2151;p159"/>
          <p:cNvSpPr txBox="1"/>
          <p:nvPr/>
        </p:nvSpPr>
        <p:spPr>
          <a:xfrm>
            <a:off x="1178600" y="2603725"/>
            <a:ext cx="44829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name="securityapp"&gt;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&lt;program_name&gt;securityapp&lt;/program_name&gt;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name="securityapp"&gt;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&lt;parent&gt;securityapp&lt;/parent&gt;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&lt;regex&gt;^(\w+):&lt;/regex&gt;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&lt;order&gt;type&lt;/order&gt;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name="securityapp"&gt;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&lt;parent&gt;securityapp&lt;/parent&gt;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&lt;regex&gt;srcuser="(\.+)"&lt;/regex&gt;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&lt;order&gt;srcuser&lt;/order&gt;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
        <p:nvSpPr>
          <p:cNvPr id="2152" name="Google Shape;2152;p159"/>
          <p:cNvSpPr txBox="1"/>
          <p:nvPr/>
        </p:nvSpPr>
        <p:spPr>
          <a:xfrm>
            <a:off x="6539725" y="2937650"/>
            <a:ext cx="50166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&lt;decoder name="securityapp"&gt;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&lt;parent&gt;securityapp&lt;/parent&gt;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&lt;regex&gt;action="(\.+)"&lt;/regex&gt;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&lt;order&gt;action&lt;/order&gt;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&lt;/decoder&gt;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&lt;decoder name="securityapp"&gt;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&lt;parent&gt;securityapp&lt;/parent&gt;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&lt;regex&gt;dstusr="(\.+)"&lt;/regex&gt;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&lt;order&gt;dstuser&lt;/order&gt;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&lt;/decoder&gt;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cxnSp>
        <p:nvCxnSpPr>
          <p:cNvPr id="2153" name="Google Shape;2153;p159"/>
          <p:cNvCxnSpPr>
            <a:stCxn id="2151" idx="3"/>
            <a:endCxn id="2152" idx="1"/>
          </p:cNvCxnSpPr>
          <p:nvPr/>
        </p:nvCxnSpPr>
        <p:spPr>
          <a:xfrm>
            <a:off x="5661500" y="4173775"/>
            <a:ext cx="878100" cy="149100"/>
          </a:xfrm>
          <a:prstGeom prst="curvedConnector3">
            <a:avLst>
              <a:gd fmla="val 50007" name="adj1"/>
            </a:avLst>
          </a:prstGeom>
          <a:noFill/>
          <a:ln cap="flat" cmpd="sng" w="28575">
            <a:solidFill>
              <a:srgbClr val="C41F2F"/>
            </a:solidFill>
            <a:prstDash val="solid"/>
            <a:round/>
            <a:headEnd len="med" w="med" type="none"/>
            <a:tailEnd len="med" w="med" type="stealth"/>
          </a:ln>
        </p:spPr>
      </p:cxnSp>
      <p:cxnSp>
        <p:nvCxnSpPr>
          <p:cNvPr id="2154" name="Google Shape;2154;p159"/>
          <p:cNvCxnSpPr>
            <a:stCxn id="2150" idx="2"/>
            <a:endCxn id="2151" idx="0"/>
          </p:cNvCxnSpPr>
          <p:nvPr/>
        </p:nvCxnSpPr>
        <p:spPr>
          <a:xfrm rot="5400000">
            <a:off x="4566075" y="758850"/>
            <a:ext cx="699000" cy="2991000"/>
          </a:xfrm>
          <a:prstGeom prst="curvedConnector3">
            <a:avLst>
              <a:gd fmla="val 49991" name="adj1"/>
            </a:avLst>
          </a:prstGeom>
          <a:noFill/>
          <a:ln cap="flat" cmpd="sng" w="28575">
            <a:solidFill>
              <a:srgbClr val="C41F2F"/>
            </a:solidFill>
            <a:prstDash val="solid"/>
            <a:round/>
            <a:headEnd len="med" w="med" type="none"/>
            <a:tailEnd len="med" w="med" type="stealth"/>
          </a:ln>
        </p:spPr>
      </p:cxnSp>
    </p:spTree>
  </p:cSld>
  <p:clrMapOvr>
    <a:masterClrMapping/>
  </p:clrMapOvr>
  <p:transition spd="slow">
    <p:fade thruBlk="1"/>
  </p:transition>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158" name="Shape 2158"/>
        <p:cNvGrpSpPr/>
        <p:nvPr/>
      </p:nvGrpSpPr>
      <p:grpSpPr>
        <a:xfrm>
          <a:off x="0" y="0"/>
          <a:ext cx="0" cy="0"/>
          <a:chOff x="0" y="0"/>
          <a:chExt cx="0" cy="0"/>
        </a:xfrm>
      </p:grpSpPr>
      <p:pic>
        <p:nvPicPr>
          <p:cNvPr descr="A picture containing food, drawing, shirt&#10;&#10;Description automatically generated" id="2159" name="Google Shape;2159;p16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160" name="Google Shape;2160;p16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61" name="Google Shape;2161;p16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162" name="Google Shape;2162;p160"/>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163" name="Google Shape;2163;p16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164" name="Google Shape;2164;p160"/>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165" name="Google Shape;2165;p160"/>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Labs Decoder   </a:t>
            </a:r>
            <a:endParaRPr sz="4800">
              <a:solidFill>
                <a:schemeClr val="lt1"/>
              </a:solidFill>
              <a:highlight>
                <a:srgbClr val="3585F9"/>
              </a:highlight>
              <a:latin typeface="Poppins"/>
              <a:ea typeface="Poppins"/>
              <a:cs typeface="Poppins"/>
              <a:sym typeface="Poppins"/>
            </a:endParaRPr>
          </a:p>
        </p:txBody>
      </p:sp>
      <p:pic>
        <p:nvPicPr>
          <p:cNvPr id="2166" name="Google Shape;2166;p160"/>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0" name="Shape 2170"/>
        <p:cNvGrpSpPr/>
        <p:nvPr/>
      </p:nvGrpSpPr>
      <p:grpSpPr>
        <a:xfrm>
          <a:off x="0" y="0"/>
          <a:ext cx="0" cy="0"/>
          <a:chOff x="0" y="0"/>
          <a:chExt cx="0" cy="0"/>
        </a:xfrm>
      </p:grpSpPr>
      <p:sp>
        <p:nvSpPr>
          <p:cNvPr id="2171" name="Google Shape;2171;p161"/>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Practical Example </a:t>
            </a:r>
            <a:endParaRPr b="1" i="0" sz="3600" u="none" cap="none" strike="noStrike">
              <a:solidFill>
                <a:schemeClr val="accent1"/>
              </a:solidFill>
              <a:latin typeface="Poppins"/>
              <a:ea typeface="Poppins"/>
              <a:cs typeface="Poppins"/>
              <a:sym typeface="Poppins"/>
            </a:endParaRPr>
          </a:p>
        </p:txBody>
      </p:sp>
      <p:cxnSp>
        <p:nvCxnSpPr>
          <p:cNvPr id="2172" name="Google Shape;2172;p16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173" name="Google Shape;2173;p16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174" name="Google Shape;2174;p16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175" name="Google Shape;2175;p16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176" name="Google Shape;2176;p16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177" name="Google Shape;2177;p16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78" name="Google Shape;2178;p16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179" name="Google Shape;2179;p16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180" name="Google Shape;2180;p161"/>
          <p:cNvSpPr txBox="1"/>
          <p:nvPr/>
        </p:nvSpPr>
        <p:spPr>
          <a:xfrm>
            <a:off x="952125" y="1485450"/>
            <a:ext cx="10917900" cy="419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sz="1600">
                <a:solidFill>
                  <a:schemeClr val="dk1"/>
                </a:solidFill>
                <a:latin typeface="Archivo Medium"/>
                <a:ea typeface="Archivo Medium"/>
                <a:cs typeface="Archivo Medium"/>
                <a:sym typeface="Archivo Medium"/>
              </a:rPr>
              <a:t>Dec 25 20:45:02 MyHost example[12345]: User 'admin' logged from '192.168.1.100'</a:t>
            </a:r>
            <a:endParaRPr sz="1600">
              <a:solidFill>
                <a:schemeClr val="dk1"/>
              </a:solidFill>
              <a:latin typeface="Archivo Medium"/>
              <a:ea typeface="Archivo Medium"/>
              <a:cs typeface="Archivo Medium"/>
              <a:sym typeface="Archivo Medium"/>
            </a:endParaRPr>
          </a:p>
        </p:txBody>
      </p:sp>
      <p:cxnSp>
        <p:nvCxnSpPr>
          <p:cNvPr id="2181" name="Google Shape;2181;p161"/>
          <p:cNvCxnSpPr>
            <a:stCxn id="2180" idx="2"/>
            <a:endCxn id="2182" idx="1"/>
          </p:cNvCxnSpPr>
          <p:nvPr/>
        </p:nvCxnSpPr>
        <p:spPr>
          <a:xfrm rot="5400000">
            <a:off x="2617275" y="239850"/>
            <a:ext cx="2128800" cy="5458800"/>
          </a:xfrm>
          <a:prstGeom prst="curvedConnector4">
            <a:avLst>
              <a:gd fmla="val 23974" name="adj1"/>
              <a:gd fmla="val 104365" name="adj2"/>
            </a:avLst>
          </a:prstGeom>
          <a:noFill/>
          <a:ln cap="flat" cmpd="sng" w="38100">
            <a:solidFill>
              <a:srgbClr val="C41F2F"/>
            </a:solidFill>
            <a:prstDash val="solid"/>
            <a:round/>
            <a:headEnd len="med" w="med" type="none"/>
            <a:tailEnd len="med" w="med" type="stealth"/>
          </a:ln>
        </p:spPr>
      </p:cxnSp>
      <p:sp>
        <p:nvSpPr>
          <p:cNvPr id="2182" name="Google Shape;2182;p161"/>
          <p:cNvSpPr txBox="1"/>
          <p:nvPr/>
        </p:nvSpPr>
        <p:spPr>
          <a:xfrm>
            <a:off x="952125" y="2925550"/>
            <a:ext cx="41610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name="example"&gt;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&lt;program_name&gt;^example&lt;/program_name&gt;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name="example"&gt;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&lt;parent&gt;example&lt;/parent&gt;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&lt;regex&gt;User '(\w+)' logged from '(\d+.\d+.\d+.\d+)'&lt;/regex&gt;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&lt;order&gt;user, srcip&lt;/order&gt;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
        <p:nvSpPr>
          <p:cNvPr id="2183" name="Google Shape;2183;p161"/>
          <p:cNvSpPr txBox="1"/>
          <p:nvPr/>
        </p:nvSpPr>
        <p:spPr>
          <a:xfrm>
            <a:off x="7566025" y="3183463"/>
            <a:ext cx="41610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**Phase 1: Completed pre-decoding.</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full event: 'Dec 25 20:45:02 MyHost example[12345]: User 'admin' logged from '192.168.1.100''</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timestamp: 'Dec 25 20:45:02'</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hostname: 'MyHost'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program_name: 'example'</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**Phase 2: Completed decoding.</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name: 'example'</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dstuser: 'admin'</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srcip: '192.168.1.100'</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cxnSp>
        <p:nvCxnSpPr>
          <p:cNvPr id="2184" name="Google Shape;2184;p161"/>
          <p:cNvCxnSpPr>
            <a:stCxn id="2182" idx="3"/>
            <a:endCxn id="2183" idx="1"/>
          </p:cNvCxnSpPr>
          <p:nvPr/>
        </p:nvCxnSpPr>
        <p:spPr>
          <a:xfrm>
            <a:off x="5113125" y="4033750"/>
            <a:ext cx="2452800" cy="442800"/>
          </a:xfrm>
          <a:prstGeom prst="curvedConnector3">
            <a:avLst>
              <a:gd fmla="val 50002" name="adj1"/>
            </a:avLst>
          </a:prstGeom>
          <a:noFill/>
          <a:ln cap="flat" cmpd="sng" w="28575">
            <a:solidFill>
              <a:srgbClr val="C41F2F"/>
            </a:solidFill>
            <a:prstDash val="solid"/>
            <a:round/>
            <a:headEnd len="med" w="med" type="none"/>
            <a:tailEnd len="med" w="med" type="triangle"/>
          </a:ln>
        </p:spPr>
      </p:cxnSp>
    </p:spTree>
  </p:cSld>
  <p:clrMapOvr>
    <a:masterClrMapping/>
  </p:clrMapOvr>
  <p:transition spd="slow">
    <p:fade thruBlk="1"/>
  </p:transition>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8" name="Shape 2188"/>
        <p:cNvGrpSpPr/>
        <p:nvPr/>
      </p:nvGrpSpPr>
      <p:grpSpPr>
        <a:xfrm>
          <a:off x="0" y="0"/>
          <a:ext cx="0" cy="0"/>
          <a:chOff x="0" y="0"/>
          <a:chExt cx="0" cy="0"/>
        </a:xfrm>
      </p:grpSpPr>
      <p:sp>
        <p:nvSpPr>
          <p:cNvPr id="2189" name="Google Shape;2189;p162"/>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Practical Example #1</a:t>
            </a:r>
            <a:endParaRPr b="1" i="0" sz="3600" u="none" cap="none" strike="noStrike">
              <a:solidFill>
                <a:schemeClr val="accent1"/>
              </a:solidFill>
              <a:latin typeface="Poppins"/>
              <a:ea typeface="Poppins"/>
              <a:cs typeface="Poppins"/>
              <a:sym typeface="Poppins"/>
            </a:endParaRPr>
          </a:p>
        </p:txBody>
      </p:sp>
      <p:cxnSp>
        <p:nvCxnSpPr>
          <p:cNvPr id="2190" name="Google Shape;2190;p16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191" name="Google Shape;2191;p16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192" name="Google Shape;2192;p16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193" name="Google Shape;2193;p16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194" name="Google Shape;2194;p16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195" name="Google Shape;2195;p16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96" name="Google Shape;2196;p16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197" name="Google Shape;2197;p16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198" name="Google Shape;2198;p162"/>
          <p:cNvSpPr txBox="1"/>
          <p:nvPr/>
        </p:nvSpPr>
        <p:spPr>
          <a:xfrm>
            <a:off x="952125" y="1485450"/>
            <a:ext cx="10917900" cy="695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770"/>
              <a:buNone/>
            </a:pPr>
            <a:r>
              <a:rPr lang="en-US" sz="1420">
                <a:solidFill>
                  <a:schemeClr val="dk1"/>
                </a:solidFill>
                <a:latin typeface="Archivo Medium"/>
                <a:ea typeface="Archivo Medium"/>
                <a:cs typeface="Archivo Medium"/>
                <a:sym typeface="Archivo Medium"/>
              </a:rPr>
              <a:t>Aug 19 12:34:56 pfSense filterlog: 100,,,0,em1,match,block,in,4,0x0,,64,38641,0,DF,6,tcp,60,192.168.1.100,10.0.0.1,56789,22,0,S,4002566012,,64240,,mss;nop;wscale;nop;nop;TS;nop</a:t>
            </a:r>
            <a:endParaRPr sz="1420">
              <a:solidFill>
                <a:schemeClr val="dk1"/>
              </a:solidFill>
              <a:latin typeface="Archivo Medium"/>
              <a:ea typeface="Archivo Medium"/>
              <a:cs typeface="Archivo Medium"/>
              <a:sym typeface="Archivo Medium"/>
            </a:endParaRPr>
          </a:p>
        </p:txBody>
      </p:sp>
      <p:cxnSp>
        <p:nvCxnSpPr>
          <p:cNvPr id="2199" name="Google Shape;2199;p162"/>
          <p:cNvCxnSpPr>
            <a:stCxn id="2198" idx="2"/>
            <a:endCxn id="2200" idx="0"/>
          </p:cNvCxnSpPr>
          <p:nvPr/>
        </p:nvCxnSpPr>
        <p:spPr>
          <a:xfrm rot="5400000">
            <a:off x="4542075" y="912450"/>
            <a:ext cx="600600" cy="3137400"/>
          </a:xfrm>
          <a:prstGeom prst="curvedConnector3">
            <a:avLst>
              <a:gd fmla="val 49996" name="adj1"/>
            </a:avLst>
          </a:prstGeom>
          <a:noFill/>
          <a:ln cap="flat" cmpd="sng" w="38100">
            <a:solidFill>
              <a:srgbClr val="C41F2F"/>
            </a:solidFill>
            <a:prstDash val="solid"/>
            <a:round/>
            <a:headEnd len="med" w="med" type="none"/>
            <a:tailEnd len="med" w="med" type="stealth"/>
          </a:ln>
        </p:spPr>
      </p:cxnSp>
      <p:cxnSp>
        <p:nvCxnSpPr>
          <p:cNvPr id="2201" name="Google Shape;2201;p162"/>
          <p:cNvCxnSpPr>
            <a:stCxn id="2200" idx="3"/>
            <a:endCxn id="2202" idx="1"/>
          </p:cNvCxnSpPr>
          <p:nvPr/>
        </p:nvCxnSpPr>
        <p:spPr>
          <a:xfrm flipH="1" rot="10800000">
            <a:off x="5441099" y="4268614"/>
            <a:ext cx="969900" cy="76200"/>
          </a:xfrm>
          <a:prstGeom prst="curvedConnector3">
            <a:avLst>
              <a:gd fmla="val 50004" name="adj1"/>
            </a:avLst>
          </a:prstGeom>
          <a:noFill/>
          <a:ln cap="flat" cmpd="sng" w="28575">
            <a:solidFill>
              <a:srgbClr val="C41F2F"/>
            </a:solidFill>
            <a:prstDash val="solid"/>
            <a:round/>
            <a:headEnd len="med" w="med" type="none"/>
            <a:tailEnd len="med" w="med" type="triangle"/>
          </a:ln>
        </p:spPr>
      </p:cxnSp>
      <p:pic>
        <p:nvPicPr>
          <p:cNvPr id="2200" name="Google Shape;2200;p162"/>
          <p:cNvPicPr preferRelativeResize="0"/>
          <p:nvPr/>
        </p:nvPicPr>
        <p:blipFill>
          <a:blip r:embed="rId6">
            <a:alphaModFix/>
          </a:blip>
          <a:stretch>
            <a:fillRect/>
          </a:stretch>
        </p:blipFill>
        <p:spPr>
          <a:xfrm>
            <a:off x="1106030" y="2781401"/>
            <a:ext cx="4335070" cy="3126826"/>
          </a:xfrm>
          <a:prstGeom prst="rect">
            <a:avLst/>
          </a:prstGeom>
          <a:noFill/>
          <a:ln>
            <a:noFill/>
          </a:ln>
        </p:spPr>
      </p:pic>
      <p:pic>
        <p:nvPicPr>
          <p:cNvPr id="2202" name="Google Shape;2202;p162"/>
          <p:cNvPicPr preferRelativeResize="0"/>
          <p:nvPr/>
        </p:nvPicPr>
        <p:blipFill>
          <a:blip r:embed="rId7">
            <a:alphaModFix/>
          </a:blip>
          <a:stretch>
            <a:fillRect/>
          </a:stretch>
        </p:blipFill>
        <p:spPr>
          <a:xfrm>
            <a:off x="6411075" y="2754313"/>
            <a:ext cx="5324047" cy="3028575"/>
          </a:xfrm>
          <a:prstGeom prst="rect">
            <a:avLst/>
          </a:prstGeom>
          <a:noFill/>
          <a:ln>
            <a:noFill/>
          </a:ln>
        </p:spPr>
      </p:pic>
    </p:spTree>
  </p:cSld>
  <p:clrMapOvr>
    <a:masterClrMapping/>
  </p:clrMapOvr>
  <p:transition spd="slow">
    <p:fade thruBlk="1"/>
  </p:transition>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6" name="Shape 2206"/>
        <p:cNvGrpSpPr/>
        <p:nvPr/>
      </p:nvGrpSpPr>
      <p:grpSpPr>
        <a:xfrm>
          <a:off x="0" y="0"/>
          <a:ext cx="0" cy="0"/>
          <a:chOff x="0" y="0"/>
          <a:chExt cx="0" cy="0"/>
        </a:xfrm>
      </p:grpSpPr>
      <p:sp>
        <p:nvSpPr>
          <p:cNvPr id="2207" name="Google Shape;2207;p163"/>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Practical Example #2</a:t>
            </a:r>
            <a:endParaRPr b="1" i="0" sz="3600" u="none" cap="none" strike="noStrike">
              <a:solidFill>
                <a:schemeClr val="accent1"/>
              </a:solidFill>
              <a:latin typeface="Poppins"/>
              <a:ea typeface="Poppins"/>
              <a:cs typeface="Poppins"/>
              <a:sym typeface="Poppins"/>
            </a:endParaRPr>
          </a:p>
        </p:txBody>
      </p:sp>
      <p:cxnSp>
        <p:nvCxnSpPr>
          <p:cNvPr id="2208" name="Google Shape;2208;p16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209" name="Google Shape;2209;p16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210" name="Google Shape;2210;p16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211" name="Google Shape;2211;p16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212" name="Google Shape;2212;p16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213" name="Google Shape;2213;p16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14" name="Google Shape;2214;p16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215" name="Google Shape;2215;p16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216" name="Google Shape;2216;p163"/>
          <p:cNvSpPr txBox="1"/>
          <p:nvPr/>
        </p:nvSpPr>
        <p:spPr>
          <a:xfrm>
            <a:off x="952125" y="1485450"/>
            <a:ext cx="10917900" cy="419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605"/>
              <a:buFont typeface="Arial"/>
              <a:buNone/>
            </a:pPr>
            <a:r>
              <a:rPr lang="en-US" sz="2080">
                <a:solidFill>
                  <a:schemeClr val="dk1"/>
                </a:solidFill>
                <a:latin typeface="Archivo Medium"/>
                <a:ea typeface="Archivo Medium"/>
                <a:cs typeface="Archivo Medium"/>
                <a:sym typeface="Archivo Medium"/>
              </a:rPr>
              <a:t>Oct 19 14:32:01 router1 assigned 192.168.1.100 to AA:BB:CC:DD:EE:FF</a:t>
            </a:r>
            <a:endParaRPr sz="208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605"/>
              <a:buFont typeface="Arial"/>
              <a:buNone/>
            </a:pPr>
            <a:r>
              <a:t/>
            </a:r>
            <a:endParaRPr sz="208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SzPts val="605"/>
              <a:buNone/>
            </a:pPr>
            <a:r>
              <a:t/>
            </a:r>
            <a:endParaRPr sz="2080">
              <a:solidFill>
                <a:schemeClr val="dk1"/>
              </a:solidFill>
              <a:latin typeface="Archivo Medium"/>
              <a:ea typeface="Archivo Medium"/>
              <a:cs typeface="Archivo Medium"/>
              <a:sym typeface="Archivo Medium"/>
            </a:endParaRPr>
          </a:p>
        </p:txBody>
      </p:sp>
      <p:cxnSp>
        <p:nvCxnSpPr>
          <p:cNvPr id="2217" name="Google Shape;2217;p163"/>
          <p:cNvCxnSpPr>
            <a:stCxn id="2216" idx="2"/>
            <a:endCxn id="2218" idx="1"/>
          </p:cNvCxnSpPr>
          <p:nvPr/>
        </p:nvCxnSpPr>
        <p:spPr>
          <a:xfrm rot="5400000">
            <a:off x="2617275" y="239850"/>
            <a:ext cx="2128800" cy="5458800"/>
          </a:xfrm>
          <a:prstGeom prst="curvedConnector4">
            <a:avLst>
              <a:gd fmla="val 23974" name="adj1"/>
              <a:gd fmla="val 104365" name="adj2"/>
            </a:avLst>
          </a:prstGeom>
          <a:noFill/>
          <a:ln cap="flat" cmpd="sng" w="38100">
            <a:solidFill>
              <a:srgbClr val="C41F2F"/>
            </a:solidFill>
            <a:prstDash val="solid"/>
            <a:round/>
            <a:headEnd len="med" w="med" type="none"/>
            <a:tailEnd len="med" w="med" type="stealth"/>
          </a:ln>
        </p:spPr>
      </p:cxnSp>
      <p:sp>
        <p:nvSpPr>
          <p:cNvPr id="2218" name="Google Shape;2218;p163"/>
          <p:cNvSpPr txBox="1"/>
          <p:nvPr/>
        </p:nvSpPr>
        <p:spPr>
          <a:xfrm>
            <a:off x="952125" y="2925550"/>
            <a:ext cx="41610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name="mikrotik_dhcp"&gt;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&lt;prematch&gt;^assigned&lt;/prematch&gt;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name="mikrotik_router"&gt;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&lt;parent&gt;mikrotik_dhcp&lt;/parent&gt;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&lt;regex offset="after_parent"&gt;(\d+.\d+.\d+.\d+) to (\w+:\w+:\w+:\w+:\w+:\w+)&lt;/regex&gt;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&lt;order&gt;srcip,mac&lt;/order&gt;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
        <p:nvSpPr>
          <p:cNvPr id="2219" name="Google Shape;2219;p163"/>
          <p:cNvSpPr txBox="1"/>
          <p:nvPr/>
        </p:nvSpPr>
        <p:spPr>
          <a:xfrm>
            <a:off x="6331175" y="3183475"/>
            <a:ext cx="5395800" cy="2185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latin typeface="Courier New"/>
                <a:ea typeface="Courier New"/>
                <a:cs typeface="Courier New"/>
                <a:sym typeface="Courier New"/>
              </a:rPr>
              <a:t>**Phase 1: Completed pre-decoding.</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latin typeface="Courier New"/>
                <a:ea typeface="Courier New"/>
                <a:cs typeface="Courier New"/>
                <a:sym typeface="Courier New"/>
              </a:rPr>
              <a:t>	full event: 'Oct 19 14:32:01 router1 assigned 192.168.1.100 to AA:BB:CC:DD:EE:FF'</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latin typeface="Courier New"/>
                <a:ea typeface="Courier New"/>
                <a:cs typeface="Courier New"/>
                <a:sym typeface="Courier New"/>
              </a:rPr>
              <a:t>	timestamp: 'Oct 19 14:32:01'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latin typeface="Courier New"/>
                <a:ea typeface="Courier New"/>
                <a:cs typeface="Courier New"/>
                <a:sym typeface="Courier New"/>
              </a:rPr>
              <a:t>	hostname: 'router1'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latin typeface="Courier New"/>
                <a:ea typeface="Courier New"/>
                <a:cs typeface="Courier New"/>
                <a:sym typeface="Courier New"/>
              </a:rPr>
              <a:t>**Phase 2: Completed decoding.</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latin typeface="Courier New"/>
                <a:ea typeface="Courier New"/>
                <a:cs typeface="Courier New"/>
                <a:sym typeface="Courier New"/>
              </a:rPr>
              <a:t>	name: 'mikrotik_dhcp'</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latin typeface="Courier New"/>
                <a:ea typeface="Courier New"/>
                <a:cs typeface="Courier New"/>
                <a:sym typeface="Courier New"/>
              </a:rPr>
              <a:t>	mac: 'AA:BB:CC:DD:EE:FF'</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srcip: '192.168.1.100'</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000">
              <a:solidFill>
                <a:schemeClr val="dk1"/>
              </a:solidFill>
              <a:latin typeface="Courier New"/>
              <a:ea typeface="Courier New"/>
              <a:cs typeface="Courier New"/>
              <a:sym typeface="Courier New"/>
            </a:endParaRPr>
          </a:p>
        </p:txBody>
      </p:sp>
      <p:cxnSp>
        <p:nvCxnSpPr>
          <p:cNvPr id="2220" name="Google Shape;2220;p163"/>
          <p:cNvCxnSpPr>
            <a:stCxn id="2218" idx="3"/>
            <a:endCxn id="2219" idx="1"/>
          </p:cNvCxnSpPr>
          <p:nvPr/>
        </p:nvCxnSpPr>
        <p:spPr>
          <a:xfrm>
            <a:off x="5113125" y="4033750"/>
            <a:ext cx="1218000" cy="242700"/>
          </a:xfrm>
          <a:prstGeom prst="curvedConnector3">
            <a:avLst>
              <a:gd fmla="val 50002" name="adj1"/>
            </a:avLst>
          </a:prstGeom>
          <a:noFill/>
          <a:ln cap="flat" cmpd="sng" w="28575">
            <a:solidFill>
              <a:srgbClr val="C41F2F"/>
            </a:solidFill>
            <a:prstDash val="solid"/>
            <a:round/>
            <a:headEnd len="med" w="med" type="none"/>
            <a:tailEnd len="med" w="med" type="triangle"/>
          </a:ln>
        </p:spPr>
      </p:cxnSp>
    </p:spTree>
  </p:cSld>
  <p:clrMapOvr>
    <a:masterClrMapping/>
  </p:clrMapOvr>
  <p:transition spd="slow">
    <p:fade thruBlk="1"/>
  </p:transition>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4" name="Shape 2224"/>
        <p:cNvGrpSpPr/>
        <p:nvPr/>
      </p:nvGrpSpPr>
      <p:grpSpPr>
        <a:xfrm>
          <a:off x="0" y="0"/>
          <a:ext cx="0" cy="0"/>
          <a:chOff x="0" y="0"/>
          <a:chExt cx="0" cy="0"/>
        </a:xfrm>
      </p:grpSpPr>
      <p:sp>
        <p:nvSpPr>
          <p:cNvPr id="2225" name="Google Shape;2225;p164"/>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Practical Example #3</a:t>
            </a:r>
            <a:endParaRPr b="1" i="0" sz="3600" u="none" cap="none" strike="noStrike">
              <a:solidFill>
                <a:schemeClr val="accent1"/>
              </a:solidFill>
              <a:latin typeface="Poppins"/>
              <a:ea typeface="Poppins"/>
              <a:cs typeface="Poppins"/>
              <a:sym typeface="Poppins"/>
            </a:endParaRPr>
          </a:p>
        </p:txBody>
      </p:sp>
      <p:cxnSp>
        <p:nvCxnSpPr>
          <p:cNvPr id="2226" name="Google Shape;2226;p16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227" name="Google Shape;2227;p16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228" name="Google Shape;2228;p16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229" name="Google Shape;2229;p16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230" name="Google Shape;2230;p16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231" name="Google Shape;2231;p16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32" name="Google Shape;2232;p16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233" name="Google Shape;2233;p16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234" name="Google Shape;2234;p164"/>
          <p:cNvSpPr txBox="1"/>
          <p:nvPr/>
        </p:nvSpPr>
        <p:spPr>
          <a:xfrm>
            <a:off x="952125" y="1485450"/>
            <a:ext cx="10917900" cy="419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605"/>
              <a:buFont typeface="Arial"/>
              <a:buNone/>
            </a:pPr>
            <a:r>
              <a:rPr lang="en-US" sz="2080">
                <a:solidFill>
                  <a:schemeClr val="dk1"/>
                </a:solidFill>
                <a:latin typeface="Archivo Medium"/>
                <a:ea typeface="Archivo Medium"/>
                <a:cs typeface="Archivo Medium"/>
                <a:sym typeface="Archivo Medium"/>
              </a:rPr>
              <a:t> Oct 12 11:47:40 name-mikrotik login failure for user ITw from 172.16.9.93 via winbox</a:t>
            </a:r>
            <a:endParaRPr sz="208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605"/>
              <a:buFont typeface="Arial"/>
              <a:buNone/>
            </a:pPr>
            <a:r>
              <a:t/>
            </a:r>
            <a:endParaRPr sz="208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SzPts val="605"/>
              <a:buNone/>
            </a:pPr>
            <a:r>
              <a:t/>
            </a:r>
            <a:endParaRPr sz="2080">
              <a:solidFill>
                <a:schemeClr val="dk1"/>
              </a:solidFill>
              <a:latin typeface="Archivo Medium"/>
              <a:ea typeface="Archivo Medium"/>
              <a:cs typeface="Archivo Medium"/>
              <a:sym typeface="Archivo Medium"/>
            </a:endParaRPr>
          </a:p>
        </p:txBody>
      </p:sp>
      <p:cxnSp>
        <p:nvCxnSpPr>
          <p:cNvPr id="2235" name="Google Shape;2235;p164"/>
          <p:cNvCxnSpPr>
            <a:stCxn id="2234" idx="2"/>
            <a:endCxn id="2236" idx="1"/>
          </p:cNvCxnSpPr>
          <p:nvPr/>
        </p:nvCxnSpPr>
        <p:spPr>
          <a:xfrm rot="5400000">
            <a:off x="2571075" y="286050"/>
            <a:ext cx="2221200" cy="5458800"/>
          </a:xfrm>
          <a:prstGeom prst="curvedConnector4">
            <a:avLst>
              <a:gd fmla="val 22976" name="adj1"/>
              <a:gd fmla="val 104365" name="adj2"/>
            </a:avLst>
          </a:prstGeom>
          <a:noFill/>
          <a:ln cap="flat" cmpd="sng" w="38100">
            <a:solidFill>
              <a:srgbClr val="C41F2F"/>
            </a:solidFill>
            <a:prstDash val="solid"/>
            <a:round/>
            <a:headEnd len="med" w="med" type="none"/>
            <a:tailEnd len="med" w="med" type="stealth"/>
          </a:ln>
        </p:spPr>
      </p:cxnSp>
      <p:sp>
        <p:nvSpPr>
          <p:cNvPr id="2236" name="Google Shape;2236;p164"/>
          <p:cNvSpPr txBox="1"/>
          <p:nvPr/>
        </p:nvSpPr>
        <p:spPr>
          <a:xfrm>
            <a:off x="952125" y="2925550"/>
            <a:ext cx="41610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name="mikrotik"&gt;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&lt;prematch&gt;^login&lt;/prematch&gt;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name="mikrotik_router"&gt;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&lt;parent&gt;mikrotik&lt;/parent&gt;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&lt;regex offset="after_parent"&gt;^(\.+) for user (\.+) from (\d+.\d+.\d+.\d+) via (\.+)&lt;/regex&gt;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&lt;order&gt;status,user,srcip,method&lt;/order&gt;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
        <p:nvSpPr>
          <p:cNvPr id="2237" name="Google Shape;2237;p164"/>
          <p:cNvSpPr txBox="1"/>
          <p:nvPr/>
        </p:nvSpPr>
        <p:spPr>
          <a:xfrm>
            <a:off x="6331175" y="3183475"/>
            <a:ext cx="5395800" cy="2586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000">
                <a:solidFill>
                  <a:schemeClr val="dk1"/>
                </a:solidFill>
                <a:highlight>
                  <a:srgbClr val="F5F7FA"/>
                </a:highlight>
                <a:latin typeface="Courier New"/>
                <a:ea typeface="Courier New"/>
                <a:cs typeface="Courier New"/>
                <a:sym typeface="Courier New"/>
              </a:rPr>
              <a:t>**Phase 1: Completed pre-decoding.</a:t>
            </a:r>
            <a:endParaRPr sz="1000">
              <a:solidFill>
                <a:schemeClr val="dk1"/>
              </a:solidFill>
              <a:highlight>
                <a:srgbClr val="F5F7FA"/>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highlight>
                <a:srgbClr val="F5F7FA"/>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highlight>
                  <a:srgbClr val="F5F7FA"/>
                </a:highlight>
                <a:latin typeface="Courier New"/>
                <a:ea typeface="Courier New"/>
                <a:cs typeface="Courier New"/>
                <a:sym typeface="Courier New"/>
              </a:rPr>
              <a:t>	full event: 'Oct 12 11:47:40 name-mikrotik login failure for user ITw from 172.16.9.93 via winbox'</a:t>
            </a:r>
            <a:endParaRPr sz="1000">
              <a:solidFill>
                <a:schemeClr val="dk1"/>
              </a:solidFill>
              <a:highlight>
                <a:srgbClr val="F5F7FA"/>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highlight>
                  <a:srgbClr val="F5F7FA"/>
                </a:highlight>
                <a:latin typeface="Courier New"/>
                <a:ea typeface="Courier New"/>
                <a:cs typeface="Courier New"/>
                <a:sym typeface="Courier New"/>
              </a:rPr>
              <a:t>	timestamp: 'Oct 12 11:47:40'</a:t>
            </a:r>
            <a:endParaRPr sz="1000">
              <a:solidFill>
                <a:schemeClr val="dk1"/>
              </a:solidFill>
              <a:highlight>
                <a:srgbClr val="F5F7FA"/>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highlight>
                  <a:srgbClr val="F5F7FA"/>
                </a:highlight>
                <a:latin typeface="Courier New"/>
                <a:ea typeface="Courier New"/>
                <a:cs typeface="Courier New"/>
                <a:sym typeface="Courier New"/>
              </a:rPr>
              <a:t>	hostname: 'name-mikrotik'</a:t>
            </a:r>
            <a:endParaRPr sz="1000">
              <a:solidFill>
                <a:schemeClr val="dk1"/>
              </a:solidFill>
              <a:highlight>
                <a:srgbClr val="F5F7FA"/>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highlight>
                <a:srgbClr val="F5F7FA"/>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highlight>
                  <a:srgbClr val="F5F7FA"/>
                </a:highlight>
                <a:latin typeface="Courier New"/>
                <a:ea typeface="Courier New"/>
                <a:cs typeface="Courier New"/>
                <a:sym typeface="Courier New"/>
              </a:rPr>
              <a:t>**Phase 2: Completed decoding.</a:t>
            </a:r>
            <a:endParaRPr sz="1000">
              <a:solidFill>
                <a:schemeClr val="dk1"/>
              </a:solidFill>
              <a:highlight>
                <a:srgbClr val="F5F7FA"/>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highlight>
                <a:srgbClr val="F5F7FA"/>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highlight>
                  <a:srgbClr val="F5F7FA"/>
                </a:highlight>
                <a:latin typeface="Courier New"/>
                <a:ea typeface="Courier New"/>
                <a:cs typeface="Courier New"/>
                <a:sym typeface="Courier New"/>
              </a:rPr>
              <a:t>	name: 'mikrotik'</a:t>
            </a:r>
            <a:endParaRPr sz="1000">
              <a:solidFill>
                <a:schemeClr val="dk1"/>
              </a:solidFill>
              <a:highlight>
                <a:srgbClr val="F5F7FA"/>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highlight>
                  <a:srgbClr val="F5F7FA"/>
                </a:highlight>
                <a:latin typeface="Courier New"/>
                <a:ea typeface="Courier New"/>
                <a:cs typeface="Courier New"/>
                <a:sym typeface="Courier New"/>
              </a:rPr>
              <a:t>	dstuser: 'ITw'</a:t>
            </a:r>
            <a:endParaRPr sz="1000">
              <a:solidFill>
                <a:schemeClr val="dk1"/>
              </a:solidFill>
              <a:highlight>
                <a:srgbClr val="F5F7FA"/>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highlight>
                  <a:srgbClr val="F5F7FA"/>
                </a:highlight>
                <a:latin typeface="Courier New"/>
                <a:ea typeface="Courier New"/>
                <a:cs typeface="Courier New"/>
                <a:sym typeface="Courier New"/>
              </a:rPr>
              <a:t>	method: 'winbox'</a:t>
            </a:r>
            <a:endParaRPr sz="1000">
              <a:solidFill>
                <a:schemeClr val="dk1"/>
              </a:solidFill>
              <a:highlight>
                <a:srgbClr val="F5F7FA"/>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US" sz="1000">
                <a:solidFill>
                  <a:schemeClr val="dk1"/>
                </a:solidFill>
                <a:highlight>
                  <a:srgbClr val="F5F7FA"/>
                </a:highlight>
                <a:latin typeface="Courier New"/>
                <a:ea typeface="Courier New"/>
                <a:cs typeface="Courier New"/>
                <a:sym typeface="Courier New"/>
              </a:rPr>
              <a:t>	srcip: '172.16.9.93'</a:t>
            </a:r>
            <a:endParaRPr sz="1000">
              <a:solidFill>
                <a:schemeClr val="dk1"/>
              </a:solidFill>
              <a:highlight>
                <a:srgbClr val="F5F7FA"/>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highlight>
                  <a:srgbClr val="F5F7FA"/>
                </a:highlight>
                <a:latin typeface="Courier New"/>
                <a:ea typeface="Courier New"/>
                <a:cs typeface="Courier New"/>
                <a:sym typeface="Courier New"/>
              </a:rPr>
              <a:t>	status: ' failure'</a:t>
            </a:r>
            <a:endParaRPr sz="1000">
              <a:solidFill>
                <a:schemeClr val="dk1"/>
              </a:solidFill>
              <a:highlight>
                <a:srgbClr val="F5F7FA"/>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000">
              <a:solidFill>
                <a:schemeClr val="dk1"/>
              </a:solidFill>
              <a:latin typeface="Courier New"/>
              <a:ea typeface="Courier New"/>
              <a:cs typeface="Courier New"/>
              <a:sym typeface="Courier New"/>
            </a:endParaRPr>
          </a:p>
        </p:txBody>
      </p:sp>
      <p:cxnSp>
        <p:nvCxnSpPr>
          <p:cNvPr id="2238" name="Google Shape;2238;p164"/>
          <p:cNvCxnSpPr>
            <a:stCxn id="2236" idx="3"/>
            <a:endCxn id="2237" idx="1"/>
          </p:cNvCxnSpPr>
          <p:nvPr/>
        </p:nvCxnSpPr>
        <p:spPr>
          <a:xfrm>
            <a:off x="5113125" y="4126150"/>
            <a:ext cx="1218000" cy="350400"/>
          </a:xfrm>
          <a:prstGeom prst="curvedConnector3">
            <a:avLst>
              <a:gd fmla="val 50002" name="adj1"/>
            </a:avLst>
          </a:prstGeom>
          <a:noFill/>
          <a:ln cap="flat" cmpd="sng" w="28575">
            <a:solidFill>
              <a:srgbClr val="C41F2F"/>
            </a:solidFill>
            <a:prstDash val="solid"/>
            <a:round/>
            <a:headEnd len="med" w="med" type="none"/>
            <a:tailEnd len="med" w="med" type="triangle"/>
          </a:ln>
        </p:spPr>
      </p:cxnSp>
    </p:spTree>
  </p:cSld>
  <p:clrMapOvr>
    <a:masterClrMapping/>
  </p:clrMapOvr>
  <p:transition spd="slow">
    <p:fade thruBlk="1"/>
  </p:transition>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42" name="Shape 2242"/>
        <p:cNvGrpSpPr/>
        <p:nvPr/>
      </p:nvGrpSpPr>
      <p:grpSpPr>
        <a:xfrm>
          <a:off x="0" y="0"/>
          <a:ext cx="0" cy="0"/>
          <a:chOff x="0" y="0"/>
          <a:chExt cx="0" cy="0"/>
        </a:xfrm>
      </p:grpSpPr>
      <p:sp>
        <p:nvSpPr>
          <p:cNvPr id="2243" name="Google Shape;2243;p165"/>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Practical Example #3</a:t>
            </a:r>
            <a:endParaRPr b="1" i="0" sz="3600" u="none" cap="none" strike="noStrike">
              <a:solidFill>
                <a:schemeClr val="accent1"/>
              </a:solidFill>
              <a:latin typeface="Poppins"/>
              <a:ea typeface="Poppins"/>
              <a:cs typeface="Poppins"/>
              <a:sym typeface="Poppins"/>
            </a:endParaRPr>
          </a:p>
        </p:txBody>
      </p:sp>
      <p:cxnSp>
        <p:nvCxnSpPr>
          <p:cNvPr id="2244" name="Google Shape;2244;p16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245" name="Google Shape;2245;p16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246" name="Google Shape;2246;p16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247" name="Google Shape;2247;p16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248" name="Google Shape;2248;p16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249" name="Google Shape;2249;p16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50" name="Google Shape;2250;p16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251" name="Google Shape;2251;p16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252" name="Google Shape;2252;p165"/>
          <p:cNvSpPr txBox="1"/>
          <p:nvPr/>
        </p:nvSpPr>
        <p:spPr>
          <a:xfrm>
            <a:off x="952125" y="1485450"/>
            <a:ext cx="10917900" cy="419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605"/>
              <a:buFont typeface="Arial"/>
              <a:buNone/>
            </a:pPr>
            <a:r>
              <a:rPr lang="en-US" sz="1679">
                <a:solidFill>
                  <a:schemeClr val="dk1"/>
                </a:solidFill>
                <a:latin typeface="Archivo Medium"/>
                <a:ea typeface="Archivo Medium"/>
                <a:cs typeface="Archivo Medium"/>
                <a:sym typeface="Archivo Medium"/>
              </a:rPr>
              <a:t>Oct 19 15:21:45 ubuntu sshd[12345]: Failed password for invalid user admin from 192.168.1.1 port 22 ssh2</a:t>
            </a:r>
            <a:endParaRPr sz="1679">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605"/>
              <a:buFont typeface="Arial"/>
              <a:buNone/>
            </a:pPr>
            <a:r>
              <a:t/>
            </a:r>
            <a:endParaRPr sz="1679">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SzPts val="605"/>
              <a:buNone/>
            </a:pPr>
            <a:r>
              <a:t/>
            </a:r>
            <a:endParaRPr sz="1679">
              <a:solidFill>
                <a:schemeClr val="dk1"/>
              </a:solidFill>
              <a:latin typeface="Archivo Medium"/>
              <a:ea typeface="Archivo Medium"/>
              <a:cs typeface="Archivo Medium"/>
              <a:sym typeface="Archivo Medium"/>
            </a:endParaRPr>
          </a:p>
        </p:txBody>
      </p:sp>
      <p:cxnSp>
        <p:nvCxnSpPr>
          <p:cNvPr id="2253" name="Google Shape;2253;p165"/>
          <p:cNvCxnSpPr>
            <a:stCxn id="2252" idx="2"/>
            <a:endCxn id="2254" idx="1"/>
          </p:cNvCxnSpPr>
          <p:nvPr/>
        </p:nvCxnSpPr>
        <p:spPr>
          <a:xfrm rot="5400000">
            <a:off x="2571075" y="286050"/>
            <a:ext cx="2221200" cy="5458800"/>
          </a:xfrm>
          <a:prstGeom prst="curvedConnector4">
            <a:avLst>
              <a:gd fmla="val 22976" name="adj1"/>
              <a:gd fmla="val 104365" name="adj2"/>
            </a:avLst>
          </a:prstGeom>
          <a:noFill/>
          <a:ln cap="flat" cmpd="sng" w="38100">
            <a:solidFill>
              <a:srgbClr val="C41F2F"/>
            </a:solidFill>
            <a:prstDash val="solid"/>
            <a:round/>
            <a:headEnd len="med" w="med" type="none"/>
            <a:tailEnd len="med" w="med" type="stealth"/>
          </a:ln>
        </p:spPr>
      </p:cxnSp>
      <p:sp>
        <p:nvSpPr>
          <p:cNvPr id="2254" name="Google Shape;2254;p165"/>
          <p:cNvSpPr txBox="1"/>
          <p:nvPr/>
        </p:nvSpPr>
        <p:spPr>
          <a:xfrm>
            <a:off x="952125" y="2925550"/>
            <a:ext cx="41610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name="ubuntu_failed_login"&gt;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&lt;program_name&gt;^sshd$&lt;/program_name&gt;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name="ubuntu_failed_login_detail"&gt;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&lt;parent&gt;ubuntu_failed_login&lt;/parent&gt;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&lt;regex&gt;Failed password for invalid user (\w+) from (\d+\.\d+\.\d+\.\d+) port \d+ ssh2&lt;/regex&gt;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&lt;order&gt;is_invalid_user, username, srcip&lt;/order&gt;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
        <p:nvSpPr>
          <p:cNvPr id="2255" name="Google Shape;2255;p165"/>
          <p:cNvSpPr txBox="1"/>
          <p:nvPr/>
        </p:nvSpPr>
        <p:spPr>
          <a:xfrm>
            <a:off x="7565925" y="2799063"/>
            <a:ext cx="41610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**Phase 1: Completed decoding.</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name: 'ubuntu_failed_login_detail'</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parent: 'ubuntu_failed_login'</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is_invalid_user: 'invalid user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username: 'admin'</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srcip: '192.168.1.1'</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**Phase 2: Completed filtering (rules).</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id: '100002'</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level: '7'</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description: 'Failed SSH login attempt'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groups: ['authentication', 'sshd', 'failed-login']</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cxnSp>
        <p:nvCxnSpPr>
          <p:cNvPr id="2256" name="Google Shape;2256;p165"/>
          <p:cNvCxnSpPr>
            <a:stCxn id="2254" idx="3"/>
            <a:endCxn id="2255" idx="1"/>
          </p:cNvCxnSpPr>
          <p:nvPr/>
        </p:nvCxnSpPr>
        <p:spPr>
          <a:xfrm>
            <a:off x="5113125" y="4126150"/>
            <a:ext cx="2452800" cy="243000"/>
          </a:xfrm>
          <a:prstGeom prst="curvedConnector3">
            <a:avLst>
              <a:gd fmla="val 50000" name="adj1"/>
            </a:avLst>
          </a:prstGeom>
          <a:noFill/>
          <a:ln cap="flat" cmpd="sng" w="28575">
            <a:solidFill>
              <a:srgbClr val="C41F2F"/>
            </a:solidFill>
            <a:prstDash val="solid"/>
            <a:round/>
            <a:headEnd len="med" w="med" type="none"/>
            <a:tailEnd len="med" w="med" type="triangle"/>
          </a:ln>
        </p:spPr>
      </p:cxnSp>
    </p:spTree>
  </p:cSld>
  <p:clrMapOvr>
    <a:masterClrMapping/>
  </p:clrMapOvr>
  <p:transition spd="slow">
    <p:fade thruBlk="1"/>
  </p:transition>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260" name="Shape 2260"/>
        <p:cNvGrpSpPr/>
        <p:nvPr/>
      </p:nvGrpSpPr>
      <p:grpSpPr>
        <a:xfrm>
          <a:off x="0" y="0"/>
          <a:ext cx="0" cy="0"/>
          <a:chOff x="0" y="0"/>
          <a:chExt cx="0" cy="0"/>
        </a:xfrm>
      </p:grpSpPr>
      <p:pic>
        <p:nvPicPr>
          <p:cNvPr descr="A picture containing food, drawing, shirt&#10;&#10;Description automatically generated" id="2261" name="Google Shape;2261;p16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262" name="Google Shape;2262;p16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63" name="Google Shape;2263;p16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264" name="Google Shape;2264;p166"/>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265" name="Google Shape;2265;p16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266" name="Google Shape;2266;p166"/>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267" name="Google Shape;2267;p166"/>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2268" name="Google Shape;2268;p166"/>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2" name="Shape 2272"/>
        <p:cNvGrpSpPr/>
        <p:nvPr/>
      </p:nvGrpSpPr>
      <p:grpSpPr>
        <a:xfrm>
          <a:off x="0" y="0"/>
          <a:ext cx="0" cy="0"/>
          <a:chOff x="0" y="0"/>
          <a:chExt cx="0" cy="0"/>
        </a:xfrm>
      </p:grpSpPr>
      <p:sp>
        <p:nvSpPr>
          <p:cNvPr id="2273" name="Google Shape;2273;p167"/>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Flow Log Collection - Monitoring Logs OS</a:t>
            </a:r>
            <a:endParaRPr b="1" i="0" sz="3600" u="none" cap="none" strike="noStrike">
              <a:solidFill>
                <a:schemeClr val="accent1"/>
              </a:solidFill>
              <a:latin typeface="Poppins"/>
              <a:ea typeface="Poppins"/>
              <a:cs typeface="Poppins"/>
              <a:sym typeface="Poppins"/>
            </a:endParaRPr>
          </a:p>
        </p:txBody>
      </p:sp>
      <p:cxnSp>
        <p:nvCxnSpPr>
          <p:cNvPr id="2274" name="Google Shape;2274;p16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275" name="Google Shape;2275;p16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276" name="Google Shape;2276;p16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277" name="Google Shape;2277;p16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278" name="Google Shape;2278;p16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279" name="Google Shape;2279;p16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280" name="Google Shape;2280;p167"/>
          <p:cNvGraphicFramePr/>
          <p:nvPr/>
        </p:nvGraphicFramePr>
        <p:xfrm>
          <a:off x="737050" y="2698288"/>
          <a:ext cx="3000000" cy="3000000"/>
        </p:xfrm>
        <a:graphic>
          <a:graphicData uri="http://schemas.openxmlformats.org/drawingml/2006/table">
            <a:tbl>
              <a:tblPr>
                <a:noFill/>
                <a:tableStyleId>{5E9E9AE0-E05B-434B-992F-78115EA43AB1}</a:tableStyleId>
              </a:tblPr>
              <a:tblGrid>
                <a:gridCol w="4675200"/>
                <a:gridCol w="5831800"/>
              </a:tblGrid>
              <a:tr h="179275">
                <a:tc>
                  <a:txBody>
                    <a:bodyPr/>
                    <a:lstStyle/>
                    <a:p>
                      <a:pPr indent="0" lvl="0" marL="0" rtl="0" algn="ctr">
                        <a:spcBef>
                          <a:spcPts val="0"/>
                        </a:spcBef>
                        <a:spcAft>
                          <a:spcPts val="0"/>
                        </a:spcAft>
                        <a:buNone/>
                      </a:pPr>
                      <a:r>
                        <a:rPr lang="en-US"/>
                        <a:t>Operating </a:t>
                      </a:r>
                      <a:r>
                        <a:rPr lang="en-US"/>
                        <a:t>System</a:t>
                      </a:r>
                      <a:endParaRPr/>
                    </a:p>
                  </a:txBody>
                  <a:tcPr marT="91425" marB="91425" marR="91425" marL="91425">
                    <a:solidFill>
                      <a:schemeClr val="accent1"/>
                    </a:solidFill>
                  </a:tcPr>
                </a:tc>
                <a:tc>
                  <a:txBody>
                    <a:bodyPr/>
                    <a:lstStyle/>
                    <a:p>
                      <a:pPr indent="0" lvl="0" marL="0" rtl="0" algn="ctr">
                        <a:spcBef>
                          <a:spcPts val="0"/>
                        </a:spcBef>
                        <a:spcAft>
                          <a:spcPts val="0"/>
                        </a:spcAft>
                        <a:buNone/>
                      </a:pPr>
                      <a:r>
                        <a:rPr lang="en-US"/>
                        <a:t>Location of the ossec.conf file</a:t>
                      </a:r>
                      <a:endParaRPr/>
                    </a:p>
                  </a:txBody>
                  <a:tcPr marT="91425" marB="91425" marR="91425" marL="91425">
                    <a:solidFill>
                      <a:schemeClr val="accent1"/>
                    </a:solidFill>
                  </a:tcPr>
                </a:tc>
              </a:tr>
              <a:tr h="363300">
                <a:tc>
                  <a:txBody>
                    <a:bodyPr/>
                    <a:lstStyle/>
                    <a:p>
                      <a:pPr indent="0" lvl="0" marL="0" rtl="0" algn="l">
                        <a:spcBef>
                          <a:spcPts val="0"/>
                        </a:spcBef>
                        <a:spcAft>
                          <a:spcPts val="0"/>
                        </a:spcAft>
                        <a:buNone/>
                      </a:pPr>
                      <a:r>
                        <a:rPr lang="en-US"/>
                        <a:t>Windows</a:t>
                      </a:r>
                      <a:endParaRPr/>
                    </a:p>
                  </a:txBody>
                  <a:tcPr marT="91425" marB="91425" marR="91425" marL="91425"/>
                </a:tc>
                <a:tc>
                  <a:txBody>
                    <a:bodyPr/>
                    <a:lstStyle/>
                    <a:p>
                      <a:pPr indent="0" lvl="0" marL="0" rtl="0" algn="l">
                        <a:spcBef>
                          <a:spcPts val="0"/>
                        </a:spcBef>
                        <a:spcAft>
                          <a:spcPts val="0"/>
                        </a:spcAft>
                        <a:buNone/>
                      </a:pPr>
                      <a:r>
                        <a:rPr lang="en-US"/>
                        <a:t>C:\Program Files (x86)\ossec-agent\ossec.conf</a:t>
                      </a:r>
                      <a:endParaRPr/>
                    </a:p>
                  </a:txBody>
                  <a:tcPr marT="91425" marB="91425" marR="91425" marL="91425"/>
                </a:tc>
              </a:tr>
              <a:tr h="363300">
                <a:tc>
                  <a:txBody>
                    <a:bodyPr/>
                    <a:lstStyle/>
                    <a:p>
                      <a:pPr indent="0" lvl="0" marL="0" rtl="0" algn="l">
                        <a:spcBef>
                          <a:spcPts val="0"/>
                        </a:spcBef>
                        <a:spcAft>
                          <a:spcPts val="0"/>
                        </a:spcAft>
                        <a:buNone/>
                      </a:pPr>
                      <a:r>
                        <a:rPr lang="en-US"/>
                        <a:t>Linux/Unix</a:t>
                      </a:r>
                      <a:endParaRPr/>
                    </a:p>
                  </a:txBody>
                  <a:tcPr marT="91425" marB="91425" marR="91425" marL="91425"/>
                </a:tc>
                <a:tc>
                  <a:txBody>
                    <a:bodyPr/>
                    <a:lstStyle/>
                    <a:p>
                      <a:pPr indent="0" lvl="0" marL="0" rtl="0" algn="l">
                        <a:spcBef>
                          <a:spcPts val="0"/>
                        </a:spcBef>
                        <a:spcAft>
                          <a:spcPts val="0"/>
                        </a:spcAft>
                        <a:buNone/>
                      </a:pPr>
                      <a:r>
                        <a:rPr lang="en-US"/>
                        <a:t>/var/ossec/etc/ossec.conf</a:t>
                      </a:r>
                      <a:endParaRPr/>
                    </a:p>
                  </a:txBody>
                  <a:tcPr marT="91425" marB="91425" marR="91425" marL="91425"/>
                </a:tc>
              </a:tr>
              <a:tr h="363300">
                <a:tc>
                  <a:txBody>
                    <a:bodyPr/>
                    <a:lstStyle/>
                    <a:p>
                      <a:pPr indent="0" lvl="0" marL="0" rtl="0" algn="l">
                        <a:spcBef>
                          <a:spcPts val="0"/>
                        </a:spcBef>
                        <a:spcAft>
                          <a:spcPts val="0"/>
                        </a:spcAft>
                        <a:buNone/>
                      </a:pPr>
                      <a:r>
                        <a:rPr lang="en-US"/>
                        <a:t>MacOS</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/Library/Osssec/etc/ossec.conf</a:t>
                      </a:r>
                      <a:endParaRPr/>
                    </a:p>
                  </a:txBody>
                  <a:tcPr marT="91425" marB="91425" marR="91425" marL="91425"/>
                </a:tc>
              </a:tr>
            </a:tbl>
          </a:graphicData>
        </a:graphic>
      </p:graphicFrame>
      <p:sp>
        <p:nvSpPr>
          <p:cNvPr id="2281" name="Google Shape;2281;p167"/>
          <p:cNvSpPr txBox="1"/>
          <p:nvPr/>
        </p:nvSpPr>
        <p:spPr>
          <a:xfrm>
            <a:off x="808475" y="1715488"/>
            <a:ext cx="98199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latin typeface="Archivo"/>
                <a:ea typeface="Archivo"/>
                <a:cs typeface="Archivo"/>
                <a:sym typeface="Archivo"/>
              </a:rPr>
              <a:t>Local configuration: File ossec.conf adalah main configuration yang ada di wazuh manager dan wazuh agent</a:t>
            </a:r>
            <a:endParaRPr sz="1700">
              <a:latin typeface="Archivo"/>
              <a:ea typeface="Archivo"/>
              <a:cs typeface="Archivo"/>
              <a:sym typeface="Archivo"/>
            </a:endParaRPr>
          </a:p>
        </p:txBody>
      </p:sp>
      <p:sp>
        <p:nvSpPr>
          <p:cNvPr id="2282" name="Google Shape;2282;p167"/>
          <p:cNvSpPr txBox="1"/>
          <p:nvPr/>
        </p:nvSpPr>
        <p:spPr>
          <a:xfrm>
            <a:off x="603100" y="4615075"/>
            <a:ext cx="11293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latin typeface="Archivo"/>
                <a:ea typeface="Archivo"/>
                <a:cs typeface="Archivo"/>
                <a:sym typeface="Archivo"/>
              </a:rPr>
              <a:t>Centralized configuration: File agent.conf main configuration jika ingin melakukan configurasi secara terdistribusi dan terpusat</a:t>
            </a:r>
            <a:endParaRPr sz="1700">
              <a:latin typeface="Archivo"/>
              <a:ea typeface="Archivo"/>
              <a:cs typeface="Archivo"/>
              <a:sym typeface="Archivo"/>
            </a:endParaRPr>
          </a:p>
        </p:txBody>
      </p:sp>
    </p:spTree>
  </p:cSld>
  <p:clrMapOvr>
    <a:masterClrMapping/>
  </p:clrMapOvr>
  <p:transition spd="slow">
    <p:fade thruBlk="1"/>
  </p:transition>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6" name="Shape 2286"/>
        <p:cNvGrpSpPr/>
        <p:nvPr/>
      </p:nvGrpSpPr>
      <p:grpSpPr>
        <a:xfrm>
          <a:off x="0" y="0"/>
          <a:ext cx="0" cy="0"/>
          <a:chOff x="0" y="0"/>
          <a:chExt cx="0" cy="0"/>
        </a:xfrm>
      </p:grpSpPr>
      <p:sp>
        <p:nvSpPr>
          <p:cNvPr id="2287" name="Google Shape;2287;p168"/>
          <p:cNvSpPr txBox="1"/>
          <p:nvPr/>
        </p:nvSpPr>
        <p:spPr>
          <a:xfrm>
            <a:off x="603102" y="486375"/>
            <a:ext cx="97269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Flow Log Collection - Monitoring Logs Syslog</a:t>
            </a:r>
            <a:endParaRPr b="1" i="0" sz="3600" u="none" cap="none" strike="noStrike">
              <a:solidFill>
                <a:schemeClr val="accent1"/>
              </a:solidFill>
              <a:latin typeface="Poppins"/>
              <a:ea typeface="Poppins"/>
              <a:cs typeface="Poppins"/>
              <a:sym typeface="Poppins"/>
            </a:endParaRPr>
          </a:p>
        </p:txBody>
      </p:sp>
      <p:cxnSp>
        <p:nvCxnSpPr>
          <p:cNvPr id="2288" name="Google Shape;2288;p16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289" name="Google Shape;2289;p16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290" name="Google Shape;2290;p16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291" name="Google Shape;2291;p16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292" name="Google Shape;2292;p16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293" name="Google Shape;2293;p16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94" name="Google Shape;2294;p168"/>
          <p:cNvSpPr txBox="1"/>
          <p:nvPr/>
        </p:nvSpPr>
        <p:spPr>
          <a:xfrm>
            <a:off x="808475" y="1715488"/>
            <a:ext cx="98199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latin typeface="Archivo"/>
                <a:ea typeface="Archivo"/>
                <a:cs typeface="Archivo"/>
                <a:sym typeface="Archivo"/>
              </a:rPr>
              <a:t>Berikut adalah langkah-langkah untuk mengonfigurasi Wazuh Server agar dapat menerima log via syslog dari perangkat yang tidak mendukung instalasi agent (seperti firewall, switch, dan router):</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a:p>
            <a:pPr indent="0" lvl="0" marL="0" rtl="0" algn="l">
              <a:spcBef>
                <a:spcPts val="0"/>
              </a:spcBef>
              <a:spcAft>
                <a:spcPts val="0"/>
              </a:spcAft>
              <a:buNone/>
            </a:pPr>
            <a:r>
              <a:rPr lang="en-US" sz="1700">
                <a:latin typeface="Archivo"/>
                <a:ea typeface="Archivo"/>
                <a:cs typeface="Archivo"/>
                <a:sym typeface="Archivo"/>
              </a:rPr>
              <a:t>/var/ossec/etc/ossec.conf</a:t>
            </a:r>
            <a:endParaRPr sz="1700">
              <a:latin typeface="Archivo"/>
              <a:ea typeface="Archivo"/>
              <a:cs typeface="Archivo"/>
              <a:sym typeface="Archivo"/>
            </a:endParaRPr>
          </a:p>
        </p:txBody>
      </p:sp>
      <p:sp>
        <p:nvSpPr>
          <p:cNvPr id="2295" name="Google Shape;2295;p168"/>
          <p:cNvSpPr txBox="1"/>
          <p:nvPr/>
        </p:nvSpPr>
        <p:spPr>
          <a:xfrm>
            <a:off x="808475" y="3481238"/>
            <a:ext cx="113733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&lt;remote&gt;</a:t>
            </a:r>
            <a:endParaRPr/>
          </a:p>
          <a:p>
            <a:pPr indent="0" lvl="0" marL="0" rtl="0" algn="l">
              <a:spcBef>
                <a:spcPts val="0"/>
              </a:spcBef>
              <a:spcAft>
                <a:spcPts val="0"/>
              </a:spcAft>
              <a:buNone/>
            </a:pPr>
            <a:r>
              <a:rPr lang="en-US"/>
              <a:t>  &lt;connection&gt;syslog&lt;/connection&gt;</a:t>
            </a:r>
            <a:endParaRPr/>
          </a:p>
          <a:p>
            <a:pPr indent="0" lvl="0" marL="0" rtl="0" algn="l">
              <a:spcBef>
                <a:spcPts val="0"/>
              </a:spcBef>
              <a:spcAft>
                <a:spcPts val="0"/>
              </a:spcAft>
              <a:buNone/>
            </a:pPr>
            <a:r>
              <a:rPr lang="en-US"/>
              <a:t>  &lt;port&gt;514&lt;/port&gt;</a:t>
            </a:r>
            <a:endParaRPr/>
          </a:p>
          <a:p>
            <a:pPr indent="0" lvl="0" marL="0" rtl="0" algn="l">
              <a:spcBef>
                <a:spcPts val="0"/>
              </a:spcBef>
              <a:spcAft>
                <a:spcPts val="0"/>
              </a:spcAft>
              <a:buNone/>
            </a:pPr>
            <a:r>
              <a:rPr lang="en-US"/>
              <a:t>  &lt;protocol&gt;tcp&lt;/protocol&gt;</a:t>
            </a:r>
            <a:endParaRPr/>
          </a:p>
          <a:p>
            <a:pPr indent="0" lvl="0" marL="0" rtl="0" algn="l">
              <a:spcBef>
                <a:spcPts val="0"/>
              </a:spcBef>
              <a:spcAft>
                <a:spcPts val="0"/>
              </a:spcAft>
              <a:buNone/>
            </a:pPr>
            <a:r>
              <a:rPr lang="en-US"/>
              <a:t>  &lt;allowed-ips&gt;192.168.2.15/24&lt;/allowed-ips&gt;</a:t>
            </a:r>
            <a:endParaRPr/>
          </a:p>
          <a:p>
            <a:pPr indent="0" lvl="0" marL="0" rtl="0" algn="l">
              <a:spcBef>
                <a:spcPts val="0"/>
              </a:spcBef>
              <a:spcAft>
                <a:spcPts val="0"/>
              </a:spcAft>
              <a:buNone/>
            </a:pPr>
            <a:r>
              <a:rPr lang="en-US"/>
              <a:t>&lt;/remote&gt;</a:t>
            </a:r>
            <a:endParaRPr/>
          </a:p>
        </p:txBody>
      </p:sp>
    </p:spTree>
  </p:cSld>
  <p:clrMapOvr>
    <a:masterClrMapping/>
  </p:clrMapOvr>
  <p:transition spd="slow">
    <p:fade thruBlk="1"/>
  </p:transition>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299" name="Shape 2299"/>
        <p:cNvGrpSpPr/>
        <p:nvPr/>
      </p:nvGrpSpPr>
      <p:grpSpPr>
        <a:xfrm>
          <a:off x="0" y="0"/>
          <a:ext cx="0" cy="0"/>
          <a:chOff x="0" y="0"/>
          <a:chExt cx="0" cy="0"/>
        </a:xfrm>
      </p:grpSpPr>
      <p:pic>
        <p:nvPicPr>
          <p:cNvPr descr="A picture containing food, drawing, shirt&#10;&#10;Description automatically generated" id="2300" name="Google Shape;2300;p16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301" name="Google Shape;2301;p1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02" name="Google Shape;2302;p16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303" name="Google Shape;2303;p169"/>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304" name="Google Shape;2304;p16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305" name="Google Shape;2305;p169"/>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306" name="Google Shape;2306;p169"/>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Labs Syslog  </a:t>
            </a:r>
            <a:endParaRPr sz="4800">
              <a:solidFill>
                <a:schemeClr val="lt1"/>
              </a:solidFill>
              <a:highlight>
                <a:srgbClr val="3585F9"/>
              </a:highlight>
              <a:latin typeface="Poppins"/>
              <a:ea typeface="Poppins"/>
              <a:cs typeface="Poppins"/>
              <a:sym typeface="Poppins"/>
            </a:endParaRPr>
          </a:p>
        </p:txBody>
      </p:sp>
      <p:pic>
        <p:nvPicPr>
          <p:cNvPr id="2307" name="Google Shape;2307;p169"/>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1" name="Shape 2311"/>
        <p:cNvGrpSpPr/>
        <p:nvPr/>
      </p:nvGrpSpPr>
      <p:grpSpPr>
        <a:xfrm>
          <a:off x="0" y="0"/>
          <a:ext cx="0" cy="0"/>
          <a:chOff x="0" y="0"/>
          <a:chExt cx="0" cy="0"/>
        </a:xfrm>
      </p:grpSpPr>
      <p:sp>
        <p:nvSpPr>
          <p:cNvPr id="2312" name="Google Shape;2312;p170"/>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Connect Network Device With Syslog</a:t>
            </a:r>
            <a:endParaRPr b="1" i="0" sz="3600" u="none" cap="none" strike="noStrike">
              <a:solidFill>
                <a:schemeClr val="accent1"/>
              </a:solidFill>
              <a:latin typeface="Poppins"/>
              <a:ea typeface="Poppins"/>
              <a:cs typeface="Poppins"/>
              <a:sym typeface="Poppins"/>
            </a:endParaRPr>
          </a:p>
        </p:txBody>
      </p:sp>
      <p:cxnSp>
        <p:nvCxnSpPr>
          <p:cNvPr id="2313" name="Google Shape;2313;p17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314" name="Google Shape;2314;p17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315" name="Google Shape;2315;p17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316" name="Google Shape;2316;p17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317" name="Google Shape;2317;p17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318" name="Google Shape;2318;p17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19" name="Google Shape;2319;p17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320" name="Google Shape;2320;p17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321" name="Google Shape;2321;p170"/>
          <p:cNvSpPr txBox="1"/>
          <p:nvPr/>
        </p:nvSpPr>
        <p:spPr>
          <a:xfrm>
            <a:off x="952125" y="1485451"/>
            <a:ext cx="10917900" cy="3570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605"/>
              <a:buNone/>
            </a:pPr>
            <a:r>
              <a:rPr lang="en-US" sz="1779">
                <a:solidFill>
                  <a:schemeClr val="dk1"/>
                </a:solidFill>
                <a:latin typeface="Archivo Medium"/>
                <a:ea typeface="Archivo Medium"/>
                <a:cs typeface="Archivo Medium"/>
                <a:sym typeface="Archivo Medium"/>
              </a:rPr>
              <a:t>Objective : </a:t>
            </a:r>
            <a:endParaRPr sz="1779">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SzPts val="605"/>
              <a:buNone/>
            </a:pPr>
            <a:r>
              <a:t/>
            </a:r>
            <a:endParaRPr sz="1779">
              <a:solidFill>
                <a:schemeClr val="dk1"/>
              </a:solidFill>
              <a:latin typeface="Archivo Medium"/>
              <a:ea typeface="Archivo Medium"/>
              <a:cs typeface="Archivo Medium"/>
              <a:sym typeface="Archivo Medium"/>
            </a:endParaRPr>
          </a:p>
          <a:p>
            <a:pPr indent="-341630" lvl="0" marL="457200" rtl="0" algn="l">
              <a:lnSpc>
                <a:spcPct val="100000"/>
              </a:lnSpc>
              <a:spcBef>
                <a:spcPts val="0"/>
              </a:spcBef>
              <a:spcAft>
                <a:spcPts val="0"/>
              </a:spcAft>
              <a:buClr>
                <a:schemeClr val="dk1"/>
              </a:buClr>
              <a:buSzPts val="1780"/>
              <a:buFont typeface="Archivo Medium"/>
              <a:buChar char="●"/>
            </a:pPr>
            <a:r>
              <a:rPr lang="en-US" sz="1779">
                <a:solidFill>
                  <a:schemeClr val="dk1"/>
                </a:solidFill>
                <a:latin typeface="Archivo Medium"/>
                <a:ea typeface="Archivo Medium"/>
                <a:cs typeface="Archivo Medium"/>
                <a:sym typeface="Archivo Medium"/>
              </a:rPr>
              <a:t>Monitor network devices via syslog.</a:t>
            </a:r>
            <a:endParaRPr sz="1779">
              <a:solidFill>
                <a:schemeClr val="dk1"/>
              </a:solidFill>
              <a:latin typeface="Archivo Medium"/>
              <a:ea typeface="Archivo Medium"/>
              <a:cs typeface="Archivo Medium"/>
              <a:sym typeface="Archivo Medium"/>
            </a:endParaRPr>
          </a:p>
          <a:p>
            <a:pPr indent="-341630" lvl="0" marL="457200" rtl="0" algn="l">
              <a:lnSpc>
                <a:spcPct val="100000"/>
              </a:lnSpc>
              <a:spcBef>
                <a:spcPts val="0"/>
              </a:spcBef>
              <a:spcAft>
                <a:spcPts val="0"/>
              </a:spcAft>
              <a:buClr>
                <a:schemeClr val="dk1"/>
              </a:buClr>
              <a:buSzPts val="1780"/>
              <a:buFont typeface="Archivo Medium"/>
              <a:buChar char="●"/>
            </a:pPr>
            <a:r>
              <a:rPr lang="en-US" sz="1779">
                <a:solidFill>
                  <a:schemeClr val="dk1"/>
                </a:solidFill>
                <a:latin typeface="Archivo Medium"/>
                <a:ea typeface="Archivo Medium"/>
                <a:cs typeface="Archivo Medium"/>
                <a:sym typeface="Archivo Medium"/>
              </a:rPr>
              <a:t>Server Syslog to Wazuh via Agent</a:t>
            </a:r>
            <a:endParaRPr sz="1779">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5" name="Shape 2325"/>
        <p:cNvGrpSpPr/>
        <p:nvPr/>
      </p:nvGrpSpPr>
      <p:grpSpPr>
        <a:xfrm>
          <a:off x="0" y="0"/>
          <a:ext cx="0" cy="0"/>
          <a:chOff x="0" y="0"/>
          <a:chExt cx="0" cy="0"/>
        </a:xfrm>
      </p:grpSpPr>
      <p:sp>
        <p:nvSpPr>
          <p:cNvPr id="2326" name="Google Shape;2326;p171"/>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Connect Network Device With Syslog</a:t>
            </a:r>
            <a:endParaRPr b="1" i="0" sz="3600" u="none" cap="none" strike="noStrike">
              <a:solidFill>
                <a:schemeClr val="accent1"/>
              </a:solidFill>
              <a:latin typeface="Poppins"/>
              <a:ea typeface="Poppins"/>
              <a:cs typeface="Poppins"/>
              <a:sym typeface="Poppins"/>
            </a:endParaRPr>
          </a:p>
        </p:txBody>
      </p:sp>
      <p:cxnSp>
        <p:nvCxnSpPr>
          <p:cNvPr id="2327" name="Google Shape;2327;p17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328" name="Google Shape;2328;p17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329" name="Google Shape;2329;p17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330" name="Google Shape;2330;p17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331" name="Google Shape;2331;p17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332" name="Google Shape;2332;p17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33" name="Google Shape;2333;p17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334" name="Google Shape;2334;p17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335" name="Google Shape;2335;p171"/>
          <p:cNvSpPr txBox="1"/>
          <p:nvPr/>
        </p:nvSpPr>
        <p:spPr>
          <a:xfrm>
            <a:off x="952125" y="1688776"/>
            <a:ext cx="10917900" cy="3570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605"/>
              <a:buNone/>
            </a:pPr>
            <a:r>
              <a:rPr lang="en-US" sz="1779">
                <a:solidFill>
                  <a:schemeClr val="dk1"/>
                </a:solidFill>
                <a:latin typeface="Archivo Medium"/>
                <a:ea typeface="Archivo Medium"/>
                <a:cs typeface="Archivo Medium"/>
                <a:sym typeface="Archivo Medium"/>
              </a:rPr>
              <a:t>Edit </a:t>
            </a:r>
            <a:r>
              <a:rPr lang="en-US" sz="1700">
                <a:solidFill>
                  <a:schemeClr val="dk1"/>
                </a:solidFill>
                <a:latin typeface="Archivo"/>
                <a:ea typeface="Archivo"/>
                <a:cs typeface="Archivo"/>
                <a:sym typeface="Archivo"/>
              </a:rPr>
              <a:t>/var/ossec/etc/ossec.conf ( Wazuh Agent )</a:t>
            </a:r>
            <a:endParaRPr sz="1700">
              <a:solidFill>
                <a:schemeClr val="dk1"/>
              </a:solidFill>
              <a:latin typeface="Archivo"/>
              <a:ea typeface="Archivo"/>
              <a:cs typeface="Archivo"/>
              <a:sym typeface="Archivo"/>
            </a:endParaRPr>
          </a:p>
          <a:p>
            <a:pPr indent="0" lvl="0" marL="0" rtl="0" algn="l">
              <a:lnSpc>
                <a:spcPct val="80000"/>
              </a:lnSpc>
              <a:spcBef>
                <a:spcPts val="0"/>
              </a:spcBef>
              <a:spcAft>
                <a:spcPts val="0"/>
              </a:spcAft>
              <a:buSzPts val="605"/>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SzPts val="1100"/>
              <a:buNone/>
            </a:pPr>
            <a:r>
              <a:rPr lang="en-US">
                <a:solidFill>
                  <a:schemeClr val="dk1"/>
                </a:solidFill>
              </a:rPr>
              <a:t>&lt;syslog_output&gt;</a:t>
            </a:r>
            <a:endParaRPr>
              <a:solidFill>
                <a:schemeClr val="dk1"/>
              </a:solidFill>
            </a:endParaRPr>
          </a:p>
          <a:p>
            <a:pPr indent="0" lvl="0" marL="0" rtl="0" algn="l">
              <a:spcBef>
                <a:spcPts val="0"/>
              </a:spcBef>
              <a:spcAft>
                <a:spcPts val="0"/>
              </a:spcAft>
              <a:buSzPts val="1100"/>
              <a:buNone/>
            </a:pPr>
            <a:r>
              <a:rPr lang="en-US">
                <a:solidFill>
                  <a:schemeClr val="dk1"/>
                </a:solidFill>
              </a:rPr>
              <a:t>    &lt;server&gt;</a:t>
            </a:r>
            <a:endParaRPr>
              <a:solidFill>
                <a:schemeClr val="dk1"/>
              </a:solidFill>
            </a:endParaRPr>
          </a:p>
          <a:p>
            <a:pPr indent="0" lvl="0" marL="0" rtl="0" algn="l">
              <a:spcBef>
                <a:spcPts val="0"/>
              </a:spcBef>
              <a:spcAft>
                <a:spcPts val="0"/>
              </a:spcAft>
              <a:buSzPts val="1100"/>
              <a:buNone/>
            </a:pPr>
            <a:r>
              <a:rPr lang="en-US">
                <a:solidFill>
                  <a:schemeClr val="dk1"/>
                </a:solidFill>
              </a:rPr>
              <a:t>        &lt;address&gt;YOUR_SYSLOG_SERVER_IP&lt;/address&gt;   &lt;!-- Syslog server IP or hostname --&gt;</a:t>
            </a:r>
            <a:endParaRPr>
              <a:solidFill>
                <a:schemeClr val="dk1"/>
              </a:solidFill>
            </a:endParaRPr>
          </a:p>
          <a:p>
            <a:pPr indent="0" lvl="0" marL="0" rtl="0" algn="l">
              <a:spcBef>
                <a:spcPts val="0"/>
              </a:spcBef>
              <a:spcAft>
                <a:spcPts val="0"/>
              </a:spcAft>
              <a:buSzPts val="1100"/>
              <a:buNone/>
            </a:pPr>
            <a:r>
              <a:rPr lang="en-US">
                <a:solidFill>
                  <a:schemeClr val="dk1"/>
                </a:solidFill>
              </a:rPr>
              <a:t>        &lt;port&gt;514&lt;/port&gt;                           &lt;!-- Default Syslog port (UDP 514) --&gt;</a:t>
            </a:r>
            <a:endParaRPr>
              <a:solidFill>
                <a:schemeClr val="dk1"/>
              </a:solidFill>
            </a:endParaRPr>
          </a:p>
          <a:p>
            <a:pPr indent="0" lvl="0" marL="0" rtl="0" algn="l">
              <a:spcBef>
                <a:spcPts val="0"/>
              </a:spcBef>
              <a:spcAft>
                <a:spcPts val="0"/>
              </a:spcAft>
              <a:buSzPts val="1100"/>
              <a:buNone/>
            </a:pPr>
            <a:r>
              <a:rPr lang="en-US">
                <a:solidFill>
                  <a:schemeClr val="dk1"/>
                </a:solidFill>
              </a:rPr>
              <a:t>        &lt;protocol&gt;udp&lt;/protocol&gt;                   &lt;!-- Syslog protocol: udp, tcp, or tls --&gt;</a:t>
            </a:r>
            <a:endParaRPr>
              <a:solidFill>
                <a:schemeClr val="dk1"/>
              </a:solidFill>
            </a:endParaRPr>
          </a:p>
          <a:p>
            <a:pPr indent="0" lvl="0" marL="0" rtl="0" algn="l">
              <a:spcBef>
                <a:spcPts val="0"/>
              </a:spcBef>
              <a:spcAft>
                <a:spcPts val="0"/>
              </a:spcAft>
              <a:buSzPts val="1100"/>
              <a:buNone/>
            </a:pPr>
            <a:r>
              <a:rPr lang="en-US">
                <a:solidFill>
                  <a:schemeClr val="dk1"/>
                </a:solidFill>
              </a:rPr>
              <a:t>        &lt;format&gt;default&lt;/format&gt;                   &lt;!-- Syslog format: default or cef (Common Event Format) --&gt;</a:t>
            </a:r>
            <a:endParaRPr>
              <a:solidFill>
                <a:schemeClr val="dk1"/>
              </a:solidFill>
            </a:endParaRPr>
          </a:p>
          <a:p>
            <a:pPr indent="0" lvl="0" marL="0" rtl="0" algn="l">
              <a:spcBef>
                <a:spcPts val="0"/>
              </a:spcBef>
              <a:spcAft>
                <a:spcPts val="0"/>
              </a:spcAft>
              <a:buSzPts val="1100"/>
              <a:buNone/>
            </a:pPr>
            <a:r>
              <a:rPr lang="en-US">
                <a:solidFill>
                  <a:schemeClr val="dk1"/>
                </a:solidFill>
              </a:rPr>
              <a:t>        &lt;queue_size&gt;5000&lt;/queue_size&gt;              &lt;!-- Maximum number of messages in the queue --&gt;</a:t>
            </a:r>
            <a:endParaRPr>
              <a:solidFill>
                <a:schemeClr val="dk1"/>
              </a:solidFill>
            </a:endParaRPr>
          </a:p>
          <a:p>
            <a:pPr indent="0" lvl="0" marL="0" rtl="0" algn="l">
              <a:spcBef>
                <a:spcPts val="0"/>
              </a:spcBef>
              <a:spcAft>
                <a:spcPts val="0"/>
              </a:spcAft>
              <a:buSzPts val="1100"/>
              <a:buNone/>
            </a:pPr>
            <a:r>
              <a:rPr lang="en-US">
                <a:solidFill>
                  <a:schemeClr val="dk1"/>
                </a:solidFill>
              </a:rPr>
              <a:t>        &lt;frequency&gt;10&lt;/frequency&gt;                  &lt;!-- Frequency of sending log data in seconds --&gt;</a:t>
            </a:r>
            <a:endParaRPr>
              <a:solidFill>
                <a:schemeClr val="dk1"/>
              </a:solidFill>
            </a:endParaRPr>
          </a:p>
          <a:p>
            <a:pPr indent="0" lvl="0" marL="0" rtl="0" algn="l">
              <a:spcBef>
                <a:spcPts val="0"/>
              </a:spcBef>
              <a:spcAft>
                <a:spcPts val="0"/>
              </a:spcAft>
              <a:buSzPts val="1100"/>
              <a:buNone/>
            </a:pPr>
            <a:r>
              <a:rPr lang="en-US">
                <a:solidFill>
                  <a:schemeClr val="dk1"/>
                </a:solidFill>
              </a:rPr>
              <a:t>    &lt;/server&gt;</a:t>
            </a:r>
            <a:endParaRPr>
              <a:solidFill>
                <a:schemeClr val="dk1"/>
              </a:solidFill>
            </a:endParaRPr>
          </a:p>
          <a:p>
            <a:pPr indent="0" lvl="0" marL="0" rtl="0" algn="l">
              <a:spcBef>
                <a:spcPts val="0"/>
              </a:spcBef>
              <a:spcAft>
                <a:spcPts val="0"/>
              </a:spcAft>
              <a:buSzPts val="1100"/>
              <a:buNone/>
            </a:pPr>
            <a:r>
              <a:rPr lang="en-US">
                <a:solidFill>
                  <a:schemeClr val="dk1"/>
                </a:solidFill>
              </a:rPr>
              <a:t>&lt;/syslog_output&gt;</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t/>
            </a:r>
            <a:endParaRPr>
              <a:solidFill>
                <a:schemeClr val="dk1"/>
              </a:solidFill>
            </a:endParaRPr>
          </a:p>
        </p:txBody>
      </p:sp>
    </p:spTree>
  </p:cSld>
  <p:clrMapOvr>
    <a:masterClrMapping/>
  </p:clrMapOvr>
  <p:transition spd="slow">
    <p:fade thruBlk="1"/>
  </p:transition>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sp>
        <p:nvSpPr>
          <p:cNvPr id="2340" name="Google Shape;2340;p172"/>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Connect </a:t>
            </a:r>
            <a:r>
              <a:rPr b="1" lang="en-US" sz="3600">
                <a:solidFill>
                  <a:schemeClr val="accent1"/>
                </a:solidFill>
                <a:latin typeface="Poppins"/>
                <a:ea typeface="Poppins"/>
                <a:cs typeface="Poppins"/>
                <a:sym typeface="Poppins"/>
              </a:rPr>
              <a:t>Network </a:t>
            </a:r>
            <a:r>
              <a:rPr b="1" lang="en-US" sz="3600">
                <a:solidFill>
                  <a:schemeClr val="accent1"/>
                </a:solidFill>
                <a:latin typeface="Poppins"/>
                <a:ea typeface="Poppins"/>
                <a:cs typeface="Poppins"/>
                <a:sym typeface="Poppins"/>
              </a:rPr>
              <a:t>Device With Syslog</a:t>
            </a:r>
            <a:endParaRPr b="1" i="0" sz="3600" u="none" cap="none" strike="noStrike">
              <a:solidFill>
                <a:schemeClr val="accent1"/>
              </a:solidFill>
              <a:latin typeface="Poppins"/>
              <a:ea typeface="Poppins"/>
              <a:cs typeface="Poppins"/>
              <a:sym typeface="Poppins"/>
            </a:endParaRPr>
          </a:p>
        </p:txBody>
      </p:sp>
      <p:cxnSp>
        <p:nvCxnSpPr>
          <p:cNvPr id="2341" name="Google Shape;2341;p17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342" name="Google Shape;2342;p17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343" name="Google Shape;2343;p17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344" name="Google Shape;2344;p17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345" name="Google Shape;2345;p17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346" name="Google Shape;2346;p17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47" name="Google Shape;2347;p17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348" name="Google Shape;2348;p17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349" name="Google Shape;2349;p172"/>
          <p:cNvSpPr txBox="1"/>
          <p:nvPr/>
        </p:nvSpPr>
        <p:spPr>
          <a:xfrm>
            <a:off x="952125" y="1688776"/>
            <a:ext cx="10917900" cy="3570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605"/>
              <a:buNone/>
            </a:pPr>
            <a:r>
              <a:rPr lang="en-US" sz="1779">
                <a:solidFill>
                  <a:schemeClr val="dk1"/>
                </a:solidFill>
                <a:latin typeface="Archivo Medium"/>
                <a:ea typeface="Archivo Medium"/>
                <a:cs typeface="Archivo Medium"/>
                <a:sym typeface="Archivo Medium"/>
              </a:rPr>
              <a:t>Edit </a:t>
            </a:r>
            <a:r>
              <a:rPr lang="en-US" sz="1700">
                <a:solidFill>
                  <a:schemeClr val="dk1"/>
                </a:solidFill>
                <a:latin typeface="Archivo"/>
                <a:ea typeface="Archivo"/>
                <a:cs typeface="Archivo"/>
                <a:sym typeface="Archivo"/>
              </a:rPr>
              <a:t>/etc/rsyslog.conf</a:t>
            </a:r>
            <a:endParaRPr sz="1700">
              <a:solidFill>
                <a:schemeClr val="dk1"/>
              </a:solidFill>
              <a:latin typeface="Archivo"/>
              <a:ea typeface="Archivo"/>
              <a:cs typeface="Archivo"/>
              <a:sym typeface="Archivo"/>
            </a:endParaRPr>
          </a:p>
          <a:p>
            <a:pPr indent="0" lvl="0" marL="0" rtl="0" algn="l">
              <a:lnSpc>
                <a:spcPct val="80000"/>
              </a:lnSpc>
              <a:spcBef>
                <a:spcPts val="0"/>
              </a:spcBef>
              <a:spcAft>
                <a:spcPts val="0"/>
              </a:spcAft>
              <a:buSzPts val="605"/>
              <a:buNone/>
            </a:pPr>
            <a:r>
              <a:t/>
            </a:r>
            <a:endParaRPr sz="1700">
              <a:solidFill>
                <a:schemeClr val="dk1"/>
              </a:solidFill>
              <a:latin typeface="Archivo"/>
              <a:ea typeface="Archivo"/>
              <a:cs typeface="Archivo"/>
              <a:sym typeface="Archivo"/>
            </a:endParaRPr>
          </a:p>
          <a:p>
            <a:pPr indent="0" lvl="0" marL="0" rtl="0" algn="l">
              <a:lnSpc>
                <a:spcPct val="80000"/>
              </a:lnSpc>
              <a:spcBef>
                <a:spcPts val="0"/>
              </a:spcBef>
              <a:spcAft>
                <a:spcPts val="0"/>
              </a:spcAft>
              <a:buSzPts val="605"/>
              <a:buNone/>
            </a:pPr>
            <a:r>
              <a:rPr lang="en-US" sz="1700">
                <a:solidFill>
                  <a:schemeClr val="dk1"/>
                </a:solidFill>
                <a:latin typeface="Archivo"/>
                <a:ea typeface="Archivo"/>
                <a:cs typeface="Archivo"/>
                <a:sym typeface="Archivo"/>
              </a:rPr>
              <a:t>if udp </a:t>
            </a:r>
            <a:endParaRPr sz="1700">
              <a:solidFill>
                <a:schemeClr val="dk1"/>
              </a:solidFill>
              <a:latin typeface="Archivo"/>
              <a:ea typeface="Archivo"/>
              <a:cs typeface="Archivo"/>
              <a:sym typeface="Archivo"/>
            </a:endParaRPr>
          </a:p>
          <a:p>
            <a:pPr indent="0" lvl="0" marL="0" rtl="0" algn="l">
              <a:lnSpc>
                <a:spcPct val="80000"/>
              </a:lnSpc>
              <a:spcBef>
                <a:spcPts val="0"/>
              </a:spcBef>
              <a:spcAft>
                <a:spcPts val="0"/>
              </a:spcAft>
              <a:buSzPts val="605"/>
              <a:buNone/>
            </a:pPr>
            <a:r>
              <a:t/>
            </a:r>
            <a:endParaRPr sz="17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00">
                <a:solidFill>
                  <a:schemeClr val="dk1"/>
                </a:solidFill>
                <a:latin typeface="Courier New"/>
                <a:ea typeface="Courier New"/>
                <a:cs typeface="Courier New"/>
                <a:sym typeface="Courier New"/>
              </a:rPr>
              <a:t>$ModLoad imudp</a:t>
            </a:r>
            <a:endParaRPr sz="17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00">
                <a:solidFill>
                  <a:schemeClr val="dk1"/>
                </a:solidFill>
                <a:latin typeface="Courier New"/>
                <a:ea typeface="Courier New"/>
                <a:cs typeface="Courier New"/>
                <a:sym typeface="Courier New"/>
              </a:rPr>
              <a:t>$UDPServerRun 514</a:t>
            </a:r>
            <a:endParaRPr sz="17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SzPts val="1100"/>
              <a:buNone/>
            </a:pPr>
            <a:r>
              <a:t/>
            </a:r>
            <a:endParaRPr sz="1700">
              <a:solidFill>
                <a:schemeClr val="dk1"/>
              </a:solidFill>
              <a:latin typeface="Archivo"/>
              <a:ea typeface="Archivo"/>
              <a:cs typeface="Archivo"/>
              <a:sym typeface="Archivo"/>
            </a:endParaRPr>
          </a:p>
          <a:p>
            <a:pPr indent="0" lvl="0" marL="0" rtl="0" algn="l">
              <a:lnSpc>
                <a:spcPct val="80000"/>
              </a:lnSpc>
              <a:spcBef>
                <a:spcPts val="0"/>
              </a:spcBef>
              <a:spcAft>
                <a:spcPts val="0"/>
              </a:spcAft>
              <a:buSzPts val="1100"/>
              <a:buNone/>
            </a:pPr>
            <a:r>
              <a:rPr lang="en-US" sz="1700">
                <a:solidFill>
                  <a:schemeClr val="dk1"/>
                </a:solidFill>
                <a:latin typeface="Archivo"/>
                <a:ea typeface="Archivo"/>
                <a:cs typeface="Archivo"/>
                <a:sym typeface="Archivo"/>
              </a:rPr>
              <a:t>if tcp</a:t>
            </a:r>
            <a:endParaRPr sz="1700">
              <a:solidFill>
                <a:schemeClr val="dk1"/>
              </a:solidFill>
              <a:latin typeface="Archivo"/>
              <a:ea typeface="Archivo"/>
              <a:cs typeface="Archivo"/>
              <a:sym typeface="Archivo"/>
            </a:endParaRPr>
          </a:p>
          <a:p>
            <a:pPr indent="0" lvl="0" marL="0" rtl="0" algn="l">
              <a:lnSpc>
                <a:spcPct val="80000"/>
              </a:lnSpc>
              <a:spcBef>
                <a:spcPts val="0"/>
              </a:spcBef>
              <a:spcAft>
                <a:spcPts val="0"/>
              </a:spcAft>
              <a:buSzPts val="1100"/>
              <a:buNone/>
            </a:pPr>
            <a:r>
              <a:t/>
            </a:r>
            <a:endParaRPr sz="1700">
              <a:solidFill>
                <a:schemeClr val="dk1"/>
              </a:solidFill>
              <a:latin typeface="Archivo"/>
              <a:ea typeface="Archivo"/>
              <a:cs typeface="Archivo"/>
              <a:sym typeface="Archivo"/>
            </a:endParaRPr>
          </a:p>
          <a:p>
            <a:pPr indent="0" lvl="0" marL="0" rtl="0" algn="l">
              <a:lnSpc>
                <a:spcPct val="80000"/>
              </a:lnSpc>
              <a:spcBef>
                <a:spcPts val="0"/>
              </a:spcBef>
              <a:spcAft>
                <a:spcPts val="0"/>
              </a:spcAft>
              <a:buSzPts val="1100"/>
              <a:buNone/>
            </a:pPr>
            <a:r>
              <a:rPr lang="en-US" sz="1700">
                <a:solidFill>
                  <a:schemeClr val="dk1"/>
                </a:solidFill>
                <a:latin typeface="Courier New"/>
                <a:ea typeface="Courier New"/>
                <a:cs typeface="Courier New"/>
                <a:sym typeface="Courier New"/>
              </a:rPr>
              <a:t>$ModLoad imtcp</a:t>
            </a:r>
            <a:endParaRPr sz="17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SzPts val="1100"/>
              <a:buNone/>
            </a:pPr>
            <a:r>
              <a:rPr lang="en-US" sz="1700">
                <a:solidFill>
                  <a:schemeClr val="dk1"/>
                </a:solidFill>
                <a:latin typeface="Courier New"/>
                <a:ea typeface="Courier New"/>
                <a:cs typeface="Courier New"/>
                <a:sym typeface="Courier New"/>
              </a:rPr>
              <a:t>$InputTCPServerRun 514</a:t>
            </a:r>
            <a:endParaRPr sz="17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SzPts val="1100"/>
              <a:buNone/>
            </a:pPr>
            <a:r>
              <a:t/>
            </a:r>
            <a:endParaRPr sz="17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SzPts val="1100"/>
              <a:buNone/>
            </a:pPr>
            <a:r>
              <a:t/>
            </a:r>
            <a:endParaRPr sz="17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700">
              <a:solidFill>
                <a:schemeClr val="dk1"/>
              </a:solidFill>
              <a:latin typeface="Archivo"/>
              <a:ea typeface="Archivo"/>
              <a:cs typeface="Archivo"/>
              <a:sym typeface="Archivo"/>
            </a:endParaRPr>
          </a:p>
          <a:p>
            <a:pPr indent="0" lvl="0" marL="0" rtl="0" algn="l">
              <a:lnSpc>
                <a:spcPct val="80000"/>
              </a:lnSpc>
              <a:spcBef>
                <a:spcPts val="0"/>
              </a:spcBef>
              <a:spcAft>
                <a:spcPts val="0"/>
              </a:spcAft>
              <a:buSzPts val="605"/>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transition spd="slow">
    <p:fade thruBlk="1"/>
  </p:transition>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3" name="Shape 2353"/>
        <p:cNvGrpSpPr/>
        <p:nvPr/>
      </p:nvGrpSpPr>
      <p:grpSpPr>
        <a:xfrm>
          <a:off x="0" y="0"/>
          <a:ext cx="0" cy="0"/>
          <a:chOff x="0" y="0"/>
          <a:chExt cx="0" cy="0"/>
        </a:xfrm>
      </p:grpSpPr>
      <p:sp>
        <p:nvSpPr>
          <p:cNvPr id="2354" name="Google Shape;2354;p173"/>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Practical Syslog</a:t>
            </a:r>
            <a:endParaRPr b="1" i="0" sz="3600" u="none" cap="none" strike="noStrike">
              <a:solidFill>
                <a:schemeClr val="accent1"/>
              </a:solidFill>
              <a:latin typeface="Poppins"/>
              <a:ea typeface="Poppins"/>
              <a:cs typeface="Poppins"/>
              <a:sym typeface="Poppins"/>
            </a:endParaRPr>
          </a:p>
        </p:txBody>
      </p:sp>
      <p:cxnSp>
        <p:nvCxnSpPr>
          <p:cNvPr id="2355" name="Google Shape;2355;p17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356" name="Google Shape;2356;p17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357" name="Google Shape;2357;p17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358" name="Google Shape;2358;p17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359" name="Google Shape;2359;p17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360" name="Google Shape;2360;p17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61" name="Google Shape;2361;p17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362" name="Google Shape;2362;p17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363" name="Google Shape;2363;p173"/>
          <p:cNvSpPr txBox="1"/>
          <p:nvPr/>
        </p:nvSpPr>
        <p:spPr>
          <a:xfrm>
            <a:off x="952125" y="1485450"/>
            <a:ext cx="10917900" cy="419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605"/>
              <a:buFont typeface="Arial"/>
              <a:buNone/>
            </a:pPr>
            <a:r>
              <a:rPr lang="en-US" sz="1779">
                <a:solidFill>
                  <a:schemeClr val="dk1"/>
                </a:solidFill>
                <a:latin typeface="Archivo Medium"/>
                <a:ea typeface="Archivo Medium"/>
                <a:cs typeface="Archivo Medium"/>
                <a:sym typeface="Archivo Medium"/>
              </a:rPr>
              <a:t>Oct 19 16:12:30 f5-bigip ASM: Attack detected: SQL Injection, Source IP: 192.168.1.5, URI: /login.php</a:t>
            </a:r>
            <a:endParaRPr sz="1779">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605"/>
              <a:buFont typeface="Arial"/>
              <a:buNone/>
            </a:pPr>
            <a:r>
              <a:t/>
            </a:r>
            <a:endParaRPr sz="1779">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SzPts val="605"/>
              <a:buNone/>
            </a:pPr>
            <a:r>
              <a:t/>
            </a:r>
            <a:endParaRPr sz="1779">
              <a:solidFill>
                <a:schemeClr val="dk1"/>
              </a:solidFill>
              <a:latin typeface="Archivo Medium"/>
              <a:ea typeface="Archivo Medium"/>
              <a:cs typeface="Archivo Medium"/>
              <a:sym typeface="Archivo Medium"/>
            </a:endParaRPr>
          </a:p>
        </p:txBody>
      </p:sp>
      <p:cxnSp>
        <p:nvCxnSpPr>
          <p:cNvPr id="2364" name="Google Shape;2364;p173"/>
          <p:cNvCxnSpPr>
            <a:stCxn id="2363" idx="2"/>
            <a:endCxn id="2365" idx="1"/>
          </p:cNvCxnSpPr>
          <p:nvPr/>
        </p:nvCxnSpPr>
        <p:spPr>
          <a:xfrm rot="5400000">
            <a:off x="2524875" y="332250"/>
            <a:ext cx="2313600" cy="5458800"/>
          </a:xfrm>
          <a:prstGeom prst="curvedConnector4">
            <a:avLst>
              <a:gd fmla="val 22059" name="adj1"/>
              <a:gd fmla="val 104365" name="adj2"/>
            </a:avLst>
          </a:prstGeom>
          <a:noFill/>
          <a:ln cap="flat" cmpd="sng" w="38100">
            <a:solidFill>
              <a:srgbClr val="C41F2F"/>
            </a:solidFill>
            <a:prstDash val="solid"/>
            <a:round/>
            <a:headEnd len="med" w="med" type="none"/>
            <a:tailEnd len="med" w="med" type="stealth"/>
          </a:ln>
        </p:spPr>
      </p:cxnSp>
      <p:sp>
        <p:nvSpPr>
          <p:cNvPr id="2365" name="Google Shape;2365;p173"/>
          <p:cNvSpPr txBox="1"/>
          <p:nvPr/>
        </p:nvSpPr>
        <p:spPr>
          <a:xfrm>
            <a:off x="952125" y="2925550"/>
            <a:ext cx="41610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name="f5_asm"&gt;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&lt;program_name&gt;^ASM:$&lt;/program_name&gt;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name="f5_sql_injection"&gt;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&lt;parent&gt;f5_asm&lt;/parent&gt;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&lt;regex&gt;Attack detected: SQL Injection, Source IP: (\d+\.\d+\.\d+\.\d+), URI: ([^ ]+)&lt;/regex&gt;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&lt;order&gt;srcip, uri&lt;/order&gt;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
        <p:nvSpPr>
          <p:cNvPr id="2366" name="Google Shape;2366;p173"/>
          <p:cNvSpPr txBox="1"/>
          <p:nvPr/>
        </p:nvSpPr>
        <p:spPr>
          <a:xfrm>
            <a:off x="7565925" y="2648488"/>
            <a:ext cx="4161000" cy="3250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**Phase 1: Completed pre-decoding.</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full event: 'Oct 19 16:12:30 f5-bigip ASM: Attack detected: SQL Injection, Source IP: 192.168.1.5, URI: /login.php'</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timestamp: 'Oct 19 16:12:30'</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hostname: 'f5-bigip'</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program_name: 'ASM'</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**Phase 2: Completed decoding.</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name: 'f5-bigip-cef'</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attack: 'SQL Injection'</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srcip: '192.168.1.5'</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uri: 'login.php'</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p:txBody>
      </p:sp>
      <p:cxnSp>
        <p:nvCxnSpPr>
          <p:cNvPr id="2367" name="Google Shape;2367;p173"/>
          <p:cNvCxnSpPr>
            <a:stCxn id="2365" idx="3"/>
            <a:endCxn id="2366" idx="1"/>
          </p:cNvCxnSpPr>
          <p:nvPr/>
        </p:nvCxnSpPr>
        <p:spPr>
          <a:xfrm>
            <a:off x="5113125" y="4218550"/>
            <a:ext cx="2452800" cy="55200"/>
          </a:xfrm>
          <a:prstGeom prst="curvedConnector3">
            <a:avLst>
              <a:gd fmla="val 50000" name="adj1"/>
            </a:avLst>
          </a:prstGeom>
          <a:noFill/>
          <a:ln cap="flat" cmpd="sng" w="28575">
            <a:solidFill>
              <a:srgbClr val="C41F2F"/>
            </a:solidFill>
            <a:prstDash val="solid"/>
            <a:round/>
            <a:headEnd len="med" w="med" type="none"/>
            <a:tailEnd len="med" w="med" type="triangle"/>
          </a:ln>
        </p:spPr>
      </p:cxnSp>
    </p:spTree>
  </p:cSld>
  <p:clrMapOvr>
    <a:masterClrMapping/>
  </p:clrMapOvr>
  <p:transition spd="slow">
    <p:fade thruBlk="1"/>
  </p:transition>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1" name="Shape 2371"/>
        <p:cNvGrpSpPr/>
        <p:nvPr/>
      </p:nvGrpSpPr>
      <p:grpSpPr>
        <a:xfrm>
          <a:off x="0" y="0"/>
          <a:ext cx="0" cy="0"/>
          <a:chOff x="0" y="0"/>
          <a:chExt cx="0" cy="0"/>
        </a:xfrm>
      </p:grpSpPr>
      <p:sp>
        <p:nvSpPr>
          <p:cNvPr id="2372" name="Google Shape;2372;p174"/>
          <p:cNvSpPr txBox="1"/>
          <p:nvPr/>
        </p:nvSpPr>
        <p:spPr>
          <a:xfrm>
            <a:off x="603103" y="486375"/>
            <a:ext cx="10325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Practical Syslog</a:t>
            </a:r>
            <a:endParaRPr b="1" i="0" sz="3600" u="none" cap="none" strike="noStrike">
              <a:solidFill>
                <a:schemeClr val="accent1"/>
              </a:solidFill>
              <a:latin typeface="Poppins"/>
              <a:ea typeface="Poppins"/>
              <a:cs typeface="Poppins"/>
              <a:sym typeface="Poppins"/>
            </a:endParaRPr>
          </a:p>
        </p:txBody>
      </p:sp>
      <p:cxnSp>
        <p:nvCxnSpPr>
          <p:cNvPr id="2373" name="Google Shape;2373;p17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374" name="Google Shape;2374;p17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375" name="Google Shape;2375;p17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376" name="Google Shape;2376;p17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377" name="Google Shape;2377;p17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378" name="Google Shape;2378;p17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79" name="Google Shape;2379;p17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380" name="Google Shape;2380;p17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381" name="Google Shape;2381;p174"/>
          <p:cNvSpPr txBox="1"/>
          <p:nvPr/>
        </p:nvSpPr>
        <p:spPr>
          <a:xfrm>
            <a:off x="952125" y="1485450"/>
            <a:ext cx="10917900" cy="6954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523"/>
              <a:buFont typeface="Arial"/>
              <a:buNone/>
            </a:pPr>
            <a:r>
              <a:rPr lang="en-US" sz="1360">
                <a:solidFill>
                  <a:schemeClr val="dk1"/>
                </a:solidFill>
                <a:latin typeface="Archivo Medium"/>
                <a:ea typeface="Archivo Medium"/>
                <a:cs typeface="Archivo Medium"/>
                <a:sym typeface="Archivo Medium"/>
              </a:rPr>
              <a:t>Oct 19 17:45:23 f5-bigip ASM: severity="high" attack_type="SQL Injection" src_ip="192.168.10.15" dest_ip="10.0.0.1" uri="/admin/login.php" request="GET /admin/login.php HTTP/1.1" headers="Host: example.com"</a:t>
            </a:r>
            <a:endParaRPr sz="1360">
              <a:solidFill>
                <a:schemeClr val="dk1"/>
              </a:solidFill>
              <a:latin typeface="Archivo Medium"/>
              <a:ea typeface="Archivo Medium"/>
              <a:cs typeface="Archivo Medium"/>
              <a:sym typeface="Archivo Medium"/>
            </a:endParaRPr>
          </a:p>
          <a:p>
            <a:pPr indent="0" lvl="0" marL="0" rtl="0" algn="l">
              <a:lnSpc>
                <a:spcPct val="150000"/>
              </a:lnSpc>
              <a:spcBef>
                <a:spcPts val="0"/>
              </a:spcBef>
              <a:spcAft>
                <a:spcPts val="0"/>
              </a:spcAft>
              <a:buClr>
                <a:schemeClr val="dk1"/>
              </a:buClr>
              <a:buSzPts val="523"/>
              <a:buFont typeface="Arial"/>
              <a:buNone/>
            </a:pPr>
            <a:r>
              <a:t/>
            </a:r>
            <a:endParaRPr sz="1360">
              <a:solidFill>
                <a:schemeClr val="dk1"/>
              </a:solidFill>
              <a:latin typeface="Archivo Medium"/>
              <a:ea typeface="Archivo Medium"/>
              <a:cs typeface="Archivo Medium"/>
              <a:sym typeface="Archivo Medium"/>
            </a:endParaRPr>
          </a:p>
          <a:p>
            <a:pPr indent="0" lvl="0" marL="0" rtl="0" algn="l">
              <a:lnSpc>
                <a:spcPct val="150000"/>
              </a:lnSpc>
              <a:spcBef>
                <a:spcPts val="0"/>
              </a:spcBef>
              <a:spcAft>
                <a:spcPts val="0"/>
              </a:spcAft>
              <a:buSzPts val="523"/>
              <a:buNone/>
            </a:pPr>
            <a:r>
              <a:t/>
            </a:r>
            <a:endParaRPr sz="1360">
              <a:solidFill>
                <a:schemeClr val="dk1"/>
              </a:solidFill>
              <a:latin typeface="Archivo Medium"/>
              <a:ea typeface="Archivo Medium"/>
              <a:cs typeface="Archivo Medium"/>
              <a:sym typeface="Archivo Medium"/>
            </a:endParaRPr>
          </a:p>
        </p:txBody>
      </p:sp>
      <p:cxnSp>
        <p:nvCxnSpPr>
          <p:cNvPr id="2382" name="Google Shape;2382;p174"/>
          <p:cNvCxnSpPr>
            <a:stCxn id="2381" idx="2"/>
            <a:endCxn id="2383" idx="1"/>
          </p:cNvCxnSpPr>
          <p:nvPr/>
        </p:nvCxnSpPr>
        <p:spPr>
          <a:xfrm rot="5400000">
            <a:off x="2570475" y="562650"/>
            <a:ext cx="2222400" cy="5458800"/>
          </a:xfrm>
          <a:prstGeom prst="curvedConnector4">
            <a:avLst>
              <a:gd fmla="val 16754" name="adj1"/>
              <a:gd fmla="val 104365" name="adj2"/>
            </a:avLst>
          </a:prstGeom>
          <a:noFill/>
          <a:ln cap="flat" cmpd="sng" w="38100">
            <a:solidFill>
              <a:srgbClr val="C41F2F"/>
            </a:solidFill>
            <a:prstDash val="solid"/>
            <a:round/>
            <a:headEnd len="med" w="med" type="none"/>
            <a:tailEnd len="med" w="med" type="stealth"/>
          </a:ln>
        </p:spPr>
      </p:cxnSp>
      <p:sp>
        <p:nvSpPr>
          <p:cNvPr id="2383" name="Google Shape;2383;p174"/>
          <p:cNvSpPr txBox="1"/>
          <p:nvPr/>
        </p:nvSpPr>
        <p:spPr>
          <a:xfrm>
            <a:off x="952125" y="2925550"/>
            <a:ext cx="51882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name="f5_asm"&gt;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&lt;program_name&gt;^ASM:$&lt;/program_name&gt;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 name="f5_sql_injection_complex"&gt;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&lt;parent&gt;f5_asm&lt;/parent&gt;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&lt;regex&gt;severity="([^"]+)" attack_type="([^"]+)" src_ip="(\d+\.\d+\.\d+\.\d+)" dest_ip="(\d+\.\d+\.\d+\.\d+)" uri="([^"]+)" request="([^"]+)" headers="([^"]+)"&lt;/regex&gt;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&lt;order&gt;severity, attack_type, src_ip, dest_ip, uri, request, headers&lt;/order&gt;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&lt;/decoder&gt;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
        <p:nvSpPr>
          <p:cNvPr id="2384" name="Google Shape;2384;p174"/>
          <p:cNvSpPr txBox="1"/>
          <p:nvPr/>
        </p:nvSpPr>
        <p:spPr>
          <a:xfrm>
            <a:off x="7802675" y="2689696"/>
            <a:ext cx="41610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**Phase 1: Completed decoding.</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name: 'f5_sql_injection_complex'</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parent: 'f5_asm'</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severity: 'high'</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attack_type: 'SQL Injection'</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src_ip: '192.168.10.15'</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dest_ip: '10.0.0.1'</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uri: '/admin/login.php'</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request: 'GET /admin/login.php HTTP/1.1'</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headers: 'Host: example.com'</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**Phase 2: Completed filtering (rules).</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id: '100004'</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level: '12'</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description: 'F5 WAF SQL Injection Attempt - High Severity'</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groups: ['waf', 'sql-injection', 'f5']</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latin typeface="Courier New"/>
                <a:ea typeface="Courier New"/>
                <a:cs typeface="Courier New"/>
                <a:sym typeface="Courier New"/>
              </a:rPr>
              <a:t>       mitre: [T1505: 'SQL Injection']</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p:txBody>
      </p:sp>
      <p:cxnSp>
        <p:nvCxnSpPr>
          <p:cNvPr id="2385" name="Google Shape;2385;p174"/>
          <p:cNvCxnSpPr>
            <a:stCxn id="2383" idx="3"/>
            <a:endCxn id="2384" idx="1"/>
          </p:cNvCxnSpPr>
          <p:nvPr/>
        </p:nvCxnSpPr>
        <p:spPr>
          <a:xfrm flipH="1" rot="10800000">
            <a:off x="6140325" y="4321300"/>
            <a:ext cx="1662300" cy="81900"/>
          </a:xfrm>
          <a:prstGeom prst="curvedConnector3">
            <a:avLst>
              <a:gd fmla="val 50002" name="adj1"/>
            </a:avLst>
          </a:prstGeom>
          <a:noFill/>
          <a:ln cap="flat" cmpd="sng" w="28575">
            <a:solidFill>
              <a:srgbClr val="C41F2F"/>
            </a:solidFill>
            <a:prstDash val="solid"/>
            <a:round/>
            <a:headEnd len="med" w="med" type="none"/>
            <a:tailEnd len="med" w="med" type="triangle"/>
          </a:ln>
        </p:spPr>
      </p:cxnSp>
    </p:spTree>
  </p:cSld>
  <p:clrMapOvr>
    <a:masterClrMapping/>
  </p:clrMapOvr>
  <p:transition spd="slow">
    <p:fade thruBlk="1"/>
  </p:transition>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389" name="Shape 2389"/>
        <p:cNvGrpSpPr/>
        <p:nvPr/>
      </p:nvGrpSpPr>
      <p:grpSpPr>
        <a:xfrm>
          <a:off x="0" y="0"/>
          <a:ext cx="0" cy="0"/>
          <a:chOff x="0" y="0"/>
          <a:chExt cx="0" cy="0"/>
        </a:xfrm>
      </p:grpSpPr>
      <p:pic>
        <p:nvPicPr>
          <p:cNvPr descr="A picture containing food, drawing, shirt&#10;&#10;Description automatically generated" id="2390" name="Google Shape;2390;p17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391" name="Google Shape;2391;p17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92" name="Google Shape;2392;p17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393" name="Google Shape;2393;p175"/>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394" name="Google Shape;2394;p17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395" name="Google Shape;2395;p175"/>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396" name="Google Shape;2396;p175"/>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2397" name="Google Shape;2397;p175"/>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401" name="Shape 2401"/>
        <p:cNvGrpSpPr/>
        <p:nvPr/>
      </p:nvGrpSpPr>
      <p:grpSpPr>
        <a:xfrm>
          <a:off x="0" y="0"/>
          <a:ext cx="0" cy="0"/>
          <a:chOff x="0" y="0"/>
          <a:chExt cx="0" cy="0"/>
        </a:xfrm>
      </p:grpSpPr>
      <p:pic>
        <p:nvPicPr>
          <p:cNvPr descr="A picture containing food, drawing, shirt&#10;&#10;Description automatically generated" id="2402" name="Google Shape;2402;p17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403" name="Google Shape;2403;p17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04" name="Google Shape;2404;p17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405" name="Google Shape;2405;p176"/>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406" name="Google Shape;2406;p17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407" name="Google Shape;2407;p176"/>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408" name="Google Shape;2408;p176"/>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Labs Brute Force   </a:t>
            </a:r>
            <a:endParaRPr sz="4800">
              <a:solidFill>
                <a:schemeClr val="lt1"/>
              </a:solidFill>
              <a:highlight>
                <a:srgbClr val="3585F9"/>
              </a:highlight>
              <a:latin typeface="Poppins"/>
              <a:ea typeface="Poppins"/>
              <a:cs typeface="Poppins"/>
              <a:sym typeface="Poppins"/>
            </a:endParaRPr>
          </a:p>
        </p:txBody>
      </p:sp>
      <p:pic>
        <p:nvPicPr>
          <p:cNvPr id="2409" name="Google Shape;2409;p176"/>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3" name="Shape 2413"/>
        <p:cNvGrpSpPr/>
        <p:nvPr/>
      </p:nvGrpSpPr>
      <p:grpSpPr>
        <a:xfrm>
          <a:off x="0" y="0"/>
          <a:ext cx="0" cy="0"/>
          <a:chOff x="0" y="0"/>
          <a:chExt cx="0" cy="0"/>
        </a:xfrm>
      </p:grpSpPr>
      <p:sp>
        <p:nvSpPr>
          <p:cNvPr id="2414" name="Google Shape;2414;p177"/>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Create Brute Force Attack </a:t>
            </a:r>
            <a:endParaRPr b="1" i="0" sz="3600" u="none" cap="none" strike="noStrike">
              <a:solidFill>
                <a:schemeClr val="accent1"/>
              </a:solidFill>
              <a:latin typeface="Poppins"/>
              <a:ea typeface="Poppins"/>
              <a:cs typeface="Poppins"/>
              <a:sym typeface="Poppins"/>
            </a:endParaRPr>
          </a:p>
        </p:txBody>
      </p:sp>
      <p:cxnSp>
        <p:nvCxnSpPr>
          <p:cNvPr id="2415" name="Google Shape;2415;p17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416" name="Google Shape;2416;p17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417" name="Google Shape;2417;p17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418" name="Google Shape;2418;p17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419" name="Google Shape;2419;p17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420" name="Google Shape;2420;p17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21" name="Google Shape;2421;p177"/>
          <p:cNvPicPr preferRelativeResize="0"/>
          <p:nvPr/>
        </p:nvPicPr>
        <p:blipFill>
          <a:blip r:embed="rId6">
            <a:alphaModFix/>
          </a:blip>
          <a:stretch>
            <a:fillRect/>
          </a:stretch>
        </p:blipFill>
        <p:spPr>
          <a:xfrm>
            <a:off x="3746975" y="1557807"/>
            <a:ext cx="8007502" cy="4078806"/>
          </a:xfrm>
          <a:prstGeom prst="rect">
            <a:avLst/>
          </a:prstGeom>
          <a:noFill/>
          <a:ln>
            <a:noFill/>
          </a:ln>
          <a:effectLst>
            <a:outerShdw blurRad="57150" rotWithShape="0" algn="bl" dir="5400000" dist="19050">
              <a:srgbClr val="000000">
                <a:alpha val="50000"/>
              </a:srgbClr>
            </a:outerShdw>
          </a:effectLst>
        </p:spPr>
      </p:pic>
      <p:sp>
        <p:nvSpPr>
          <p:cNvPr id="2422" name="Google Shape;2422;p177"/>
          <p:cNvSpPr txBox="1"/>
          <p:nvPr/>
        </p:nvSpPr>
        <p:spPr>
          <a:xfrm>
            <a:off x="382600" y="1987650"/>
            <a:ext cx="34551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rgbClr val="C41F2F"/>
                </a:solidFill>
                <a:latin typeface="Archivo"/>
                <a:ea typeface="Archivo"/>
                <a:cs typeface="Archivo"/>
                <a:sym typeface="Archivo"/>
              </a:rPr>
              <a:t>Threat Intelligence → Threat Hunting → Event</a:t>
            </a:r>
            <a:endParaRPr b="1" sz="1700">
              <a:solidFill>
                <a:srgbClr val="C41F2F"/>
              </a:solidFill>
              <a:latin typeface="Archivo"/>
              <a:ea typeface="Archivo"/>
              <a:cs typeface="Archivo"/>
              <a:sym typeface="Archivo"/>
            </a:endParaRPr>
          </a:p>
        </p:txBody>
      </p:sp>
      <p:cxnSp>
        <p:nvCxnSpPr>
          <p:cNvPr id="2423" name="Google Shape;2423;p177"/>
          <p:cNvCxnSpPr>
            <a:stCxn id="2422" idx="2"/>
            <a:endCxn id="2421" idx="1"/>
          </p:cNvCxnSpPr>
          <p:nvPr/>
        </p:nvCxnSpPr>
        <p:spPr>
          <a:xfrm flipH="1" rot="-5400000">
            <a:off x="2477800" y="2328000"/>
            <a:ext cx="901500" cy="1636800"/>
          </a:xfrm>
          <a:prstGeom prst="curvedConnector2">
            <a:avLst/>
          </a:prstGeom>
          <a:noFill/>
          <a:ln cap="flat" cmpd="sng" w="28575">
            <a:solidFill>
              <a:srgbClr val="C41F2F"/>
            </a:solidFill>
            <a:prstDash val="solid"/>
            <a:round/>
            <a:headEnd len="med" w="med" type="none"/>
            <a:tailEnd len="med" w="med" type="triangle"/>
          </a:ln>
        </p:spPr>
      </p:cxnSp>
    </p:spTree>
  </p:cSld>
  <p:clrMapOvr>
    <a:masterClrMapping/>
  </p:clrMapOvr>
  <p:transition spd="slow">
    <p:fade thruBlk="1"/>
  </p:transition>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7" name="Shape 2427"/>
        <p:cNvGrpSpPr/>
        <p:nvPr/>
      </p:nvGrpSpPr>
      <p:grpSpPr>
        <a:xfrm>
          <a:off x="0" y="0"/>
          <a:ext cx="0" cy="0"/>
          <a:chOff x="0" y="0"/>
          <a:chExt cx="0" cy="0"/>
        </a:xfrm>
      </p:grpSpPr>
      <p:sp>
        <p:nvSpPr>
          <p:cNvPr id="2428" name="Google Shape;2428;p178"/>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Create Brute Force Attack </a:t>
            </a:r>
            <a:endParaRPr b="1" i="0" sz="3600" u="none" cap="none" strike="noStrike">
              <a:solidFill>
                <a:schemeClr val="accent1"/>
              </a:solidFill>
              <a:latin typeface="Poppins"/>
              <a:ea typeface="Poppins"/>
              <a:cs typeface="Poppins"/>
              <a:sym typeface="Poppins"/>
            </a:endParaRPr>
          </a:p>
        </p:txBody>
      </p:sp>
      <p:cxnSp>
        <p:nvCxnSpPr>
          <p:cNvPr id="2429" name="Google Shape;2429;p17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430" name="Google Shape;2430;p17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431" name="Google Shape;2431;p17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432" name="Google Shape;2432;p17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433" name="Google Shape;2433;p17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434" name="Google Shape;2434;p17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35" name="Google Shape;2435;p178"/>
          <p:cNvPicPr preferRelativeResize="0"/>
          <p:nvPr/>
        </p:nvPicPr>
        <p:blipFill>
          <a:blip r:embed="rId6">
            <a:alphaModFix/>
          </a:blip>
          <a:stretch>
            <a:fillRect/>
          </a:stretch>
        </p:blipFill>
        <p:spPr>
          <a:xfrm>
            <a:off x="1229625" y="1455025"/>
            <a:ext cx="9349950" cy="4226750"/>
          </a:xfrm>
          <a:prstGeom prst="rect">
            <a:avLst/>
          </a:prstGeom>
          <a:noFill/>
          <a:ln>
            <a:noFill/>
          </a:ln>
          <a:effectLst>
            <a:outerShdw blurRad="57150" rotWithShape="0" algn="bl" dir="10800000" dist="19050">
              <a:srgbClr val="000000">
                <a:alpha val="80000"/>
              </a:srgbClr>
            </a:outerShdw>
          </a:effectLst>
        </p:spPr>
      </p:pic>
    </p:spTree>
  </p:cSld>
  <p:clrMapOvr>
    <a:masterClrMapping/>
  </p:clrMapOvr>
  <p:transition spd="slow">
    <p:fade thruBlk="1"/>
  </p:transition>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9" name="Shape 2439"/>
        <p:cNvGrpSpPr/>
        <p:nvPr/>
      </p:nvGrpSpPr>
      <p:grpSpPr>
        <a:xfrm>
          <a:off x="0" y="0"/>
          <a:ext cx="0" cy="0"/>
          <a:chOff x="0" y="0"/>
          <a:chExt cx="0" cy="0"/>
        </a:xfrm>
      </p:grpSpPr>
      <p:sp>
        <p:nvSpPr>
          <p:cNvPr id="2440" name="Google Shape;2440;p179"/>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Lookup Ruleset </a:t>
            </a:r>
            <a:endParaRPr b="1" i="0" sz="3600" u="none" cap="none" strike="noStrike">
              <a:solidFill>
                <a:schemeClr val="accent1"/>
              </a:solidFill>
              <a:latin typeface="Poppins"/>
              <a:ea typeface="Poppins"/>
              <a:cs typeface="Poppins"/>
              <a:sym typeface="Poppins"/>
            </a:endParaRPr>
          </a:p>
        </p:txBody>
      </p:sp>
      <p:cxnSp>
        <p:nvCxnSpPr>
          <p:cNvPr id="2441" name="Google Shape;2441;p17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442" name="Google Shape;2442;p17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443" name="Google Shape;2443;p17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444" name="Google Shape;2444;p17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445" name="Google Shape;2445;p17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446" name="Google Shape;2446;p17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47" name="Google Shape;2447;p179"/>
          <p:cNvSpPr txBox="1"/>
          <p:nvPr/>
        </p:nvSpPr>
        <p:spPr>
          <a:xfrm>
            <a:off x="1000925" y="1650025"/>
            <a:ext cx="58413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ourier New"/>
                <a:ea typeface="Courier New"/>
                <a:cs typeface="Courier New"/>
                <a:sym typeface="Courier New"/>
              </a:rPr>
              <a:t>sudo nano /var/ossec/etc/rules/sshd_rules.xml</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&lt;rule id="5716" level="12"&gt;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&lt;decoded_as&gt;ssh&lt;/decoded_as&gt;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&lt;field name="program"&gt;sshd&lt;/field&gt;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&lt;description&gt;Multiple SSH authentication failures.&lt;/description&gt;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&lt;group&gt;authentication_failed,&lt;/group&gt;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&lt;frequency&gt;5&lt;/frequency&gt;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 timeframe&gt;60&lt;/timeframe&gt;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&lt;same_source_ip/&gt;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&lt;fired_if_matched_times&gt;5&lt;/fired_if_matched_times&gt;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    &lt;options&gt;no_full_log&lt;/options&gt;</a:t>
            </a:r>
            <a:endParaRPr>
              <a:latin typeface="Courier New"/>
              <a:ea typeface="Courier New"/>
              <a:cs typeface="Courier New"/>
              <a:sym typeface="Courier New"/>
            </a:endParaRPr>
          </a:p>
          <a:p>
            <a:pPr indent="0" lvl="0" marL="0" rtl="0" algn="l">
              <a:spcBef>
                <a:spcPts val="0"/>
              </a:spcBef>
              <a:spcAft>
                <a:spcPts val="0"/>
              </a:spcAft>
              <a:buNone/>
            </a:pPr>
            <a:r>
              <a:rPr lang="en-US">
                <a:latin typeface="Courier New"/>
                <a:ea typeface="Courier New"/>
                <a:cs typeface="Courier New"/>
                <a:sym typeface="Courier New"/>
              </a:rPr>
              <a:t>&lt;/rule&gt;</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p:txBody>
      </p:sp>
    </p:spTree>
  </p:cSld>
  <p:clrMapOvr>
    <a:masterClrMapping/>
  </p:clrMapOvr>
  <p:transition spd="slow">
    <p:fade thruBlk="1"/>
  </p:transition>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451" name="Shape 2451"/>
        <p:cNvGrpSpPr/>
        <p:nvPr/>
      </p:nvGrpSpPr>
      <p:grpSpPr>
        <a:xfrm>
          <a:off x="0" y="0"/>
          <a:ext cx="0" cy="0"/>
          <a:chOff x="0" y="0"/>
          <a:chExt cx="0" cy="0"/>
        </a:xfrm>
      </p:grpSpPr>
      <p:pic>
        <p:nvPicPr>
          <p:cNvPr descr="A picture containing food, drawing, shirt&#10;&#10;Description automatically generated" id="2452" name="Google Shape;2452;p18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453" name="Google Shape;2453;p18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54" name="Google Shape;2454;p18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455" name="Google Shape;2455;p180"/>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456" name="Google Shape;2456;p18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457" name="Google Shape;2457;p180"/>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458" name="Google Shape;2458;p180"/>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2459" name="Google Shape;2459;p180"/>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3" name="Shape 2463"/>
        <p:cNvGrpSpPr/>
        <p:nvPr/>
      </p:nvGrpSpPr>
      <p:grpSpPr>
        <a:xfrm>
          <a:off x="0" y="0"/>
          <a:ext cx="0" cy="0"/>
          <a:chOff x="0" y="0"/>
          <a:chExt cx="0" cy="0"/>
        </a:xfrm>
      </p:grpSpPr>
      <p:sp>
        <p:nvSpPr>
          <p:cNvPr id="2464" name="Google Shape;2464;p181"/>
          <p:cNvSpPr txBox="1"/>
          <p:nvPr/>
        </p:nvSpPr>
        <p:spPr>
          <a:xfrm>
            <a:off x="603088" y="486375"/>
            <a:ext cx="8467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Summary</a:t>
            </a:r>
            <a:endParaRPr b="1" i="0" sz="3600" u="none" cap="none" strike="noStrike">
              <a:solidFill>
                <a:schemeClr val="accent1"/>
              </a:solidFill>
              <a:latin typeface="Poppins"/>
              <a:ea typeface="Poppins"/>
              <a:cs typeface="Poppins"/>
              <a:sym typeface="Poppins"/>
            </a:endParaRPr>
          </a:p>
        </p:txBody>
      </p:sp>
      <p:cxnSp>
        <p:nvCxnSpPr>
          <p:cNvPr id="2465" name="Google Shape;2465;p18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466" name="Google Shape;2466;p18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467" name="Google Shape;2467;p18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468" name="Google Shape;2468;p18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469" name="Google Shape;2469;p18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470" name="Google Shape;2470;p18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71" name="Google Shape;2471;p181"/>
          <p:cNvSpPr txBox="1"/>
          <p:nvPr/>
        </p:nvSpPr>
        <p:spPr>
          <a:xfrm>
            <a:off x="952125" y="1485450"/>
            <a:ext cx="10917900" cy="4172100"/>
          </a:xfrm>
          <a:prstGeom prst="rect">
            <a:avLst/>
          </a:prstGeom>
          <a:noFill/>
          <a:ln>
            <a:noFill/>
          </a:ln>
        </p:spPr>
        <p:txBody>
          <a:bodyPr anchorCtr="0" anchor="t" bIns="45700" lIns="91425" spcFirstLastPara="1" rIns="91425" wrap="square" tIns="45700">
            <a:noAutofit/>
          </a:bodyPr>
          <a:lstStyle/>
          <a:p>
            <a:pPr indent="-353060" lvl="0" marL="457200" rtl="0" algn="l">
              <a:lnSpc>
                <a:spcPct val="150000"/>
              </a:lnSpc>
              <a:spcBef>
                <a:spcPts val="0"/>
              </a:spcBef>
              <a:spcAft>
                <a:spcPts val="0"/>
              </a:spcAft>
              <a:buClr>
                <a:schemeClr val="dk1"/>
              </a:buClr>
              <a:buSzPts val="1960"/>
              <a:buFont typeface="Archivo Medium"/>
              <a:buChar char="●"/>
            </a:pPr>
            <a:r>
              <a:rPr lang="en-US" sz="1960">
                <a:solidFill>
                  <a:schemeClr val="dk1"/>
                </a:solidFill>
                <a:latin typeface="Archivo Medium"/>
                <a:ea typeface="Archivo Medium"/>
                <a:cs typeface="Archivo Medium"/>
                <a:sym typeface="Archivo Medium"/>
              </a:rPr>
              <a:t>Mempelajari Log analysis membuat wazuh kita lebih powerfull dan bisa digunakan dengan </a:t>
            </a:r>
            <a:r>
              <a:rPr lang="en-US" sz="1960">
                <a:solidFill>
                  <a:schemeClr val="dk1"/>
                </a:solidFill>
                <a:latin typeface="Archivo Medium"/>
                <a:ea typeface="Archivo Medium"/>
                <a:cs typeface="Archivo Medium"/>
                <a:sym typeface="Archivo Medium"/>
              </a:rPr>
              <a:t>konteks</a:t>
            </a:r>
            <a:r>
              <a:rPr lang="en-US" sz="1960">
                <a:solidFill>
                  <a:schemeClr val="dk1"/>
                </a:solidFill>
                <a:latin typeface="Archivo Medium"/>
                <a:ea typeface="Archivo Medium"/>
                <a:cs typeface="Archivo Medium"/>
                <a:sym typeface="Archivo Medium"/>
              </a:rPr>
              <a:t> yang lebih besar</a:t>
            </a:r>
            <a:endParaRPr sz="1960">
              <a:solidFill>
                <a:schemeClr val="dk1"/>
              </a:solidFill>
              <a:latin typeface="Archivo Medium"/>
              <a:ea typeface="Archivo Medium"/>
              <a:cs typeface="Archivo Medium"/>
              <a:sym typeface="Archivo Medium"/>
            </a:endParaRPr>
          </a:p>
          <a:p>
            <a:pPr indent="-353060" lvl="0" marL="457200" rtl="0" algn="l">
              <a:lnSpc>
                <a:spcPct val="150000"/>
              </a:lnSpc>
              <a:spcBef>
                <a:spcPts val="0"/>
              </a:spcBef>
              <a:spcAft>
                <a:spcPts val="0"/>
              </a:spcAft>
              <a:buClr>
                <a:schemeClr val="dk1"/>
              </a:buClr>
              <a:buSzPts val="1960"/>
              <a:buFont typeface="Archivo Medium"/>
              <a:buChar char="●"/>
            </a:pPr>
            <a:r>
              <a:rPr lang="en-US" sz="1960">
                <a:solidFill>
                  <a:schemeClr val="dk1"/>
                </a:solidFill>
                <a:latin typeface="Archivo Medium"/>
                <a:ea typeface="Archivo Medium"/>
                <a:cs typeface="Archivo Medium"/>
                <a:sym typeface="Archivo Medium"/>
              </a:rPr>
              <a:t>Membantu SOC Team mendeteksi lebih cepat dan </a:t>
            </a:r>
            <a:r>
              <a:rPr lang="en-US" sz="1960">
                <a:solidFill>
                  <a:schemeClr val="dk1"/>
                </a:solidFill>
                <a:latin typeface="Archivo Medium"/>
                <a:ea typeface="Archivo Medium"/>
                <a:cs typeface="Archivo Medium"/>
                <a:sym typeface="Archivo Medium"/>
              </a:rPr>
              <a:t>efficient</a:t>
            </a:r>
            <a:r>
              <a:rPr lang="en-US" sz="1960">
                <a:solidFill>
                  <a:schemeClr val="dk1"/>
                </a:solidFill>
                <a:latin typeface="Archivo Medium"/>
                <a:ea typeface="Archivo Medium"/>
                <a:cs typeface="Archivo Medium"/>
                <a:sym typeface="Archivo Medium"/>
              </a:rPr>
              <a:t> </a:t>
            </a:r>
            <a:endParaRPr sz="196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475" name="Shape 2475"/>
        <p:cNvGrpSpPr/>
        <p:nvPr/>
      </p:nvGrpSpPr>
      <p:grpSpPr>
        <a:xfrm>
          <a:off x="0" y="0"/>
          <a:ext cx="0" cy="0"/>
          <a:chOff x="0" y="0"/>
          <a:chExt cx="0" cy="0"/>
        </a:xfrm>
      </p:grpSpPr>
      <p:pic>
        <p:nvPicPr>
          <p:cNvPr descr="A picture containing food, drawing, shirt&#10;&#10;Description automatically generated" id="2476" name="Google Shape;2476;p18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477" name="Google Shape;2477;p18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78" name="Google Shape;2478;p18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479" name="Google Shape;2479;p182"/>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480" name="Google Shape;2480;p18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481" name="Google Shape;2481;p182"/>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482" name="Google Shape;2482;p182"/>
          <p:cNvSpPr txBox="1"/>
          <p:nvPr/>
        </p:nvSpPr>
        <p:spPr>
          <a:xfrm>
            <a:off x="1357489" y="3803851"/>
            <a:ext cx="9477000" cy="156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Wazuh Indexer and Dashboard</a:t>
            </a:r>
            <a:endParaRPr sz="4800">
              <a:solidFill>
                <a:schemeClr val="lt1"/>
              </a:solidFill>
              <a:highlight>
                <a:srgbClr val="3585F9"/>
              </a:highlight>
              <a:latin typeface="Poppins"/>
              <a:ea typeface="Poppins"/>
              <a:cs typeface="Poppins"/>
              <a:sym typeface="Poppins"/>
            </a:endParaRPr>
          </a:p>
        </p:txBody>
      </p:sp>
      <p:pic>
        <p:nvPicPr>
          <p:cNvPr id="2483" name="Google Shape;2483;p182"/>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7" name="Shape 2487"/>
        <p:cNvGrpSpPr/>
        <p:nvPr/>
      </p:nvGrpSpPr>
      <p:grpSpPr>
        <a:xfrm>
          <a:off x="0" y="0"/>
          <a:ext cx="0" cy="0"/>
          <a:chOff x="0" y="0"/>
          <a:chExt cx="0" cy="0"/>
        </a:xfrm>
      </p:grpSpPr>
      <p:sp>
        <p:nvSpPr>
          <p:cNvPr id="2488" name="Google Shape;2488;p183"/>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Indexer</a:t>
            </a:r>
            <a:endParaRPr b="1" i="0" sz="3600" u="none" cap="none" strike="noStrike">
              <a:solidFill>
                <a:schemeClr val="accent1"/>
              </a:solidFill>
              <a:latin typeface="Poppins"/>
              <a:ea typeface="Poppins"/>
              <a:cs typeface="Poppins"/>
              <a:sym typeface="Poppins"/>
            </a:endParaRPr>
          </a:p>
        </p:txBody>
      </p:sp>
      <p:cxnSp>
        <p:nvCxnSpPr>
          <p:cNvPr id="2489" name="Google Shape;2489;p18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490" name="Google Shape;2490;p18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491" name="Google Shape;2491;p18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492" name="Google Shape;2492;p18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493" name="Google Shape;2493;p18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494" name="Google Shape;2494;p18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95" name="Google Shape;2495;p183"/>
          <p:cNvSpPr txBox="1"/>
          <p:nvPr/>
        </p:nvSpPr>
        <p:spPr>
          <a:xfrm>
            <a:off x="717775" y="1814413"/>
            <a:ext cx="11373300" cy="206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latin typeface="Archivo Medium"/>
                <a:ea typeface="Archivo Medium"/>
                <a:cs typeface="Archivo Medium"/>
                <a:sym typeface="Archivo Medium"/>
              </a:rPr>
              <a:t>Key Responsibilities:</a:t>
            </a:r>
            <a:endParaRPr sz="2000">
              <a:solidFill>
                <a:schemeClr val="dk1"/>
              </a:solidFill>
              <a:latin typeface="Archivo Medium"/>
              <a:ea typeface="Archivo Medium"/>
              <a:cs typeface="Archivo Medium"/>
              <a:sym typeface="Archivo Medium"/>
            </a:endParaRPr>
          </a:p>
          <a:p>
            <a:pPr indent="-355600" lvl="0" marL="457200" rtl="0" algn="l">
              <a:lnSpc>
                <a:spcPct val="115000"/>
              </a:lnSpc>
              <a:spcBef>
                <a:spcPts val="120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Data Storage and Indexing</a:t>
            </a:r>
            <a:endParaRPr sz="2000">
              <a:solidFill>
                <a:schemeClr val="dk1"/>
              </a:solidFill>
              <a:latin typeface="Archivo Medium"/>
              <a:ea typeface="Archivo Medium"/>
              <a:cs typeface="Archivo Medium"/>
              <a:sym typeface="Archivo Medium"/>
            </a:endParaRPr>
          </a:p>
          <a:p>
            <a:pPr indent="-355600" lvl="0" marL="457200" rtl="0" algn="l">
              <a:lnSpc>
                <a:spcPct val="115000"/>
              </a:lnSpc>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Searchable Data</a:t>
            </a:r>
            <a:endParaRPr sz="2000">
              <a:solidFill>
                <a:schemeClr val="dk1"/>
              </a:solidFill>
              <a:latin typeface="Archivo Medium"/>
              <a:ea typeface="Archivo Medium"/>
              <a:cs typeface="Archivo Medium"/>
              <a:sym typeface="Archivo Medium"/>
            </a:endParaRPr>
          </a:p>
          <a:p>
            <a:pPr indent="-355600" lvl="0" marL="457200" rtl="0" algn="l">
              <a:lnSpc>
                <a:spcPct val="115000"/>
              </a:lnSpc>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Cluster Support</a:t>
            </a:r>
            <a:endParaRPr sz="2000">
              <a:solidFill>
                <a:schemeClr val="dk1"/>
              </a:solidFill>
              <a:latin typeface="Archivo Medium"/>
              <a:ea typeface="Archivo Medium"/>
              <a:cs typeface="Archivo Medium"/>
              <a:sym typeface="Archivo Medium"/>
            </a:endParaRPr>
          </a:p>
          <a:p>
            <a:pPr indent="-355600" lvl="0" marL="457200" rtl="0" algn="l">
              <a:lnSpc>
                <a:spcPct val="115000"/>
              </a:lnSpc>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High Availability and Scalability</a:t>
            </a:r>
            <a:endParaRPr sz="2300">
              <a:latin typeface="Archivo Medium"/>
              <a:ea typeface="Archivo Medium"/>
              <a:cs typeface="Archivo Medium"/>
              <a:sym typeface="Archivo Medium"/>
            </a:endParaRPr>
          </a:p>
        </p:txBody>
      </p:sp>
    </p:spTree>
  </p:cSld>
  <p:clrMapOvr>
    <a:masterClrMapping/>
  </p:clrMapOvr>
  <p:transition spd="slow">
    <p:fade thruBlk="1"/>
  </p:transition>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9" name="Shape 2499"/>
        <p:cNvGrpSpPr/>
        <p:nvPr/>
      </p:nvGrpSpPr>
      <p:grpSpPr>
        <a:xfrm>
          <a:off x="0" y="0"/>
          <a:ext cx="0" cy="0"/>
          <a:chOff x="0" y="0"/>
          <a:chExt cx="0" cy="0"/>
        </a:xfrm>
      </p:grpSpPr>
      <p:sp>
        <p:nvSpPr>
          <p:cNvPr id="2500" name="Google Shape;2500;p184"/>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Indexer</a:t>
            </a:r>
            <a:endParaRPr b="1" i="0" sz="3600" u="none" cap="none" strike="noStrike">
              <a:solidFill>
                <a:schemeClr val="accent1"/>
              </a:solidFill>
              <a:latin typeface="Poppins"/>
              <a:ea typeface="Poppins"/>
              <a:cs typeface="Poppins"/>
              <a:sym typeface="Poppins"/>
            </a:endParaRPr>
          </a:p>
        </p:txBody>
      </p:sp>
      <p:cxnSp>
        <p:nvCxnSpPr>
          <p:cNvPr id="2501" name="Google Shape;2501;p18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502" name="Google Shape;2502;p18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503" name="Google Shape;2503;p18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504" name="Google Shape;2504;p18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505" name="Google Shape;2505;p1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506" name="Google Shape;2506;p18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07" name="Google Shape;2507;p184"/>
          <p:cNvSpPr txBox="1"/>
          <p:nvPr/>
        </p:nvSpPr>
        <p:spPr>
          <a:xfrm>
            <a:off x="891650" y="1451688"/>
            <a:ext cx="98199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latin typeface="Archivo"/>
                <a:ea typeface="Archivo"/>
                <a:cs typeface="Archivo"/>
                <a:sym typeface="Archivo"/>
              </a:rPr>
              <a:t>Wazuh Indexer adalah mesin pencarian dan analisis teks penuh secara real-time yang digunakan untuk data keamanan. Data log yang dikumpulkan oleh Wazuh server akan dianalisis terlebih dahulu, kemudian diteruskan ke indexer untuk dilakukan proses indexing dan penyimpanan. Setelah itu, data peristiwa (events) tersebut dapat dicari dan ditampilkan melalui Wazuh Dashboard.</a:t>
            </a:r>
            <a:endParaRPr sz="1900">
              <a:latin typeface="Archivo"/>
              <a:ea typeface="Archivo"/>
              <a:cs typeface="Archivo"/>
              <a:sym typeface="Archivo"/>
            </a:endParaRPr>
          </a:p>
        </p:txBody>
      </p:sp>
      <p:sp>
        <p:nvSpPr>
          <p:cNvPr id="2508" name="Google Shape;2508;p184"/>
          <p:cNvSpPr txBox="1"/>
          <p:nvPr/>
        </p:nvSpPr>
        <p:spPr>
          <a:xfrm>
            <a:off x="671575" y="3417513"/>
            <a:ext cx="113733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Archivo"/>
              <a:buChar char="●"/>
            </a:pPr>
            <a:r>
              <a:rPr b="1" lang="en-US" sz="1800">
                <a:latin typeface="Archivo"/>
                <a:ea typeface="Archivo"/>
                <a:cs typeface="Archivo"/>
                <a:sym typeface="Archivo"/>
              </a:rPr>
              <a:t>wazuh‑alerts-</a:t>
            </a:r>
            <a:r>
              <a:rPr lang="en-US" sz="1800">
                <a:latin typeface="Archivo"/>
                <a:ea typeface="Archivo"/>
                <a:cs typeface="Archivo"/>
                <a:sym typeface="Archivo"/>
              </a:rPr>
              <a:t>*: This is the index pattern for </a:t>
            </a:r>
            <a:r>
              <a:rPr b="1" lang="en-US" sz="1800">
                <a:latin typeface="Archivo"/>
                <a:ea typeface="Archivo"/>
                <a:cs typeface="Archivo"/>
                <a:sym typeface="Archivo"/>
              </a:rPr>
              <a:t>alerts generated</a:t>
            </a:r>
            <a:r>
              <a:rPr lang="en-US" sz="1800">
                <a:latin typeface="Archivo"/>
                <a:ea typeface="Archivo"/>
                <a:cs typeface="Archivo"/>
                <a:sym typeface="Archivo"/>
              </a:rPr>
              <a:t> by the </a:t>
            </a:r>
            <a:r>
              <a:rPr b="1" lang="en-US" sz="1800">
                <a:latin typeface="Archivo"/>
                <a:ea typeface="Archivo"/>
                <a:cs typeface="Archivo"/>
                <a:sym typeface="Archivo"/>
              </a:rPr>
              <a:t>Wazuh server.</a:t>
            </a:r>
            <a:endParaRPr b="1" sz="1800">
              <a:latin typeface="Archivo"/>
              <a:ea typeface="Archivo"/>
              <a:cs typeface="Archivo"/>
              <a:sym typeface="Archivo"/>
            </a:endParaRPr>
          </a:p>
          <a:p>
            <a:pPr indent="0" lvl="0" marL="0" rtl="0" algn="l">
              <a:spcBef>
                <a:spcPts val="0"/>
              </a:spcBef>
              <a:spcAft>
                <a:spcPts val="0"/>
              </a:spcAft>
              <a:buNone/>
            </a:pPr>
            <a:r>
              <a:t/>
            </a:r>
            <a:endParaRPr sz="1800">
              <a:latin typeface="Archivo"/>
              <a:ea typeface="Archivo"/>
              <a:cs typeface="Archivo"/>
              <a:sym typeface="Archivo"/>
            </a:endParaRPr>
          </a:p>
          <a:p>
            <a:pPr indent="-342900" lvl="0" marL="457200" rtl="0" algn="l">
              <a:spcBef>
                <a:spcPts val="0"/>
              </a:spcBef>
              <a:spcAft>
                <a:spcPts val="0"/>
              </a:spcAft>
              <a:buSzPts val="1800"/>
              <a:buFont typeface="Archivo"/>
              <a:buChar char="●"/>
            </a:pPr>
            <a:r>
              <a:rPr b="1" lang="en-US" sz="1800">
                <a:latin typeface="Archivo"/>
                <a:ea typeface="Archivo"/>
                <a:cs typeface="Archivo"/>
                <a:sym typeface="Archivo"/>
              </a:rPr>
              <a:t>wazuh‑archives</a:t>
            </a:r>
            <a:r>
              <a:rPr lang="en-US" sz="1800">
                <a:latin typeface="Archivo"/>
                <a:ea typeface="Archivo"/>
                <a:cs typeface="Archivo"/>
                <a:sym typeface="Archivo"/>
              </a:rPr>
              <a:t>-*: This is the index pattern for </a:t>
            </a:r>
            <a:r>
              <a:rPr b="1" lang="en-US" sz="1800">
                <a:latin typeface="Archivo"/>
                <a:ea typeface="Archivo"/>
                <a:cs typeface="Archivo"/>
                <a:sym typeface="Archivo"/>
              </a:rPr>
              <a:t>all events</a:t>
            </a:r>
            <a:r>
              <a:rPr lang="en-US" sz="1800">
                <a:latin typeface="Archivo"/>
                <a:ea typeface="Archivo"/>
                <a:cs typeface="Archivo"/>
                <a:sym typeface="Archivo"/>
              </a:rPr>
              <a:t> sent to the Wazuh server.</a:t>
            </a:r>
            <a:endParaRPr sz="1800">
              <a:latin typeface="Archivo"/>
              <a:ea typeface="Archivo"/>
              <a:cs typeface="Archivo"/>
              <a:sym typeface="Archivo"/>
            </a:endParaRPr>
          </a:p>
          <a:p>
            <a:pPr indent="0" lvl="0" marL="0" rtl="0" algn="l">
              <a:spcBef>
                <a:spcPts val="0"/>
              </a:spcBef>
              <a:spcAft>
                <a:spcPts val="0"/>
              </a:spcAft>
              <a:buNone/>
            </a:pPr>
            <a:r>
              <a:t/>
            </a:r>
            <a:endParaRPr sz="1800">
              <a:latin typeface="Archivo"/>
              <a:ea typeface="Archivo"/>
              <a:cs typeface="Archivo"/>
              <a:sym typeface="Archivo"/>
            </a:endParaRPr>
          </a:p>
          <a:p>
            <a:pPr indent="-342900" lvl="0" marL="457200" rtl="0" algn="l">
              <a:spcBef>
                <a:spcPts val="0"/>
              </a:spcBef>
              <a:spcAft>
                <a:spcPts val="0"/>
              </a:spcAft>
              <a:buSzPts val="1800"/>
              <a:buFont typeface="Archivo"/>
              <a:buChar char="●"/>
            </a:pPr>
            <a:r>
              <a:rPr b="1" lang="en-US" sz="1800">
                <a:latin typeface="Archivo"/>
                <a:ea typeface="Archivo"/>
                <a:cs typeface="Archivo"/>
                <a:sym typeface="Archivo"/>
              </a:rPr>
              <a:t>wazuh‑monitoring</a:t>
            </a:r>
            <a:r>
              <a:rPr lang="en-US" sz="1800">
                <a:latin typeface="Archivo"/>
                <a:ea typeface="Archivo"/>
                <a:cs typeface="Archivo"/>
                <a:sym typeface="Archivo"/>
              </a:rPr>
              <a:t>-*: This is the index pattern for the </a:t>
            </a:r>
            <a:r>
              <a:rPr b="1" lang="en-US" sz="1800">
                <a:latin typeface="Archivo"/>
                <a:ea typeface="Archivo"/>
                <a:cs typeface="Archivo"/>
                <a:sym typeface="Archivo"/>
              </a:rPr>
              <a:t>status </a:t>
            </a:r>
            <a:r>
              <a:rPr lang="en-US" sz="1800">
                <a:latin typeface="Archivo"/>
                <a:ea typeface="Archivo"/>
                <a:cs typeface="Archivo"/>
                <a:sym typeface="Archivo"/>
              </a:rPr>
              <a:t>of the Wazuh agents.</a:t>
            </a:r>
            <a:endParaRPr sz="1800">
              <a:latin typeface="Archivo"/>
              <a:ea typeface="Archivo"/>
              <a:cs typeface="Archivo"/>
              <a:sym typeface="Archivo"/>
            </a:endParaRPr>
          </a:p>
          <a:p>
            <a:pPr indent="0" lvl="0" marL="0" rtl="0" algn="l">
              <a:spcBef>
                <a:spcPts val="0"/>
              </a:spcBef>
              <a:spcAft>
                <a:spcPts val="0"/>
              </a:spcAft>
              <a:buNone/>
            </a:pPr>
            <a:r>
              <a:t/>
            </a:r>
            <a:endParaRPr sz="1800">
              <a:latin typeface="Archivo"/>
              <a:ea typeface="Archivo"/>
              <a:cs typeface="Archivo"/>
              <a:sym typeface="Archivo"/>
            </a:endParaRPr>
          </a:p>
          <a:p>
            <a:pPr indent="-342900" lvl="0" marL="457200" rtl="0" algn="l">
              <a:spcBef>
                <a:spcPts val="0"/>
              </a:spcBef>
              <a:spcAft>
                <a:spcPts val="0"/>
              </a:spcAft>
              <a:buSzPts val="1800"/>
              <a:buFont typeface="Archivo"/>
              <a:buChar char="●"/>
            </a:pPr>
            <a:r>
              <a:rPr b="1" lang="en-US" sz="1800">
                <a:latin typeface="Archivo"/>
                <a:ea typeface="Archivo"/>
                <a:cs typeface="Archivo"/>
                <a:sym typeface="Archivo"/>
              </a:rPr>
              <a:t>wazuh‑statistics</a:t>
            </a:r>
            <a:r>
              <a:rPr lang="en-US" sz="1800">
                <a:latin typeface="Archivo"/>
                <a:ea typeface="Archivo"/>
                <a:cs typeface="Archivo"/>
                <a:sym typeface="Archivo"/>
              </a:rPr>
              <a:t>-*: This is the index pattern for </a:t>
            </a:r>
            <a:r>
              <a:rPr b="1" lang="en-US" sz="1800">
                <a:latin typeface="Archivo"/>
                <a:ea typeface="Archivo"/>
                <a:cs typeface="Archivo"/>
                <a:sym typeface="Archivo"/>
              </a:rPr>
              <a:t>statistical information</a:t>
            </a:r>
            <a:r>
              <a:rPr lang="en-US" sz="1800">
                <a:latin typeface="Archivo"/>
                <a:ea typeface="Archivo"/>
                <a:cs typeface="Archivo"/>
                <a:sym typeface="Archivo"/>
              </a:rPr>
              <a:t> of the Wazuh server.</a:t>
            </a:r>
            <a:endParaRPr sz="1800">
              <a:latin typeface="Archivo"/>
              <a:ea typeface="Archivo"/>
              <a:cs typeface="Archivo"/>
              <a:sym typeface="Archivo"/>
            </a:endParaRPr>
          </a:p>
          <a:p>
            <a:pPr indent="0" lvl="0" marL="0" rtl="0" algn="l">
              <a:spcBef>
                <a:spcPts val="0"/>
              </a:spcBef>
              <a:spcAft>
                <a:spcPts val="0"/>
              </a:spcAft>
              <a:buNone/>
            </a:pPr>
            <a:r>
              <a:t/>
            </a:r>
            <a:endParaRPr sz="1800">
              <a:latin typeface="Archivo"/>
              <a:ea typeface="Archivo"/>
              <a:cs typeface="Archivo"/>
              <a:sym typeface="Archivo"/>
            </a:endParaRPr>
          </a:p>
        </p:txBody>
      </p:sp>
    </p:spTree>
  </p:cSld>
  <p:clrMapOvr>
    <a:masterClrMapping/>
  </p:clrMapOvr>
  <p:transition spd="slow">
    <p:fade thruBlk="1"/>
  </p:transition>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2" name="Shape 2512"/>
        <p:cNvGrpSpPr/>
        <p:nvPr/>
      </p:nvGrpSpPr>
      <p:grpSpPr>
        <a:xfrm>
          <a:off x="0" y="0"/>
          <a:ext cx="0" cy="0"/>
          <a:chOff x="0" y="0"/>
          <a:chExt cx="0" cy="0"/>
        </a:xfrm>
      </p:grpSpPr>
      <p:sp>
        <p:nvSpPr>
          <p:cNvPr id="2513" name="Google Shape;2513;p185"/>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Indexer </a:t>
            </a:r>
            <a:endParaRPr b="1" i="0" sz="3600" u="none" cap="none" strike="noStrike">
              <a:solidFill>
                <a:schemeClr val="accent1"/>
              </a:solidFill>
              <a:latin typeface="Poppins"/>
              <a:ea typeface="Poppins"/>
              <a:cs typeface="Poppins"/>
              <a:sym typeface="Poppins"/>
            </a:endParaRPr>
          </a:p>
        </p:txBody>
      </p:sp>
      <p:cxnSp>
        <p:nvCxnSpPr>
          <p:cNvPr id="2514" name="Google Shape;2514;p18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515" name="Google Shape;2515;p18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516" name="Google Shape;2516;p18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517" name="Google Shape;2517;p18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518" name="Google Shape;2518;p18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519" name="Google Shape;2519;p18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20" name="Google Shape;2520;p185"/>
          <p:cNvPicPr preferRelativeResize="0"/>
          <p:nvPr/>
        </p:nvPicPr>
        <p:blipFill>
          <a:blip r:embed="rId6">
            <a:alphaModFix/>
          </a:blip>
          <a:stretch>
            <a:fillRect/>
          </a:stretch>
        </p:blipFill>
        <p:spPr>
          <a:xfrm>
            <a:off x="1224025" y="1305337"/>
            <a:ext cx="9404448" cy="4878549"/>
          </a:xfrm>
          <a:prstGeom prst="rect">
            <a:avLst/>
          </a:prstGeom>
          <a:noFill/>
          <a:ln>
            <a:noFill/>
          </a:ln>
        </p:spPr>
      </p:pic>
    </p:spTree>
  </p:cSld>
  <p:clrMapOvr>
    <a:masterClrMapping/>
  </p:clrMapOvr>
  <p:transition spd="slow">
    <p:fade thruBlk="1"/>
  </p:transition>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4" name="Shape 2524"/>
        <p:cNvGrpSpPr/>
        <p:nvPr/>
      </p:nvGrpSpPr>
      <p:grpSpPr>
        <a:xfrm>
          <a:off x="0" y="0"/>
          <a:ext cx="0" cy="0"/>
          <a:chOff x="0" y="0"/>
          <a:chExt cx="0" cy="0"/>
        </a:xfrm>
      </p:grpSpPr>
      <p:sp>
        <p:nvSpPr>
          <p:cNvPr id="2525" name="Google Shape;2525;p186"/>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Dashboard </a:t>
            </a:r>
            <a:endParaRPr b="1" i="0" sz="3600" u="none" cap="none" strike="noStrike">
              <a:solidFill>
                <a:schemeClr val="accent1"/>
              </a:solidFill>
              <a:latin typeface="Poppins"/>
              <a:ea typeface="Poppins"/>
              <a:cs typeface="Poppins"/>
              <a:sym typeface="Poppins"/>
            </a:endParaRPr>
          </a:p>
        </p:txBody>
      </p:sp>
      <p:cxnSp>
        <p:nvCxnSpPr>
          <p:cNvPr id="2526" name="Google Shape;2526;p18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527" name="Google Shape;2527;p18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528" name="Google Shape;2528;p18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529" name="Google Shape;2529;p18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530" name="Google Shape;2530;p18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531" name="Google Shape;2531;p18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32" name="Google Shape;2532;p186"/>
          <p:cNvSpPr txBox="1"/>
          <p:nvPr/>
        </p:nvSpPr>
        <p:spPr>
          <a:xfrm>
            <a:off x="808475" y="1715500"/>
            <a:ext cx="4503900" cy="253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latin typeface="Courier New"/>
                <a:ea typeface="Courier New"/>
                <a:cs typeface="Courier New"/>
                <a:sym typeface="Courier New"/>
              </a:rPr>
              <a:t>Wazuh-alert-*</a:t>
            </a:r>
            <a:endParaRPr sz="1700">
              <a:latin typeface="Courier New"/>
              <a:ea typeface="Courier New"/>
              <a:cs typeface="Courier New"/>
              <a:sym typeface="Courier New"/>
            </a:endParaRPr>
          </a:p>
          <a:p>
            <a:pPr indent="0" lvl="0" marL="0" rtl="0" algn="l">
              <a:spcBef>
                <a:spcPts val="0"/>
              </a:spcBef>
              <a:spcAft>
                <a:spcPts val="0"/>
              </a:spcAft>
              <a:buNone/>
            </a:pPr>
            <a:r>
              <a:t/>
            </a:r>
            <a:endParaRPr sz="1700">
              <a:latin typeface="Archivo"/>
              <a:ea typeface="Archivo"/>
              <a:cs typeface="Archivo"/>
              <a:sym typeface="Archivo"/>
            </a:endParaRPr>
          </a:p>
          <a:p>
            <a:pPr indent="0" lvl="0" marL="0" rtl="0" algn="l">
              <a:spcBef>
                <a:spcPts val="0"/>
              </a:spcBef>
              <a:spcAft>
                <a:spcPts val="0"/>
              </a:spcAft>
              <a:buNone/>
            </a:pPr>
            <a:r>
              <a:rPr lang="en-US" sz="1700">
                <a:latin typeface="Archivo"/>
                <a:ea typeface="Archivo"/>
                <a:cs typeface="Archivo"/>
                <a:sym typeface="Archivo"/>
              </a:rPr>
              <a:t>Server Wazuh menganalisis peristiwa (events) yang diterima dari endpoint yang dimonitor dan menghasilkan alert ketika peristiwa tersebut cocok dengan aturan deteksi. Alert ini disimpan menggunakan indeks wazuh-alerts-*.</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p:txBody>
      </p:sp>
      <p:pic>
        <p:nvPicPr>
          <p:cNvPr id="2533" name="Google Shape;2533;p186"/>
          <p:cNvPicPr preferRelativeResize="0"/>
          <p:nvPr/>
        </p:nvPicPr>
        <p:blipFill>
          <a:blip r:embed="rId6">
            <a:alphaModFix/>
          </a:blip>
          <a:stretch>
            <a:fillRect/>
          </a:stretch>
        </p:blipFill>
        <p:spPr>
          <a:xfrm>
            <a:off x="5312450" y="2162773"/>
            <a:ext cx="6198826" cy="3163675"/>
          </a:xfrm>
          <a:prstGeom prst="rect">
            <a:avLst/>
          </a:prstGeom>
          <a:noFill/>
          <a:ln>
            <a:noFill/>
          </a:ln>
        </p:spPr>
      </p:pic>
      <p:sp>
        <p:nvSpPr>
          <p:cNvPr id="2534" name="Google Shape;2534;p186"/>
          <p:cNvSpPr/>
          <p:nvPr/>
        </p:nvSpPr>
        <p:spPr>
          <a:xfrm>
            <a:off x="5312450" y="2316175"/>
            <a:ext cx="1249500" cy="214200"/>
          </a:xfrm>
          <a:prstGeom prst="roundRect">
            <a:avLst>
              <a:gd fmla="val 16667" name="adj"/>
            </a:avLst>
          </a:prstGeom>
          <a:noFill/>
          <a:ln cap="flat" cmpd="sng" w="9525">
            <a:solidFill>
              <a:srgbClr val="C41F2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ransition spd="slow">
    <p:fade thruBlk="1"/>
  </p:transition>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8" name="Shape 2538"/>
        <p:cNvGrpSpPr/>
        <p:nvPr/>
      </p:nvGrpSpPr>
      <p:grpSpPr>
        <a:xfrm>
          <a:off x="0" y="0"/>
          <a:ext cx="0" cy="0"/>
          <a:chOff x="0" y="0"/>
          <a:chExt cx="0" cy="0"/>
        </a:xfrm>
      </p:grpSpPr>
      <p:sp>
        <p:nvSpPr>
          <p:cNvPr id="2539" name="Google Shape;2539;p187"/>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Filebeat </a:t>
            </a:r>
            <a:endParaRPr b="1" i="0" sz="3600" u="none" cap="none" strike="noStrike">
              <a:solidFill>
                <a:schemeClr val="accent1"/>
              </a:solidFill>
              <a:latin typeface="Poppins"/>
              <a:ea typeface="Poppins"/>
              <a:cs typeface="Poppins"/>
              <a:sym typeface="Poppins"/>
            </a:endParaRPr>
          </a:p>
        </p:txBody>
      </p:sp>
      <p:cxnSp>
        <p:nvCxnSpPr>
          <p:cNvPr id="2540" name="Google Shape;2540;p18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541" name="Google Shape;2541;p18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542" name="Google Shape;2542;p18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543" name="Google Shape;2543;p18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544" name="Google Shape;2544;p18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545" name="Google Shape;2545;p18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46" name="Google Shape;2546;p187"/>
          <p:cNvSpPr txBox="1"/>
          <p:nvPr/>
        </p:nvSpPr>
        <p:spPr>
          <a:xfrm>
            <a:off x="808475" y="1715488"/>
            <a:ext cx="9819900" cy="410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Komponen ini adalah lightweight data shipper yang dirancang untuk meneruskan alert dan event yang telah diarsipkan oleh Wazuh manager secara aman ke Wazuh indexer untuk di-index dan disimpan. Komponen ini membaca output dari Wazuh analysis engine dan mengirimkan event secara real-time.</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Blok kode di bawah ini menunjukkan konfigurasi Filebeat default pada Wazuh server:</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US" sz="1700">
                <a:latin typeface="Archivo"/>
                <a:ea typeface="Archivo"/>
                <a:cs typeface="Archivo"/>
                <a:sym typeface="Archivo"/>
              </a:rPr>
              <a:t>/etc/filebeat/filebeat.yml</a:t>
            </a:r>
            <a:endParaRPr b="1"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b="1"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output.elasticsearch:</a:t>
            </a:r>
            <a:endParaRPr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  hosts: ["http://wazuh-indexer-ip:9200"]</a:t>
            </a:r>
            <a:endParaRPr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  username: "wazuh"</a:t>
            </a:r>
            <a:endParaRPr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  password: "your_password"</a:t>
            </a:r>
            <a:endParaRPr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b="1"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p:txBody>
      </p:sp>
    </p:spTree>
  </p:cSld>
  <p:clrMapOvr>
    <a:masterClrMapping/>
  </p:clrMapOvr>
  <p:transition spd="slow">
    <p:fade thruBlk="1"/>
  </p:transition>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0" name="Shape 2550"/>
        <p:cNvGrpSpPr/>
        <p:nvPr/>
      </p:nvGrpSpPr>
      <p:grpSpPr>
        <a:xfrm>
          <a:off x="0" y="0"/>
          <a:ext cx="0" cy="0"/>
          <a:chOff x="0" y="0"/>
          <a:chExt cx="0" cy="0"/>
        </a:xfrm>
      </p:grpSpPr>
      <p:sp>
        <p:nvSpPr>
          <p:cNvPr id="2551" name="Google Shape;2551;p188"/>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How they work </a:t>
            </a:r>
            <a:r>
              <a:rPr b="1" lang="en-US" sz="3600">
                <a:solidFill>
                  <a:schemeClr val="accent1"/>
                </a:solidFill>
                <a:latin typeface="Poppins"/>
                <a:ea typeface="Poppins"/>
                <a:cs typeface="Poppins"/>
                <a:sym typeface="Poppins"/>
              </a:rPr>
              <a:t>together</a:t>
            </a:r>
            <a:r>
              <a:rPr b="1" lang="en-US" sz="3600">
                <a:solidFill>
                  <a:schemeClr val="accent1"/>
                </a:solidFill>
                <a:latin typeface="Poppins"/>
                <a:ea typeface="Poppins"/>
                <a:cs typeface="Poppins"/>
                <a:sym typeface="Poppins"/>
              </a:rPr>
              <a:t> </a:t>
            </a:r>
            <a:endParaRPr b="1" i="0" sz="3600" u="none" cap="none" strike="noStrike">
              <a:solidFill>
                <a:schemeClr val="accent1"/>
              </a:solidFill>
              <a:latin typeface="Poppins"/>
              <a:ea typeface="Poppins"/>
              <a:cs typeface="Poppins"/>
              <a:sym typeface="Poppins"/>
            </a:endParaRPr>
          </a:p>
        </p:txBody>
      </p:sp>
      <p:cxnSp>
        <p:nvCxnSpPr>
          <p:cNvPr id="2552" name="Google Shape;2552;p18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553" name="Google Shape;2553;p18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554" name="Google Shape;2554;p18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555" name="Google Shape;2555;p18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556" name="Google Shape;2556;p18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557" name="Google Shape;2557;p18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58" name="Google Shape;2558;p188"/>
          <p:cNvSpPr txBox="1"/>
          <p:nvPr/>
        </p:nvSpPr>
        <p:spPr>
          <a:xfrm>
            <a:off x="808475" y="1715488"/>
            <a:ext cx="98199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Archivo"/>
              <a:buChar char="●"/>
            </a:pPr>
            <a:r>
              <a:rPr b="1" lang="en-US" sz="1800">
                <a:solidFill>
                  <a:schemeClr val="dk1"/>
                </a:solidFill>
                <a:latin typeface="Archivo"/>
                <a:ea typeface="Archivo"/>
                <a:cs typeface="Archivo"/>
                <a:sym typeface="Archivo"/>
              </a:rPr>
              <a:t>Data Collection</a:t>
            </a:r>
            <a:r>
              <a:rPr lang="en-US" sz="1800">
                <a:solidFill>
                  <a:schemeClr val="dk1"/>
                </a:solidFill>
                <a:latin typeface="Archivo"/>
                <a:ea typeface="Archivo"/>
                <a:cs typeface="Archivo"/>
                <a:sym typeface="Archivo"/>
              </a:rPr>
              <a:t>: Filebeat mengumpulkan log dan data security event dari berbagai endpoint dan sistem.</a:t>
            </a:r>
            <a:endParaRPr sz="1800">
              <a:solidFill>
                <a:schemeClr val="dk1"/>
              </a:solidFill>
              <a:latin typeface="Archivo"/>
              <a:ea typeface="Archivo"/>
              <a:cs typeface="Archivo"/>
              <a:sym typeface="Archivo"/>
            </a:endParaRPr>
          </a:p>
          <a:p>
            <a:pPr indent="-342900" lvl="0" marL="457200" rtl="0" algn="l">
              <a:spcBef>
                <a:spcPts val="0"/>
              </a:spcBef>
              <a:spcAft>
                <a:spcPts val="0"/>
              </a:spcAft>
              <a:buClr>
                <a:schemeClr val="dk1"/>
              </a:buClr>
              <a:buSzPts val="1800"/>
              <a:buFont typeface="Archivo"/>
              <a:buChar char="●"/>
            </a:pPr>
            <a:r>
              <a:rPr b="1" lang="en-US" sz="1800">
                <a:solidFill>
                  <a:schemeClr val="dk1"/>
                </a:solidFill>
                <a:latin typeface="Archivo"/>
                <a:ea typeface="Archivo"/>
                <a:cs typeface="Archivo"/>
                <a:sym typeface="Archivo"/>
              </a:rPr>
              <a:t>Indexing</a:t>
            </a:r>
            <a:r>
              <a:rPr lang="en-US" sz="1800">
                <a:solidFill>
                  <a:schemeClr val="dk1"/>
                </a:solidFill>
                <a:latin typeface="Archivo"/>
                <a:ea typeface="Archivo"/>
                <a:cs typeface="Archivo"/>
                <a:sym typeface="Archivo"/>
              </a:rPr>
              <a:t>: Data tersebut dikirim ke Wazuh Indexer, di mana data akan diparse, diindeks, dan disimpan agar dapat dicari dan diambil dengan efisien.</a:t>
            </a:r>
            <a:endParaRPr sz="1800">
              <a:solidFill>
                <a:schemeClr val="dk1"/>
              </a:solidFill>
              <a:latin typeface="Archivo"/>
              <a:ea typeface="Archivo"/>
              <a:cs typeface="Archivo"/>
              <a:sym typeface="Archivo"/>
            </a:endParaRPr>
          </a:p>
          <a:p>
            <a:pPr indent="-342900" lvl="0" marL="457200" rtl="0" algn="l">
              <a:spcBef>
                <a:spcPts val="0"/>
              </a:spcBef>
              <a:spcAft>
                <a:spcPts val="0"/>
              </a:spcAft>
              <a:buClr>
                <a:schemeClr val="dk1"/>
              </a:buClr>
              <a:buSzPts val="1800"/>
              <a:buFont typeface="Archivo"/>
              <a:buChar char="●"/>
            </a:pPr>
            <a:r>
              <a:rPr b="1" lang="en-US" sz="1800">
                <a:solidFill>
                  <a:schemeClr val="dk1"/>
                </a:solidFill>
                <a:latin typeface="Archivo"/>
                <a:ea typeface="Archivo"/>
                <a:cs typeface="Archivo"/>
                <a:sym typeface="Archivo"/>
              </a:rPr>
              <a:t>Visualization</a:t>
            </a:r>
            <a:r>
              <a:rPr lang="en-US" sz="1800">
                <a:solidFill>
                  <a:schemeClr val="dk1"/>
                </a:solidFill>
                <a:latin typeface="Archivo"/>
                <a:ea typeface="Archivo"/>
                <a:cs typeface="Archivo"/>
                <a:sym typeface="Archivo"/>
              </a:rPr>
              <a:t>: Wazuh Dashboard mengakses data yang telah diindeks tersebut, memungkinkan pengguna untuk memvisualisasikan, menganalisis, dan membuat laporan berdasarkan insight keamanan secara real-time.</a:t>
            </a:r>
            <a:endParaRPr sz="1800">
              <a:solidFill>
                <a:schemeClr val="dk1"/>
              </a:solidFill>
              <a:latin typeface="Archivo"/>
              <a:ea typeface="Archivo"/>
              <a:cs typeface="Archivo"/>
              <a:sym typeface="Archivo"/>
            </a:endParaRPr>
          </a:p>
          <a:p>
            <a:pPr indent="0" lvl="0" marL="914400" rtl="0" algn="l">
              <a:spcBef>
                <a:spcPts val="0"/>
              </a:spcBef>
              <a:spcAft>
                <a:spcPts val="0"/>
              </a:spcAft>
              <a:buNone/>
            </a:pPr>
            <a:r>
              <a:t/>
            </a:r>
            <a:endParaRPr sz="1800">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562" name="Shape 2562"/>
        <p:cNvGrpSpPr/>
        <p:nvPr/>
      </p:nvGrpSpPr>
      <p:grpSpPr>
        <a:xfrm>
          <a:off x="0" y="0"/>
          <a:ext cx="0" cy="0"/>
          <a:chOff x="0" y="0"/>
          <a:chExt cx="0" cy="0"/>
        </a:xfrm>
      </p:grpSpPr>
      <p:pic>
        <p:nvPicPr>
          <p:cNvPr descr="A picture containing food, drawing, shirt&#10;&#10;Description automatically generated" id="2563" name="Google Shape;2563;p18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564" name="Google Shape;2564;p18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65" name="Google Shape;2565;p18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566" name="Google Shape;2566;p189"/>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567" name="Google Shape;2567;p18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568" name="Google Shape;2568;p189"/>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569" name="Google Shape;2569;p189"/>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Wazuh Dashboard Overview</a:t>
            </a:r>
            <a:endParaRPr sz="4800">
              <a:solidFill>
                <a:schemeClr val="lt1"/>
              </a:solidFill>
              <a:highlight>
                <a:srgbClr val="3585F9"/>
              </a:highlight>
              <a:latin typeface="Poppins"/>
              <a:ea typeface="Poppins"/>
              <a:cs typeface="Poppins"/>
              <a:sym typeface="Poppins"/>
            </a:endParaRPr>
          </a:p>
        </p:txBody>
      </p:sp>
      <p:pic>
        <p:nvPicPr>
          <p:cNvPr id="2570" name="Google Shape;2570;p189"/>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4" name="Shape 2574"/>
        <p:cNvGrpSpPr/>
        <p:nvPr/>
      </p:nvGrpSpPr>
      <p:grpSpPr>
        <a:xfrm>
          <a:off x="0" y="0"/>
          <a:ext cx="0" cy="0"/>
          <a:chOff x="0" y="0"/>
          <a:chExt cx="0" cy="0"/>
        </a:xfrm>
      </p:grpSpPr>
      <p:sp>
        <p:nvSpPr>
          <p:cNvPr id="2575" name="Google Shape;2575;p190"/>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Dashboard Overview</a:t>
            </a:r>
            <a:endParaRPr b="1" i="0" sz="3600" u="none" cap="none" strike="noStrike">
              <a:solidFill>
                <a:schemeClr val="accent1"/>
              </a:solidFill>
              <a:latin typeface="Poppins"/>
              <a:ea typeface="Poppins"/>
              <a:cs typeface="Poppins"/>
              <a:sym typeface="Poppins"/>
            </a:endParaRPr>
          </a:p>
        </p:txBody>
      </p:sp>
      <p:cxnSp>
        <p:nvCxnSpPr>
          <p:cNvPr id="2576" name="Google Shape;2576;p19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577" name="Google Shape;2577;p19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578" name="Google Shape;2578;p19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579" name="Google Shape;2579;p19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580" name="Google Shape;2580;p19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581" name="Google Shape;2581;p19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82" name="Google Shape;2582;p190"/>
          <p:cNvPicPr preferRelativeResize="0"/>
          <p:nvPr/>
        </p:nvPicPr>
        <p:blipFill>
          <a:blip r:embed="rId6">
            <a:alphaModFix/>
          </a:blip>
          <a:stretch>
            <a:fillRect/>
          </a:stretch>
        </p:blipFill>
        <p:spPr>
          <a:xfrm>
            <a:off x="3307500" y="2089007"/>
            <a:ext cx="4845902" cy="3117530"/>
          </a:xfrm>
          <a:prstGeom prst="rect">
            <a:avLst/>
          </a:prstGeom>
          <a:noFill/>
          <a:ln>
            <a:noFill/>
          </a:ln>
          <a:effectLst>
            <a:outerShdw blurRad="57150" rotWithShape="0" algn="bl" dir="5400000" dist="19050">
              <a:srgbClr val="000000">
                <a:alpha val="50000"/>
              </a:srgbClr>
            </a:outerShdw>
          </a:effectLst>
        </p:spPr>
      </p:pic>
    </p:spTree>
  </p:cSld>
  <p:clrMapOvr>
    <a:masterClrMapping/>
  </p:clrMapOvr>
  <p:transition spd="slow">
    <p:fade thruBlk="1"/>
  </p:transition>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6" name="Shape 2586"/>
        <p:cNvGrpSpPr/>
        <p:nvPr/>
      </p:nvGrpSpPr>
      <p:grpSpPr>
        <a:xfrm>
          <a:off x="0" y="0"/>
          <a:ext cx="0" cy="0"/>
          <a:chOff x="0" y="0"/>
          <a:chExt cx="0" cy="0"/>
        </a:xfrm>
      </p:grpSpPr>
      <p:sp>
        <p:nvSpPr>
          <p:cNvPr id="2587" name="Google Shape;2587;p191"/>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Indexer Connector </a:t>
            </a:r>
            <a:endParaRPr b="1" i="0" sz="3600" u="none" cap="none" strike="noStrike">
              <a:solidFill>
                <a:schemeClr val="accent1"/>
              </a:solidFill>
              <a:latin typeface="Poppins"/>
              <a:ea typeface="Poppins"/>
              <a:cs typeface="Poppins"/>
              <a:sym typeface="Poppins"/>
            </a:endParaRPr>
          </a:p>
        </p:txBody>
      </p:sp>
      <p:cxnSp>
        <p:nvCxnSpPr>
          <p:cNvPr id="2588" name="Google Shape;2588;p19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589" name="Google Shape;2589;p19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590" name="Google Shape;2590;p19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591" name="Google Shape;2591;p19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592" name="Google Shape;2592;p19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593" name="Google Shape;2593;p19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94" name="Google Shape;2594;p191"/>
          <p:cNvSpPr txBox="1"/>
          <p:nvPr/>
        </p:nvSpPr>
        <p:spPr>
          <a:xfrm>
            <a:off x="808475" y="1715488"/>
            <a:ext cx="9819900" cy="20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Wazuh Indexer Connector saat ini berfungsi untuk menerima data vulnerability dari Wazuh Manager dan meneruskannya secara aman ke Wazuh Indexer. Data tersebut dikirim dalam format JSON yang mengikuti standar Elastic Common Schema (ECS), dan konektor ini melakukan sinkronisasi status dengan Wazuh Indexer untuk memastikan konsistensi dan keandalan data.</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Komponen Indexer Connector ini sudah termasuk dalam paket instalasi Wazuh Manager</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p:txBody>
      </p:sp>
    </p:spTree>
  </p:cSld>
  <p:clrMapOvr>
    <a:masterClrMapping/>
  </p:clrMapOvr>
  <p:transition spd="slow">
    <p:fade thruBlk="1"/>
  </p:transition>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8" name="Shape 2598"/>
        <p:cNvGrpSpPr/>
        <p:nvPr/>
      </p:nvGrpSpPr>
      <p:grpSpPr>
        <a:xfrm>
          <a:off x="0" y="0"/>
          <a:ext cx="0" cy="0"/>
          <a:chOff x="0" y="0"/>
          <a:chExt cx="0" cy="0"/>
        </a:xfrm>
      </p:grpSpPr>
      <p:sp>
        <p:nvSpPr>
          <p:cNvPr id="2599" name="Google Shape;2599;p192"/>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Indexer Connector </a:t>
            </a:r>
            <a:endParaRPr b="1" i="0" sz="3600" u="none" cap="none" strike="noStrike">
              <a:solidFill>
                <a:schemeClr val="accent1"/>
              </a:solidFill>
              <a:latin typeface="Poppins"/>
              <a:ea typeface="Poppins"/>
              <a:cs typeface="Poppins"/>
              <a:sym typeface="Poppins"/>
            </a:endParaRPr>
          </a:p>
        </p:txBody>
      </p:sp>
      <p:cxnSp>
        <p:nvCxnSpPr>
          <p:cNvPr id="2600" name="Google Shape;2600;p19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601" name="Google Shape;2601;p19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602" name="Google Shape;2602;p19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603" name="Google Shape;2603;p19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604" name="Google Shape;2604;p19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605" name="Google Shape;2605;p19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06" name="Google Shape;2606;p192"/>
          <p:cNvPicPr preferRelativeResize="0"/>
          <p:nvPr/>
        </p:nvPicPr>
        <p:blipFill>
          <a:blip r:embed="rId6">
            <a:alphaModFix/>
          </a:blip>
          <a:stretch>
            <a:fillRect/>
          </a:stretch>
        </p:blipFill>
        <p:spPr>
          <a:xfrm>
            <a:off x="1307925" y="1225600"/>
            <a:ext cx="9911029" cy="4678399"/>
          </a:xfrm>
          <a:prstGeom prst="rect">
            <a:avLst/>
          </a:prstGeom>
          <a:noFill/>
          <a:ln>
            <a:noFill/>
          </a:ln>
        </p:spPr>
      </p:pic>
    </p:spTree>
  </p:cSld>
  <p:clrMapOvr>
    <a:masterClrMapping/>
  </p:clrMapOvr>
  <p:transition spd="slow">
    <p:fade thruBlk="1"/>
  </p:transition>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610" name="Shape 2610"/>
        <p:cNvGrpSpPr/>
        <p:nvPr/>
      </p:nvGrpSpPr>
      <p:grpSpPr>
        <a:xfrm>
          <a:off x="0" y="0"/>
          <a:ext cx="0" cy="0"/>
          <a:chOff x="0" y="0"/>
          <a:chExt cx="0" cy="0"/>
        </a:xfrm>
      </p:grpSpPr>
      <p:pic>
        <p:nvPicPr>
          <p:cNvPr descr="A picture containing food, drawing, shirt&#10;&#10;Description automatically generated" id="2611" name="Google Shape;2611;p19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612" name="Google Shape;2612;p19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13" name="Google Shape;2613;p19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614" name="Google Shape;2614;p193"/>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615" name="Google Shape;2615;p19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616" name="Google Shape;2616;p193"/>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617" name="Google Shape;2617;p193"/>
          <p:cNvSpPr txBox="1"/>
          <p:nvPr/>
        </p:nvSpPr>
        <p:spPr>
          <a:xfrm>
            <a:off x="1357489" y="3803851"/>
            <a:ext cx="9477000" cy="156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Labs Creating Custom Index Pattern  </a:t>
            </a:r>
            <a:endParaRPr sz="4800">
              <a:solidFill>
                <a:schemeClr val="lt1"/>
              </a:solidFill>
              <a:highlight>
                <a:srgbClr val="3585F9"/>
              </a:highlight>
              <a:latin typeface="Poppins"/>
              <a:ea typeface="Poppins"/>
              <a:cs typeface="Poppins"/>
              <a:sym typeface="Poppins"/>
            </a:endParaRPr>
          </a:p>
        </p:txBody>
      </p:sp>
      <p:pic>
        <p:nvPicPr>
          <p:cNvPr id="2618" name="Google Shape;2618;p193"/>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2" name="Shape 2622"/>
        <p:cNvGrpSpPr/>
        <p:nvPr/>
      </p:nvGrpSpPr>
      <p:grpSpPr>
        <a:xfrm>
          <a:off x="0" y="0"/>
          <a:ext cx="0" cy="0"/>
          <a:chOff x="0" y="0"/>
          <a:chExt cx="0" cy="0"/>
        </a:xfrm>
      </p:grpSpPr>
      <p:sp>
        <p:nvSpPr>
          <p:cNvPr id="2623" name="Google Shape;2623;p194"/>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Create Index Patterns</a:t>
            </a:r>
            <a:endParaRPr b="1" i="0" sz="3600" u="none" cap="none" strike="noStrike">
              <a:solidFill>
                <a:schemeClr val="accent1"/>
              </a:solidFill>
              <a:latin typeface="Poppins"/>
              <a:ea typeface="Poppins"/>
              <a:cs typeface="Poppins"/>
              <a:sym typeface="Poppins"/>
            </a:endParaRPr>
          </a:p>
        </p:txBody>
      </p:sp>
      <p:cxnSp>
        <p:nvCxnSpPr>
          <p:cNvPr id="2624" name="Google Shape;2624;p19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625" name="Google Shape;2625;p19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626" name="Google Shape;2626;p19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627" name="Google Shape;2627;p19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628" name="Google Shape;2628;p19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629" name="Google Shape;2629;p19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30" name="Google Shape;2630;p194"/>
          <p:cNvSpPr txBox="1"/>
          <p:nvPr/>
        </p:nvSpPr>
        <p:spPr>
          <a:xfrm>
            <a:off x="808475" y="1715488"/>
            <a:ext cx="9819900" cy="51564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Archivo"/>
              <a:buAutoNum type="arabicPeriod"/>
            </a:pPr>
            <a:r>
              <a:rPr lang="en-US" sz="1700">
                <a:latin typeface="Archivo"/>
                <a:ea typeface="Archivo"/>
                <a:cs typeface="Archivo"/>
                <a:sym typeface="Archivo"/>
              </a:rPr>
              <a:t>Stop Service Filebeat</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a:p>
            <a:pPr indent="0" lvl="0" marL="0" rtl="0" algn="l">
              <a:spcBef>
                <a:spcPts val="0"/>
              </a:spcBef>
              <a:spcAft>
                <a:spcPts val="0"/>
              </a:spcAft>
              <a:buNone/>
            </a:pPr>
            <a:r>
              <a:rPr lang="en-US" sz="1700">
                <a:latin typeface="Courier New"/>
                <a:ea typeface="Courier New"/>
                <a:cs typeface="Courier New"/>
                <a:sym typeface="Courier New"/>
              </a:rPr>
              <a:t>systemctl stop filebeat</a:t>
            </a:r>
            <a:endParaRPr sz="1700">
              <a:latin typeface="Courier New"/>
              <a:ea typeface="Courier New"/>
              <a:cs typeface="Courier New"/>
              <a:sym typeface="Courier New"/>
            </a:endParaRPr>
          </a:p>
          <a:p>
            <a:pPr indent="0" lvl="0" marL="0" rtl="0" algn="l">
              <a:spcBef>
                <a:spcPts val="0"/>
              </a:spcBef>
              <a:spcAft>
                <a:spcPts val="0"/>
              </a:spcAft>
              <a:buNone/>
            </a:pPr>
            <a:r>
              <a:t/>
            </a:r>
            <a:endParaRPr sz="1700">
              <a:latin typeface="Courier New"/>
              <a:ea typeface="Courier New"/>
              <a:cs typeface="Courier New"/>
              <a:sym typeface="Courier New"/>
            </a:endParaRPr>
          </a:p>
          <a:p>
            <a:pPr indent="-336550" lvl="0" marL="457200" rtl="0" algn="l">
              <a:spcBef>
                <a:spcPts val="0"/>
              </a:spcBef>
              <a:spcAft>
                <a:spcPts val="0"/>
              </a:spcAft>
              <a:buSzPts val="1700"/>
              <a:buFont typeface="Archivo"/>
              <a:buAutoNum type="arabicPeriod"/>
            </a:pPr>
            <a:r>
              <a:rPr lang="en-US" sz="1700">
                <a:latin typeface="Archivo"/>
                <a:ea typeface="Archivo"/>
                <a:cs typeface="Archivo"/>
                <a:sym typeface="Archivo"/>
              </a:rPr>
              <a:t>Download Wazuh Template </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a:p>
            <a:pPr indent="0" lvl="0" marL="0" rtl="0" algn="l">
              <a:spcBef>
                <a:spcPts val="0"/>
              </a:spcBef>
              <a:spcAft>
                <a:spcPts val="0"/>
              </a:spcAft>
              <a:buNone/>
            </a:pPr>
            <a:r>
              <a:rPr lang="en-US" sz="1700">
                <a:latin typeface="Courier New"/>
                <a:ea typeface="Courier New"/>
                <a:cs typeface="Courier New"/>
                <a:sym typeface="Courier New"/>
              </a:rPr>
              <a:t>curl -so template.json </a:t>
            </a:r>
            <a:r>
              <a:rPr lang="en-US" sz="1700" u="sng">
                <a:solidFill>
                  <a:schemeClr val="hlink"/>
                </a:solidFill>
                <a:latin typeface="Courier New"/>
                <a:ea typeface="Courier New"/>
                <a:cs typeface="Courier New"/>
                <a:sym typeface="Courier New"/>
                <a:hlinkClick r:id="rId6"/>
              </a:rPr>
              <a:t>https://raw.githubusercontent.com/wazuh/wazuh/v4.9.0/extensions/elasticsearch/7.x/wazuh-template.json</a:t>
            </a:r>
            <a:endParaRPr sz="1700">
              <a:latin typeface="Courier New"/>
              <a:ea typeface="Courier New"/>
              <a:cs typeface="Courier New"/>
              <a:sym typeface="Courier New"/>
            </a:endParaRPr>
          </a:p>
          <a:p>
            <a:pPr indent="0" lvl="0" marL="0" rtl="0" algn="l">
              <a:spcBef>
                <a:spcPts val="0"/>
              </a:spcBef>
              <a:spcAft>
                <a:spcPts val="0"/>
              </a:spcAft>
              <a:buNone/>
            </a:pPr>
            <a:r>
              <a:t/>
            </a:r>
            <a:endParaRPr sz="1700">
              <a:latin typeface="Courier New"/>
              <a:ea typeface="Courier New"/>
              <a:cs typeface="Courier New"/>
              <a:sym typeface="Courier New"/>
            </a:endParaRPr>
          </a:p>
          <a:p>
            <a:pPr indent="-336550" lvl="0" marL="457200" rtl="0" algn="l">
              <a:spcBef>
                <a:spcPts val="0"/>
              </a:spcBef>
              <a:spcAft>
                <a:spcPts val="0"/>
              </a:spcAft>
              <a:buSzPts val="1700"/>
              <a:buFont typeface="Archivo"/>
              <a:buAutoNum type="arabicPeriod"/>
            </a:pPr>
            <a:r>
              <a:rPr lang="en-US" sz="1700">
                <a:latin typeface="Courier New"/>
                <a:ea typeface="Courier New"/>
                <a:cs typeface="Courier New"/>
                <a:sym typeface="Courier New"/>
              </a:rPr>
              <a:t>Edit template.json</a:t>
            </a:r>
            <a:endParaRPr sz="1700">
              <a:latin typeface="Courier New"/>
              <a:ea typeface="Courier New"/>
              <a:cs typeface="Courier New"/>
              <a:sym typeface="Courier New"/>
            </a:endParaRPr>
          </a:p>
          <a:p>
            <a:pPr indent="0" lvl="0" marL="0" rtl="0" algn="l">
              <a:spcBef>
                <a:spcPts val="0"/>
              </a:spcBef>
              <a:spcAft>
                <a:spcPts val="0"/>
              </a:spcAft>
              <a:buNone/>
            </a:pPr>
            <a:r>
              <a:t/>
            </a:r>
            <a:endParaRPr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"index_patterns": [</a:t>
            </a:r>
            <a:endParaRPr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  "wazuh-alerts-4.x-*",</a:t>
            </a:r>
            <a:endParaRPr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  "wazuh-archives-4.x-*",</a:t>
            </a:r>
            <a:endParaRPr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  "</a:t>
            </a:r>
            <a:r>
              <a:rPr b="1" lang="en-US" sz="1700">
                <a:latin typeface="Courier New"/>
                <a:ea typeface="Courier New"/>
                <a:cs typeface="Courier New"/>
                <a:sym typeface="Courier New"/>
              </a:rPr>
              <a:t>my-custom-alerts-*" → Custom Wazuh Alert</a:t>
            </a:r>
            <a:endParaRPr b="1"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a:t>
            </a:r>
            <a:endParaRPr sz="1700">
              <a:latin typeface="Courier New"/>
              <a:ea typeface="Courier New"/>
              <a:cs typeface="Courier New"/>
              <a:sym typeface="Courier New"/>
            </a:endParaRPr>
          </a:p>
          <a:p>
            <a:pPr indent="0" lvl="0" marL="0" rtl="0" algn="l">
              <a:spcBef>
                <a:spcPts val="0"/>
              </a:spcBef>
              <a:spcAft>
                <a:spcPts val="0"/>
              </a:spcAft>
              <a:buNone/>
            </a:pPr>
            <a:r>
              <a:t/>
            </a:r>
            <a:endParaRPr sz="1700">
              <a:latin typeface="Courier New"/>
              <a:ea typeface="Courier New"/>
              <a:cs typeface="Courier New"/>
              <a:sym typeface="Courier New"/>
            </a:endParaRPr>
          </a:p>
          <a:p>
            <a:pPr indent="0" lvl="0" marL="0" rtl="0" algn="l">
              <a:spcBef>
                <a:spcPts val="0"/>
              </a:spcBef>
              <a:spcAft>
                <a:spcPts val="0"/>
              </a:spcAft>
              <a:buNone/>
            </a:pPr>
            <a:r>
              <a:t/>
            </a:r>
            <a:endParaRPr sz="1700">
              <a:latin typeface="Archivo"/>
              <a:ea typeface="Archivo"/>
              <a:cs typeface="Archivo"/>
              <a:sym typeface="Archivo"/>
            </a:endParaRPr>
          </a:p>
        </p:txBody>
      </p:sp>
    </p:spTree>
  </p:cSld>
  <p:clrMapOvr>
    <a:masterClrMapping/>
  </p:clrMapOvr>
  <p:transition spd="slow">
    <p:fade thruBlk="1"/>
  </p:transition>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4" name="Shape 2634"/>
        <p:cNvGrpSpPr/>
        <p:nvPr/>
      </p:nvGrpSpPr>
      <p:grpSpPr>
        <a:xfrm>
          <a:off x="0" y="0"/>
          <a:ext cx="0" cy="0"/>
          <a:chOff x="0" y="0"/>
          <a:chExt cx="0" cy="0"/>
        </a:xfrm>
      </p:grpSpPr>
      <p:sp>
        <p:nvSpPr>
          <p:cNvPr id="2635" name="Google Shape;2635;p195"/>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Indexer Connector </a:t>
            </a:r>
            <a:endParaRPr b="1" i="0" sz="3600" u="none" cap="none" strike="noStrike">
              <a:solidFill>
                <a:schemeClr val="accent1"/>
              </a:solidFill>
              <a:latin typeface="Poppins"/>
              <a:ea typeface="Poppins"/>
              <a:cs typeface="Poppins"/>
              <a:sym typeface="Poppins"/>
            </a:endParaRPr>
          </a:p>
        </p:txBody>
      </p:sp>
      <p:cxnSp>
        <p:nvCxnSpPr>
          <p:cNvPr id="2636" name="Google Shape;2636;p19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637" name="Google Shape;2637;p19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638" name="Google Shape;2638;p19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639" name="Google Shape;2639;p19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640" name="Google Shape;2640;p19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641" name="Google Shape;2641;p19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42" name="Google Shape;2642;p195"/>
          <p:cNvSpPr txBox="1"/>
          <p:nvPr/>
        </p:nvSpPr>
        <p:spPr>
          <a:xfrm>
            <a:off x="808475" y="1715488"/>
            <a:ext cx="9819900" cy="20163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Archivo"/>
              <a:buAutoNum type="arabicPeriod"/>
            </a:pPr>
            <a:r>
              <a:rPr lang="en-US" sz="1700">
                <a:latin typeface="Archivo"/>
                <a:ea typeface="Archivo"/>
                <a:cs typeface="Archivo"/>
                <a:sym typeface="Archivo"/>
              </a:rPr>
              <a:t>Restart Service Filebeat</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systemctl restart filebeat</a:t>
            </a:r>
            <a:endParaRPr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systemctl restart wazuh-manager</a:t>
            </a:r>
            <a:endParaRPr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systemctl restart wazuh-indexer</a:t>
            </a:r>
            <a:endParaRPr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systemctl restart wazuh-dashboard</a:t>
            </a:r>
            <a:endParaRPr sz="1700">
              <a:latin typeface="Courier New"/>
              <a:ea typeface="Courier New"/>
              <a:cs typeface="Courier New"/>
              <a:sym typeface="Courier New"/>
            </a:endParaRPr>
          </a:p>
          <a:p>
            <a:pPr indent="0" lvl="0" marL="0" rtl="0" algn="l">
              <a:spcBef>
                <a:spcPts val="0"/>
              </a:spcBef>
              <a:spcAft>
                <a:spcPts val="0"/>
              </a:spcAft>
              <a:buNone/>
            </a:pPr>
            <a:r>
              <a:t/>
            </a:r>
            <a:endParaRPr sz="1700">
              <a:latin typeface="Archivo"/>
              <a:ea typeface="Archivo"/>
              <a:cs typeface="Archivo"/>
              <a:sym typeface="Archivo"/>
            </a:endParaRPr>
          </a:p>
        </p:txBody>
      </p:sp>
    </p:spTree>
  </p:cSld>
  <p:clrMapOvr>
    <a:masterClrMapping/>
  </p:clrMapOvr>
  <p:transition spd="slow">
    <p:fade thruBlk="1"/>
  </p:transition>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6" name="Shape 2646"/>
        <p:cNvGrpSpPr/>
        <p:nvPr/>
      </p:nvGrpSpPr>
      <p:grpSpPr>
        <a:xfrm>
          <a:off x="0" y="0"/>
          <a:ext cx="0" cy="0"/>
          <a:chOff x="0" y="0"/>
          <a:chExt cx="0" cy="0"/>
        </a:xfrm>
      </p:grpSpPr>
      <p:sp>
        <p:nvSpPr>
          <p:cNvPr id="2647" name="Google Shape;2647;p196"/>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Verify</a:t>
            </a:r>
            <a:endParaRPr b="1" i="0" sz="3600" u="none" cap="none" strike="noStrike">
              <a:solidFill>
                <a:schemeClr val="accent1"/>
              </a:solidFill>
              <a:latin typeface="Poppins"/>
              <a:ea typeface="Poppins"/>
              <a:cs typeface="Poppins"/>
              <a:sym typeface="Poppins"/>
            </a:endParaRPr>
          </a:p>
        </p:txBody>
      </p:sp>
      <p:cxnSp>
        <p:nvCxnSpPr>
          <p:cNvPr id="2648" name="Google Shape;2648;p19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649" name="Google Shape;2649;p19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650" name="Google Shape;2650;p19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651" name="Google Shape;2651;p19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652" name="Google Shape;2652;p19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653" name="Google Shape;2653;p19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54" name="Google Shape;2654;p196"/>
          <p:cNvSpPr txBox="1"/>
          <p:nvPr/>
        </p:nvSpPr>
        <p:spPr>
          <a:xfrm>
            <a:off x="808475" y="1715488"/>
            <a:ext cx="9819900" cy="4464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Archivo"/>
              <a:buAutoNum type="arabicPeriod"/>
            </a:pPr>
            <a:r>
              <a:rPr lang="en-US" sz="1700">
                <a:latin typeface="Archivo"/>
                <a:ea typeface="Archivo"/>
                <a:cs typeface="Archivo"/>
                <a:sym typeface="Archivo"/>
              </a:rPr>
              <a:t>Verify</a:t>
            </a:r>
            <a:r>
              <a:rPr lang="en-US" sz="1700">
                <a:latin typeface="Archivo"/>
                <a:ea typeface="Archivo"/>
                <a:cs typeface="Archivo"/>
                <a:sym typeface="Archivo"/>
              </a:rPr>
              <a:t> In Wazuh Dashbaord</a:t>
            </a:r>
            <a:endParaRPr sz="1700">
              <a:latin typeface="Archivo"/>
              <a:ea typeface="Archivo"/>
              <a:cs typeface="Archivo"/>
              <a:sym typeface="Archivo"/>
            </a:endParaRPr>
          </a:p>
        </p:txBody>
      </p:sp>
      <p:pic>
        <p:nvPicPr>
          <p:cNvPr id="2655" name="Google Shape;2655;p196"/>
          <p:cNvPicPr preferRelativeResize="0"/>
          <p:nvPr/>
        </p:nvPicPr>
        <p:blipFill>
          <a:blip r:embed="rId6">
            <a:alphaModFix/>
          </a:blip>
          <a:stretch>
            <a:fillRect/>
          </a:stretch>
        </p:blipFill>
        <p:spPr>
          <a:xfrm>
            <a:off x="650725" y="2389463"/>
            <a:ext cx="4494099" cy="2181475"/>
          </a:xfrm>
          <a:prstGeom prst="rect">
            <a:avLst/>
          </a:prstGeom>
          <a:noFill/>
          <a:ln>
            <a:noFill/>
          </a:ln>
          <a:effectLst>
            <a:outerShdw blurRad="57150" rotWithShape="0" algn="bl" dir="10200000" dist="19050">
              <a:srgbClr val="000000">
                <a:alpha val="90000"/>
              </a:srgbClr>
            </a:outerShdw>
          </a:effectLst>
        </p:spPr>
      </p:pic>
      <p:pic>
        <p:nvPicPr>
          <p:cNvPr id="2656" name="Google Shape;2656;p196"/>
          <p:cNvPicPr preferRelativeResize="0"/>
          <p:nvPr/>
        </p:nvPicPr>
        <p:blipFill>
          <a:blip r:embed="rId7">
            <a:alphaModFix/>
          </a:blip>
          <a:stretch>
            <a:fillRect/>
          </a:stretch>
        </p:blipFill>
        <p:spPr>
          <a:xfrm>
            <a:off x="6130526" y="3026975"/>
            <a:ext cx="5137977" cy="2493974"/>
          </a:xfrm>
          <a:prstGeom prst="rect">
            <a:avLst/>
          </a:prstGeom>
          <a:noFill/>
          <a:ln>
            <a:noFill/>
          </a:ln>
          <a:effectLst>
            <a:outerShdw blurRad="57150" rotWithShape="0" algn="bl" dir="10800000" dist="19050">
              <a:srgbClr val="000000">
                <a:alpha val="90000"/>
              </a:srgbClr>
            </a:outerShdw>
          </a:effectLst>
        </p:spPr>
      </p:pic>
      <p:cxnSp>
        <p:nvCxnSpPr>
          <p:cNvPr id="2657" name="Google Shape;2657;p196"/>
          <p:cNvCxnSpPr>
            <a:stCxn id="2655" idx="3"/>
            <a:endCxn id="2656" idx="1"/>
          </p:cNvCxnSpPr>
          <p:nvPr/>
        </p:nvCxnSpPr>
        <p:spPr>
          <a:xfrm>
            <a:off x="5144824" y="3480200"/>
            <a:ext cx="985800" cy="793800"/>
          </a:xfrm>
          <a:prstGeom prst="curvedConnector3">
            <a:avLst>
              <a:gd fmla="val 49995" name="adj1"/>
            </a:avLst>
          </a:prstGeom>
          <a:noFill/>
          <a:ln cap="flat" cmpd="sng" w="9525">
            <a:solidFill>
              <a:schemeClr val="dk2"/>
            </a:solidFill>
            <a:prstDash val="solid"/>
            <a:round/>
            <a:headEnd len="med" w="med" type="none"/>
            <a:tailEnd len="med" w="med" type="none"/>
          </a:ln>
        </p:spPr>
      </p:cxnSp>
    </p:spTree>
  </p:cSld>
  <p:clrMapOvr>
    <a:masterClrMapping/>
  </p:clrMapOvr>
  <p:transition spd="slow">
    <p:fade thruBlk="1"/>
  </p:transition>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1" name="Shape 2661"/>
        <p:cNvGrpSpPr/>
        <p:nvPr/>
      </p:nvGrpSpPr>
      <p:grpSpPr>
        <a:xfrm>
          <a:off x="0" y="0"/>
          <a:ext cx="0" cy="0"/>
          <a:chOff x="0" y="0"/>
          <a:chExt cx="0" cy="0"/>
        </a:xfrm>
      </p:grpSpPr>
      <p:sp>
        <p:nvSpPr>
          <p:cNvPr id="2662" name="Google Shape;2662;p197"/>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Alert Management</a:t>
            </a:r>
            <a:endParaRPr b="1" i="0" sz="3600" u="none" cap="none" strike="noStrike">
              <a:solidFill>
                <a:schemeClr val="accent1"/>
              </a:solidFill>
              <a:latin typeface="Poppins"/>
              <a:ea typeface="Poppins"/>
              <a:cs typeface="Poppins"/>
              <a:sym typeface="Poppins"/>
            </a:endParaRPr>
          </a:p>
        </p:txBody>
      </p:sp>
      <p:cxnSp>
        <p:nvCxnSpPr>
          <p:cNvPr id="2663" name="Google Shape;2663;p19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664" name="Google Shape;2664;p19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665" name="Google Shape;2665;p19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666" name="Google Shape;2666;p19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667" name="Google Shape;2667;p19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668" name="Google Shape;2668;p19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69" name="Google Shape;2669;p197"/>
          <p:cNvSpPr txBox="1"/>
          <p:nvPr/>
        </p:nvSpPr>
        <p:spPr>
          <a:xfrm>
            <a:off x="808475" y="1368250"/>
            <a:ext cx="5282400" cy="410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Alert adalah notifikasi yang dihasilkan oleh Wazuh Manager setelah memproses event (kejadian) yang diterima dari Wazuh agent maupun perangkat yang tidak menggunakan agen (agentless).</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Secara default, alert disimpan di dua file berikut:</a:t>
            </a:r>
            <a:endParaRPr sz="1700">
              <a:latin typeface="Archivo"/>
              <a:ea typeface="Archivo"/>
              <a:cs typeface="Archivo"/>
              <a:sym typeface="Archivo"/>
            </a:endParaRPr>
          </a:p>
          <a:p>
            <a:pPr indent="0" lvl="0" marL="457200" rtl="0" algn="l">
              <a:spcBef>
                <a:spcPts val="0"/>
              </a:spcBef>
              <a:spcAft>
                <a:spcPts val="0"/>
              </a:spcAft>
              <a:buNone/>
            </a:pPr>
            <a:r>
              <a:t/>
            </a:r>
            <a:endParaRPr sz="1700">
              <a:latin typeface="Archivo"/>
              <a:ea typeface="Archivo"/>
              <a:cs typeface="Archivo"/>
              <a:sym typeface="Archivo"/>
            </a:endParaRPr>
          </a:p>
          <a:p>
            <a:pPr indent="-336550" lvl="0" marL="457200" rtl="0" algn="l">
              <a:spcBef>
                <a:spcPts val="0"/>
              </a:spcBef>
              <a:spcAft>
                <a:spcPts val="0"/>
              </a:spcAft>
              <a:buSzPts val="1700"/>
              <a:buFont typeface="Archivo"/>
              <a:buChar char="●"/>
            </a:pPr>
            <a:r>
              <a:rPr b="1" lang="en-US" sz="1700">
                <a:latin typeface="Archivo"/>
                <a:ea typeface="Archivo"/>
                <a:cs typeface="Archivo"/>
                <a:sym typeface="Archivo"/>
              </a:rPr>
              <a:t>/var/ossec/logs/alerts/alerts.log</a:t>
            </a:r>
            <a:endParaRPr b="1" sz="1700">
              <a:latin typeface="Archivo"/>
              <a:ea typeface="Archivo"/>
              <a:cs typeface="Archivo"/>
              <a:sym typeface="Archivo"/>
            </a:endParaRPr>
          </a:p>
          <a:p>
            <a:pPr indent="-336550" lvl="0" marL="457200" rtl="0" algn="l">
              <a:spcBef>
                <a:spcPts val="0"/>
              </a:spcBef>
              <a:spcAft>
                <a:spcPts val="0"/>
              </a:spcAft>
              <a:buSzPts val="1700"/>
              <a:buFont typeface="Archivo"/>
              <a:buChar char="●"/>
            </a:pPr>
            <a:r>
              <a:rPr b="1" lang="en-US" sz="1700">
                <a:latin typeface="Archivo"/>
                <a:ea typeface="Archivo"/>
                <a:cs typeface="Archivo"/>
                <a:sym typeface="Archivo"/>
              </a:rPr>
              <a:t>/var/ossec/logs/alerts/alerts.json</a:t>
            </a:r>
            <a:endParaRPr b="1"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Threshold alert dikonfigurasi melalui file konfigurasi ossec.conf yang terletak di:</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US" sz="1700">
                <a:latin typeface="Archivo"/>
                <a:ea typeface="Archivo"/>
                <a:cs typeface="Archivo"/>
                <a:sym typeface="Archivo"/>
              </a:rPr>
              <a:t>/var/ossec/etc/ossec.conf</a:t>
            </a:r>
            <a:r>
              <a:rPr lang="en-US" sz="1700">
                <a:latin typeface="Archivo"/>
                <a:ea typeface="Archivo"/>
                <a:cs typeface="Archivo"/>
                <a:sym typeface="Archivo"/>
              </a:rPr>
              <a:t>,</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tepatnya di dalam tag XML </a:t>
            </a:r>
            <a:r>
              <a:rPr b="1" lang="en-US" sz="1700">
                <a:latin typeface="Archivo"/>
                <a:ea typeface="Archivo"/>
                <a:cs typeface="Archivo"/>
                <a:sym typeface="Archivo"/>
              </a:rPr>
              <a:t>&lt;alerts&gt;</a:t>
            </a:r>
            <a:r>
              <a:rPr lang="en-US" sz="1700">
                <a:latin typeface="Archivo"/>
                <a:ea typeface="Archivo"/>
                <a:cs typeface="Archivo"/>
                <a:sym typeface="Archivo"/>
              </a:rPr>
              <a:t>.</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p:txBody>
      </p:sp>
      <p:sp>
        <p:nvSpPr>
          <p:cNvPr id="2670" name="Google Shape;2670;p197"/>
          <p:cNvSpPr txBox="1"/>
          <p:nvPr/>
        </p:nvSpPr>
        <p:spPr>
          <a:xfrm>
            <a:off x="6192500" y="2909025"/>
            <a:ext cx="57777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&lt;ossec_config&gt;</a:t>
            </a:r>
            <a:endParaRPr/>
          </a:p>
          <a:p>
            <a:pPr indent="0" lvl="0" marL="0" rtl="0" algn="l">
              <a:spcBef>
                <a:spcPts val="0"/>
              </a:spcBef>
              <a:spcAft>
                <a:spcPts val="0"/>
              </a:spcAft>
              <a:buNone/>
            </a:pPr>
            <a:r>
              <a:rPr lang="en-US"/>
              <a:t>  &lt;alerts&gt;</a:t>
            </a:r>
            <a:endParaRPr/>
          </a:p>
          <a:p>
            <a:pPr indent="0" lvl="0" marL="0" rtl="0" algn="l">
              <a:spcBef>
                <a:spcPts val="0"/>
              </a:spcBef>
              <a:spcAft>
                <a:spcPts val="0"/>
              </a:spcAft>
              <a:buNone/>
            </a:pPr>
            <a:r>
              <a:rPr lang="en-US"/>
              <a:t>    &lt;log_alert_level&gt;3&lt;/log_alert_level&gt;</a:t>
            </a:r>
            <a:endParaRPr/>
          </a:p>
          <a:p>
            <a:pPr indent="0" lvl="0" marL="0" rtl="0" algn="l">
              <a:spcBef>
                <a:spcPts val="0"/>
              </a:spcBef>
              <a:spcAft>
                <a:spcPts val="0"/>
              </a:spcAft>
              <a:buNone/>
            </a:pPr>
            <a:r>
              <a:rPr lang="en-US"/>
              <a:t>    &lt;email_alert_level&gt;12&lt;/email_alert_level&gt;</a:t>
            </a:r>
            <a:endParaRPr/>
          </a:p>
          <a:p>
            <a:pPr indent="0" lvl="0" marL="0" rtl="0" algn="l">
              <a:spcBef>
                <a:spcPts val="0"/>
              </a:spcBef>
              <a:spcAft>
                <a:spcPts val="0"/>
              </a:spcAft>
              <a:buNone/>
            </a:pPr>
            <a:r>
              <a:rPr lang="en-US"/>
              <a:t>  &lt;/alerts&gt;</a:t>
            </a:r>
            <a:endParaRPr/>
          </a:p>
          <a:p>
            <a:pPr indent="0" lvl="0" marL="0" rtl="0" algn="l">
              <a:spcBef>
                <a:spcPts val="0"/>
              </a:spcBef>
              <a:spcAft>
                <a:spcPts val="0"/>
              </a:spcAft>
              <a:buNone/>
            </a:pPr>
            <a:r>
              <a:rPr lang="en-US"/>
              <a:t>&lt;/ossec_config&gt;</a:t>
            </a:r>
            <a:endParaRPr/>
          </a:p>
        </p:txBody>
      </p:sp>
      <p:sp>
        <p:nvSpPr>
          <p:cNvPr id="2671" name="Google Shape;2671;p197"/>
          <p:cNvSpPr txBox="1"/>
          <p:nvPr/>
        </p:nvSpPr>
        <p:spPr>
          <a:xfrm>
            <a:off x="6090875" y="1368250"/>
            <a:ext cx="49632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None/>
            </a:pPr>
            <a:r>
              <a:rPr lang="en-US" sz="1700">
                <a:solidFill>
                  <a:schemeClr val="dk1"/>
                </a:solidFill>
                <a:latin typeface="Archivo"/>
                <a:ea typeface="Archivo"/>
                <a:cs typeface="Archivo"/>
                <a:sym typeface="Archivo"/>
              </a:rPr>
              <a:t>Potongan kode berikut menunjukkan konfigurasi default threshold alert untuk event dan pengiriman alert melalui email:</a:t>
            </a:r>
            <a:endParaRPr/>
          </a:p>
        </p:txBody>
      </p:sp>
    </p:spTree>
  </p:cSld>
  <p:clrMapOvr>
    <a:masterClrMapping/>
  </p:clrMapOvr>
  <p:transition spd="slow">
    <p:fade thruBlk="1"/>
  </p:transition>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5" name="Shape 2675"/>
        <p:cNvGrpSpPr/>
        <p:nvPr/>
      </p:nvGrpSpPr>
      <p:grpSpPr>
        <a:xfrm>
          <a:off x="0" y="0"/>
          <a:ext cx="0" cy="0"/>
          <a:chOff x="0" y="0"/>
          <a:chExt cx="0" cy="0"/>
        </a:xfrm>
      </p:grpSpPr>
      <p:sp>
        <p:nvSpPr>
          <p:cNvPr id="2676" name="Google Shape;2676;p198"/>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Alert Management</a:t>
            </a:r>
            <a:endParaRPr b="1" i="0" sz="3600" u="none" cap="none" strike="noStrike">
              <a:solidFill>
                <a:schemeClr val="accent1"/>
              </a:solidFill>
              <a:latin typeface="Poppins"/>
              <a:ea typeface="Poppins"/>
              <a:cs typeface="Poppins"/>
              <a:sym typeface="Poppins"/>
            </a:endParaRPr>
          </a:p>
        </p:txBody>
      </p:sp>
      <p:cxnSp>
        <p:nvCxnSpPr>
          <p:cNvPr id="2677" name="Google Shape;2677;p19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678" name="Google Shape;2678;p19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679" name="Google Shape;2679;p19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680" name="Google Shape;2680;p19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681" name="Google Shape;2681;p19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682" name="Google Shape;2682;p19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83" name="Google Shape;2683;p198"/>
          <p:cNvSpPr txBox="1"/>
          <p:nvPr/>
        </p:nvSpPr>
        <p:spPr>
          <a:xfrm>
            <a:off x="818125" y="1291063"/>
            <a:ext cx="98199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Configuration</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Syslog output is konfigurasi di Wazuh server </a:t>
            </a:r>
            <a:r>
              <a:rPr lang="en-US" sz="1700">
                <a:latin typeface="Courier New"/>
                <a:ea typeface="Courier New"/>
                <a:cs typeface="Courier New"/>
                <a:sym typeface="Courier New"/>
              </a:rPr>
              <a:t>/var/ossec/etc/ossec.conf </a:t>
            </a:r>
            <a:r>
              <a:rPr lang="en-US" sz="1700">
                <a:latin typeface="Archivo"/>
                <a:ea typeface="Archivo"/>
                <a:cs typeface="Archivo"/>
                <a:sym typeface="Archivo"/>
              </a:rPr>
              <a:t>configuration file within the </a:t>
            </a:r>
            <a:r>
              <a:rPr b="1" lang="en-US" sz="1700">
                <a:latin typeface="Archivo"/>
                <a:ea typeface="Archivo"/>
                <a:cs typeface="Archivo"/>
                <a:sym typeface="Archivo"/>
              </a:rPr>
              <a:t>&lt;ossec_config&gt;</a:t>
            </a:r>
            <a:r>
              <a:rPr lang="en-US" sz="1700">
                <a:latin typeface="Archivo"/>
                <a:ea typeface="Archivo"/>
                <a:cs typeface="Archivo"/>
                <a:sym typeface="Archivo"/>
              </a:rPr>
              <a:t> block.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The code block below shows a sample configuration to forward alerts to a syslog server:</a:t>
            </a:r>
            <a:endParaRPr sz="1700">
              <a:latin typeface="Archivo"/>
              <a:ea typeface="Archivo"/>
              <a:cs typeface="Archivo"/>
              <a:sym typeface="Archivo"/>
            </a:endParaRPr>
          </a:p>
        </p:txBody>
      </p:sp>
      <p:sp>
        <p:nvSpPr>
          <p:cNvPr id="2684" name="Google Shape;2684;p198"/>
          <p:cNvSpPr txBox="1"/>
          <p:nvPr/>
        </p:nvSpPr>
        <p:spPr>
          <a:xfrm>
            <a:off x="923100" y="2993788"/>
            <a:ext cx="76875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Courier New"/>
                <a:ea typeface="Courier New"/>
                <a:cs typeface="Courier New"/>
                <a:sym typeface="Courier New"/>
              </a:rPr>
              <a:t>&lt;ossec_config&gt;</a:t>
            </a:r>
            <a:endParaRPr sz="2000">
              <a:latin typeface="Courier New"/>
              <a:ea typeface="Courier New"/>
              <a:cs typeface="Courier New"/>
              <a:sym typeface="Courier New"/>
            </a:endParaRPr>
          </a:p>
          <a:p>
            <a:pPr indent="0" lvl="0" marL="0" rtl="0" algn="l">
              <a:spcBef>
                <a:spcPts val="0"/>
              </a:spcBef>
              <a:spcAft>
                <a:spcPts val="0"/>
              </a:spcAft>
              <a:buNone/>
            </a:pPr>
            <a:r>
              <a:rPr lang="en-US" sz="2000">
                <a:latin typeface="Courier New"/>
                <a:ea typeface="Courier New"/>
                <a:cs typeface="Courier New"/>
                <a:sym typeface="Courier New"/>
              </a:rPr>
              <a:t>  &lt;syslog_output&gt;</a:t>
            </a:r>
            <a:endParaRPr sz="2000">
              <a:latin typeface="Courier New"/>
              <a:ea typeface="Courier New"/>
              <a:cs typeface="Courier New"/>
              <a:sym typeface="Courier New"/>
            </a:endParaRPr>
          </a:p>
          <a:p>
            <a:pPr indent="0" lvl="0" marL="0" rtl="0" algn="l">
              <a:spcBef>
                <a:spcPts val="0"/>
              </a:spcBef>
              <a:spcAft>
                <a:spcPts val="0"/>
              </a:spcAft>
              <a:buNone/>
            </a:pPr>
            <a:r>
              <a:rPr lang="en-US" sz="2000">
                <a:latin typeface="Courier New"/>
                <a:ea typeface="Courier New"/>
                <a:cs typeface="Courier New"/>
                <a:sym typeface="Courier New"/>
              </a:rPr>
              <a:t>    &lt;level&gt;9&lt;/level&gt;</a:t>
            </a:r>
            <a:endParaRPr sz="2000">
              <a:latin typeface="Courier New"/>
              <a:ea typeface="Courier New"/>
              <a:cs typeface="Courier New"/>
              <a:sym typeface="Courier New"/>
            </a:endParaRPr>
          </a:p>
          <a:p>
            <a:pPr indent="0" lvl="0" marL="0" rtl="0" algn="l">
              <a:spcBef>
                <a:spcPts val="0"/>
              </a:spcBef>
              <a:spcAft>
                <a:spcPts val="0"/>
              </a:spcAft>
              <a:buNone/>
            </a:pPr>
            <a:r>
              <a:rPr lang="en-US" sz="2000">
                <a:latin typeface="Courier New"/>
                <a:ea typeface="Courier New"/>
                <a:cs typeface="Courier New"/>
                <a:sym typeface="Courier New"/>
              </a:rPr>
              <a:t>    &lt;server&gt;192.168.1.241&lt;/server&gt;</a:t>
            </a:r>
            <a:endParaRPr sz="2000">
              <a:latin typeface="Courier New"/>
              <a:ea typeface="Courier New"/>
              <a:cs typeface="Courier New"/>
              <a:sym typeface="Courier New"/>
            </a:endParaRPr>
          </a:p>
          <a:p>
            <a:pPr indent="0" lvl="0" marL="0" rtl="0" algn="l">
              <a:spcBef>
                <a:spcPts val="0"/>
              </a:spcBef>
              <a:spcAft>
                <a:spcPts val="0"/>
              </a:spcAft>
              <a:buNone/>
            </a:pPr>
            <a:r>
              <a:rPr lang="en-US" sz="2000">
                <a:latin typeface="Courier New"/>
                <a:ea typeface="Courier New"/>
                <a:cs typeface="Courier New"/>
                <a:sym typeface="Courier New"/>
              </a:rPr>
              <a:t>  &lt;/syslog_output&gt;</a:t>
            </a:r>
            <a:endParaRPr sz="2000">
              <a:latin typeface="Courier New"/>
              <a:ea typeface="Courier New"/>
              <a:cs typeface="Courier New"/>
              <a:sym typeface="Courier New"/>
            </a:endParaRPr>
          </a:p>
          <a:p>
            <a:pPr indent="0" lvl="0" marL="0" rtl="0" algn="l">
              <a:spcBef>
                <a:spcPts val="0"/>
              </a:spcBef>
              <a:spcAft>
                <a:spcPts val="0"/>
              </a:spcAft>
              <a:buNone/>
            </a:pPr>
            <a:r>
              <a:rPr lang="en-US" sz="2000">
                <a:latin typeface="Courier New"/>
                <a:ea typeface="Courier New"/>
                <a:cs typeface="Courier New"/>
                <a:sym typeface="Courier New"/>
              </a:rPr>
              <a:t>&lt;/ossec_config&gt;</a:t>
            </a:r>
            <a:endParaRPr sz="2000">
              <a:latin typeface="Courier New"/>
              <a:ea typeface="Courier New"/>
              <a:cs typeface="Courier New"/>
              <a:sym typeface="Courier New"/>
            </a:endParaRPr>
          </a:p>
          <a:p>
            <a:pPr indent="0" lvl="0" marL="0" rtl="0" algn="l">
              <a:spcBef>
                <a:spcPts val="0"/>
              </a:spcBef>
              <a:spcAft>
                <a:spcPts val="0"/>
              </a:spcAft>
              <a:buNone/>
            </a:pPr>
            <a:r>
              <a:t/>
            </a:r>
            <a:endParaRPr sz="2000">
              <a:latin typeface="Courier New"/>
              <a:ea typeface="Courier New"/>
              <a:cs typeface="Courier New"/>
              <a:sym typeface="Courier New"/>
            </a:endParaRPr>
          </a:p>
        </p:txBody>
      </p:sp>
    </p:spTree>
  </p:cSld>
  <p:clrMapOvr>
    <a:masterClrMapping/>
  </p:clrMapOvr>
  <p:transition spd="slow">
    <p:fade thruBlk="1"/>
  </p:transition>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8" name="Shape 2688"/>
        <p:cNvGrpSpPr/>
        <p:nvPr/>
      </p:nvGrpSpPr>
      <p:grpSpPr>
        <a:xfrm>
          <a:off x="0" y="0"/>
          <a:ext cx="0" cy="0"/>
          <a:chOff x="0" y="0"/>
          <a:chExt cx="0" cy="0"/>
        </a:xfrm>
      </p:grpSpPr>
      <p:sp>
        <p:nvSpPr>
          <p:cNvPr id="2689" name="Google Shape;2689;p199"/>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The wazuh‑archives-* indices</a:t>
            </a:r>
            <a:endParaRPr b="1" i="0" sz="3600" u="none" cap="none" strike="noStrike">
              <a:solidFill>
                <a:schemeClr val="accent1"/>
              </a:solidFill>
              <a:latin typeface="Poppins"/>
              <a:ea typeface="Poppins"/>
              <a:cs typeface="Poppins"/>
              <a:sym typeface="Poppins"/>
            </a:endParaRPr>
          </a:p>
        </p:txBody>
      </p:sp>
      <p:cxnSp>
        <p:nvCxnSpPr>
          <p:cNvPr id="2690" name="Google Shape;2690;p19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691" name="Google Shape;2691;p19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692" name="Google Shape;2692;p19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693" name="Google Shape;2693;p19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694" name="Google Shape;2694;p19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695" name="Google Shape;2695;p19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96" name="Google Shape;2696;p199"/>
          <p:cNvSpPr txBox="1"/>
          <p:nvPr/>
        </p:nvSpPr>
        <p:spPr>
          <a:xfrm>
            <a:off x="818125" y="1291063"/>
            <a:ext cx="98199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Selain mencatat alert ke dalam file /var/ossec/logs/alerts/alerts.json dan /var/ossec/logs/alerts/alerts.log, kamu juga dapat mengaktifkan fitur arsip Wazuh (Wazuh archives) untuk mencatat dan mengindeks semua event yang diterima oleh Wazuh server.</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Menyimpan dan mengindeks semua event bisa sangat berguna untuk keperluan analisis di kemudian hari atau untuk memenuhi kebutuhan kepatuhan (compliance). Namun, perlu diperhatikan bahwa mengaktifkan pencatatan dan pengindeksan seluruh event akan meningkatkan kebutuhan penyimpanan pada Wazuh server.</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Untuk mengaktifkannya, edit file /var/ossec/etc/ossec.conf pada Wazuh server dan ubah baris &lt;logall_json&gt; menjadi yes. Ini akan mengaktifkan pencatatan semua event ke dalam file archives.json.</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p:txBody>
      </p:sp>
      <p:sp>
        <p:nvSpPr>
          <p:cNvPr id="2697" name="Google Shape;2697;p199"/>
          <p:cNvSpPr txBox="1"/>
          <p:nvPr/>
        </p:nvSpPr>
        <p:spPr>
          <a:xfrm>
            <a:off x="886875" y="4738975"/>
            <a:ext cx="458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&lt;logall_json&gt;yes&lt;/logall_json&gt;</a:t>
            </a:r>
            <a:endParaRPr/>
          </a:p>
        </p:txBody>
      </p:sp>
    </p:spTree>
  </p:cSld>
  <p:clrMapOvr>
    <a:masterClrMapping/>
  </p:clrMapOvr>
  <p:transition spd="slow">
    <p:fade thruBlk="1"/>
  </p:transition>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1" name="Shape 2701"/>
        <p:cNvGrpSpPr/>
        <p:nvPr/>
      </p:nvGrpSpPr>
      <p:grpSpPr>
        <a:xfrm>
          <a:off x="0" y="0"/>
          <a:ext cx="0" cy="0"/>
          <a:chOff x="0" y="0"/>
          <a:chExt cx="0" cy="0"/>
        </a:xfrm>
      </p:grpSpPr>
      <p:sp>
        <p:nvSpPr>
          <p:cNvPr id="2702" name="Google Shape;2702;p200"/>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RE-indexing</a:t>
            </a:r>
            <a:endParaRPr b="1" i="0" sz="3600" u="none" cap="none" strike="noStrike">
              <a:solidFill>
                <a:schemeClr val="accent1"/>
              </a:solidFill>
              <a:latin typeface="Poppins"/>
              <a:ea typeface="Poppins"/>
              <a:cs typeface="Poppins"/>
              <a:sym typeface="Poppins"/>
            </a:endParaRPr>
          </a:p>
        </p:txBody>
      </p:sp>
      <p:cxnSp>
        <p:nvCxnSpPr>
          <p:cNvPr id="2703" name="Google Shape;2703;p20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704" name="Google Shape;2704;p20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705" name="Google Shape;2705;p20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706" name="Google Shape;2706;p20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707" name="Google Shape;2707;p20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708" name="Google Shape;2708;p20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09" name="Google Shape;2709;p200"/>
          <p:cNvSpPr txBox="1"/>
          <p:nvPr/>
        </p:nvSpPr>
        <p:spPr>
          <a:xfrm>
            <a:off x="818125" y="1291063"/>
            <a:ext cx="9819900" cy="437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Ketika terjadi perubahan pada skema data, maka perlu dilakukan proses re-indeks untuk mencerminkan perubahan tersebut. Data yang sudah ada mungkin tidak sesuai dengan skema yang diperbarui jika tidak dilakukan re-indeks, yang dapat menyebabkan inkonsistensi data atau kesalahan saat melakukan query.</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None/>
            </a:pPr>
            <a:r>
              <a:rPr lang="en-US" sz="1700">
                <a:latin typeface="Archivo"/>
                <a:ea typeface="Archivo"/>
                <a:cs typeface="Archivo"/>
                <a:sym typeface="Archivo"/>
              </a:rPr>
              <a:t>.</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POST /_reindex</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   "source":{</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      "index":"</a:t>
            </a:r>
            <a:r>
              <a:rPr b="1" lang="en-US" sz="1700">
                <a:latin typeface="Archivo"/>
                <a:ea typeface="Archivo"/>
                <a:cs typeface="Archivo"/>
                <a:sym typeface="Archivo"/>
              </a:rPr>
              <a:t>my-source-index</a:t>
            </a:r>
            <a:r>
              <a:rPr lang="en-US" sz="1700">
                <a:latin typeface="Archivo"/>
                <a:ea typeface="Archivo"/>
                <a:cs typeface="Archivo"/>
                <a:sym typeface="Archivo"/>
              </a:rPr>
              <a:t>"</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   "dest":{</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      "index":"</a:t>
            </a:r>
            <a:r>
              <a:rPr b="1" lang="en-US" sz="1700">
                <a:latin typeface="Archivo"/>
                <a:ea typeface="Archivo"/>
                <a:cs typeface="Archivo"/>
                <a:sym typeface="Archivo"/>
              </a:rPr>
              <a:t>my-destination-index</a:t>
            </a:r>
            <a:r>
              <a:rPr lang="en-US" sz="1700">
                <a:latin typeface="Archivo"/>
                <a:ea typeface="Archivo"/>
                <a:cs typeface="Archivo"/>
                <a:sym typeface="Archivo"/>
              </a:rPr>
              <a:t>"</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p:txBody>
      </p:sp>
    </p:spTree>
  </p:cSld>
  <p:clrMapOvr>
    <a:masterClrMapping/>
  </p:clrMapOvr>
  <p:transition spd="slow">
    <p:fade thruBlk="1"/>
  </p:transition>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713" name="Shape 2713"/>
        <p:cNvGrpSpPr/>
        <p:nvPr/>
      </p:nvGrpSpPr>
      <p:grpSpPr>
        <a:xfrm>
          <a:off x="0" y="0"/>
          <a:ext cx="0" cy="0"/>
          <a:chOff x="0" y="0"/>
          <a:chExt cx="0" cy="0"/>
        </a:xfrm>
      </p:grpSpPr>
      <p:pic>
        <p:nvPicPr>
          <p:cNvPr descr="A picture containing food, drawing, shirt&#10;&#10;Description automatically generated" id="2714" name="Google Shape;2714;p20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715" name="Google Shape;2715;p20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16" name="Google Shape;2716;p20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717" name="Google Shape;2717;p201"/>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718" name="Google Shape;2718;p20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719" name="Google Shape;2719;p201"/>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720" name="Google Shape;2720;p201"/>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Wazuh Ruleset </a:t>
            </a:r>
            <a:endParaRPr sz="4800">
              <a:solidFill>
                <a:schemeClr val="lt1"/>
              </a:solidFill>
              <a:highlight>
                <a:srgbClr val="3585F9"/>
              </a:highlight>
              <a:latin typeface="Poppins"/>
              <a:ea typeface="Poppins"/>
              <a:cs typeface="Poppins"/>
              <a:sym typeface="Poppins"/>
            </a:endParaRPr>
          </a:p>
        </p:txBody>
      </p:sp>
      <p:pic>
        <p:nvPicPr>
          <p:cNvPr id="2721" name="Google Shape;2721;p201"/>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5" name="Shape 2725"/>
        <p:cNvGrpSpPr/>
        <p:nvPr/>
      </p:nvGrpSpPr>
      <p:grpSpPr>
        <a:xfrm>
          <a:off x="0" y="0"/>
          <a:ext cx="0" cy="0"/>
          <a:chOff x="0" y="0"/>
          <a:chExt cx="0" cy="0"/>
        </a:xfrm>
      </p:grpSpPr>
      <p:sp>
        <p:nvSpPr>
          <p:cNvPr id="2726" name="Google Shape;2726;p202"/>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Decoder and Ruleses</a:t>
            </a:r>
            <a:endParaRPr b="1" i="0" sz="3600" u="none" cap="none" strike="noStrike">
              <a:solidFill>
                <a:schemeClr val="accent1"/>
              </a:solidFill>
              <a:latin typeface="Poppins"/>
              <a:ea typeface="Poppins"/>
              <a:cs typeface="Poppins"/>
              <a:sym typeface="Poppins"/>
            </a:endParaRPr>
          </a:p>
        </p:txBody>
      </p:sp>
      <p:cxnSp>
        <p:nvCxnSpPr>
          <p:cNvPr id="2727" name="Google Shape;2727;p20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728" name="Google Shape;2728;p20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729" name="Google Shape;2729;p20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730" name="Google Shape;2730;p20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731" name="Google Shape;2731;p20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732" name="Google Shape;2732;p20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33" name="Google Shape;2733;p202"/>
          <p:cNvSpPr txBox="1"/>
          <p:nvPr/>
        </p:nvSpPr>
        <p:spPr>
          <a:xfrm>
            <a:off x="808475" y="1715488"/>
            <a:ext cx="9819900" cy="46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Archivo Medium"/>
                <a:ea typeface="Archivo Medium"/>
                <a:cs typeface="Archivo Medium"/>
                <a:sym typeface="Archivo Medium"/>
              </a:rPr>
              <a:t>Objective </a:t>
            </a:r>
            <a:endParaRPr sz="18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1800">
              <a:solidFill>
                <a:schemeClr val="dk1"/>
              </a:solidFill>
              <a:latin typeface="Archivo Medium"/>
              <a:ea typeface="Archivo Medium"/>
              <a:cs typeface="Archivo Medium"/>
              <a:sym typeface="Archivo Medium"/>
            </a:endParaRPr>
          </a:p>
          <a:p>
            <a:pPr indent="-342900" lvl="0" marL="457200" rtl="0" algn="l">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Decoder dan rule adalah komponen penting yang memungkinkan sistem untuk menafsirkan, memproses, dan menghasilkan alert yang bermakna dari data mentah yang dikumpulkan dari berbagai sumber.</a:t>
            </a:r>
            <a:endParaRPr sz="18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1800">
              <a:solidFill>
                <a:schemeClr val="dk1"/>
              </a:solidFill>
              <a:latin typeface="Archivo Medium"/>
              <a:ea typeface="Archivo Medium"/>
              <a:cs typeface="Archivo Medium"/>
              <a:sym typeface="Archivo Medium"/>
            </a:endParaRPr>
          </a:p>
          <a:p>
            <a:pPr indent="-342900" lvl="0" marL="457200" rtl="0" algn="l">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Wazuh menggunakan decoder untuk mengekstrak informasi dari pesan log yang diterima. Saat menerima pesan log, decoder membagi informasi tersebut ke dalam field agar siap untuk dianalisis.</a:t>
            </a:r>
            <a:endParaRPr sz="18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1800">
              <a:solidFill>
                <a:schemeClr val="dk1"/>
              </a:solidFill>
              <a:latin typeface="Archivo Medium"/>
              <a:ea typeface="Archivo Medium"/>
              <a:cs typeface="Archivo Medium"/>
              <a:sym typeface="Archivo Medium"/>
            </a:endParaRPr>
          </a:p>
          <a:p>
            <a:pPr indent="-342900" lvl="0" marL="457200" rtl="0" algn="l">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Decoder Wazuh menggunakan sintaks XML, yang memungkinkan pengguna untuk menentukan bagaimana data log harus diurai (parsed) dan dinormalisasi.</a:t>
            </a:r>
            <a:endParaRPr sz="18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18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rPr lang="en-US" sz="1800" u="sng">
                <a:solidFill>
                  <a:schemeClr val="hlink"/>
                </a:solidFill>
                <a:latin typeface="Archivo Medium"/>
                <a:ea typeface="Archivo Medium"/>
                <a:cs typeface="Archivo Medium"/>
                <a:sym typeface="Archivo Medium"/>
                <a:hlinkClick r:id="rId6"/>
              </a:rPr>
              <a:t>https://documentation.wazuh.com/current/user-manual/ruleset/ruleset-xml-syntax/decoders.html</a:t>
            </a:r>
            <a:endParaRPr sz="18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18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7" name="Shape 2737"/>
        <p:cNvGrpSpPr/>
        <p:nvPr/>
      </p:nvGrpSpPr>
      <p:grpSpPr>
        <a:xfrm>
          <a:off x="0" y="0"/>
          <a:ext cx="0" cy="0"/>
          <a:chOff x="0" y="0"/>
          <a:chExt cx="0" cy="0"/>
        </a:xfrm>
      </p:grpSpPr>
      <p:sp>
        <p:nvSpPr>
          <p:cNvPr id="2738" name="Google Shape;2738;p203"/>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Decoder and Ruleses</a:t>
            </a:r>
            <a:endParaRPr b="1" i="0" sz="3600" u="none" cap="none" strike="noStrike">
              <a:solidFill>
                <a:schemeClr val="accent1"/>
              </a:solidFill>
              <a:latin typeface="Poppins"/>
              <a:ea typeface="Poppins"/>
              <a:cs typeface="Poppins"/>
              <a:sym typeface="Poppins"/>
            </a:endParaRPr>
          </a:p>
        </p:txBody>
      </p:sp>
      <p:cxnSp>
        <p:nvCxnSpPr>
          <p:cNvPr id="2739" name="Google Shape;2739;p20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740" name="Google Shape;2740;p20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741" name="Google Shape;2741;p20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742" name="Google Shape;2742;p20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743" name="Google Shape;2743;p20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744" name="Google Shape;2744;p20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45" name="Google Shape;2745;p203"/>
          <p:cNvSpPr txBox="1"/>
          <p:nvPr/>
        </p:nvSpPr>
        <p:spPr>
          <a:xfrm>
            <a:off x="808475" y="1715488"/>
            <a:ext cx="9819900" cy="193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Rule di Wazuh menentukan apakah suatu event (setelah didekode) harus memicu sebuah alert.</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Rule akan mengevaluasi data terstruktur yang dihasilkan oleh decoder, dan membandingkannya dengan kondisi yang telah ditentukan sebelumnya (seperti jenis log tertentu, ambang batas, dan pola) untuk mendeteksi insiden keamanan.</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9" name="Shape 2749"/>
        <p:cNvGrpSpPr/>
        <p:nvPr/>
      </p:nvGrpSpPr>
      <p:grpSpPr>
        <a:xfrm>
          <a:off x="0" y="0"/>
          <a:ext cx="0" cy="0"/>
          <a:chOff x="0" y="0"/>
          <a:chExt cx="0" cy="0"/>
        </a:xfrm>
      </p:grpSpPr>
      <p:sp>
        <p:nvSpPr>
          <p:cNvPr id="2750" name="Google Shape;2750;p204"/>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Decoder and Ruleses</a:t>
            </a:r>
            <a:endParaRPr b="1" i="0" sz="3600" u="none" cap="none" strike="noStrike">
              <a:solidFill>
                <a:schemeClr val="accent1"/>
              </a:solidFill>
              <a:latin typeface="Poppins"/>
              <a:ea typeface="Poppins"/>
              <a:cs typeface="Poppins"/>
              <a:sym typeface="Poppins"/>
            </a:endParaRPr>
          </a:p>
        </p:txBody>
      </p:sp>
      <p:cxnSp>
        <p:nvCxnSpPr>
          <p:cNvPr id="2751" name="Google Shape;2751;p20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752" name="Google Shape;2752;p20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753" name="Google Shape;2753;p20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754" name="Google Shape;2754;p20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755" name="Google Shape;2755;p20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756" name="Google Shape;2756;p20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57" name="Google Shape;2757;p204"/>
          <p:cNvPicPr preferRelativeResize="0"/>
          <p:nvPr/>
        </p:nvPicPr>
        <p:blipFill>
          <a:blip r:embed="rId6">
            <a:alphaModFix/>
          </a:blip>
          <a:stretch>
            <a:fillRect/>
          </a:stretch>
        </p:blipFill>
        <p:spPr>
          <a:xfrm>
            <a:off x="5298677" y="1414875"/>
            <a:ext cx="6055126" cy="4321375"/>
          </a:xfrm>
          <a:prstGeom prst="rect">
            <a:avLst/>
          </a:prstGeom>
          <a:noFill/>
          <a:ln>
            <a:noFill/>
          </a:ln>
        </p:spPr>
      </p:pic>
      <p:sp>
        <p:nvSpPr>
          <p:cNvPr id="2758" name="Google Shape;2758;p204"/>
          <p:cNvSpPr txBox="1"/>
          <p:nvPr/>
        </p:nvSpPr>
        <p:spPr>
          <a:xfrm>
            <a:off x="424925" y="1650025"/>
            <a:ext cx="4546800" cy="447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latin typeface="Courier New"/>
                <a:ea typeface="Courier New"/>
                <a:cs typeface="Courier New"/>
                <a:sym typeface="Courier New"/>
              </a:rPr>
              <a:t>**Phase 1: Completed decoding.</a:t>
            </a:r>
            <a:endParaRPr sz="1500">
              <a:latin typeface="Courier New"/>
              <a:ea typeface="Courier New"/>
              <a:cs typeface="Courier New"/>
              <a:sym typeface="Courier New"/>
            </a:endParaRPr>
          </a:p>
          <a:p>
            <a:pPr indent="0" lvl="0" marL="0" rtl="0" algn="l">
              <a:spcBef>
                <a:spcPts val="0"/>
              </a:spcBef>
              <a:spcAft>
                <a:spcPts val="0"/>
              </a:spcAft>
              <a:buNone/>
            </a:pPr>
            <a:r>
              <a:rPr lang="en-US" sz="1500">
                <a:latin typeface="Courier New"/>
                <a:ea typeface="Courier New"/>
                <a:cs typeface="Courier New"/>
                <a:sym typeface="Courier New"/>
              </a:rPr>
              <a:t>       name: 'ubuntu_failed_login_detail'</a:t>
            </a:r>
            <a:endParaRPr sz="1500">
              <a:latin typeface="Courier New"/>
              <a:ea typeface="Courier New"/>
              <a:cs typeface="Courier New"/>
              <a:sym typeface="Courier New"/>
            </a:endParaRPr>
          </a:p>
          <a:p>
            <a:pPr indent="0" lvl="0" marL="0" rtl="0" algn="l">
              <a:spcBef>
                <a:spcPts val="0"/>
              </a:spcBef>
              <a:spcAft>
                <a:spcPts val="0"/>
              </a:spcAft>
              <a:buNone/>
            </a:pPr>
            <a:r>
              <a:rPr lang="en-US" sz="1500">
                <a:latin typeface="Courier New"/>
                <a:ea typeface="Courier New"/>
                <a:cs typeface="Courier New"/>
                <a:sym typeface="Courier New"/>
              </a:rPr>
              <a:t>       parent: 'ubuntu_failed_login'</a:t>
            </a:r>
            <a:endParaRPr sz="1500">
              <a:latin typeface="Courier New"/>
              <a:ea typeface="Courier New"/>
              <a:cs typeface="Courier New"/>
              <a:sym typeface="Courier New"/>
            </a:endParaRPr>
          </a:p>
          <a:p>
            <a:pPr indent="0" lvl="0" marL="0" rtl="0" algn="l">
              <a:spcBef>
                <a:spcPts val="0"/>
              </a:spcBef>
              <a:spcAft>
                <a:spcPts val="0"/>
              </a:spcAft>
              <a:buNone/>
            </a:pPr>
            <a:r>
              <a:rPr lang="en-US" sz="1500">
                <a:latin typeface="Courier New"/>
                <a:ea typeface="Courier New"/>
                <a:cs typeface="Courier New"/>
                <a:sym typeface="Courier New"/>
              </a:rPr>
              <a:t>       is_invalid_user: 'invalid user '</a:t>
            </a:r>
            <a:endParaRPr sz="1500">
              <a:latin typeface="Courier New"/>
              <a:ea typeface="Courier New"/>
              <a:cs typeface="Courier New"/>
              <a:sym typeface="Courier New"/>
            </a:endParaRPr>
          </a:p>
          <a:p>
            <a:pPr indent="0" lvl="0" marL="0" rtl="0" algn="l">
              <a:spcBef>
                <a:spcPts val="0"/>
              </a:spcBef>
              <a:spcAft>
                <a:spcPts val="0"/>
              </a:spcAft>
              <a:buNone/>
            </a:pPr>
            <a:r>
              <a:rPr lang="en-US" sz="1500">
                <a:latin typeface="Courier New"/>
                <a:ea typeface="Courier New"/>
                <a:cs typeface="Courier New"/>
                <a:sym typeface="Courier New"/>
              </a:rPr>
              <a:t>       username: 'admin'</a:t>
            </a:r>
            <a:endParaRPr sz="1500">
              <a:latin typeface="Courier New"/>
              <a:ea typeface="Courier New"/>
              <a:cs typeface="Courier New"/>
              <a:sym typeface="Courier New"/>
            </a:endParaRPr>
          </a:p>
          <a:p>
            <a:pPr indent="0" lvl="0" marL="0" rtl="0" algn="l">
              <a:spcBef>
                <a:spcPts val="0"/>
              </a:spcBef>
              <a:spcAft>
                <a:spcPts val="0"/>
              </a:spcAft>
              <a:buNone/>
            </a:pPr>
            <a:r>
              <a:rPr lang="en-US" sz="1500">
                <a:latin typeface="Courier New"/>
                <a:ea typeface="Courier New"/>
                <a:cs typeface="Courier New"/>
                <a:sym typeface="Courier New"/>
              </a:rPr>
              <a:t>       srcip: '192.168.1.1'</a:t>
            </a:r>
            <a:endParaRPr sz="1500">
              <a:latin typeface="Courier New"/>
              <a:ea typeface="Courier New"/>
              <a:cs typeface="Courier New"/>
              <a:sym typeface="Courier New"/>
            </a:endParaRPr>
          </a:p>
          <a:p>
            <a:pPr indent="0" lvl="0" marL="0" rtl="0" algn="l">
              <a:spcBef>
                <a:spcPts val="0"/>
              </a:spcBef>
              <a:spcAft>
                <a:spcPts val="0"/>
              </a:spcAft>
              <a:buNone/>
            </a:pPr>
            <a:r>
              <a:t/>
            </a:r>
            <a:endParaRPr sz="1500">
              <a:latin typeface="Courier New"/>
              <a:ea typeface="Courier New"/>
              <a:cs typeface="Courier New"/>
              <a:sym typeface="Courier New"/>
            </a:endParaRPr>
          </a:p>
          <a:p>
            <a:pPr indent="0" lvl="0" marL="0" rtl="0" algn="l">
              <a:spcBef>
                <a:spcPts val="0"/>
              </a:spcBef>
              <a:spcAft>
                <a:spcPts val="0"/>
              </a:spcAft>
              <a:buNone/>
            </a:pPr>
            <a:r>
              <a:rPr lang="en-US" sz="1500">
                <a:latin typeface="Courier New"/>
                <a:ea typeface="Courier New"/>
                <a:cs typeface="Courier New"/>
                <a:sym typeface="Courier New"/>
              </a:rPr>
              <a:t>**Phase 2: Completed filtering (rules).</a:t>
            </a:r>
            <a:endParaRPr sz="1500">
              <a:latin typeface="Courier New"/>
              <a:ea typeface="Courier New"/>
              <a:cs typeface="Courier New"/>
              <a:sym typeface="Courier New"/>
            </a:endParaRPr>
          </a:p>
          <a:p>
            <a:pPr indent="0" lvl="0" marL="0" rtl="0" algn="l">
              <a:spcBef>
                <a:spcPts val="0"/>
              </a:spcBef>
              <a:spcAft>
                <a:spcPts val="0"/>
              </a:spcAft>
              <a:buNone/>
            </a:pPr>
            <a:r>
              <a:rPr lang="en-US" sz="1500">
                <a:latin typeface="Courier New"/>
                <a:ea typeface="Courier New"/>
                <a:cs typeface="Courier New"/>
                <a:sym typeface="Courier New"/>
              </a:rPr>
              <a:t>       id: '100002'</a:t>
            </a:r>
            <a:endParaRPr sz="1500">
              <a:latin typeface="Courier New"/>
              <a:ea typeface="Courier New"/>
              <a:cs typeface="Courier New"/>
              <a:sym typeface="Courier New"/>
            </a:endParaRPr>
          </a:p>
          <a:p>
            <a:pPr indent="0" lvl="0" marL="0" rtl="0" algn="l">
              <a:spcBef>
                <a:spcPts val="0"/>
              </a:spcBef>
              <a:spcAft>
                <a:spcPts val="0"/>
              </a:spcAft>
              <a:buNone/>
            </a:pPr>
            <a:r>
              <a:rPr lang="en-US" sz="1500">
                <a:latin typeface="Courier New"/>
                <a:ea typeface="Courier New"/>
                <a:cs typeface="Courier New"/>
                <a:sym typeface="Courier New"/>
              </a:rPr>
              <a:t>       level: '7'</a:t>
            </a:r>
            <a:endParaRPr sz="1500">
              <a:latin typeface="Courier New"/>
              <a:ea typeface="Courier New"/>
              <a:cs typeface="Courier New"/>
              <a:sym typeface="Courier New"/>
            </a:endParaRPr>
          </a:p>
          <a:p>
            <a:pPr indent="0" lvl="0" marL="0" rtl="0" algn="l">
              <a:spcBef>
                <a:spcPts val="0"/>
              </a:spcBef>
              <a:spcAft>
                <a:spcPts val="0"/>
              </a:spcAft>
              <a:buNone/>
            </a:pPr>
            <a:r>
              <a:rPr lang="en-US" sz="1500">
                <a:latin typeface="Courier New"/>
                <a:ea typeface="Courier New"/>
                <a:cs typeface="Courier New"/>
                <a:sym typeface="Courier New"/>
              </a:rPr>
              <a:t>       description: 'Failed SSH login attempt'</a:t>
            </a:r>
            <a:endParaRPr sz="1500">
              <a:latin typeface="Courier New"/>
              <a:ea typeface="Courier New"/>
              <a:cs typeface="Courier New"/>
              <a:sym typeface="Courier New"/>
            </a:endParaRPr>
          </a:p>
          <a:p>
            <a:pPr indent="0" lvl="0" marL="0" rtl="0" algn="l">
              <a:spcBef>
                <a:spcPts val="0"/>
              </a:spcBef>
              <a:spcAft>
                <a:spcPts val="0"/>
              </a:spcAft>
              <a:buNone/>
            </a:pPr>
            <a:r>
              <a:rPr lang="en-US" sz="1500">
                <a:latin typeface="Courier New"/>
                <a:ea typeface="Courier New"/>
                <a:cs typeface="Courier New"/>
                <a:sym typeface="Courier New"/>
              </a:rPr>
              <a:t>       groups: ['authentication', 'sshd', 'failed-login']</a:t>
            </a:r>
            <a:endParaRPr sz="15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Tree>
  </p:cSld>
  <p:clrMapOvr>
    <a:masterClrMapping/>
  </p:clrMapOvr>
  <p:transition spd="slow">
    <p:fade thruBlk="1"/>
  </p:transition>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2" name="Shape 2762"/>
        <p:cNvGrpSpPr/>
        <p:nvPr/>
      </p:nvGrpSpPr>
      <p:grpSpPr>
        <a:xfrm>
          <a:off x="0" y="0"/>
          <a:ext cx="0" cy="0"/>
          <a:chOff x="0" y="0"/>
          <a:chExt cx="0" cy="0"/>
        </a:xfrm>
      </p:grpSpPr>
      <p:sp>
        <p:nvSpPr>
          <p:cNvPr id="2763" name="Google Shape;2763;p205"/>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Rule </a:t>
            </a:r>
            <a:r>
              <a:rPr b="1" lang="en-US" sz="3600">
                <a:solidFill>
                  <a:schemeClr val="accent1"/>
                </a:solidFill>
                <a:latin typeface="Poppins"/>
                <a:ea typeface="Poppins"/>
                <a:cs typeface="Poppins"/>
                <a:sym typeface="Poppins"/>
              </a:rPr>
              <a:t>Hierarchy</a:t>
            </a:r>
            <a:r>
              <a:rPr b="1" lang="en-US" sz="3600">
                <a:solidFill>
                  <a:schemeClr val="accent1"/>
                </a:solidFill>
                <a:latin typeface="Poppins"/>
                <a:ea typeface="Poppins"/>
                <a:cs typeface="Poppins"/>
                <a:sym typeface="Poppins"/>
              </a:rPr>
              <a:t> </a:t>
            </a:r>
            <a:endParaRPr b="1" i="0" sz="3600" u="none" cap="none" strike="noStrike">
              <a:solidFill>
                <a:schemeClr val="accent1"/>
              </a:solidFill>
              <a:latin typeface="Poppins"/>
              <a:ea typeface="Poppins"/>
              <a:cs typeface="Poppins"/>
              <a:sym typeface="Poppins"/>
            </a:endParaRPr>
          </a:p>
        </p:txBody>
      </p:sp>
      <p:cxnSp>
        <p:nvCxnSpPr>
          <p:cNvPr id="2764" name="Google Shape;2764;p20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765" name="Google Shape;2765;p20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766" name="Google Shape;2766;p20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767" name="Google Shape;2767;p20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768" name="Google Shape;2768;p20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769" name="Google Shape;2769;p20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70" name="Google Shape;2770;p205"/>
          <p:cNvSpPr txBox="1"/>
          <p:nvPr/>
        </p:nvSpPr>
        <p:spPr>
          <a:xfrm>
            <a:off x="808475" y="1715488"/>
            <a:ext cx="9819900" cy="252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solidFill>
                  <a:schemeClr val="dk1"/>
                </a:solidFill>
                <a:latin typeface="Archivo Medium"/>
                <a:ea typeface="Archivo Medium"/>
                <a:cs typeface="Archivo Medium"/>
                <a:sym typeface="Archivo Medium"/>
              </a:rPr>
              <a:t>Wazuh's ruleset hierarchy and event analysis</a:t>
            </a:r>
            <a:r>
              <a:rPr lang="en-US" sz="1900">
                <a:solidFill>
                  <a:schemeClr val="dk1"/>
                </a:solidFill>
                <a:latin typeface="Archivo Medium"/>
                <a:ea typeface="Archivo Medium"/>
                <a:cs typeface="Archivo Medium"/>
                <a:sym typeface="Archivo Medium"/>
              </a:rPr>
              <a:t> merupakan inti dari kemampuannya untuk mendeteksi, mengkorelasikan, dan merespons insiden keamanan secara efektif.</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Wazuh menggunakan hierarki rule multi-level untuk memproses event. Struktur hierarki ini memungkinkan sistem untuk memfilter event secara bertahap, mengenal pola, mengkorelasikan beberapa event, dan memprioritaskan alert berdasarkan tingkat keparahannya</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rPr lang="en-US" sz="1900">
                <a:solidFill>
                  <a:schemeClr val="dk1"/>
                </a:solidFill>
                <a:latin typeface="Archivo Medium"/>
                <a:ea typeface="Archivo Medium"/>
                <a:cs typeface="Archivo Medium"/>
                <a:sym typeface="Archivo Medium"/>
              </a:rPr>
              <a:t>.</a:t>
            </a:r>
            <a:endParaRPr sz="27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4" name="Shape 2774"/>
        <p:cNvGrpSpPr/>
        <p:nvPr/>
      </p:nvGrpSpPr>
      <p:grpSpPr>
        <a:xfrm>
          <a:off x="0" y="0"/>
          <a:ext cx="0" cy="0"/>
          <a:chOff x="0" y="0"/>
          <a:chExt cx="0" cy="0"/>
        </a:xfrm>
      </p:grpSpPr>
      <p:sp>
        <p:nvSpPr>
          <p:cNvPr id="2775" name="Google Shape;2775;p206"/>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Rule Hierarchy </a:t>
            </a:r>
            <a:endParaRPr b="1" i="0" sz="3600" u="none" cap="none" strike="noStrike">
              <a:solidFill>
                <a:schemeClr val="accent1"/>
              </a:solidFill>
              <a:latin typeface="Poppins"/>
              <a:ea typeface="Poppins"/>
              <a:cs typeface="Poppins"/>
              <a:sym typeface="Poppins"/>
            </a:endParaRPr>
          </a:p>
        </p:txBody>
      </p:sp>
      <p:cxnSp>
        <p:nvCxnSpPr>
          <p:cNvPr id="2776" name="Google Shape;2776;p20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777" name="Google Shape;2777;p20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778" name="Google Shape;2778;p20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779" name="Google Shape;2779;p20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780" name="Google Shape;2780;p20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781" name="Google Shape;2781;p20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82" name="Google Shape;2782;p206"/>
          <p:cNvSpPr txBox="1"/>
          <p:nvPr/>
        </p:nvSpPr>
        <p:spPr>
          <a:xfrm>
            <a:off x="808475" y="1571613"/>
            <a:ext cx="9819900" cy="454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US" sz="1800">
                <a:solidFill>
                  <a:schemeClr val="dk1"/>
                </a:solidFill>
                <a:latin typeface="Archivo"/>
                <a:ea typeface="Archivo"/>
                <a:cs typeface="Archivo"/>
                <a:sym typeface="Archivo"/>
              </a:rPr>
              <a:t>Level 0 Rules</a:t>
            </a:r>
            <a:r>
              <a:rPr lang="en-US" sz="1800">
                <a:solidFill>
                  <a:schemeClr val="dk1"/>
                </a:solidFill>
                <a:latin typeface="Archivo Medium"/>
                <a:ea typeface="Archivo Medium"/>
                <a:cs typeface="Archivo Medium"/>
                <a:sym typeface="Archivo Medium"/>
              </a:rPr>
              <a:t>: Basic Categorization</a:t>
            </a:r>
            <a:endParaRPr sz="1800">
              <a:solidFill>
                <a:schemeClr val="dk1"/>
              </a:solidFill>
              <a:latin typeface="Archivo Medium"/>
              <a:ea typeface="Archivo Medium"/>
              <a:cs typeface="Archivo Medium"/>
              <a:sym typeface="Archivo Medium"/>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latin typeface="Archivo Medium"/>
                <a:ea typeface="Archivo Medium"/>
                <a:cs typeface="Archivo Medium"/>
                <a:sym typeface="Archivo Medium"/>
              </a:rPr>
              <a:t>Rule ini mem-parsing informasi dasar dari log dan memberikan tag pada event dengan label yang relevan.</a:t>
            </a:r>
            <a:endParaRPr sz="1600">
              <a:solidFill>
                <a:schemeClr val="dk1"/>
              </a:solidFill>
              <a:latin typeface="Archivo Medium"/>
              <a:ea typeface="Archivo Medium"/>
              <a:cs typeface="Archivo Medium"/>
              <a:sym typeface="Archivo Medium"/>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latin typeface="Archivo Medium"/>
                <a:ea typeface="Archivo Medium"/>
                <a:cs typeface="Archivo Medium"/>
                <a:sym typeface="Archivo Medium"/>
              </a:rPr>
              <a:t>Contoh: Memberikan tag pada event seperti "autentikasi", "jaringan", atau "akses file" berdasarkan sumber dan tipe log.</a:t>
            </a:r>
            <a:endParaRPr sz="1600">
              <a:solidFill>
                <a:schemeClr val="dk1"/>
              </a:solidFill>
              <a:latin typeface="Archivo Medium"/>
              <a:ea typeface="Archivo Medium"/>
              <a:cs typeface="Archivo Medium"/>
              <a:sym typeface="Archivo Medium"/>
            </a:endParaRPr>
          </a:p>
          <a:p>
            <a:pPr indent="0" lvl="0" marL="0" rtl="0" algn="l">
              <a:lnSpc>
                <a:spcPct val="115000"/>
              </a:lnSpc>
              <a:spcBef>
                <a:spcPts val="1400"/>
              </a:spcBef>
              <a:spcAft>
                <a:spcPts val="0"/>
              </a:spcAft>
              <a:buClr>
                <a:schemeClr val="dk1"/>
              </a:buClr>
              <a:buSzPts val="1100"/>
              <a:buFont typeface="Arial"/>
              <a:buNone/>
            </a:pPr>
            <a:r>
              <a:rPr b="1" lang="en-US" sz="1800">
                <a:solidFill>
                  <a:schemeClr val="dk1"/>
                </a:solidFill>
                <a:latin typeface="Archivo"/>
                <a:ea typeface="Archivo"/>
                <a:cs typeface="Archivo"/>
                <a:sym typeface="Archivo"/>
              </a:rPr>
              <a:t>Level 1 Rules</a:t>
            </a:r>
            <a:r>
              <a:rPr lang="en-US" sz="1800">
                <a:solidFill>
                  <a:schemeClr val="dk1"/>
                </a:solidFill>
                <a:latin typeface="Archivo Medium"/>
                <a:ea typeface="Archivo Medium"/>
                <a:cs typeface="Archivo Medium"/>
                <a:sym typeface="Archivo Medium"/>
              </a:rPr>
              <a:t>: Event Classification and Filtering</a:t>
            </a:r>
            <a:endParaRPr sz="1800">
              <a:solidFill>
                <a:schemeClr val="dk1"/>
              </a:solidFill>
              <a:latin typeface="Archivo Medium"/>
              <a:ea typeface="Archivo Medium"/>
              <a:cs typeface="Archivo Medium"/>
              <a:sym typeface="Archivo Medium"/>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latin typeface="Archivo Medium"/>
                <a:ea typeface="Archivo Medium"/>
                <a:cs typeface="Archivo Medium"/>
                <a:sym typeface="Archivo Medium"/>
              </a:rPr>
              <a:t>Pada level ini, event diklasifikasikan ke dalam kategori yang lebih spesifik, seperti percobaan autentikasi yang berhasil atau gagal.</a:t>
            </a:r>
            <a:endParaRPr sz="1600">
              <a:solidFill>
                <a:schemeClr val="dk1"/>
              </a:solidFill>
              <a:latin typeface="Archivo Medium"/>
              <a:ea typeface="Archivo Medium"/>
              <a:cs typeface="Archivo Medium"/>
              <a:sym typeface="Archivo Medium"/>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latin typeface="Archivo Medium"/>
                <a:ea typeface="Archivo Medium"/>
                <a:cs typeface="Archivo Medium"/>
                <a:sym typeface="Archivo Medium"/>
              </a:rPr>
              <a:t>Rule pada level ini juga menetapkan tingkat keparahan (severity) seperti normal, rendah, sedang, atau tinggi, serta menentukan apakah event tersebut relevan untuk dianalisis lebih lanjut.</a:t>
            </a:r>
            <a:endParaRPr sz="1600">
              <a:solidFill>
                <a:schemeClr val="dk1"/>
              </a:solidFill>
              <a:latin typeface="Archivo Medium"/>
              <a:ea typeface="Archivo Medium"/>
              <a:cs typeface="Archivo Medium"/>
              <a:sym typeface="Archivo Medium"/>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latin typeface="Archivo Medium"/>
                <a:ea typeface="Archivo Medium"/>
                <a:cs typeface="Archivo Medium"/>
                <a:sym typeface="Archivo Medium"/>
              </a:rPr>
              <a:t>Contoh: Sebuah percobaan login yang gagal pada server akan diklasifikasikan sebagai event autentikasi dengan tingkat keparahan rendah.</a:t>
            </a:r>
            <a:endParaRPr sz="1600">
              <a:solidFill>
                <a:schemeClr val="dk1"/>
              </a:solidFill>
              <a:latin typeface="Archivo Medium"/>
              <a:ea typeface="Archivo Medium"/>
              <a:cs typeface="Archivo Medium"/>
              <a:sym typeface="Archivo Medium"/>
            </a:endParaRPr>
          </a:p>
          <a:p>
            <a:pPr indent="0" lvl="0" marL="0" rtl="0" algn="l">
              <a:lnSpc>
                <a:spcPct val="115000"/>
              </a:lnSpc>
              <a:spcBef>
                <a:spcPts val="1200"/>
              </a:spcBef>
              <a:spcAft>
                <a:spcPts val="1200"/>
              </a:spcAft>
              <a:buNone/>
            </a:pPr>
            <a:r>
              <a:t/>
            </a:r>
            <a:endParaRPr sz="16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6" name="Shape 2786"/>
        <p:cNvGrpSpPr/>
        <p:nvPr/>
      </p:nvGrpSpPr>
      <p:grpSpPr>
        <a:xfrm>
          <a:off x="0" y="0"/>
          <a:ext cx="0" cy="0"/>
          <a:chOff x="0" y="0"/>
          <a:chExt cx="0" cy="0"/>
        </a:xfrm>
      </p:grpSpPr>
      <p:sp>
        <p:nvSpPr>
          <p:cNvPr id="2787" name="Google Shape;2787;p207"/>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Rule Hierarchy </a:t>
            </a:r>
            <a:endParaRPr b="1" i="0" sz="3600" u="none" cap="none" strike="noStrike">
              <a:solidFill>
                <a:schemeClr val="accent1"/>
              </a:solidFill>
              <a:latin typeface="Poppins"/>
              <a:ea typeface="Poppins"/>
              <a:cs typeface="Poppins"/>
              <a:sym typeface="Poppins"/>
            </a:endParaRPr>
          </a:p>
        </p:txBody>
      </p:sp>
      <p:cxnSp>
        <p:nvCxnSpPr>
          <p:cNvPr id="2788" name="Google Shape;2788;p20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789" name="Google Shape;2789;p20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790" name="Google Shape;2790;p20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791" name="Google Shape;2791;p20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792" name="Google Shape;2792;p20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793" name="Google Shape;2793;p20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94" name="Google Shape;2794;p207"/>
          <p:cNvPicPr preferRelativeResize="0"/>
          <p:nvPr/>
        </p:nvPicPr>
        <p:blipFill>
          <a:blip r:embed="rId6">
            <a:alphaModFix/>
          </a:blip>
          <a:stretch>
            <a:fillRect/>
          </a:stretch>
        </p:blipFill>
        <p:spPr>
          <a:xfrm>
            <a:off x="7130400" y="1261818"/>
            <a:ext cx="4296426" cy="4771908"/>
          </a:xfrm>
          <a:prstGeom prst="rect">
            <a:avLst/>
          </a:prstGeom>
          <a:noFill/>
          <a:ln>
            <a:noFill/>
          </a:ln>
        </p:spPr>
      </p:pic>
      <p:sp>
        <p:nvSpPr>
          <p:cNvPr id="2795" name="Google Shape;2795;p207"/>
          <p:cNvSpPr txBox="1"/>
          <p:nvPr/>
        </p:nvSpPr>
        <p:spPr>
          <a:xfrm>
            <a:off x="1000925" y="1650025"/>
            <a:ext cx="39636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latin typeface="Courier New"/>
                <a:ea typeface="Courier New"/>
                <a:cs typeface="Courier New"/>
                <a:sym typeface="Courier New"/>
              </a:rPr>
              <a:t>cat 0390-fortiddos_rules.xml </a:t>
            </a:r>
            <a:endParaRPr sz="1900">
              <a:latin typeface="Courier New"/>
              <a:ea typeface="Courier New"/>
              <a:cs typeface="Courier New"/>
              <a:sym typeface="Courier New"/>
            </a:endParaRPr>
          </a:p>
          <a:p>
            <a:pPr indent="0" lvl="0" marL="0" rtl="0" algn="l">
              <a:spcBef>
                <a:spcPts val="0"/>
              </a:spcBef>
              <a:spcAft>
                <a:spcPts val="0"/>
              </a:spcAft>
              <a:buNone/>
            </a:pPr>
            <a:r>
              <a:t/>
            </a:r>
            <a:endParaRPr sz="1900">
              <a:latin typeface="Courier New"/>
              <a:ea typeface="Courier New"/>
              <a:cs typeface="Courier New"/>
              <a:sym typeface="Courier New"/>
            </a:endParaRPr>
          </a:p>
          <a:p>
            <a:pPr indent="0" lvl="0" marL="0" rtl="0" algn="l">
              <a:spcBef>
                <a:spcPts val="0"/>
              </a:spcBef>
              <a:spcAft>
                <a:spcPts val="0"/>
              </a:spcAft>
              <a:buNone/>
            </a:pPr>
            <a:r>
              <a:rPr lang="en-US" sz="1900">
                <a:latin typeface="Courier New"/>
                <a:ea typeface="Courier New"/>
                <a:cs typeface="Courier New"/>
                <a:sym typeface="Courier New"/>
              </a:rPr>
              <a:t>example rule level 0 </a:t>
            </a:r>
            <a:endParaRPr sz="1900">
              <a:latin typeface="Courier New"/>
              <a:ea typeface="Courier New"/>
              <a:cs typeface="Courier New"/>
              <a:sym typeface="Courier New"/>
            </a:endParaRPr>
          </a:p>
        </p:txBody>
      </p:sp>
    </p:spTree>
  </p:cSld>
  <p:clrMapOvr>
    <a:masterClrMapping/>
  </p:clrMapOvr>
  <p:transition spd="slow">
    <p:fade thruBlk="1"/>
  </p:transition>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9" name="Shape 2799"/>
        <p:cNvGrpSpPr/>
        <p:nvPr/>
      </p:nvGrpSpPr>
      <p:grpSpPr>
        <a:xfrm>
          <a:off x="0" y="0"/>
          <a:ext cx="0" cy="0"/>
          <a:chOff x="0" y="0"/>
          <a:chExt cx="0" cy="0"/>
        </a:xfrm>
      </p:grpSpPr>
      <p:sp>
        <p:nvSpPr>
          <p:cNvPr id="2800" name="Google Shape;2800;p208"/>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Rule Hierarchy </a:t>
            </a:r>
            <a:endParaRPr b="1" i="0" sz="3600" u="none" cap="none" strike="noStrike">
              <a:solidFill>
                <a:schemeClr val="accent1"/>
              </a:solidFill>
              <a:latin typeface="Poppins"/>
              <a:ea typeface="Poppins"/>
              <a:cs typeface="Poppins"/>
              <a:sym typeface="Poppins"/>
            </a:endParaRPr>
          </a:p>
        </p:txBody>
      </p:sp>
      <p:cxnSp>
        <p:nvCxnSpPr>
          <p:cNvPr id="2801" name="Google Shape;2801;p20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802" name="Google Shape;2802;p20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803" name="Google Shape;2803;p20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804" name="Google Shape;2804;p20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805" name="Google Shape;2805;p20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806" name="Google Shape;2806;p20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07" name="Google Shape;2807;p208"/>
          <p:cNvSpPr txBox="1"/>
          <p:nvPr/>
        </p:nvSpPr>
        <p:spPr>
          <a:xfrm>
            <a:off x="808475" y="1303563"/>
            <a:ext cx="9819900" cy="524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US" sz="1800">
                <a:solidFill>
                  <a:schemeClr val="dk1"/>
                </a:solidFill>
                <a:latin typeface="Archivo Medium"/>
                <a:ea typeface="Archivo Medium"/>
                <a:cs typeface="Archivo Medium"/>
                <a:sym typeface="Archivo Medium"/>
              </a:rPr>
              <a:t>Level 2 Rules and Above: Multi-Event Correlation and Thresholds</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latin typeface="Archivo Medium"/>
                <a:ea typeface="Archivo Medium"/>
                <a:cs typeface="Archivo Medium"/>
                <a:sym typeface="Archivo Medium"/>
              </a:rPr>
              <a:t>Pada tahap ini, setiap event yang telah diproses akan diklasifikasikan ke dalam kategori yang lebih spesifik, seperti autentikasi yang berhasil atau gagal.</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latin typeface="Archivo Medium"/>
                <a:ea typeface="Archivo Medium"/>
                <a:cs typeface="Archivo Medium"/>
                <a:sym typeface="Archivo Medium"/>
              </a:rPr>
              <a:t>Rule pada level ini juga menetapkan tingkat keparahan (severity) — seperti normal, rendah, sedang, atau tinggi — dan menentukan apakah event tersebut layak untuk dianalisis lebih lanjut.</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latin typeface="Archivo Medium"/>
                <a:ea typeface="Archivo Medium"/>
                <a:cs typeface="Archivo Medium"/>
                <a:sym typeface="Archivo Medium"/>
              </a:rPr>
              <a:t>Contoh: Sebuah percobaan login yang gagal pada sistem akan diklasifikasikan sebagai event autentikasi dengan tingkat keparahan rendah.</a:t>
            </a:r>
            <a:endParaRPr sz="1800">
              <a:solidFill>
                <a:schemeClr val="dk1"/>
              </a:solidFill>
              <a:latin typeface="Archivo Medium"/>
              <a:ea typeface="Archivo Medium"/>
              <a:cs typeface="Archivo Medium"/>
              <a:sym typeface="Archivo Medium"/>
            </a:endParaRPr>
          </a:p>
          <a:p>
            <a:pPr indent="0" lvl="0" marL="0" rtl="0" algn="l">
              <a:lnSpc>
                <a:spcPct val="115000"/>
              </a:lnSpc>
              <a:spcBef>
                <a:spcPts val="1400"/>
              </a:spcBef>
              <a:spcAft>
                <a:spcPts val="0"/>
              </a:spcAft>
              <a:buNone/>
            </a:pPr>
            <a:r>
              <a:rPr lang="en-US" sz="1800">
                <a:solidFill>
                  <a:schemeClr val="dk1"/>
                </a:solidFill>
                <a:latin typeface="Archivo Medium"/>
                <a:ea typeface="Archivo Medium"/>
                <a:cs typeface="Archivo Medium"/>
                <a:sym typeface="Archivo Medium"/>
              </a:rPr>
              <a:t>Specific Rule Examples:</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latin typeface="Archivo Medium"/>
                <a:ea typeface="Archivo Medium"/>
                <a:cs typeface="Archivo Medium"/>
                <a:sym typeface="Archivo Medium"/>
              </a:rPr>
              <a:t>Brute-force detection: </a:t>
            </a:r>
            <a:r>
              <a:rPr lang="en-US" sz="1800">
                <a:solidFill>
                  <a:schemeClr val="dk1"/>
                </a:solidFill>
                <a:latin typeface="Archivo Medium"/>
                <a:ea typeface="Archivo Medium"/>
                <a:cs typeface="Archivo Medium"/>
                <a:sym typeface="Archivo Medium"/>
              </a:rPr>
              <a:t>Mendeteksi beberapa kegagalan autentikasi dalam waktu singkat sebagai indikasi serangan brute-force</a:t>
            </a:r>
            <a:r>
              <a:rPr lang="en-US" sz="1800">
                <a:solidFill>
                  <a:schemeClr val="dk1"/>
                </a:solidFill>
                <a:latin typeface="Archivo Medium"/>
                <a:ea typeface="Archivo Medium"/>
                <a:cs typeface="Archivo Medium"/>
                <a:sym typeface="Archivo Medium"/>
              </a:rPr>
              <a:t>.</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latin typeface="Archivo Medium"/>
                <a:ea typeface="Archivo Medium"/>
                <a:cs typeface="Archivo Medium"/>
                <a:sym typeface="Archivo Medium"/>
              </a:rPr>
              <a:t>File Integrity Monitoring (FIM): Perubahan pada file.</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latin typeface="Archivo Medium"/>
                <a:ea typeface="Archivo Medium"/>
                <a:cs typeface="Archivo Medium"/>
                <a:sym typeface="Archivo Medium"/>
              </a:rPr>
              <a:t>Malware Detection: Hash Yang berubah pada sebuah system.</a:t>
            </a:r>
            <a:endParaRPr sz="1800">
              <a:solidFill>
                <a:schemeClr val="dk1"/>
              </a:solidFill>
              <a:latin typeface="Archivo Medium"/>
              <a:ea typeface="Archivo Medium"/>
              <a:cs typeface="Archivo Medium"/>
              <a:sym typeface="Archivo Medium"/>
            </a:endParaRPr>
          </a:p>
          <a:p>
            <a:pPr indent="0" lvl="0" marL="0" rtl="0" algn="l">
              <a:spcBef>
                <a:spcPts val="1200"/>
              </a:spcBef>
              <a:spcAft>
                <a:spcPts val="0"/>
              </a:spcAft>
              <a:buNone/>
            </a:pPr>
            <a:r>
              <a:t/>
            </a:r>
            <a:endParaRPr sz="18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1" name="Shape 2811"/>
        <p:cNvGrpSpPr/>
        <p:nvPr/>
      </p:nvGrpSpPr>
      <p:grpSpPr>
        <a:xfrm>
          <a:off x="0" y="0"/>
          <a:ext cx="0" cy="0"/>
          <a:chOff x="0" y="0"/>
          <a:chExt cx="0" cy="0"/>
        </a:xfrm>
      </p:grpSpPr>
      <p:sp>
        <p:nvSpPr>
          <p:cNvPr id="2812" name="Google Shape;2812;p209"/>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Rule Hierarchy </a:t>
            </a:r>
            <a:endParaRPr b="1" i="0" sz="3600" u="none" cap="none" strike="noStrike">
              <a:solidFill>
                <a:schemeClr val="accent1"/>
              </a:solidFill>
              <a:latin typeface="Poppins"/>
              <a:ea typeface="Poppins"/>
              <a:cs typeface="Poppins"/>
              <a:sym typeface="Poppins"/>
            </a:endParaRPr>
          </a:p>
        </p:txBody>
      </p:sp>
      <p:cxnSp>
        <p:nvCxnSpPr>
          <p:cNvPr id="2813" name="Google Shape;2813;p20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814" name="Google Shape;2814;p20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815" name="Google Shape;2815;p20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816" name="Google Shape;2816;p20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817" name="Google Shape;2817;p20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818" name="Google Shape;2818;p20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19" name="Google Shape;2819;p209"/>
          <p:cNvSpPr txBox="1"/>
          <p:nvPr/>
        </p:nvSpPr>
        <p:spPr>
          <a:xfrm>
            <a:off x="1000925" y="1650025"/>
            <a:ext cx="39636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latin typeface="Courier New"/>
              <a:ea typeface="Courier New"/>
              <a:cs typeface="Courier New"/>
              <a:sym typeface="Courier New"/>
            </a:endParaRPr>
          </a:p>
        </p:txBody>
      </p:sp>
      <p:pic>
        <p:nvPicPr>
          <p:cNvPr id="2820" name="Google Shape;2820;p209"/>
          <p:cNvPicPr preferRelativeResize="0"/>
          <p:nvPr/>
        </p:nvPicPr>
        <p:blipFill>
          <a:blip r:embed="rId6">
            <a:alphaModFix/>
          </a:blip>
          <a:stretch>
            <a:fillRect/>
          </a:stretch>
        </p:blipFill>
        <p:spPr>
          <a:xfrm>
            <a:off x="2152001" y="1308399"/>
            <a:ext cx="7521285" cy="4678762"/>
          </a:xfrm>
          <a:prstGeom prst="rect">
            <a:avLst/>
          </a:prstGeom>
          <a:noFill/>
          <a:ln>
            <a:noFill/>
          </a:ln>
        </p:spPr>
      </p:pic>
    </p:spTree>
  </p:cSld>
  <p:clrMapOvr>
    <a:masterClrMapping/>
  </p:clrMapOvr>
  <p:transition spd="slow">
    <p:fade thruBlk="1"/>
  </p:transition>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824" name="Shape 2824"/>
        <p:cNvGrpSpPr/>
        <p:nvPr/>
      </p:nvGrpSpPr>
      <p:grpSpPr>
        <a:xfrm>
          <a:off x="0" y="0"/>
          <a:ext cx="0" cy="0"/>
          <a:chOff x="0" y="0"/>
          <a:chExt cx="0" cy="0"/>
        </a:xfrm>
      </p:grpSpPr>
      <p:pic>
        <p:nvPicPr>
          <p:cNvPr descr="A picture containing food, drawing, shirt&#10;&#10;Description automatically generated" id="2825" name="Google Shape;2825;p21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826" name="Google Shape;2826;p2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27" name="Google Shape;2827;p21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828" name="Google Shape;2828;p210"/>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829" name="Google Shape;2829;p21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830" name="Google Shape;2830;p210"/>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831" name="Google Shape;2831;p210"/>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Labs Update Ruleset  </a:t>
            </a:r>
            <a:endParaRPr sz="4800">
              <a:solidFill>
                <a:schemeClr val="lt1"/>
              </a:solidFill>
              <a:highlight>
                <a:srgbClr val="3585F9"/>
              </a:highlight>
              <a:latin typeface="Poppins"/>
              <a:ea typeface="Poppins"/>
              <a:cs typeface="Poppins"/>
              <a:sym typeface="Poppins"/>
            </a:endParaRPr>
          </a:p>
        </p:txBody>
      </p:sp>
      <p:pic>
        <p:nvPicPr>
          <p:cNvPr id="2832" name="Google Shape;2832;p210"/>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6" name="Shape 2836"/>
        <p:cNvGrpSpPr/>
        <p:nvPr/>
      </p:nvGrpSpPr>
      <p:grpSpPr>
        <a:xfrm>
          <a:off x="0" y="0"/>
          <a:ext cx="0" cy="0"/>
          <a:chOff x="0" y="0"/>
          <a:chExt cx="0" cy="0"/>
        </a:xfrm>
      </p:grpSpPr>
      <p:sp>
        <p:nvSpPr>
          <p:cNvPr id="2837" name="Google Shape;2837;p211"/>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Labs Create &amp; Update Ruleset </a:t>
            </a:r>
            <a:endParaRPr b="1" i="0" sz="3600" u="none" cap="none" strike="noStrike">
              <a:solidFill>
                <a:schemeClr val="accent1"/>
              </a:solidFill>
              <a:latin typeface="Poppins"/>
              <a:ea typeface="Poppins"/>
              <a:cs typeface="Poppins"/>
              <a:sym typeface="Poppins"/>
            </a:endParaRPr>
          </a:p>
        </p:txBody>
      </p:sp>
      <p:cxnSp>
        <p:nvCxnSpPr>
          <p:cNvPr id="2838" name="Google Shape;2838;p21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839" name="Google Shape;2839;p21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840" name="Google Shape;2840;p21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841" name="Google Shape;2841;p21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842" name="Google Shape;2842;p21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843" name="Google Shape;2843;p2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44" name="Google Shape;2844;p211"/>
          <p:cNvSpPr txBox="1"/>
          <p:nvPr/>
        </p:nvSpPr>
        <p:spPr>
          <a:xfrm>
            <a:off x="808475" y="1715488"/>
            <a:ext cx="9819900" cy="16008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2000">
                <a:solidFill>
                  <a:schemeClr val="dk1"/>
                </a:solidFill>
                <a:latin typeface="Archivo Medium"/>
                <a:ea typeface="Archivo Medium"/>
                <a:cs typeface="Archivo Medium"/>
                <a:sym typeface="Archivo Medium"/>
              </a:rPr>
              <a:t>Labs Objective : </a:t>
            </a:r>
            <a:endParaRPr sz="20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2000">
              <a:solidFill>
                <a:schemeClr val="dk1"/>
              </a:solidFill>
              <a:latin typeface="Archivo Medium"/>
              <a:ea typeface="Archivo Medium"/>
              <a:cs typeface="Archivo Medium"/>
              <a:sym typeface="Archivo Medium"/>
            </a:endParaRPr>
          </a:p>
          <a:p>
            <a:pPr indent="-349250" lvl="0" marL="457200" rtl="0" algn="l">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Update the Wazuh ruleset</a:t>
            </a:r>
            <a:endParaRPr sz="1900">
              <a:solidFill>
                <a:schemeClr val="dk1"/>
              </a:solidFill>
              <a:latin typeface="Archivo Medium"/>
              <a:ea typeface="Archivo Medium"/>
              <a:cs typeface="Archivo Medium"/>
              <a:sym typeface="Archivo Medium"/>
            </a:endParaRPr>
          </a:p>
          <a:p>
            <a:pPr indent="-349250" lvl="0" marL="457200" rtl="0" algn="l">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Create and test custom rules:</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8" name="Shape 2848"/>
        <p:cNvGrpSpPr/>
        <p:nvPr/>
      </p:nvGrpSpPr>
      <p:grpSpPr>
        <a:xfrm>
          <a:off x="0" y="0"/>
          <a:ext cx="0" cy="0"/>
          <a:chOff x="0" y="0"/>
          <a:chExt cx="0" cy="0"/>
        </a:xfrm>
      </p:grpSpPr>
      <p:sp>
        <p:nvSpPr>
          <p:cNvPr id="2849" name="Google Shape;2849;p212"/>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Labs Create &amp; Update Ruleset </a:t>
            </a:r>
            <a:endParaRPr b="1" i="0" sz="3600" u="none" cap="none" strike="noStrike">
              <a:solidFill>
                <a:schemeClr val="accent1"/>
              </a:solidFill>
              <a:latin typeface="Poppins"/>
              <a:ea typeface="Poppins"/>
              <a:cs typeface="Poppins"/>
              <a:sym typeface="Poppins"/>
            </a:endParaRPr>
          </a:p>
        </p:txBody>
      </p:sp>
      <p:cxnSp>
        <p:nvCxnSpPr>
          <p:cNvPr id="2850" name="Google Shape;2850;p21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851" name="Google Shape;2851;p21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852" name="Google Shape;2852;p21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853" name="Google Shape;2853;p21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854" name="Google Shape;2854;p21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855" name="Google Shape;2855;p2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56" name="Google Shape;2856;p212"/>
          <p:cNvSpPr txBox="1"/>
          <p:nvPr/>
        </p:nvSpPr>
        <p:spPr>
          <a:xfrm>
            <a:off x="808475" y="1715488"/>
            <a:ext cx="9819900" cy="44946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Archivo Medium"/>
              <a:buAutoNum type="arabicPeriod"/>
            </a:pPr>
            <a:r>
              <a:rPr lang="en-US" sz="2000">
                <a:solidFill>
                  <a:schemeClr val="dk1"/>
                </a:solidFill>
                <a:latin typeface="Archivo Medium"/>
                <a:ea typeface="Archivo Medium"/>
                <a:cs typeface="Archivo Medium"/>
                <a:sym typeface="Archivo Medium"/>
              </a:rPr>
              <a:t>Backup </a:t>
            </a:r>
            <a:r>
              <a:rPr lang="en-US" sz="2000">
                <a:solidFill>
                  <a:schemeClr val="dk1"/>
                </a:solidFill>
                <a:latin typeface="Archivo Medium"/>
                <a:ea typeface="Archivo Medium"/>
                <a:cs typeface="Archivo Medium"/>
                <a:sym typeface="Archivo Medium"/>
              </a:rPr>
              <a:t>existing</a:t>
            </a:r>
            <a:r>
              <a:rPr lang="en-US" sz="2000">
                <a:solidFill>
                  <a:schemeClr val="dk1"/>
                </a:solidFill>
                <a:latin typeface="Archivo Medium"/>
                <a:ea typeface="Archivo Medium"/>
                <a:cs typeface="Archivo Medium"/>
                <a:sym typeface="Archivo Medium"/>
              </a:rPr>
              <a:t> rules </a:t>
            </a:r>
            <a:endParaRPr sz="2000">
              <a:solidFill>
                <a:schemeClr val="dk1"/>
              </a:solidFill>
              <a:latin typeface="Archivo Medium"/>
              <a:ea typeface="Archivo Medium"/>
              <a:cs typeface="Archivo Medium"/>
              <a:sym typeface="Archivo Medium"/>
            </a:endParaRPr>
          </a:p>
          <a:p>
            <a:pPr indent="-355600" lvl="1" marL="914400" rtl="0" algn="l">
              <a:spcBef>
                <a:spcPts val="0"/>
              </a:spcBef>
              <a:spcAft>
                <a:spcPts val="0"/>
              </a:spcAft>
              <a:buClr>
                <a:schemeClr val="dk1"/>
              </a:buClr>
              <a:buSzPts val="2000"/>
              <a:buFont typeface="Courier New"/>
              <a:buAutoNum type="alphaLcPeriod"/>
            </a:pPr>
            <a:r>
              <a:rPr lang="en-US" sz="2000">
                <a:solidFill>
                  <a:schemeClr val="dk1"/>
                </a:solidFill>
                <a:latin typeface="Courier New"/>
                <a:ea typeface="Courier New"/>
                <a:cs typeface="Courier New"/>
                <a:sym typeface="Courier New"/>
              </a:rPr>
              <a:t>sudo cp -r /var/ossec/rules/ /var/ossec/rules_backup/</a:t>
            </a:r>
            <a:endParaRPr sz="2000">
              <a:solidFill>
                <a:schemeClr val="dk1"/>
              </a:solidFill>
              <a:latin typeface="Courier New"/>
              <a:ea typeface="Courier New"/>
              <a:cs typeface="Courier New"/>
              <a:sym typeface="Courier New"/>
            </a:endParaRPr>
          </a:p>
          <a:p>
            <a:pPr indent="0" lvl="0" marL="457200" rtl="0" algn="l">
              <a:spcBef>
                <a:spcPts val="0"/>
              </a:spcBef>
              <a:spcAft>
                <a:spcPts val="0"/>
              </a:spcAft>
              <a:buNone/>
            </a:pPr>
            <a:r>
              <a:t/>
            </a:r>
            <a:endParaRPr sz="2000">
              <a:solidFill>
                <a:schemeClr val="dk1"/>
              </a:solidFill>
              <a:latin typeface="Archivo Medium"/>
              <a:ea typeface="Archivo Medium"/>
              <a:cs typeface="Archivo Medium"/>
              <a:sym typeface="Archivo Medium"/>
            </a:endParaRPr>
          </a:p>
          <a:p>
            <a:pPr indent="-355600" lvl="0" marL="457200" rtl="0" algn="l">
              <a:spcBef>
                <a:spcPts val="0"/>
              </a:spcBef>
              <a:spcAft>
                <a:spcPts val="0"/>
              </a:spcAft>
              <a:buClr>
                <a:schemeClr val="dk1"/>
              </a:buClr>
              <a:buSzPts val="2000"/>
              <a:buFont typeface="Archivo Medium"/>
              <a:buAutoNum type="arabicPeriod"/>
            </a:pPr>
            <a:r>
              <a:rPr lang="en-US" sz="2000">
                <a:solidFill>
                  <a:schemeClr val="dk1"/>
                </a:solidFill>
                <a:latin typeface="Archivo Medium"/>
                <a:ea typeface="Archivo Medium"/>
                <a:cs typeface="Archivo Medium"/>
                <a:sym typeface="Archivo Medium"/>
              </a:rPr>
              <a:t>Clone repo github</a:t>
            </a:r>
            <a:endParaRPr sz="2000">
              <a:solidFill>
                <a:schemeClr val="dk1"/>
              </a:solidFill>
              <a:latin typeface="Archivo Medium"/>
              <a:ea typeface="Archivo Medium"/>
              <a:cs typeface="Archivo Medium"/>
              <a:sym typeface="Archivo Medium"/>
            </a:endParaRPr>
          </a:p>
          <a:p>
            <a:pPr indent="-355600" lvl="1" marL="914400" rtl="0" algn="l">
              <a:spcBef>
                <a:spcPts val="0"/>
              </a:spcBef>
              <a:spcAft>
                <a:spcPts val="0"/>
              </a:spcAft>
              <a:buClr>
                <a:schemeClr val="dk1"/>
              </a:buClr>
              <a:buSzPts val="2000"/>
              <a:buFont typeface="Courier New"/>
              <a:buAutoNum type="alphaLcPeriod"/>
            </a:pPr>
            <a:r>
              <a:rPr lang="en-US" sz="2000">
                <a:solidFill>
                  <a:schemeClr val="dk1"/>
                </a:solidFill>
                <a:latin typeface="Courier New"/>
                <a:ea typeface="Courier New"/>
                <a:cs typeface="Courier New"/>
                <a:sym typeface="Courier New"/>
              </a:rPr>
              <a:t>cd /tmp</a:t>
            </a:r>
            <a:endParaRPr sz="2000">
              <a:solidFill>
                <a:schemeClr val="dk1"/>
              </a:solidFill>
              <a:latin typeface="Courier New"/>
              <a:ea typeface="Courier New"/>
              <a:cs typeface="Courier New"/>
              <a:sym typeface="Courier New"/>
            </a:endParaRPr>
          </a:p>
          <a:p>
            <a:pPr indent="-355600" lvl="1" marL="914400" rtl="0" algn="l">
              <a:spcBef>
                <a:spcPts val="0"/>
              </a:spcBef>
              <a:spcAft>
                <a:spcPts val="0"/>
              </a:spcAft>
              <a:buSzPts val="2000"/>
              <a:buFont typeface="Courier New"/>
              <a:buAutoNum type="alphaLcPeriod"/>
            </a:pPr>
            <a:r>
              <a:rPr lang="en-US" sz="2000">
                <a:solidFill>
                  <a:schemeClr val="dk1"/>
                </a:solidFill>
                <a:latin typeface="Courier New"/>
                <a:ea typeface="Courier New"/>
                <a:cs typeface="Courier New"/>
                <a:sym typeface="Courier New"/>
              </a:rPr>
              <a:t>git clone </a:t>
            </a:r>
            <a:r>
              <a:rPr lang="en-US" sz="2000" u="sng">
                <a:solidFill>
                  <a:schemeClr val="hlink"/>
                </a:solidFill>
                <a:latin typeface="Courier New"/>
                <a:ea typeface="Courier New"/>
                <a:cs typeface="Courier New"/>
                <a:sym typeface="Courier New"/>
                <a:hlinkClick r:id="rId6"/>
              </a:rPr>
              <a:t>https://github.com/wazuh/wazuh-ruleset.git</a:t>
            </a:r>
            <a:endParaRPr sz="2000">
              <a:solidFill>
                <a:schemeClr val="dk1"/>
              </a:solidFill>
              <a:latin typeface="Courier New"/>
              <a:ea typeface="Courier New"/>
              <a:cs typeface="Courier New"/>
              <a:sym typeface="Courier New"/>
            </a:endParaRPr>
          </a:p>
          <a:p>
            <a:pPr indent="0" lvl="0" marL="914400" rtl="0" algn="l">
              <a:spcBef>
                <a:spcPts val="0"/>
              </a:spcBef>
              <a:spcAft>
                <a:spcPts val="0"/>
              </a:spcAft>
              <a:buNone/>
            </a:pPr>
            <a:r>
              <a:t/>
            </a:r>
            <a:endParaRPr sz="2000">
              <a:solidFill>
                <a:schemeClr val="dk1"/>
              </a:solidFill>
              <a:latin typeface="Courier New"/>
              <a:ea typeface="Courier New"/>
              <a:cs typeface="Courier New"/>
              <a:sym typeface="Courier New"/>
            </a:endParaRPr>
          </a:p>
          <a:p>
            <a:pPr indent="-355600" lvl="0" marL="457200" rtl="0" algn="l">
              <a:spcBef>
                <a:spcPts val="0"/>
              </a:spcBef>
              <a:spcAft>
                <a:spcPts val="0"/>
              </a:spcAft>
              <a:buClr>
                <a:schemeClr val="dk1"/>
              </a:buClr>
              <a:buSzPts val="2000"/>
              <a:buFont typeface="Archivo Medium"/>
              <a:buAutoNum type="arabicPeriod"/>
            </a:pPr>
            <a:r>
              <a:rPr lang="en-US" sz="2000">
                <a:solidFill>
                  <a:schemeClr val="dk1"/>
                </a:solidFill>
                <a:latin typeface="Archivo Medium"/>
                <a:ea typeface="Archivo Medium"/>
                <a:cs typeface="Archivo Medium"/>
                <a:sym typeface="Archivo Medium"/>
              </a:rPr>
              <a:t>Replace ruleset </a:t>
            </a:r>
            <a:endParaRPr sz="2000">
              <a:solidFill>
                <a:schemeClr val="dk1"/>
              </a:solidFill>
              <a:latin typeface="Archivo Medium"/>
              <a:ea typeface="Archivo Medium"/>
              <a:cs typeface="Archivo Medium"/>
              <a:sym typeface="Archivo Medium"/>
            </a:endParaRPr>
          </a:p>
          <a:p>
            <a:pPr indent="-355600" lvl="1" marL="914400" rtl="0" algn="l">
              <a:spcBef>
                <a:spcPts val="0"/>
              </a:spcBef>
              <a:spcAft>
                <a:spcPts val="0"/>
              </a:spcAft>
              <a:buClr>
                <a:schemeClr val="dk1"/>
              </a:buClr>
              <a:buSzPts val="2000"/>
              <a:buFont typeface="Courier New"/>
              <a:buAutoNum type="alphaLcPeriod"/>
            </a:pPr>
            <a:r>
              <a:rPr lang="en-US" sz="2000">
                <a:solidFill>
                  <a:schemeClr val="dk1"/>
                </a:solidFill>
                <a:latin typeface="Courier New"/>
                <a:ea typeface="Courier New"/>
                <a:cs typeface="Courier New"/>
                <a:sym typeface="Courier New"/>
              </a:rPr>
              <a:t>sudo cp -r wazuh-ruleset/rules/* /var/ossec/rules/</a:t>
            </a:r>
            <a:endParaRPr sz="2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20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20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20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20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20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0" name="Shape 2860"/>
        <p:cNvGrpSpPr/>
        <p:nvPr/>
      </p:nvGrpSpPr>
      <p:grpSpPr>
        <a:xfrm>
          <a:off x="0" y="0"/>
          <a:ext cx="0" cy="0"/>
          <a:chOff x="0" y="0"/>
          <a:chExt cx="0" cy="0"/>
        </a:xfrm>
      </p:grpSpPr>
      <p:sp>
        <p:nvSpPr>
          <p:cNvPr id="2861" name="Google Shape;2861;p213"/>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Creating Ruleset </a:t>
            </a:r>
            <a:endParaRPr b="1" i="0" sz="3600" u="none" cap="none" strike="noStrike">
              <a:solidFill>
                <a:schemeClr val="accent1"/>
              </a:solidFill>
              <a:latin typeface="Poppins"/>
              <a:ea typeface="Poppins"/>
              <a:cs typeface="Poppins"/>
              <a:sym typeface="Poppins"/>
            </a:endParaRPr>
          </a:p>
        </p:txBody>
      </p:sp>
      <p:cxnSp>
        <p:nvCxnSpPr>
          <p:cNvPr id="2862" name="Google Shape;2862;p21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863" name="Google Shape;2863;p21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864" name="Google Shape;2864;p21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865" name="Google Shape;2865;p21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866" name="Google Shape;2866;p2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867" name="Google Shape;2867;p2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68" name="Google Shape;2868;p213"/>
          <p:cNvSpPr txBox="1"/>
          <p:nvPr/>
        </p:nvSpPr>
        <p:spPr>
          <a:xfrm>
            <a:off x="808475" y="1715488"/>
            <a:ext cx="9819900" cy="3846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Edit local_ruleset.xml</a:t>
            </a:r>
            <a:endParaRPr sz="20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rPr lang="en-US" sz="2000">
                <a:solidFill>
                  <a:schemeClr val="dk1"/>
                </a:solidFill>
                <a:latin typeface="Courier New"/>
                <a:ea typeface="Courier New"/>
                <a:cs typeface="Courier New"/>
                <a:sym typeface="Courier New"/>
              </a:rPr>
              <a:t>sudo nano /var/ossec/etc/rules/local_rules.xml</a:t>
            </a:r>
            <a:endParaRPr sz="2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550">
                <a:solidFill>
                  <a:schemeClr val="dk1"/>
                </a:solidFill>
                <a:latin typeface="Courier New"/>
                <a:ea typeface="Courier New"/>
                <a:cs typeface="Courier New"/>
                <a:sym typeface="Courier New"/>
              </a:rPr>
              <a:t>&lt;group name="custom_rules_example,"&gt;</a:t>
            </a:r>
            <a:endParaRPr sz="15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550">
                <a:solidFill>
                  <a:schemeClr val="dk1"/>
                </a:solidFill>
                <a:latin typeface="Courier New"/>
                <a:ea typeface="Courier New"/>
                <a:cs typeface="Courier New"/>
                <a:sym typeface="Courier New"/>
              </a:rPr>
              <a:t>  &lt;rule id="100010" level="0"&gt;</a:t>
            </a:r>
            <a:endParaRPr sz="15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550">
                <a:solidFill>
                  <a:schemeClr val="dk1"/>
                </a:solidFill>
                <a:latin typeface="Courier New"/>
                <a:ea typeface="Courier New"/>
                <a:cs typeface="Courier New"/>
                <a:sym typeface="Courier New"/>
              </a:rPr>
              <a:t>    &lt;program_name&gt;example&lt;/program_name&gt;</a:t>
            </a:r>
            <a:endParaRPr sz="15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550">
                <a:solidFill>
                  <a:schemeClr val="dk1"/>
                </a:solidFill>
                <a:latin typeface="Courier New"/>
                <a:ea typeface="Courier New"/>
                <a:cs typeface="Courier New"/>
                <a:sym typeface="Courier New"/>
              </a:rPr>
              <a:t>    &lt;description&gt;User logged&lt;/description&gt;</a:t>
            </a:r>
            <a:endParaRPr sz="15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550">
                <a:solidFill>
                  <a:schemeClr val="dk1"/>
                </a:solidFill>
                <a:latin typeface="Courier New"/>
                <a:ea typeface="Courier New"/>
                <a:cs typeface="Courier New"/>
                <a:sym typeface="Courier New"/>
              </a:rPr>
              <a:t>  &lt;/rule&gt;</a:t>
            </a:r>
            <a:endParaRPr sz="1550">
              <a:solidFill>
                <a:schemeClr val="dk1"/>
              </a:solidFill>
              <a:latin typeface="Courier New"/>
              <a:ea typeface="Courier New"/>
              <a:cs typeface="Courier New"/>
              <a:sym typeface="Courier New"/>
            </a:endParaRPr>
          </a:p>
          <a:p>
            <a:pPr indent="0" lvl="0" marL="190500" marR="190500" rtl="0" algn="l">
              <a:lnSpc>
                <a:spcPct val="189473"/>
              </a:lnSpc>
              <a:spcBef>
                <a:spcPts val="0"/>
              </a:spcBef>
              <a:spcAft>
                <a:spcPts val="0"/>
              </a:spcAft>
              <a:buClr>
                <a:schemeClr val="dk1"/>
              </a:buClr>
              <a:buSzPts val="1100"/>
              <a:buFont typeface="Arial"/>
              <a:buNone/>
            </a:pPr>
            <a:r>
              <a:rPr lang="en-US" sz="1550">
                <a:solidFill>
                  <a:schemeClr val="dk1"/>
                </a:solidFill>
                <a:latin typeface="Courier New"/>
                <a:ea typeface="Courier New"/>
                <a:cs typeface="Courier New"/>
                <a:sym typeface="Courier New"/>
              </a:rPr>
              <a:t>&lt;/group&gt;</a:t>
            </a:r>
            <a:endParaRPr sz="15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7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20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20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2" name="Shape 2872"/>
        <p:cNvGrpSpPr/>
        <p:nvPr/>
      </p:nvGrpSpPr>
      <p:grpSpPr>
        <a:xfrm>
          <a:off x="0" y="0"/>
          <a:ext cx="0" cy="0"/>
          <a:chOff x="0" y="0"/>
          <a:chExt cx="0" cy="0"/>
        </a:xfrm>
      </p:grpSpPr>
      <p:sp>
        <p:nvSpPr>
          <p:cNvPr id="2873" name="Google Shape;2873;p214"/>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Creating Ruleset </a:t>
            </a:r>
            <a:endParaRPr b="1" i="0" sz="3600" u="none" cap="none" strike="noStrike">
              <a:solidFill>
                <a:schemeClr val="accent1"/>
              </a:solidFill>
              <a:latin typeface="Poppins"/>
              <a:ea typeface="Poppins"/>
              <a:cs typeface="Poppins"/>
              <a:sym typeface="Poppins"/>
            </a:endParaRPr>
          </a:p>
        </p:txBody>
      </p:sp>
      <p:cxnSp>
        <p:nvCxnSpPr>
          <p:cNvPr id="2874" name="Google Shape;2874;p21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875" name="Google Shape;2875;p21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876" name="Google Shape;2876;p21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877" name="Google Shape;2877;p21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878" name="Google Shape;2878;p2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879" name="Google Shape;2879;p2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80" name="Google Shape;2880;p214"/>
          <p:cNvSpPr txBox="1"/>
          <p:nvPr/>
        </p:nvSpPr>
        <p:spPr>
          <a:xfrm>
            <a:off x="808475" y="1715488"/>
            <a:ext cx="98199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latin typeface="Archivo Medium"/>
                <a:ea typeface="Archivo Medium"/>
                <a:cs typeface="Archivo Medium"/>
                <a:sym typeface="Archivo Medium"/>
              </a:rPr>
              <a:t>Testing with wrong credential to agent </a:t>
            </a:r>
            <a:endParaRPr sz="20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2000">
              <a:solidFill>
                <a:schemeClr val="dk1"/>
              </a:solidFill>
              <a:latin typeface="Archivo Medium"/>
              <a:ea typeface="Archivo Medium"/>
              <a:cs typeface="Archivo Medium"/>
              <a:sym typeface="Archivo Medium"/>
            </a:endParaRPr>
          </a:p>
          <a:p>
            <a:pPr indent="0" lvl="0" marL="457200" rtl="0" algn="l">
              <a:spcBef>
                <a:spcPts val="0"/>
              </a:spcBef>
              <a:spcAft>
                <a:spcPts val="0"/>
              </a:spcAft>
              <a:buClr>
                <a:schemeClr val="dk1"/>
              </a:buClr>
              <a:buSzPts val="1100"/>
              <a:buFont typeface="Arial"/>
              <a:buNone/>
            </a:pPr>
            <a:r>
              <a:rPr lang="en-US" sz="2000">
                <a:solidFill>
                  <a:schemeClr val="dk1"/>
                </a:solidFill>
                <a:latin typeface="Courier New"/>
                <a:ea typeface="Courier New"/>
                <a:cs typeface="Courier New"/>
                <a:sym typeface="Courier New"/>
              </a:rPr>
              <a:t>ssh wronguser@localhost</a:t>
            </a:r>
            <a:endParaRPr sz="2000">
              <a:solidFill>
                <a:schemeClr val="dk1"/>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US" sz="2000">
                <a:solidFill>
                  <a:schemeClr val="dk1"/>
                </a:solidFill>
                <a:latin typeface="Courier New"/>
                <a:ea typeface="Courier New"/>
                <a:cs typeface="Courier New"/>
                <a:sym typeface="Courier New"/>
              </a:rPr>
              <a:t>ssh wronguser@localhost</a:t>
            </a:r>
            <a:endParaRPr sz="2000">
              <a:solidFill>
                <a:schemeClr val="dk1"/>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US" sz="2000">
                <a:solidFill>
                  <a:schemeClr val="dk1"/>
                </a:solidFill>
                <a:latin typeface="Courier New"/>
                <a:ea typeface="Courier New"/>
                <a:cs typeface="Courier New"/>
                <a:sym typeface="Courier New"/>
              </a:rPr>
              <a:t>ssh wronguser@localhost</a:t>
            </a:r>
            <a:endParaRPr sz="2000">
              <a:solidFill>
                <a:schemeClr val="dk1"/>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US" sz="2000">
                <a:solidFill>
                  <a:schemeClr val="dk1"/>
                </a:solidFill>
                <a:latin typeface="Courier New"/>
                <a:ea typeface="Courier New"/>
                <a:cs typeface="Courier New"/>
                <a:sym typeface="Courier New"/>
              </a:rPr>
              <a:t>ssh wronguser@localhost</a:t>
            </a:r>
            <a:endParaRPr sz="2000">
              <a:solidFill>
                <a:schemeClr val="dk1"/>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US" sz="2000">
                <a:solidFill>
                  <a:schemeClr val="dk1"/>
                </a:solidFill>
                <a:latin typeface="Courier New"/>
                <a:ea typeface="Courier New"/>
                <a:cs typeface="Courier New"/>
                <a:sym typeface="Courier New"/>
              </a:rPr>
              <a:t>ssh wronguser@localhost</a:t>
            </a:r>
            <a:endParaRPr sz="2000">
              <a:solidFill>
                <a:schemeClr val="dk1"/>
              </a:solidFill>
              <a:latin typeface="Courier New"/>
              <a:ea typeface="Courier New"/>
              <a:cs typeface="Courier New"/>
              <a:sym typeface="Courier New"/>
            </a:endParaRPr>
          </a:p>
          <a:p>
            <a:pPr indent="0" lvl="0" marL="457200" rtl="0" algn="l">
              <a:spcBef>
                <a:spcPts val="0"/>
              </a:spcBef>
              <a:spcAft>
                <a:spcPts val="0"/>
              </a:spcAft>
              <a:buNone/>
            </a:pPr>
            <a:r>
              <a:t/>
            </a:r>
            <a:endParaRPr sz="2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2000">
                <a:solidFill>
                  <a:schemeClr val="dk1"/>
                </a:solidFill>
                <a:latin typeface="Archivo"/>
                <a:ea typeface="Archivo"/>
                <a:cs typeface="Archivo"/>
                <a:sym typeface="Archivo"/>
              </a:rPr>
              <a:t>testing</a:t>
            </a:r>
            <a:r>
              <a:rPr lang="en-US" sz="2000">
                <a:solidFill>
                  <a:schemeClr val="dk1"/>
                </a:solidFill>
                <a:latin typeface="Courier New"/>
                <a:ea typeface="Courier New"/>
                <a:cs typeface="Courier New"/>
                <a:sym typeface="Courier New"/>
              </a:rPr>
              <a:t> </a:t>
            </a:r>
            <a:endParaRPr sz="2000">
              <a:solidFill>
                <a:schemeClr val="dk1"/>
              </a:solidFill>
              <a:latin typeface="Courier New"/>
              <a:ea typeface="Courier New"/>
              <a:cs typeface="Courier New"/>
              <a:sym typeface="Courier New"/>
            </a:endParaRPr>
          </a:p>
          <a:p>
            <a:pPr indent="0" lvl="0" marL="457200" rtl="0" algn="l">
              <a:spcBef>
                <a:spcPts val="0"/>
              </a:spcBef>
              <a:spcAft>
                <a:spcPts val="0"/>
              </a:spcAft>
              <a:buNone/>
            </a:pPr>
            <a:r>
              <a:t/>
            </a:r>
            <a:endParaRPr sz="2000">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US" sz="2000">
                <a:solidFill>
                  <a:schemeClr val="dk1"/>
                </a:solidFill>
                <a:latin typeface="Courier New"/>
                <a:ea typeface="Courier New"/>
                <a:cs typeface="Courier New"/>
                <a:sym typeface="Courier New"/>
              </a:rPr>
              <a:t>tail -f /var/ossec/logs/alerts/alerts.log | grep "100001"</a:t>
            </a:r>
            <a:endParaRPr sz="2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2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2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20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884" name="Shape 2884"/>
        <p:cNvGrpSpPr/>
        <p:nvPr/>
      </p:nvGrpSpPr>
      <p:grpSpPr>
        <a:xfrm>
          <a:off x="0" y="0"/>
          <a:ext cx="0" cy="0"/>
          <a:chOff x="0" y="0"/>
          <a:chExt cx="0" cy="0"/>
        </a:xfrm>
      </p:grpSpPr>
      <p:pic>
        <p:nvPicPr>
          <p:cNvPr descr="A picture containing food, drawing, shirt&#10;&#10;Description automatically generated" id="2885" name="Google Shape;2885;p21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886" name="Google Shape;2886;p2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87" name="Google Shape;2887;p2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888" name="Google Shape;2888;p215"/>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889" name="Google Shape;2889;p21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890" name="Google Shape;2890;p215"/>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891" name="Google Shape;2891;p215"/>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2892" name="Google Shape;2892;p215"/>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896" name="Shape 2896"/>
        <p:cNvGrpSpPr/>
        <p:nvPr/>
      </p:nvGrpSpPr>
      <p:grpSpPr>
        <a:xfrm>
          <a:off x="0" y="0"/>
          <a:ext cx="0" cy="0"/>
          <a:chOff x="0" y="0"/>
          <a:chExt cx="0" cy="0"/>
        </a:xfrm>
      </p:grpSpPr>
      <p:pic>
        <p:nvPicPr>
          <p:cNvPr descr="A picture containing food, drawing, shirt&#10;&#10;Description automatically generated" id="2897" name="Google Shape;2897;p21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2898" name="Google Shape;2898;p2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99" name="Google Shape;2899;p21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2900" name="Google Shape;2900;p216"/>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2901" name="Google Shape;2901;p21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2902" name="Google Shape;2902;p216"/>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2903" name="Google Shape;2903;p216"/>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Wazuh Decoder &amp; Rules</a:t>
            </a:r>
            <a:endParaRPr sz="4800">
              <a:solidFill>
                <a:schemeClr val="lt1"/>
              </a:solidFill>
              <a:highlight>
                <a:srgbClr val="3585F9"/>
              </a:highlight>
              <a:latin typeface="Poppins"/>
              <a:ea typeface="Poppins"/>
              <a:cs typeface="Poppins"/>
              <a:sym typeface="Poppins"/>
            </a:endParaRPr>
          </a:p>
        </p:txBody>
      </p:sp>
      <p:pic>
        <p:nvPicPr>
          <p:cNvPr id="2904" name="Google Shape;2904;p216"/>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8" name="Shape 2908"/>
        <p:cNvGrpSpPr/>
        <p:nvPr/>
      </p:nvGrpSpPr>
      <p:grpSpPr>
        <a:xfrm>
          <a:off x="0" y="0"/>
          <a:ext cx="0" cy="0"/>
          <a:chOff x="0" y="0"/>
          <a:chExt cx="0" cy="0"/>
        </a:xfrm>
      </p:grpSpPr>
      <p:sp>
        <p:nvSpPr>
          <p:cNvPr id="2909" name="Google Shape;2909;p217"/>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Objective </a:t>
            </a:r>
            <a:endParaRPr b="1" i="0" sz="3600" u="none" cap="none" strike="noStrike">
              <a:solidFill>
                <a:schemeClr val="accent1"/>
              </a:solidFill>
              <a:latin typeface="Poppins"/>
              <a:ea typeface="Poppins"/>
              <a:cs typeface="Poppins"/>
              <a:sym typeface="Poppins"/>
            </a:endParaRPr>
          </a:p>
        </p:txBody>
      </p:sp>
      <p:cxnSp>
        <p:nvCxnSpPr>
          <p:cNvPr id="2910" name="Google Shape;2910;p21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911" name="Google Shape;2911;p21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912" name="Google Shape;2912;p21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913" name="Google Shape;2913;p21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914" name="Google Shape;2914;p21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915" name="Google Shape;2915;p2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16" name="Google Shape;2916;p217"/>
          <p:cNvSpPr txBox="1"/>
          <p:nvPr/>
        </p:nvSpPr>
        <p:spPr>
          <a:xfrm>
            <a:off x="1000925" y="1650013"/>
            <a:ext cx="9819900" cy="17238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Memahami rule, decoder, dan pre-decoder.</a:t>
            </a:r>
            <a:endParaRPr sz="2000">
              <a:solidFill>
                <a:schemeClr val="dk1"/>
              </a:solidFill>
              <a:latin typeface="Archivo Medium"/>
              <a:ea typeface="Archivo Medium"/>
              <a:cs typeface="Archivo Medium"/>
              <a:sym typeface="Archivo Medium"/>
            </a:endParaRPr>
          </a:p>
          <a:p>
            <a:pPr indent="-355600" lvl="0" marL="457200" rtl="0" algn="l">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Mengenal berbagai opsi konfigurasi yang tersedia dalam sistem deteksi Wazuh.</a:t>
            </a:r>
            <a:endParaRPr sz="2000">
              <a:solidFill>
                <a:schemeClr val="dk1"/>
              </a:solidFill>
              <a:latin typeface="Archivo Medium"/>
              <a:ea typeface="Archivo Medium"/>
              <a:cs typeface="Archivo Medium"/>
              <a:sym typeface="Archivo Medium"/>
            </a:endParaRPr>
          </a:p>
          <a:p>
            <a:pPr indent="-355600" lvl="0" marL="457200" rtl="0" algn="l">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Membuat rule dan decoder baru untuk aplikasi Anda sendiri.</a:t>
            </a:r>
            <a:endParaRPr sz="2000">
              <a:solidFill>
                <a:schemeClr val="dk1"/>
              </a:solidFill>
              <a:latin typeface="Archivo Medium"/>
              <a:ea typeface="Archivo Medium"/>
              <a:cs typeface="Archivo Medium"/>
              <a:sym typeface="Archivo Medium"/>
            </a:endParaRPr>
          </a:p>
          <a:p>
            <a:pPr indent="-355600" lvl="0" marL="457200" rtl="0" algn="l">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Mempelajari praktik terbaik dalam menyesuaikan ruleset agar sesuai dengan lingkungan Anda</a:t>
            </a:r>
            <a:endParaRPr sz="20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0" name="Shape 2920"/>
        <p:cNvGrpSpPr/>
        <p:nvPr/>
      </p:nvGrpSpPr>
      <p:grpSpPr>
        <a:xfrm>
          <a:off x="0" y="0"/>
          <a:ext cx="0" cy="0"/>
          <a:chOff x="0" y="0"/>
          <a:chExt cx="0" cy="0"/>
        </a:xfrm>
      </p:grpSpPr>
      <p:sp>
        <p:nvSpPr>
          <p:cNvPr id="2921" name="Google Shape;2921;p218"/>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Definition</a:t>
            </a:r>
            <a:r>
              <a:rPr b="1" lang="en-US" sz="3600">
                <a:solidFill>
                  <a:schemeClr val="accent1"/>
                </a:solidFill>
                <a:latin typeface="Poppins"/>
                <a:ea typeface="Poppins"/>
                <a:cs typeface="Poppins"/>
                <a:sym typeface="Poppins"/>
              </a:rPr>
              <a:t> </a:t>
            </a:r>
            <a:r>
              <a:rPr b="1" lang="en-US" sz="3600">
                <a:solidFill>
                  <a:schemeClr val="accent1"/>
                </a:solidFill>
                <a:latin typeface="Poppins"/>
                <a:ea typeface="Poppins"/>
                <a:cs typeface="Poppins"/>
                <a:sym typeface="Poppins"/>
              </a:rPr>
              <a:t> </a:t>
            </a:r>
            <a:endParaRPr b="1" i="0" sz="3600" u="none" cap="none" strike="noStrike">
              <a:solidFill>
                <a:schemeClr val="accent1"/>
              </a:solidFill>
              <a:latin typeface="Poppins"/>
              <a:ea typeface="Poppins"/>
              <a:cs typeface="Poppins"/>
              <a:sym typeface="Poppins"/>
            </a:endParaRPr>
          </a:p>
        </p:txBody>
      </p:sp>
      <p:cxnSp>
        <p:nvCxnSpPr>
          <p:cNvPr id="2922" name="Google Shape;2922;p21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923" name="Google Shape;2923;p21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924" name="Google Shape;2924;p21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925" name="Google Shape;2925;p21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926" name="Google Shape;2926;p2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927" name="Google Shape;2927;p2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28" name="Google Shape;2928;p218"/>
          <p:cNvSpPr txBox="1"/>
          <p:nvPr/>
        </p:nvSpPr>
        <p:spPr>
          <a:xfrm>
            <a:off x="1000925" y="1650013"/>
            <a:ext cx="98199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Archivo Medium"/>
                <a:ea typeface="Archivo Medium"/>
                <a:cs typeface="Archivo Medium"/>
                <a:sym typeface="Archivo Medium"/>
              </a:rPr>
              <a:t>Rules dan decoder dalam Wazuh membantu dalam mengidentifikasi, mengklasifikasikan, dan merespons kejadian keamanan.</a:t>
            </a:r>
            <a:endParaRPr sz="18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sz="1800">
              <a:solidFill>
                <a:schemeClr val="dk1"/>
              </a:solidFill>
              <a:latin typeface="Archivo Medium"/>
              <a:ea typeface="Archivo Medium"/>
              <a:cs typeface="Archivo Medium"/>
              <a:sym typeface="Archivo Medium"/>
            </a:endParaRPr>
          </a:p>
          <a:p>
            <a:pPr indent="-342900" lvl="0" marL="457200" rtl="0" algn="l">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Decoder berfungsi untuk menginterpretasikan data log yang masuk dari berbagai sumber (misalnya syslog, log firewall, log web server), dan mengubah entri log mentah menjadi data terstruktur yang dapat diproses oleh Wazuh. Decoder mengekstrak informasi penting seperti timestamp, tingkat log, alamat IP sumber, dan jenis event.</a:t>
            </a:r>
            <a:endParaRPr sz="18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1800">
              <a:solidFill>
                <a:schemeClr val="dk1"/>
              </a:solidFill>
              <a:latin typeface="Archivo Medium"/>
              <a:ea typeface="Archivo Medium"/>
              <a:cs typeface="Archivo Medium"/>
              <a:sym typeface="Archivo Medium"/>
            </a:endParaRPr>
          </a:p>
          <a:p>
            <a:pPr indent="-342900" lvl="0" marL="457200" rtl="0" algn="l">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Sementara itu, rules menentukan bagaimana Wazuh merespons data yang telah didekodekan, termasuk memutuskan apakah sebuah alert harus dipicu. Rules terdiri dari kondisi yang mencocokkan pola log tertentu atau nilai-nilai spesifik dalam field yang telah diekstrak.</a:t>
            </a:r>
            <a:endParaRPr sz="18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18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2" name="Shape 2932"/>
        <p:cNvGrpSpPr/>
        <p:nvPr/>
      </p:nvGrpSpPr>
      <p:grpSpPr>
        <a:xfrm>
          <a:off x="0" y="0"/>
          <a:ext cx="0" cy="0"/>
          <a:chOff x="0" y="0"/>
          <a:chExt cx="0" cy="0"/>
        </a:xfrm>
      </p:grpSpPr>
      <p:sp>
        <p:nvSpPr>
          <p:cNvPr id="2933" name="Google Shape;2933;p219"/>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Automatic Ruleset For Single Event</a:t>
            </a:r>
            <a:endParaRPr b="1" i="0" sz="3600" u="none" cap="none" strike="noStrike">
              <a:solidFill>
                <a:schemeClr val="accent1"/>
              </a:solidFill>
              <a:latin typeface="Poppins"/>
              <a:ea typeface="Poppins"/>
              <a:cs typeface="Poppins"/>
              <a:sym typeface="Poppins"/>
            </a:endParaRPr>
          </a:p>
        </p:txBody>
      </p:sp>
      <p:cxnSp>
        <p:nvCxnSpPr>
          <p:cNvPr id="2934" name="Google Shape;2934;p21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935" name="Google Shape;2935;p21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936" name="Google Shape;2936;p21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937" name="Google Shape;2937;p21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938" name="Google Shape;2938;p2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939" name="Google Shape;2939;p2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40" name="Google Shape;2940;p219"/>
          <p:cNvSpPr txBox="1"/>
          <p:nvPr/>
        </p:nvSpPr>
        <p:spPr>
          <a:xfrm>
            <a:off x="1000925" y="1650013"/>
            <a:ext cx="98199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solidFill>
                  <a:schemeClr val="dk1"/>
                </a:solidFill>
                <a:latin typeface="Archivo Medium"/>
                <a:ea typeface="Archivo Medium"/>
                <a:cs typeface="Archivo Medium"/>
                <a:sym typeface="Archivo Medium"/>
              </a:rPr>
              <a:t>Atomic rules di Wazuh dirancang untuk mendeteksi dan merespons kejadian keamanan individual atau entri log tunggal, berbeda dengan composite rules yang mencari pola dari berbagai event dalam rentang waktu tertentu</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rPr lang="en-US" sz="1900">
                <a:solidFill>
                  <a:schemeClr val="dk1"/>
                </a:solidFill>
                <a:latin typeface="Archivo Medium"/>
                <a:ea typeface="Archivo Medium"/>
                <a:cs typeface="Archivo Medium"/>
                <a:sym typeface="Archivo Medium"/>
              </a:rPr>
              <a:t>Benefit : </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349250" lvl="0" marL="457200" rtl="0" algn="l">
              <a:spcBef>
                <a:spcPts val="0"/>
              </a:spcBef>
              <a:spcAft>
                <a:spcPts val="0"/>
              </a:spcAft>
              <a:buClr>
                <a:schemeClr val="dk1"/>
              </a:buClr>
              <a:buSzPts val="1900"/>
              <a:buChar char="●"/>
            </a:pPr>
            <a:r>
              <a:rPr lang="en-US" sz="1900">
                <a:solidFill>
                  <a:schemeClr val="dk1"/>
                </a:solidFill>
                <a:latin typeface="Archivo"/>
                <a:ea typeface="Archivo"/>
                <a:cs typeface="Archivo"/>
                <a:sym typeface="Archivo"/>
              </a:rPr>
              <a:t>Single Event: Atomic rules focus on detecting specific conditions within a single log entry.</a:t>
            </a:r>
            <a:endParaRPr sz="1900">
              <a:solidFill>
                <a:schemeClr val="dk1"/>
              </a:solidFill>
              <a:latin typeface="Archivo"/>
              <a:ea typeface="Archivo"/>
              <a:cs typeface="Archivo"/>
              <a:sym typeface="Archivo"/>
            </a:endParaRPr>
          </a:p>
          <a:p>
            <a:pPr indent="-349250" lvl="0" marL="457200" rtl="0" algn="l">
              <a:spcBef>
                <a:spcPts val="0"/>
              </a:spcBef>
              <a:spcAft>
                <a:spcPts val="0"/>
              </a:spcAft>
              <a:buClr>
                <a:schemeClr val="dk1"/>
              </a:buClr>
              <a:buSzPts val="1900"/>
              <a:buChar char="●"/>
            </a:pPr>
            <a:r>
              <a:rPr lang="en-US" sz="1900">
                <a:solidFill>
                  <a:schemeClr val="dk1"/>
                </a:solidFill>
                <a:latin typeface="Archivo"/>
                <a:ea typeface="Archivo"/>
                <a:cs typeface="Archivo"/>
                <a:sym typeface="Archivo"/>
              </a:rPr>
              <a:t>Simple Structure: Defined using XML, atomic rules contain elements such as rule ID, level, source, field matching, and descriptions.</a:t>
            </a:r>
            <a:endParaRPr sz="1900">
              <a:solidFill>
                <a:schemeClr val="dk1"/>
              </a:solidFill>
              <a:latin typeface="Archivo"/>
              <a:ea typeface="Archivo"/>
              <a:cs typeface="Archivo"/>
              <a:sym typeface="Archivo"/>
            </a:endParaRPr>
          </a:p>
          <a:p>
            <a:pPr indent="-349250" lvl="0" marL="457200" rtl="0" algn="l">
              <a:spcBef>
                <a:spcPts val="0"/>
              </a:spcBef>
              <a:spcAft>
                <a:spcPts val="0"/>
              </a:spcAft>
              <a:buClr>
                <a:schemeClr val="dk1"/>
              </a:buClr>
              <a:buSzPts val="1900"/>
              <a:buChar char="●"/>
            </a:pPr>
            <a:r>
              <a:rPr lang="en-US" sz="1900">
                <a:solidFill>
                  <a:schemeClr val="dk1"/>
                </a:solidFill>
                <a:latin typeface="Archivo"/>
                <a:ea typeface="Archivo"/>
                <a:cs typeface="Archivo"/>
                <a:sym typeface="Archivo"/>
              </a:rPr>
              <a:t>Immediate Alerts: If a log matches an atomic rule, an alert is triggered immediately without waiting for other events.</a:t>
            </a:r>
            <a:endParaRPr sz="1900">
              <a:solidFill>
                <a:schemeClr val="dk1"/>
              </a:solidFill>
              <a:latin typeface="Archivo"/>
              <a:ea typeface="Archivo"/>
              <a:cs typeface="Archivo"/>
              <a:sym typeface="Archivo"/>
            </a:endParaRPr>
          </a:p>
          <a:p>
            <a:pPr indent="-349250" lvl="0" marL="457200" rtl="0" algn="l">
              <a:spcBef>
                <a:spcPts val="0"/>
              </a:spcBef>
              <a:spcAft>
                <a:spcPts val="0"/>
              </a:spcAft>
              <a:buClr>
                <a:schemeClr val="dk1"/>
              </a:buClr>
              <a:buSzPts val="1900"/>
              <a:buChar char="●"/>
            </a:pPr>
            <a:r>
              <a:rPr lang="en-US" sz="1900">
                <a:solidFill>
                  <a:schemeClr val="dk1"/>
                </a:solidFill>
                <a:latin typeface="Archivo"/>
                <a:ea typeface="Archivo"/>
                <a:cs typeface="Archivo"/>
                <a:sym typeface="Archivo"/>
              </a:rPr>
              <a:t>Use Cases: Ideal for detecting individual events like failed logins, firewall rule violations, or successful administrative actions</a:t>
            </a:r>
            <a:endParaRPr sz="2700">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4" name="Shape 2944"/>
        <p:cNvGrpSpPr/>
        <p:nvPr/>
      </p:nvGrpSpPr>
      <p:grpSpPr>
        <a:xfrm>
          <a:off x="0" y="0"/>
          <a:ext cx="0" cy="0"/>
          <a:chOff x="0" y="0"/>
          <a:chExt cx="0" cy="0"/>
        </a:xfrm>
      </p:grpSpPr>
      <p:sp>
        <p:nvSpPr>
          <p:cNvPr id="2945" name="Google Shape;2945;p220"/>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Example Atomic Rules</a:t>
            </a:r>
            <a:endParaRPr b="1" i="0" sz="3600" u="none" cap="none" strike="noStrike">
              <a:solidFill>
                <a:schemeClr val="accent1"/>
              </a:solidFill>
              <a:latin typeface="Poppins"/>
              <a:ea typeface="Poppins"/>
              <a:cs typeface="Poppins"/>
              <a:sym typeface="Poppins"/>
            </a:endParaRPr>
          </a:p>
        </p:txBody>
      </p:sp>
      <p:cxnSp>
        <p:nvCxnSpPr>
          <p:cNvPr id="2946" name="Google Shape;2946;p22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947" name="Google Shape;2947;p22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948" name="Google Shape;2948;p22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949" name="Google Shape;2949;p22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950" name="Google Shape;2950;p2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951" name="Google Shape;2951;p2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52" name="Google Shape;2952;p220"/>
          <p:cNvSpPr txBox="1"/>
          <p:nvPr/>
        </p:nvSpPr>
        <p:spPr>
          <a:xfrm>
            <a:off x="1000925" y="1650025"/>
            <a:ext cx="5007300" cy="358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latin typeface="Archivo"/>
                <a:ea typeface="Archivo"/>
                <a:cs typeface="Archivo"/>
                <a:sym typeface="Archivo"/>
              </a:rPr>
              <a:t>rule for log failed program sshd</a:t>
            </a:r>
            <a:endParaRPr sz="1700">
              <a:solidFill>
                <a:schemeClr val="dk1"/>
              </a:solidFill>
              <a:latin typeface="Archivo"/>
              <a:ea typeface="Archivo"/>
              <a:cs typeface="Archivo"/>
              <a:sym typeface="Archivo"/>
            </a:endParaRPr>
          </a:p>
          <a:p>
            <a:pPr indent="0" lvl="0" marL="0" rtl="0" algn="l">
              <a:spcBef>
                <a:spcPts val="0"/>
              </a:spcBef>
              <a:spcAft>
                <a:spcPts val="0"/>
              </a:spcAft>
              <a:buNone/>
            </a:pPr>
            <a:r>
              <a:t/>
            </a:r>
            <a:endParaRPr sz="1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700">
                <a:solidFill>
                  <a:schemeClr val="dk1"/>
                </a:solidFill>
                <a:latin typeface="Courier New"/>
                <a:ea typeface="Courier New"/>
                <a:cs typeface="Courier New"/>
                <a:sym typeface="Courier New"/>
              </a:rPr>
              <a:t>&lt;rule id="100002" level="7"&gt;</a:t>
            </a:r>
            <a:endParaRPr sz="1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700">
                <a:solidFill>
                  <a:schemeClr val="dk1"/>
                </a:solidFill>
                <a:latin typeface="Courier New"/>
                <a:ea typeface="Courier New"/>
                <a:cs typeface="Courier New"/>
                <a:sym typeface="Courier New"/>
              </a:rPr>
              <a:t>  &lt;decoded_as&gt;sshd&lt;/decoded_as&gt;</a:t>
            </a:r>
            <a:endParaRPr sz="1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700">
                <a:solidFill>
                  <a:schemeClr val="dk1"/>
                </a:solidFill>
                <a:latin typeface="Courier New"/>
                <a:ea typeface="Courier New"/>
                <a:cs typeface="Courier New"/>
                <a:sym typeface="Courier New"/>
              </a:rPr>
              <a:t>  &lt;field name="status"&gt;Failed&lt;/field&gt;</a:t>
            </a:r>
            <a:endParaRPr sz="1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700">
                <a:solidFill>
                  <a:schemeClr val="dk1"/>
                </a:solidFill>
                <a:latin typeface="Courier New"/>
                <a:ea typeface="Courier New"/>
                <a:cs typeface="Courier New"/>
                <a:sym typeface="Courier New"/>
              </a:rPr>
              <a:t>  &lt;description&gt;SSH failed login attempt from an unknown user&lt;/description&gt;</a:t>
            </a:r>
            <a:endParaRPr sz="1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700">
                <a:solidFill>
                  <a:schemeClr val="dk1"/>
                </a:solidFill>
                <a:latin typeface="Courier New"/>
                <a:ea typeface="Courier New"/>
                <a:cs typeface="Courier New"/>
                <a:sym typeface="Courier New"/>
              </a:rPr>
              <a:t>  &lt;group&gt;authentication_failed, sshd&lt;/group&gt;</a:t>
            </a:r>
            <a:endParaRPr sz="1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700">
                <a:solidFill>
                  <a:schemeClr val="dk1"/>
                </a:solidFill>
                <a:latin typeface="Courier New"/>
                <a:ea typeface="Courier New"/>
                <a:cs typeface="Courier New"/>
                <a:sym typeface="Courier New"/>
              </a:rPr>
              <a:t>&lt;/rule&gt;</a:t>
            </a:r>
            <a:endParaRPr sz="1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700">
              <a:solidFill>
                <a:schemeClr val="dk1"/>
              </a:solidFill>
              <a:latin typeface="Courier New"/>
              <a:ea typeface="Courier New"/>
              <a:cs typeface="Courier New"/>
              <a:sym typeface="Courier New"/>
            </a:endParaRPr>
          </a:p>
        </p:txBody>
      </p:sp>
      <p:sp>
        <p:nvSpPr>
          <p:cNvPr id="2953" name="Google Shape;2953;p220"/>
          <p:cNvSpPr txBox="1"/>
          <p:nvPr/>
        </p:nvSpPr>
        <p:spPr>
          <a:xfrm>
            <a:off x="6258725" y="1650025"/>
            <a:ext cx="6350400" cy="358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latin typeface="Archivo"/>
                <a:ea typeface="Archivo"/>
                <a:cs typeface="Archivo"/>
                <a:sym typeface="Archivo"/>
              </a:rPr>
              <a:t>rule for log firewall action DROP</a:t>
            </a:r>
            <a:endParaRPr sz="1700">
              <a:solidFill>
                <a:schemeClr val="dk1"/>
              </a:solidFill>
              <a:latin typeface="Archivo"/>
              <a:ea typeface="Archivo"/>
              <a:cs typeface="Archivo"/>
              <a:sym typeface="Archivo"/>
            </a:endParaRPr>
          </a:p>
          <a:p>
            <a:pPr indent="0" lvl="0" marL="0" rtl="0" algn="l">
              <a:spcBef>
                <a:spcPts val="0"/>
              </a:spcBef>
              <a:spcAft>
                <a:spcPts val="0"/>
              </a:spcAft>
              <a:buNone/>
            </a:pPr>
            <a:r>
              <a:t/>
            </a:r>
            <a:endParaRPr sz="1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solidFill>
                  <a:schemeClr val="dk1"/>
                </a:solidFill>
                <a:latin typeface="Courier New"/>
                <a:ea typeface="Courier New"/>
                <a:cs typeface="Courier New"/>
                <a:sym typeface="Courier New"/>
              </a:rPr>
              <a:t>&lt;rule id="100003" level="8"&gt;</a:t>
            </a:r>
            <a:endParaRPr sz="1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solidFill>
                  <a:schemeClr val="dk1"/>
                </a:solidFill>
                <a:latin typeface="Courier New"/>
                <a:ea typeface="Courier New"/>
                <a:cs typeface="Courier New"/>
                <a:sym typeface="Courier New"/>
              </a:rPr>
              <a:t>  &lt;decoded_as&gt;firewall&lt;/decoded_as&gt;</a:t>
            </a:r>
            <a:endParaRPr sz="1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solidFill>
                  <a:schemeClr val="dk1"/>
                </a:solidFill>
                <a:latin typeface="Courier New"/>
                <a:ea typeface="Courier New"/>
                <a:cs typeface="Courier New"/>
                <a:sym typeface="Courier New"/>
              </a:rPr>
              <a:t>  &lt;field name="action"&gt;DROP&lt;/field&gt;</a:t>
            </a:r>
            <a:endParaRPr sz="1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solidFill>
                  <a:schemeClr val="dk1"/>
                </a:solidFill>
                <a:latin typeface="Courier New"/>
                <a:ea typeface="Courier New"/>
                <a:cs typeface="Courier New"/>
                <a:sym typeface="Courier New"/>
              </a:rPr>
              <a:t>  &lt;description&gt;Firewall packet drop detected&lt;/description&gt;</a:t>
            </a:r>
            <a:endParaRPr sz="1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solidFill>
                  <a:schemeClr val="dk1"/>
                </a:solidFill>
                <a:latin typeface="Courier New"/>
                <a:ea typeface="Courier New"/>
                <a:cs typeface="Courier New"/>
                <a:sym typeface="Courier New"/>
              </a:rPr>
              <a:t>  &lt;group&gt;firewall, packet_drop&lt;/group&gt;</a:t>
            </a:r>
            <a:endParaRPr sz="1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700">
                <a:solidFill>
                  <a:schemeClr val="dk1"/>
                </a:solidFill>
                <a:latin typeface="Courier New"/>
                <a:ea typeface="Courier New"/>
                <a:cs typeface="Courier New"/>
                <a:sym typeface="Courier New"/>
              </a:rPr>
              <a:t>&lt;/rule&gt;</a:t>
            </a:r>
            <a:endParaRPr sz="1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700">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7" name="Shape 2957"/>
        <p:cNvGrpSpPr/>
        <p:nvPr/>
      </p:nvGrpSpPr>
      <p:grpSpPr>
        <a:xfrm>
          <a:off x="0" y="0"/>
          <a:ext cx="0" cy="0"/>
          <a:chOff x="0" y="0"/>
          <a:chExt cx="0" cy="0"/>
        </a:xfrm>
      </p:grpSpPr>
      <p:sp>
        <p:nvSpPr>
          <p:cNvPr id="2958" name="Google Shape;2958;p221"/>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Correlation</a:t>
            </a:r>
            <a:r>
              <a:rPr b="1" lang="en-US" sz="3600">
                <a:solidFill>
                  <a:schemeClr val="accent1"/>
                </a:solidFill>
                <a:latin typeface="Poppins"/>
                <a:ea typeface="Poppins"/>
                <a:cs typeface="Poppins"/>
                <a:sym typeface="Poppins"/>
              </a:rPr>
              <a:t> Rules ( Composite Rules ) </a:t>
            </a:r>
            <a:endParaRPr b="1" i="0" sz="3600" u="none" cap="none" strike="noStrike">
              <a:solidFill>
                <a:schemeClr val="accent1"/>
              </a:solidFill>
              <a:latin typeface="Poppins"/>
              <a:ea typeface="Poppins"/>
              <a:cs typeface="Poppins"/>
              <a:sym typeface="Poppins"/>
            </a:endParaRPr>
          </a:p>
        </p:txBody>
      </p:sp>
      <p:cxnSp>
        <p:nvCxnSpPr>
          <p:cNvPr id="2959" name="Google Shape;2959;p22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960" name="Google Shape;2960;p22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961" name="Google Shape;2961;p22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962" name="Google Shape;2962;p22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963" name="Google Shape;2963;p22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964" name="Google Shape;2964;p2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65" name="Google Shape;2965;p221"/>
          <p:cNvSpPr txBox="1"/>
          <p:nvPr/>
        </p:nvSpPr>
        <p:spPr>
          <a:xfrm>
            <a:off x="1000925" y="1650013"/>
            <a:ext cx="9819900" cy="31092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mposite rules (juga dikenal sebagai aturan korelasi) bersifat lebih kompleks dan melibatkan analisis terhadap beberapa event dalam rentang waktu tertentu.</a:t>
            </a:r>
            <a:endParaRPr sz="1900">
              <a:solidFill>
                <a:schemeClr val="dk1"/>
              </a:solidFill>
              <a:latin typeface="Archivo Medium"/>
              <a:ea typeface="Archivo Medium"/>
              <a:cs typeface="Archivo Medium"/>
              <a:sym typeface="Archivo Medium"/>
            </a:endParaRPr>
          </a:p>
          <a:p>
            <a:pPr indent="-349250" lvl="0" marL="457200" rtl="0" algn="l">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Aturan ini akan memicu alert ketika beberapa event yang saling terkait terjadi dalam jangka waktu yang telah ditentukan.</a:t>
            </a:r>
            <a:endParaRPr sz="19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349250" lvl="0" marL="457200" rtl="0" algn="l">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Contoh:</a:t>
            </a:r>
            <a:endParaRPr sz="1900">
              <a:solidFill>
                <a:schemeClr val="dk1"/>
              </a:solidFill>
              <a:latin typeface="Archivo Medium"/>
              <a:ea typeface="Archivo Medium"/>
              <a:cs typeface="Archivo Medium"/>
              <a:sym typeface="Archivo Medium"/>
            </a:endParaRPr>
          </a:p>
          <a:p>
            <a:pPr indent="-349250" lvl="1" marL="914400" rtl="0" algn="l">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Sebuah composite rule dapat mendeteksi tiga kali percobaan login yang gagal, diikuti oleh satu login yang berhasil dalam waktu 5 menit, yang dapat mengindikasikan serangan brute-force.</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9" name="Shape 2969"/>
        <p:cNvGrpSpPr/>
        <p:nvPr/>
      </p:nvGrpSpPr>
      <p:grpSpPr>
        <a:xfrm>
          <a:off x="0" y="0"/>
          <a:ext cx="0" cy="0"/>
          <a:chOff x="0" y="0"/>
          <a:chExt cx="0" cy="0"/>
        </a:xfrm>
      </p:grpSpPr>
      <p:sp>
        <p:nvSpPr>
          <p:cNvPr id="2970" name="Google Shape;2970;p222"/>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Example Composite Rules</a:t>
            </a:r>
            <a:endParaRPr b="1" i="0" sz="3600" u="none" cap="none" strike="noStrike">
              <a:solidFill>
                <a:schemeClr val="accent1"/>
              </a:solidFill>
              <a:latin typeface="Poppins"/>
              <a:ea typeface="Poppins"/>
              <a:cs typeface="Poppins"/>
              <a:sym typeface="Poppins"/>
            </a:endParaRPr>
          </a:p>
        </p:txBody>
      </p:sp>
      <p:cxnSp>
        <p:nvCxnSpPr>
          <p:cNvPr id="2971" name="Google Shape;2971;p22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972" name="Google Shape;2972;p22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973" name="Google Shape;2973;p22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974" name="Google Shape;2974;p22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975" name="Google Shape;2975;p2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976" name="Google Shape;2976;p2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77" name="Google Shape;2977;p222"/>
          <p:cNvSpPr txBox="1"/>
          <p:nvPr/>
        </p:nvSpPr>
        <p:spPr>
          <a:xfrm>
            <a:off x="1000925" y="1650013"/>
            <a:ext cx="98199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pic>
        <p:nvPicPr>
          <p:cNvPr id="2978" name="Google Shape;2978;p222"/>
          <p:cNvPicPr preferRelativeResize="0"/>
          <p:nvPr/>
        </p:nvPicPr>
        <p:blipFill>
          <a:blip r:embed="rId6">
            <a:alphaModFix/>
          </a:blip>
          <a:stretch>
            <a:fillRect/>
          </a:stretch>
        </p:blipFill>
        <p:spPr>
          <a:xfrm>
            <a:off x="5392625" y="1650013"/>
            <a:ext cx="5428206" cy="3857437"/>
          </a:xfrm>
          <a:prstGeom prst="rect">
            <a:avLst/>
          </a:prstGeom>
          <a:noFill/>
          <a:ln>
            <a:noFill/>
          </a:ln>
        </p:spPr>
      </p:pic>
      <p:sp>
        <p:nvSpPr>
          <p:cNvPr id="2979" name="Google Shape;2979;p222"/>
          <p:cNvSpPr txBox="1"/>
          <p:nvPr/>
        </p:nvSpPr>
        <p:spPr>
          <a:xfrm>
            <a:off x="1000925" y="1650025"/>
            <a:ext cx="3814200" cy="252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solidFill>
                  <a:schemeClr val="dk1"/>
                </a:solidFill>
                <a:latin typeface="Archivo Medium"/>
                <a:ea typeface="Archivo Medium"/>
                <a:cs typeface="Archivo Medium"/>
                <a:sym typeface="Archivo Medium"/>
              </a:rPr>
              <a:t>Ruleset ini dirancang untuk memicu composite rules karena event-event yang dianalisis memiliki kecocokan pada parameter </a:t>
            </a:r>
            <a:r>
              <a:rPr b="1" lang="en-US" sz="1900">
                <a:solidFill>
                  <a:schemeClr val="dk1"/>
                </a:solidFill>
                <a:latin typeface="Archivo"/>
                <a:ea typeface="Archivo"/>
                <a:cs typeface="Archivo"/>
                <a:sym typeface="Archivo"/>
              </a:rPr>
              <a:t>rule ID</a:t>
            </a:r>
            <a:r>
              <a:rPr lang="en-US" sz="1900">
                <a:solidFill>
                  <a:schemeClr val="dk1"/>
                </a:solidFill>
                <a:latin typeface="Archivo Medium"/>
                <a:ea typeface="Archivo Medium"/>
                <a:cs typeface="Archivo Medium"/>
                <a:sym typeface="Archivo Medium"/>
              </a:rPr>
              <a:t> dan </a:t>
            </a:r>
            <a:r>
              <a:rPr b="1" lang="en-US" sz="1900">
                <a:solidFill>
                  <a:schemeClr val="dk1"/>
                </a:solidFill>
                <a:latin typeface="Archivo"/>
                <a:ea typeface="Archivo"/>
                <a:cs typeface="Archivo"/>
                <a:sym typeface="Archivo"/>
              </a:rPr>
              <a:t>nama field</a:t>
            </a:r>
            <a:r>
              <a:rPr lang="en-US" sz="1900">
                <a:solidFill>
                  <a:schemeClr val="dk1"/>
                </a:solidFill>
                <a:latin typeface="Archivo Medium"/>
                <a:ea typeface="Archivo Medium"/>
                <a:cs typeface="Archivo Medium"/>
                <a:sym typeface="Archivo Medium"/>
              </a:rPr>
              <a:t> action, yang merupakan syarat utama dalam mekanisme korelasi event di Wazuh</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3" name="Shape 2983"/>
        <p:cNvGrpSpPr/>
        <p:nvPr/>
      </p:nvGrpSpPr>
      <p:grpSpPr>
        <a:xfrm>
          <a:off x="0" y="0"/>
          <a:ext cx="0" cy="0"/>
          <a:chOff x="0" y="0"/>
          <a:chExt cx="0" cy="0"/>
        </a:xfrm>
      </p:grpSpPr>
      <p:sp>
        <p:nvSpPr>
          <p:cNvPr id="2984" name="Google Shape;2984;p223"/>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Example Composite Rules</a:t>
            </a:r>
            <a:endParaRPr b="1" i="0" sz="3600" u="none" cap="none" strike="noStrike">
              <a:solidFill>
                <a:schemeClr val="accent1"/>
              </a:solidFill>
              <a:latin typeface="Poppins"/>
              <a:ea typeface="Poppins"/>
              <a:cs typeface="Poppins"/>
              <a:sym typeface="Poppins"/>
            </a:endParaRPr>
          </a:p>
        </p:txBody>
      </p:sp>
      <p:cxnSp>
        <p:nvCxnSpPr>
          <p:cNvPr id="2985" name="Google Shape;2985;p22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986" name="Google Shape;2986;p22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2987" name="Google Shape;2987;p22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2988" name="Google Shape;2988;p22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2989" name="Google Shape;2989;p22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2990" name="Google Shape;2990;p2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91" name="Google Shape;2991;p223"/>
          <p:cNvSpPr txBox="1"/>
          <p:nvPr/>
        </p:nvSpPr>
        <p:spPr>
          <a:xfrm>
            <a:off x="1000925" y="1650013"/>
            <a:ext cx="98199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pic>
        <p:nvPicPr>
          <p:cNvPr id="2992" name="Google Shape;2992;p223"/>
          <p:cNvPicPr preferRelativeResize="0"/>
          <p:nvPr/>
        </p:nvPicPr>
        <p:blipFill>
          <a:blip r:embed="rId6">
            <a:alphaModFix/>
          </a:blip>
          <a:stretch>
            <a:fillRect/>
          </a:stretch>
        </p:blipFill>
        <p:spPr>
          <a:xfrm>
            <a:off x="1000927" y="1741333"/>
            <a:ext cx="9726900" cy="3129417"/>
          </a:xfrm>
          <a:prstGeom prst="rect">
            <a:avLst/>
          </a:prstGeom>
          <a:noFill/>
          <a:ln>
            <a:noFill/>
          </a:ln>
        </p:spPr>
      </p:pic>
    </p:spTree>
  </p:cSld>
  <p:clrMapOvr>
    <a:masterClrMapping/>
  </p:clrMapOvr>
  <p:transition spd="slow">
    <p:fade thruBlk="1"/>
  </p:transition>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6" name="Shape 2996"/>
        <p:cNvGrpSpPr/>
        <p:nvPr/>
      </p:nvGrpSpPr>
      <p:grpSpPr>
        <a:xfrm>
          <a:off x="0" y="0"/>
          <a:ext cx="0" cy="0"/>
          <a:chOff x="0" y="0"/>
          <a:chExt cx="0" cy="0"/>
        </a:xfrm>
      </p:grpSpPr>
      <p:sp>
        <p:nvSpPr>
          <p:cNvPr id="2997" name="Google Shape;2997;p224"/>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Example Composite Rules</a:t>
            </a:r>
            <a:endParaRPr b="1" i="0" sz="3600" u="none" cap="none" strike="noStrike">
              <a:solidFill>
                <a:schemeClr val="accent1"/>
              </a:solidFill>
              <a:latin typeface="Poppins"/>
              <a:ea typeface="Poppins"/>
              <a:cs typeface="Poppins"/>
              <a:sym typeface="Poppins"/>
            </a:endParaRPr>
          </a:p>
        </p:txBody>
      </p:sp>
      <p:cxnSp>
        <p:nvCxnSpPr>
          <p:cNvPr id="2998" name="Google Shape;2998;p22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2999" name="Google Shape;2999;p22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000" name="Google Shape;3000;p22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001" name="Google Shape;3001;p22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002" name="Google Shape;3002;p2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003" name="Google Shape;3003;p2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04" name="Google Shape;3004;p224"/>
          <p:cNvSpPr txBox="1"/>
          <p:nvPr/>
        </p:nvSpPr>
        <p:spPr>
          <a:xfrm>
            <a:off x="1000925" y="1650013"/>
            <a:ext cx="98199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
        <p:nvSpPr>
          <p:cNvPr id="3005" name="Google Shape;3005;p224"/>
          <p:cNvSpPr txBox="1"/>
          <p:nvPr/>
        </p:nvSpPr>
        <p:spPr>
          <a:xfrm>
            <a:off x="1000925" y="1308038"/>
            <a:ext cx="9819900" cy="4063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Serangan Brute-Force: Mendeteksi beberapa percobaan login yang gagal diikuti dengan satu login yang berhasil (mengindikasikan kemungkinan serangan brute-force).</a:t>
            </a:r>
            <a:endParaRPr sz="18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1800">
              <a:solidFill>
                <a:schemeClr val="dk1"/>
              </a:solidFill>
              <a:latin typeface="Archivo Medium"/>
              <a:ea typeface="Archivo Medium"/>
              <a:cs typeface="Archivo Medium"/>
              <a:sym typeface="Archivo Medium"/>
            </a:endParaRPr>
          </a:p>
          <a:p>
            <a:pPr indent="-342900" lvl="0" marL="457200" rtl="0" algn="l">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Eskalasi Hak Akses (Privilege Escalation): Mendeteksi rangkaian aktivitas di mana seorang pengguna meningkatkan hak aksesnya (misalnya melalui sudo atau su), kemudian melakukan aktivitas mencurigakan seperti mengubah file sistem.</a:t>
            </a:r>
            <a:endParaRPr sz="18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1800">
              <a:solidFill>
                <a:schemeClr val="dk1"/>
              </a:solidFill>
              <a:latin typeface="Archivo Medium"/>
              <a:ea typeface="Archivo Medium"/>
              <a:cs typeface="Archivo Medium"/>
              <a:sym typeface="Archivo Medium"/>
            </a:endParaRPr>
          </a:p>
          <a:p>
            <a:pPr indent="-342900" lvl="0" marL="457200" rtl="0" algn="l">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Deteksi Pergerakan Lateral (Lateral Movement Detection): Mengidentifikasi ketika penyerang berhasil mengakses satu mesin dan kemudian mencoba berpindah ke mesin lain dalam jaringan.</a:t>
            </a:r>
            <a:endParaRPr sz="18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1800">
              <a:solidFill>
                <a:schemeClr val="dk1"/>
              </a:solidFill>
              <a:latin typeface="Archivo Medium"/>
              <a:ea typeface="Archivo Medium"/>
              <a:cs typeface="Archivo Medium"/>
              <a:sym typeface="Archivo Medium"/>
            </a:endParaRPr>
          </a:p>
          <a:p>
            <a:pPr indent="-342900" lvl="0" marL="457200" rtl="0" algn="l">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Deteksi Ancaman Persisten (Persistent Threat Detection): Melacak pola serangan jangka panjang di mana beberapa kejadian yang saling terkait terjadi dalam rentang waktu beberapa hari atau minggu.</a:t>
            </a:r>
            <a:endParaRPr sz="18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9" name="Shape 3009"/>
        <p:cNvGrpSpPr/>
        <p:nvPr/>
      </p:nvGrpSpPr>
      <p:grpSpPr>
        <a:xfrm>
          <a:off x="0" y="0"/>
          <a:ext cx="0" cy="0"/>
          <a:chOff x="0" y="0"/>
          <a:chExt cx="0" cy="0"/>
        </a:xfrm>
      </p:grpSpPr>
      <p:sp>
        <p:nvSpPr>
          <p:cNvPr id="3010" name="Google Shape;3010;p225"/>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Alert Level </a:t>
            </a:r>
            <a:endParaRPr b="1" i="0" sz="3600" u="none" cap="none" strike="noStrike">
              <a:solidFill>
                <a:schemeClr val="accent1"/>
              </a:solidFill>
              <a:latin typeface="Poppins"/>
              <a:ea typeface="Poppins"/>
              <a:cs typeface="Poppins"/>
              <a:sym typeface="Poppins"/>
            </a:endParaRPr>
          </a:p>
        </p:txBody>
      </p:sp>
      <p:cxnSp>
        <p:nvCxnSpPr>
          <p:cNvPr id="3011" name="Google Shape;3011;p22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012" name="Google Shape;3012;p22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013" name="Google Shape;3013;p22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014" name="Google Shape;3014;p22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015" name="Google Shape;3015;p2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016" name="Google Shape;3016;p2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17" name="Google Shape;3017;p225"/>
          <p:cNvSpPr txBox="1"/>
          <p:nvPr/>
        </p:nvSpPr>
        <p:spPr>
          <a:xfrm>
            <a:off x="1000925" y="1650013"/>
            <a:ext cx="98199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
        <p:nvSpPr>
          <p:cNvPr id="3018" name="Google Shape;3018;p225"/>
          <p:cNvSpPr txBox="1"/>
          <p:nvPr/>
        </p:nvSpPr>
        <p:spPr>
          <a:xfrm>
            <a:off x="1000925" y="1650013"/>
            <a:ext cx="9819900" cy="281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Dalam Wazuh, tingkat peringatan (alert levels) adalah fitur penting yang digunakan untuk mengklasifikasikan dan memprioritaskan kejadian keamanan berdasarkan tingkat keparahannya. Tingkat ini berkisar dari 0 hingga 15, di mana angka yang lebih tinggi menunjukkan masalah yang lebih kritis.</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Tujuan dari pemberian level pada peringatan ini adalah untuk membantu tim keamanan mengidentifikasi dan merespons insiden yang paling mendesak dan serius dengan cepat, serta menyaring kejadian yang kurang penting atau hanya bersifat informatif</a:t>
            </a:r>
            <a:endParaRPr sz="19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2" name="Shape 3022"/>
        <p:cNvGrpSpPr/>
        <p:nvPr/>
      </p:nvGrpSpPr>
      <p:grpSpPr>
        <a:xfrm>
          <a:off x="0" y="0"/>
          <a:ext cx="0" cy="0"/>
          <a:chOff x="0" y="0"/>
          <a:chExt cx="0" cy="0"/>
        </a:xfrm>
      </p:grpSpPr>
      <p:sp>
        <p:nvSpPr>
          <p:cNvPr id="3023" name="Google Shape;3023;p226"/>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Alert Level </a:t>
            </a:r>
            <a:endParaRPr b="1" i="0" sz="3600" u="none" cap="none" strike="noStrike">
              <a:solidFill>
                <a:schemeClr val="accent1"/>
              </a:solidFill>
              <a:latin typeface="Poppins"/>
              <a:ea typeface="Poppins"/>
              <a:cs typeface="Poppins"/>
              <a:sym typeface="Poppins"/>
            </a:endParaRPr>
          </a:p>
        </p:txBody>
      </p:sp>
      <p:cxnSp>
        <p:nvCxnSpPr>
          <p:cNvPr id="3024" name="Google Shape;3024;p22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025" name="Google Shape;3025;p22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026" name="Google Shape;3026;p22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027" name="Google Shape;3027;p22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028" name="Google Shape;3028;p22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029" name="Google Shape;3029;p2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30" name="Google Shape;3030;p226"/>
          <p:cNvSpPr txBox="1"/>
          <p:nvPr/>
        </p:nvSpPr>
        <p:spPr>
          <a:xfrm>
            <a:off x="1000925" y="1650013"/>
            <a:ext cx="98199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
        <p:nvSpPr>
          <p:cNvPr id="3031" name="Google Shape;3031;p226"/>
          <p:cNvSpPr txBox="1"/>
          <p:nvPr/>
        </p:nvSpPr>
        <p:spPr>
          <a:xfrm>
            <a:off x="1000925" y="1650013"/>
            <a:ext cx="9819900" cy="4346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Archivo Medium"/>
              <a:buChar char="●"/>
            </a:pPr>
            <a:r>
              <a:rPr lang="en-US">
                <a:solidFill>
                  <a:schemeClr val="dk1"/>
                </a:solidFill>
                <a:latin typeface="Archivo Medium"/>
                <a:ea typeface="Archivo Medium"/>
                <a:cs typeface="Archivo Medium"/>
                <a:sym typeface="Archivo Medium"/>
              </a:rPr>
              <a:t>Low levels (0-3) handle informational or routine system events.</a:t>
            </a:r>
            <a:endParaRPr>
              <a:solidFill>
                <a:schemeClr val="dk1"/>
              </a:solidFill>
              <a:latin typeface="Archivo Medium"/>
              <a:ea typeface="Archivo Medium"/>
              <a:cs typeface="Archivo Medium"/>
              <a:sym typeface="Archivo Medium"/>
            </a:endParaRPr>
          </a:p>
          <a:p>
            <a:pPr indent="-317500" lvl="1" marL="914400" rtl="0" algn="l">
              <a:spcBef>
                <a:spcPts val="0"/>
              </a:spcBef>
              <a:spcAft>
                <a:spcPts val="0"/>
              </a:spcAft>
              <a:buClr>
                <a:schemeClr val="dk1"/>
              </a:buClr>
              <a:buSzPts val="1400"/>
              <a:buFont typeface="Archivo Medium"/>
              <a:buChar char="○"/>
            </a:pPr>
            <a:r>
              <a:rPr lang="en-US">
                <a:solidFill>
                  <a:schemeClr val="dk1"/>
                </a:solidFill>
                <a:latin typeface="Archivo Medium"/>
                <a:ea typeface="Archivo Medium"/>
                <a:cs typeface="Archivo Medium"/>
                <a:sym typeface="Archivo Medium"/>
              </a:rPr>
              <a:t>A service restart or stop event.</a:t>
            </a:r>
            <a:endParaRPr>
              <a:solidFill>
                <a:schemeClr val="dk1"/>
              </a:solidFill>
              <a:latin typeface="Archivo Medium"/>
              <a:ea typeface="Archivo Medium"/>
              <a:cs typeface="Archivo Medium"/>
              <a:sym typeface="Archivo Medium"/>
            </a:endParaRPr>
          </a:p>
          <a:p>
            <a:pPr indent="-317500" lvl="1" marL="914400" rtl="0" algn="l">
              <a:spcBef>
                <a:spcPts val="0"/>
              </a:spcBef>
              <a:spcAft>
                <a:spcPts val="0"/>
              </a:spcAft>
              <a:buClr>
                <a:schemeClr val="dk1"/>
              </a:buClr>
              <a:buSzPts val="1400"/>
              <a:buFont typeface="Archivo Medium"/>
              <a:buChar char="○"/>
            </a:pPr>
            <a:r>
              <a:rPr lang="en-US">
                <a:solidFill>
                  <a:schemeClr val="dk1"/>
                </a:solidFill>
                <a:latin typeface="Archivo Medium"/>
                <a:ea typeface="Archivo Medium"/>
                <a:cs typeface="Archivo Medium"/>
                <a:sym typeface="Archivo Medium"/>
              </a:rPr>
              <a:t>An informational system log about system uptime or routine job completion.</a:t>
            </a:r>
            <a:endParaRPr>
              <a:solidFill>
                <a:schemeClr val="dk1"/>
              </a:solidFill>
              <a:latin typeface="Archivo Medium"/>
              <a:ea typeface="Archivo Medium"/>
              <a:cs typeface="Archivo Medium"/>
              <a:sym typeface="Archivo Medium"/>
            </a:endParaRPr>
          </a:p>
          <a:p>
            <a:pPr indent="-317500" lvl="0" marL="457200" rtl="0" algn="l">
              <a:spcBef>
                <a:spcPts val="0"/>
              </a:spcBef>
              <a:spcAft>
                <a:spcPts val="0"/>
              </a:spcAft>
              <a:buClr>
                <a:schemeClr val="dk1"/>
              </a:buClr>
              <a:buSzPts val="1400"/>
              <a:buFont typeface="Archivo Medium"/>
              <a:buChar char="●"/>
            </a:pPr>
            <a:r>
              <a:rPr lang="en-US">
                <a:solidFill>
                  <a:schemeClr val="dk1"/>
                </a:solidFill>
                <a:latin typeface="Archivo Medium"/>
                <a:ea typeface="Archivo Medium"/>
                <a:cs typeface="Archivo Medium"/>
                <a:sym typeface="Archivo Medium"/>
              </a:rPr>
              <a:t>Medium levels (4-7) deal with moderately suspicious activities or misconfigurations.</a:t>
            </a:r>
            <a:endParaRPr>
              <a:solidFill>
                <a:schemeClr val="dk1"/>
              </a:solidFill>
              <a:latin typeface="Archivo Medium"/>
              <a:ea typeface="Archivo Medium"/>
              <a:cs typeface="Archivo Medium"/>
              <a:sym typeface="Archivo Medium"/>
            </a:endParaRPr>
          </a:p>
          <a:p>
            <a:pPr indent="-317500" lvl="1" marL="914400" rtl="0" algn="l">
              <a:spcBef>
                <a:spcPts val="0"/>
              </a:spcBef>
              <a:spcAft>
                <a:spcPts val="0"/>
              </a:spcAft>
              <a:buClr>
                <a:schemeClr val="dk1"/>
              </a:buClr>
              <a:buSzPts val="1400"/>
              <a:buFont typeface="Archivo Medium"/>
              <a:buChar char="○"/>
            </a:pPr>
            <a:r>
              <a:rPr lang="en-US">
                <a:solidFill>
                  <a:schemeClr val="dk1"/>
                </a:solidFill>
                <a:latin typeface="Archivo Medium"/>
                <a:ea typeface="Archivo Medium"/>
                <a:cs typeface="Archivo Medium"/>
                <a:sym typeface="Archivo Medium"/>
              </a:rPr>
              <a:t>Level 4-5: Detecting a failed login attempt.</a:t>
            </a:r>
            <a:endParaRPr>
              <a:solidFill>
                <a:schemeClr val="dk1"/>
              </a:solidFill>
              <a:latin typeface="Archivo Medium"/>
              <a:ea typeface="Archivo Medium"/>
              <a:cs typeface="Archivo Medium"/>
              <a:sym typeface="Archivo Medium"/>
            </a:endParaRPr>
          </a:p>
          <a:p>
            <a:pPr indent="-317500" lvl="1" marL="914400" rtl="0" algn="l">
              <a:spcBef>
                <a:spcPts val="0"/>
              </a:spcBef>
              <a:spcAft>
                <a:spcPts val="0"/>
              </a:spcAft>
              <a:buClr>
                <a:schemeClr val="dk1"/>
              </a:buClr>
              <a:buSzPts val="1400"/>
              <a:buFont typeface="Archivo Medium"/>
              <a:buChar char="○"/>
            </a:pPr>
            <a:r>
              <a:rPr lang="en-US">
                <a:solidFill>
                  <a:schemeClr val="dk1"/>
                </a:solidFill>
                <a:latin typeface="Archivo Medium"/>
                <a:ea typeface="Archivo Medium"/>
                <a:cs typeface="Archivo Medium"/>
                <a:sym typeface="Archivo Medium"/>
              </a:rPr>
              <a:t>Level 6: A moderate number of failed logins over a short period.</a:t>
            </a:r>
            <a:endParaRPr>
              <a:solidFill>
                <a:schemeClr val="dk1"/>
              </a:solidFill>
              <a:latin typeface="Archivo Medium"/>
              <a:ea typeface="Archivo Medium"/>
              <a:cs typeface="Archivo Medium"/>
              <a:sym typeface="Archivo Medium"/>
            </a:endParaRPr>
          </a:p>
          <a:p>
            <a:pPr indent="-317500" lvl="1" marL="914400" rtl="0" algn="l">
              <a:spcBef>
                <a:spcPts val="0"/>
              </a:spcBef>
              <a:spcAft>
                <a:spcPts val="0"/>
              </a:spcAft>
              <a:buClr>
                <a:schemeClr val="dk1"/>
              </a:buClr>
              <a:buSzPts val="1400"/>
              <a:buFont typeface="Archivo Medium"/>
              <a:buChar char="○"/>
            </a:pPr>
            <a:r>
              <a:rPr lang="en-US">
                <a:solidFill>
                  <a:schemeClr val="dk1"/>
                </a:solidFill>
                <a:latin typeface="Archivo Medium"/>
                <a:ea typeface="Archivo Medium"/>
                <a:cs typeface="Archivo Medium"/>
                <a:sym typeface="Archivo Medium"/>
              </a:rPr>
              <a:t>Level 7: Misconfigured firewall rules that could expose a system to unauthorized access.</a:t>
            </a:r>
            <a:endParaRPr>
              <a:solidFill>
                <a:schemeClr val="dk1"/>
              </a:solidFill>
              <a:latin typeface="Archivo Medium"/>
              <a:ea typeface="Archivo Medium"/>
              <a:cs typeface="Archivo Medium"/>
              <a:sym typeface="Archivo Medium"/>
            </a:endParaRPr>
          </a:p>
          <a:p>
            <a:pPr indent="-317500" lvl="0" marL="457200" rtl="0" algn="l">
              <a:spcBef>
                <a:spcPts val="0"/>
              </a:spcBef>
              <a:spcAft>
                <a:spcPts val="0"/>
              </a:spcAft>
              <a:buClr>
                <a:schemeClr val="dk1"/>
              </a:buClr>
              <a:buSzPts val="1400"/>
              <a:buFont typeface="Archivo Medium"/>
              <a:buChar char="●"/>
            </a:pPr>
            <a:r>
              <a:rPr lang="en-US">
                <a:solidFill>
                  <a:schemeClr val="dk1"/>
                </a:solidFill>
                <a:latin typeface="Archivo Medium"/>
                <a:ea typeface="Archivo Medium"/>
                <a:cs typeface="Archivo Medium"/>
                <a:sym typeface="Archivo Medium"/>
              </a:rPr>
              <a:t>High levels (8-10) indicate clear security threats, like malware detection or unauthorized access.</a:t>
            </a:r>
            <a:endParaRPr>
              <a:solidFill>
                <a:schemeClr val="dk1"/>
              </a:solidFill>
              <a:latin typeface="Archivo Medium"/>
              <a:ea typeface="Archivo Medium"/>
              <a:cs typeface="Archivo Medium"/>
              <a:sym typeface="Archivo Medium"/>
            </a:endParaRPr>
          </a:p>
          <a:p>
            <a:pPr indent="-317500" lvl="1" marL="914400" rtl="0" algn="l">
              <a:spcBef>
                <a:spcPts val="0"/>
              </a:spcBef>
              <a:spcAft>
                <a:spcPts val="0"/>
              </a:spcAft>
              <a:buClr>
                <a:schemeClr val="dk1"/>
              </a:buClr>
              <a:buSzPts val="1400"/>
              <a:buFont typeface="Archivo Medium"/>
              <a:buChar char="○"/>
            </a:pPr>
            <a:r>
              <a:rPr lang="en-US">
                <a:solidFill>
                  <a:schemeClr val="dk1"/>
                </a:solidFill>
                <a:latin typeface="Archivo Medium"/>
                <a:ea typeface="Archivo Medium"/>
                <a:cs typeface="Archivo Medium"/>
                <a:sym typeface="Archivo Medium"/>
              </a:rPr>
              <a:t>Level 8: Detecting a malicious file being uploaded to a web server.</a:t>
            </a:r>
            <a:endParaRPr>
              <a:solidFill>
                <a:schemeClr val="dk1"/>
              </a:solidFill>
              <a:latin typeface="Archivo Medium"/>
              <a:ea typeface="Archivo Medium"/>
              <a:cs typeface="Archivo Medium"/>
              <a:sym typeface="Archivo Medium"/>
            </a:endParaRPr>
          </a:p>
          <a:p>
            <a:pPr indent="-317500" lvl="1" marL="914400" rtl="0" algn="l">
              <a:spcBef>
                <a:spcPts val="0"/>
              </a:spcBef>
              <a:spcAft>
                <a:spcPts val="0"/>
              </a:spcAft>
              <a:buClr>
                <a:schemeClr val="dk1"/>
              </a:buClr>
              <a:buSzPts val="1400"/>
              <a:buFont typeface="Archivo Medium"/>
              <a:buChar char="○"/>
            </a:pPr>
            <a:r>
              <a:rPr lang="en-US">
                <a:solidFill>
                  <a:schemeClr val="dk1"/>
                </a:solidFill>
                <a:latin typeface="Archivo Medium"/>
                <a:ea typeface="Archivo Medium"/>
                <a:cs typeface="Archivo Medium"/>
                <a:sym typeface="Archivo Medium"/>
              </a:rPr>
              <a:t>Level 9: Unauthorized access to a restricted area of the network.</a:t>
            </a:r>
            <a:endParaRPr>
              <a:solidFill>
                <a:schemeClr val="dk1"/>
              </a:solidFill>
              <a:latin typeface="Archivo Medium"/>
              <a:ea typeface="Archivo Medium"/>
              <a:cs typeface="Archivo Medium"/>
              <a:sym typeface="Archivo Medium"/>
            </a:endParaRPr>
          </a:p>
          <a:p>
            <a:pPr indent="-317500" lvl="1" marL="914400" rtl="0" algn="l">
              <a:spcBef>
                <a:spcPts val="0"/>
              </a:spcBef>
              <a:spcAft>
                <a:spcPts val="0"/>
              </a:spcAft>
              <a:buClr>
                <a:schemeClr val="dk1"/>
              </a:buClr>
              <a:buSzPts val="1400"/>
              <a:buFont typeface="Archivo Medium"/>
              <a:buChar char="○"/>
            </a:pPr>
            <a:r>
              <a:rPr lang="en-US">
                <a:solidFill>
                  <a:schemeClr val="dk1"/>
                </a:solidFill>
                <a:latin typeface="Archivo Medium"/>
                <a:ea typeface="Archivo Medium"/>
                <a:cs typeface="Archivo Medium"/>
                <a:sym typeface="Archivo Medium"/>
              </a:rPr>
              <a:t>Level 10: A brute-force attack detected on an administrator account, or a malware detection alert.</a:t>
            </a:r>
            <a:endParaRPr>
              <a:solidFill>
                <a:schemeClr val="dk1"/>
              </a:solidFill>
              <a:latin typeface="Archivo Medium"/>
              <a:ea typeface="Archivo Medium"/>
              <a:cs typeface="Archivo Medium"/>
              <a:sym typeface="Archivo Medium"/>
            </a:endParaRPr>
          </a:p>
          <a:p>
            <a:pPr indent="-317500" lvl="0" marL="457200" rtl="0" algn="l">
              <a:spcBef>
                <a:spcPts val="0"/>
              </a:spcBef>
              <a:spcAft>
                <a:spcPts val="0"/>
              </a:spcAft>
              <a:buClr>
                <a:schemeClr val="dk1"/>
              </a:buClr>
              <a:buSzPts val="1400"/>
              <a:buFont typeface="Archivo Medium"/>
              <a:buChar char="●"/>
            </a:pPr>
            <a:r>
              <a:rPr lang="en-US">
                <a:solidFill>
                  <a:schemeClr val="dk1"/>
                </a:solidFill>
                <a:latin typeface="Archivo Medium"/>
                <a:ea typeface="Archivo Medium"/>
                <a:cs typeface="Archivo Medium"/>
                <a:sym typeface="Archivo Medium"/>
              </a:rPr>
              <a:t>Critical levels (11-15) are reserved for urgent events, such as system compromises, data theft, or active exploitation.</a:t>
            </a:r>
            <a:endParaRPr>
              <a:solidFill>
                <a:schemeClr val="dk1"/>
              </a:solidFill>
              <a:latin typeface="Archivo Medium"/>
              <a:ea typeface="Archivo Medium"/>
              <a:cs typeface="Archivo Medium"/>
              <a:sym typeface="Archivo Medium"/>
            </a:endParaRPr>
          </a:p>
          <a:p>
            <a:pPr indent="-317500" lvl="1" marL="914400" rtl="0" algn="l">
              <a:lnSpc>
                <a:spcPct val="115000"/>
              </a:lnSpc>
              <a:spcBef>
                <a:spcPts val="0"/>
              </a:spcBef>
              <a:spcAft>
                <a:spcPts val="0"/>
              </a:spcAft>
              <a:buClr>
                <a:schemeClr val="dk1"/>
              </a:buClr>
              <a:buSzPts val="1400"/>
              <a:buChar char="○"/>
            </a:pPr>
            <a:r>
              <a:rPr lang="en-US">
                <a:solidFill>
                  <a:schemeClr val="dk1"/>
                </a:solidFill>
                <a:latin typeface="Archivo Medium"/>
                <a:ea typeface="Archivo Medium"/>
                <a:cs typeface="Archivo Medium"/>
                <a:sym typeface="Archivo Medium"/>
              </a:rPr>
              <a:t>Levels 11-12: Significant security events that indicate a breach or serious threat to the system, such as a privilege escalation exploit or unauthorized system access.</a:t>
            </a:r>
            <a:endParaRPr>
              <a:solidFill>
                <a:schemeClr val="dk1"/>
              </a:solidFill>
              <a:latin typeface="Archivo Medium"/>
              <a:ea typeface="Archivo Medium"/>
              <a:cs typeface="Archivo Medium"/>
              <a:sym typeface="Archivo Medium"/>
            </a:endParaRPr>
          </a:p>
          <a:p>
            <a:pPr indent="-317500" lvl="1" marL="914400" rtl="0" algn="l">
              <a:lnSpc>
                <a:spcPct val="115000"/>
              </a:lnSpc>
              <a:spcBef>
                <a:spcPts val="0"/>
              </a:spcBef>
              <a:spcAft>
                <a:spcPts val="0"/>
              </a:spcAft>
              <a:buClr>
                <a:schemeClr val="dk1"/>
              </a:buClr>
              <a:buSzPts val="1400"/>
              <a:buChar char="○"/>
            </a:pPr>
            <a:r>
              <a:rPr lang="en-US">
                <a:solidFill>
                  <a:schemeClr val="dk1"/>
                </a:solidFill>
                <a:latin typeface="Archivo Medium"/>
                <a:ea typeface="Archivo Medium"/>
                <a:cs typeface="Archivo Medium"/>
                <a:sym typeface="Archivo Medium"/>
              </a:rPr>
              <a:t>Levels 13-15: Represent catastrophic events such as detected malware infection, confirmed data theft, or ongoing exploitation of a critical vulnerability</a:t>
            </a:r>
            <a:endParaRPr>
              <a:solidFill>
                <a:schemeClr val="dk1"/>
              </a:solidFill>
              <a:latin typeface="Archivo Medium"/>
              <a:ea typeface="Archivo Medium"/>
              <a:cs typeface="Archivo Medium"/>
              <a:sym typeface="Archivo Medium"/>
            </a:endParaRPr>
          </a:p>
          <a:p>
            <a:pPr indent="0" lvl="0" marL="0" rtl="0" algn="l">
              <a:spcBef>
                <a:spcPts val="1200"/>
              </a:spcBef>
              <a:spcAft>
                <a:spcPts val="0"/>
              </a:spcAft>
              <a:buNone/>
            </a:pPr>
            <a:r>
              <a:t/>
            </a:r>
            <a:endParaRPr>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5" name="Shape 3035"/>
        <p:cNvGrpSpPr/>
        <p:nvPr/>
      </p:nvGrpSpPr>
      <p:grpSpPr>
        <a:xfrm>
          <a:off x="0" y="0"/>
          <a:ext cx="0" cy="0"/>
          <a:chOff x="0" y="0"/>
          <a:chExt cx="0" cy="0"/>
        </a:xfrm>
      </p:grpSpPr>
      <p:sp>
        <p:nvSpPr>
          <p:cNvPr id="3036" name="Google Shape;3036;p227"/>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Testing Decoder &amp; Ruleset</a:t>
            </a:r>
            <a:endParaRPr b="1" i="0" sz="3600" u="none" cap="none" strike="noStrike">
              <a:solidFill>
                <a:schemeClr val="accent1"/>
              </a:solidFill>
              <a:latin typeface="Poppins"/>
              <a:ea typeface="Poppins"/>
              <a:cs typeface="Poppins"/>
              <a:sym typeface="Poppins"/>
            </a:endParaRPr>
          </a:p>
        </p:txBody>
      </p:sp>
      <p:cxnSp>
        <p:nvCxnSpPr>
          <p:cNvPr id="3037" name="Google Shape;3037;p22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038" name="Google Shape;3038;p22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039" name="Google Shape;3039;p22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040" name="Google Shape;3040;p22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041" name="Google Shape;3041;p2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042" name="Google Shape;3042;p2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43" name="Google Shape;3043;p227"/>
          <p:cNvSpPr txBox="1"/>
          <p:nvPr/>
        </p:nvSpPr>
        <p:spPr>
          <a:xfrm>
            <a:off x="1000925" y="1650013"/>
            <a:ext cx="98199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
        <p:nvSpPr>
          <p:cNvPr id="3044" name="Google Shape;3044;p227"/>
          <p:cNvSpPr txBox="1"/>
          <p:nvPr/>
        </p:nvSpPr>
        <p:spPr>
          <a:xfrm>
            <a:off x="1000925" y="1650025"/>
            <a:ext cx="4533000" cy="458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latin typeface="Archivo Medium"/>
                <a:ea typeface="Archivo Medium"/>
                <a:cs typeface="Archivo Medium"/>
                <a:sym typeface="Archivo Medium"/>
              </a:rPr>
              <a:t>Regular Expressions in Wazuh</a:t>
            </a:r>
            <a:endParaRPr sz="20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rPr lang="en-US">
                <a:solidFill>
                  <a:schemeClr val="dk1"/>
                </a:solidFill>
                <a:latin typeface="Archivo Medium"/>
                <a:ea typeface="Archivo Medium"/>
                <a:cs typeface="Archivo Medium"/>
                <a:sym typeface="Archivo Medium"/>
              </a:rPr>
              <a:t>Example Regex for IP address</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rPr lang="en-US">
                <a:solidFill>
                  <a:schemeClr val="dk1"/>
                </a:solidFill>
                <a:latin typeface="Courier New"/>
                <a:ea typeface="Courier New"/>
                <a:cs typeface="Courier New"/>
                <a:sym typeface="Courier New"/>
              </a:rPr>
              <a:t>\b\d{1,3}\.\d{1,3}\.\d{1,3}\.\d{1,3}\b</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a:solidFill>
                  <a:schemeClr val="dk1"/>
                </a:solidFill>
                <a:latin typeface="Archivo Medium"/>
                <a:ea typeface="Archivo Medium"/>
                <a:cs typeface="Archivo Medium"/>
                <a:sym typeface="Archivo Medium"/>
              </a:rPr>
              <a:t>Example Regex for Match timestamp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rPr lang="en-US">
                <a:solidFill>
                  <a:schemeClr val="dk1"/>
                </a:solidFill>
                <a:latin typeface="Archivo Medium"/>
                <a:ea typeface="Archivo Medium"/>
                <a:cs typeface="Archivo Medium"/>
                <a:sym typeface="Archivo Medium"/>
              </a:rPr>
              <a:t>( </a:t>
            </a:r>
            <a:r>
              <a:rPr lang="en-US" sz="1100">
                <a:solidFill>
                  <a:schemeClr val="dk1"/>
                </a:solidFill>
                <a:latin typeface="Roboto Mono"/>
                <a:ea typeface="Roboto Mono"/>
                <a:cs typeface="Roboto Mono"/>
                <a:sym typeface="Roboto Mono"/>
              </a:rPr>
              <a:t>YYYY-MM-DD HH:MM:SS</a:t>
            </a:r>
            <a:r>
              <a:rPr lang="en-US" sz="1100">
                <a:solidFill>
                  <a:schemeClr val="dk1"/>
                </a:solidFill>
              </a:rPr>
              <a:t>: )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a:solidFill>
                  <a:schemeClr val="dk1"/>
                </a:solidFill>
                <a:latin typeface="Courier New"/>
                <a:ea typeface="Courier New"/>
                <a:cs typeface="Courier New"/>
                <a:sym typeface="Courier New"/>
              </a:rPr>
              <a:t>(\d+.\d+.\d+.\d+)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a:solidFill>
                  <a:schemeClr val="dk1"/>
                </a:solidFill>
                <a:latin typeface="Archivo Medium"/>
                <a:ea typeface="Archivo Medium"/>
                <a:cs typeface="Archivo Medium"/>
                <a:sym typeface="Archivo Medium"/>
              </a:rPr>
              <a:t>Example Regex for Matching url</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a:solidFill>
                  <a:schemeClr val="dk1"/>
                </a:solidFill>
                <a:latin typeface="Courier New"/>
                <a:ea typeface="Courier New"/>
                <a:cs typeface="Courier New"/>
                <a:sym typeface="Courier New"/>
              </a:rPr>
              <a:t>https?:\/\/[a-zA-Z0-9.-]+\.[a-zA-Z]{2,6}(\/[a-zA-Z0-9._-]*)*</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a:solidFill>
                <a:schemeClr val="dk1"/>
              </a:solidFill>
              <a:latin typeface="Archivo Medium"/>
              <a:ea typeface="Archivo Medium"/>
              <a:cs typeface="Archivo Medium"/>
              <a:sym typeface="Archivo Medium"/>
            </a:endParaRPr>
          </a:p>
        </p:txBody>
      </p:sp>
      <p:pic>
        <p:nvPicPr>
          <p:cNvPr id="3045" name="Google Shape;3045;p227"/>
          <p:cNvPicPr preferRelativeResize="0"/>
          <p:nvPr/>
        </p:nvPicPr>
        <p:blipFill>
          <a:blip r:embed="rId6">
            <a:alphaModFix/>
          </a:blip>
          <a:stretch>
            <a:fillRect/>
          </a:stretch>
        </p:blipFill>
        <p:spPr>
          <a:xfrm>
            <a:off x="5817900" y="1646613"/>
            <a:ext cx="5002927" cy="4002325"/>
          </a:xfrm>
          <a:prstGeom prst="rect">
            <a:avLst/>
          </a:prstGeom>
          <a:noFill/>
          <a:ln>
            <a:noFill/>
          </a:ln>
          <a:effectLst>
            <a:outerShdw blurRad="57150" rotWithShape="0" algn="bl" dir="8400000" dist="19050">
              <a:srgbClr val="000000">
                <a:alpha val="80000"/>
              </a:srgbClr>
            </a:outerShdw>
          </a:effectLst>
        </p:spPr>
      </p:pic>
    </p:spTree>
  </p:cSld>
  <p:clrMapOvr>
    <a:masterClrMapping/>
  </p:clrMapOvr>
  <p:transition spd="slow">
    <p:fade thruBlk="1"/>
  </p:transition>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9" name="Shape 3049"/>
        <p:cNvGrpSpPr/>
        <p:nvPr/>
      </p:nvGrpSpPr>
      <p:grpSpPr>
        <a:xfrm>
          <a:off x="0" y="0"/>
          <a:ext cx="0" cy="0"/>
          <a:chOff x="0" y="0"/>
          <a:chExt cx="0" cy="0"/>
        </a:xfrm>
      </p:grpSpPr>
      <p:sp>
        <p:nvSpPr>
          <p:cNvPr id="3050" name="Google Shape;3050;p228"/>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Testing Decoder &amp; Ruleset</a:t>
            </a:r>
            <a:endParaRPr b="1" sz="3600">
              <a:solidFill>
                <a:schemeClr val="accent1"/>
              </a:solidFill>
              <a:latin typeface="Poppins"/>
              <a:ea typeface="Poppins"/>
              <a:cs typeface="Poppins"/>
              <a:sym typeface="Poppins"/>
            </a:endParaRPr>
          </a:p>
        </p:txBody>
      </p:sp>
      <p:cxnSp>
        <p:nvCxnSpPr>
          <p:cNvPr id="3051" name="Google Shape;3051;p22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052" name="Google Shape;3052;p22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053" name="Google Shape;3053;p22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054" name="Google Shape;3054;p22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055" name="Google Shape;3055;p2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056" name="Google Shape;3056;p2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57" name="Google Shape;3057;p228"/>
          <p:cNvSpPr txBox="1"/>
          <p:nvPr/>
        </p:nvSpPr>
        <p:spPr>
          <a:xfrm>
            <a:off x="694650" y="1265050"/>
            <a:ext cx="58746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Archivo Medium"/>
                <a:ea typeface="Archivo Medium"/>
                <a:cs typeface="Archivo Medium"/>
                <a:sym typeface="Archivo Medium"/>
              </a:rPr>
              <a:t>Example :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rPr lang="en-US">
                <a:solidFill>
                  <a:schemeClr val="dk1"/>
                </a:solidFill>
                <a:latin typeface="Archivo Medium"/>
                <a:ea typeface="Archivo Medium"/>
                <a:cs typeface="Archivo Medium"/>
                <a:sym typeface="Archivo Medium"/>
              </a:rPr>
              <a:t>Oct 12 11:47:40 CCR1009-IDN_Baru login failure for user ITw from 172.16.9.93 via winbox</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 name="mikrotik"&gt;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&lt;prematch&gt;^login&lt;/prematch&gt;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 name="mikrotik_router"&gt;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&lt;parent&gt;mikrotik&lt;/parent&gt;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&lt;regex offset="after_parent"&gt;^(\.+) for user (\.+) from (\d+.\d+.\d+.\d+) via (\.+)&lt;/regex&gt;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&lt;order&gt;status,user,srcip,method&lt;/order&gt;</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a:solidFill>
                  <a:schemeClr val="dk1"/>
                </a:solidFill>
                <a:latin typeface="Courier New"/>
                <a:ea typeface="Courier New"/>
                <a:cs typeface="Courier New"/>
                <a:sym typeface="Courier New"/>
              </a:rPr>
              <a:t>&lt;/decoder&gt;</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a:solidFill>
                <a:schemeClr val="dk1"/>
              </a:solidFill>
              <a:latin typeface="Archivo Medium"/>
              <a:ea typeface="Archivo Medium"/>
              <a:cs typeface="Archivo Medium"/>
              <a:sym typeface="Archivo Medium"/>
            </a:endParaRPr>
          </a:p>
        </p:txBody>
      </p:sp>
      <p:sp>
        <p:nvSpPr>
          <p:cNvPr id="3058" name="Google Shape;3058;p228"/>
          <p:cNvSpPr txBox="1"/>
          <p:nvPr/>
        </p:nvSpPr>
        <p:spPr>
          <a:xfrm>
            <a:off x="7181400" y="1132875"/>
            <a:ext cx="5010600" cy="492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Archivo"/>
              <a:ea typeface="Archivo"/>
              <a:cs typeface="Archivo"/>
              <a:sym typeface="Archivo"/>
            </a:endParaRPr>
          </a:p>
          <a:p>
            <a:pPr indent="0" lvl="0" marL="0" rtl="0" algn="l">
              <a:spcBef>
                <a:spcPts val="0"/>
              </a:spcBef>
              <a:spcAft>
                <a:spcPts val="0"/>
              </a:spcAft>
              <a:buNone/>
            </a:pPr>
            <a:r>
              <a:rPr lang="en-US">
                <a:latin typeface="Archivo"/>
                <a:ea typeface="Archivo"/>
                <a:cs typeface="Archivo"/>
                <a:sym typeface="Archivo"/>
              </a:rPr>
              <a:t>&lt;!-- Access control messages --&gt;</a:t>
            </a:r>
            <a:endParaRPr>
              <a:latin typeface="Archivo"/>
              <a:ea typeface="Archivo"/>
              <a:cs typeface="Archivo"/>
              <a:sym typeface="Archivo"/>
            </a:endParaRPr>
          </a:p>
          <a:p>
            <a:pPr indent="0" lvl="0" marL="0" rtl="0" algn="l">
              <a:spcBef>
                <a:spcPts val="0"/>
              </a:spcBef>
              <a:spcAft>
                <a:spcPts val="0"/>
              </a:spcAft>
              <a:buNone/>
            </a:pPr>
            <a:r>
              <a:rPr lang="en-US">
                <a:latin typeface="Archivo"/>
                <a:ea typeface="Archivo"/>
                <a:cs typeface="Archivo"/>
                <a:sym typeface="Archivo"/>
              </a:rPr>
              <a:t>&lt;group name="syslog,access_control,"&gt;</a:t>
            </a:r>
            <a:endParaRPr>
              <a:latin typeface="Archivo"/>
              <a:ea typeface="Archivo"/>
              <a:cs typeface="Archivo"/>
              <a:sym typeface="Archivo"/>
            </a:endParaRPr>
          </a:p>
          <a:p>
            <a:pPr indent="0" lvl="0" marL="0" rtl="0" algn="l">
              <a:spcBef>
                <a:spcPts val="0"/>
              </a:spcBef>
              <a:spcAft>
                <a:spcPts val="0"/>
              </a:spcAft>
              <a:buNone/>
            </a:pPr>
            <a:r>
              <a:rPr lang="en-US">
                <a:latin typeface="Archivo"/>
                <a:ea typeface="Archivo"/>
                <a:cs typeface="Archivo"/>
                <a:sym typeface="Archivo"/>
              </a:rPr>
              <a:t>  &lt;rule id="2501" level="5"&gt;</a:t>
            </a:r>
            <a:endParaRPr>
              <a:latin typeface="Archivo"/>
              <a:ea typeface="Archivo"/>
              <a:cs typeface="Archivo"/>
              <a:sym typeface="Archivo"/>
            </a:endParaRPr>
          </a:p>
          <a:p>
            <a:pPr indent="0" lvl="0" marL="0" rtl="0" algn="l">
              <a:spcBef>
                <a:spcPts val="0"/>
              </a:spcBef>
              <a:spcAft>
                <a:spcPts val="0"/>
              </a:spcAft>
              <a:buNone/>
            </a:pPr>
            <a:r>
              <a:rPr lang="en-US">
                <a:latin typeface="Archivo"/>
                <a:ea typeface="Archivo"/>
                <a:cs typeface="Archivo"/>
                <a:sym typeface="Archivo"/>
              </a:rPr>
              <a:t>    &lt;match&gt;FAILED LOGIN |authentication failure|&lt;/match&gt;</a:t>
            </a:r>
            <a:endParaRPr>
              <a:latin typeface="Archivo"/>
              <a:ea typeface="Archivo"/>
              <a:cs typeface="Archivo"/>
              <a:sym typeface="Archivo"/>
            </a:endParaRPr>
          </a:p>
          <a:p>
            <a:pPr indent="0" lvl="0" marL="0" rtl="0" algn="l">
              <a:spcBef>
                <a:spcPts val="0"/>
              </a:spcBef>
              <a:spcAft>
                <a:spcPts val="0"/>
              </a:spcAft>
              <a:buNone/>
            </a:pPr>
            <a:r>
              <a:rPr lang="en-US">
                <a:latin typeface="Archivo"/>
                <a:ea typeface="Archivo"/>
                <a:cs typeface="Archivo"/>
                <a:sym typeface="Archivo"/>
              </a:rPr>
              <a:t>    &lt;match&gt;Authentication failed for|invalid password for|&lt;/match&gt;</a:t>
            </a:r>
            <a:endParaRPr>
              <a:latin typeface="Archivo"/>
              <a:ea typeface="Archivo"/>
              <a:cs typeface="Archivo"/>
              <a:sym typeface="Archivo"/>
            </a:endParaRPr>
          </a:p>
          <a:p>
            <a:pPr indent="0" lvl="0" marL="0" rtl="0" algn="l">
              <a:spcBef>
                <a:spcPts val="0"/>
              </a:spcBef>
              <a:spcAft>
                <a:spcPts val="0"/>
              </a:spcAft>
              <a:buNone/>
            </a:pPr>
            <a:r>
              <a:rPr lang="en-US">
                <a:latin typeface="Archivo"/>
                <a:ea typeface="Archivo"/>
                <a:cs typeface="Archivo"/>
                <a:sym typeface="Archivo"/>
              </a:rPr>
              <a:t>    &lt;match&gt;LOGIN FAILURE|auth failure: |authentication error|&lt;/match&gt;</a:t>
            </a:r>
            <a:endParaRPr>
              <a:latin typeface="Archivo"/>
              <a:ea typeface="Archivo"/>
              <a:cs typeface="Archivo"/>
              <a:sym typeface="Archivo"/>
            </a:endParaRPr>
          </a:p>
          <a:p>
            <a:pPr indent="0" lvl="0" marL="0" rtl="0" algn="l">
              <a:spcBef>
                <a:spcPts val="0"/>
              </a:spcBef>
              <a:spcAft>
                <a:spcPts val="0"/>
              </a:spcAft>
              <a:buNone/>
            </a:pPr>
            <a:r>
              <a:rPr lang="en-US">
                <a:latin typeface="Archivo"/>
                <a:ea typeface="Archivo"/>
                <a:cs typeface="Archivo"/>
                <a:sym typeface="Archivo"/>
              </a:rPr>
              <a:t>    &lt;match&gt;authinternal failed|Failed to authorize|&lt;/match&gt;</a:t>
            </a:r>
            <a:endParaRPr>
              <a:latin typeface="Archivo"/>
              <a:ea typeface="Archivo"/>
              <a:cs typeface="Archivo"/>
              <a:sym typeface="Archivo"/>
            </a:endParaRPr>
          </a:p>
          <a:p>
            <a:pPr indent="0" lvl="0" marL="0" rtl="0" algn="l">
              <a:spcBef>
                <a:spcPts val="0"/>
              </a:spcBef>
              <a:spcAft>
                <a:spcPts val="0"/>
              </a:spcAft>
              <a:buNone/>
            </a:pPr>
            <a:r>
              <a:rPr lang="en-US">
                <a:latin typeface="Archivo"/>
                <a:ea typeface="Archivo"/>
                <a:cs typeface="Archivo"/>
                <a:sym typeface="Archivo"/>
              </a:rPr>
              <a:t>    &lt;match&gt;Wrong password given for|login failed|Auth: Login incorrect|&lt;/match&gt;</a:t>
            </a:r>
            <a:endParaRPr>
              <a:latin typeface="Archivo"/>
              <a:ea typeface="Archivo"/>
              <a:cs typeface="Archivo"/>
              <a:sym typeface="Archivo"/>
            </a:endParaRPr>
          </a:p>
          <a:p>
            <a:pPr indent="0" lvl="0" marL="0" rtl="0" algn="l">
              <a:spcBef>
                <a:spcPts val="0"/>
              </a:spcBef>
              <a:spcAft>
                <a:spcPts val="0"/>
              </a:spcAft>
              <a:buNone/>
            </a:pPr>
            <a:r>
              <a:rPr lang="en-US">
                <a:latin typeface="Archivo"/>
                <a:ea typeface="Archivo"/>
                <a:cs typeface="Archivo"/>
                <a:sym typeface="Archivo"/>
              </a:rPr>
              <a:t>    &lt;match&gt;Failed to authenticate user&lt;/match&gt;</a:t>
            </a:r>
            <a:endParaRPr>
              <a:latin typeface="Archivo"/>
              <a:ea typeface="Archivo"/>
              <a:cs typeface="Archivo"/>
              <a:sym typeface="Archivo"/>
            </a:endParaRPr>
          </a:p>
          <a:p>
            <a:pPr indent="0" lvl="0" marL="0" rtl="0" algn="l">
              <a:spcBef>
                <a:spcPts val="0"/>
              </a:spcBef>
              <a:spcAft>
                <a:spcPts val="0"/>
              </a:spcAft>
              <a:buNone/>
            </a:pPr>
            <a:r>
              <a:rPr lang="en-US">
                <a:latin typeface="Archivo"/>
                <a:ea typeface="Archivo"/>
                <a:cs typeface="Archivo"/>
                <a:sym typeface="Archivo"/>
              </a:rPr>
              <a:t>    &lt;group&gt;authentication_failed,pci_dss_10.2.4,pci_dss_10.2.5,gpg13_7.8,gdpr_IV_35.7.d,gdpr_IV_32.2,hipaa_164.312.b,nist_800_53_AU.14,nist_800_53_AC.7,tsc_CC6.1,tsc_CC6.8,tsc_CC7.2,tsc_CC7.3,&lt;/group&gt;</a:t>
            </a:r>
            <a:endParaRPr>
              <a:latin typeface="Archivo"/>
              <a:ea typeface="Archivo"/>
              <a:cs typeface="Archivo"/>
              <a:sym typeface="Archivo"/>
            </a:endParaRPr>
          </a:p>
          <a:p>
            <a:pPr indent="0" lvl="0" marL="0" rtl="0" algn="l">
              <a:spcBef>
                <a:spcPts val="0"/>
              </a:spcBef>
              <a:spcAft>
                <a:spcPts val="0"/>
              </a:spcAft>
              <a:buNone/>
            </a:pPr>
            <a:r>
              <a:rPr lang="en-US">
                <a:latin typeface="Archivo"/>
                <a:ea typeface="Archivo"/>
                <a:cs typeface="Archivo"/>
                <a:sym typeface="Archivo"/>
              </a:rPr>
              <a:t>    &lt;description&gt;syslog: User authentication failure.&lt;/description&gt;</a:t>
            </a:r>
            <a:endParaRPr>
              <a:latin typeface="Archivo"/>
              <a:ea typeface="Archivo"/>
              <a:cs typeface="Archivo"/>
              <a:sym typeface="Archivo"/>
            </a:endParaRPr>
          </a:p>
          <a:p>
            <a:pPr indent="0" lvl="0" marL="0" rtl="0" algn="l">
              <a:spcBef>
                <a:spcPts val="0"/>
              </a:spcBef>
              <a:spcAft>
                <a:spcPts val="0"/>
              </a:spcAft>
              <a:buNone/>
            </a:pPr>
            <a:r>
              <a:rPr lang="en-US">
                <a:latin typeface="Archivo"/>
                <a:ea typeface="Archivo"/>
                <a:cs typeface="Archivo"/>
                <a:sym typeface="Archivo"/>
              </a:rPr>
              <a:t>  &lt;/rule&gt;</a:t>
            </a:r>
            <a:endParaRPr>
              <a:latin typeface="Archivo"/>
              <a:ea typeface="Archivo"/>
              <a:cs typeface="Archivo"/>
              <a:sym typeface="Archivo"/>
            </a:endParaRPr>
          </a:p>
          <a:p>
            <a:pPr indent="0" lvl="0" marL="0" rtl="0" algn="l">
              <a:spcBef>
                <a:spcPts val="0"/>
              </a:spcBef>
              <a:spcAft>
                <a:spcPts val="0"/>
              </a:spcAft>
              <a:buNone/>
            </a:pPr>
            <a:r>
              <a:t/>
            </a:r>
            <a:endParaRPr>
              <a:latin typeface="Archivo"/>
              <a:ea typeface="Archivo"/>
              <a:cs typeface="Archivo"/>
              <a:sym typeface="Archivo"/>
            </a:endParaRPr>
          </a:p>
        </p:txBody>
      </p:sp>
    </p:spTree>
  </p:cSld>
  <p:clrMapOvr>
    <a:masterClrMapping/>
  </p:clrMapOvr>
  <p:transition spd="slow">
    <p:fade thruBlk="1"/>
  </p:transition>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2" name="Shape 3062"/>
        <p:cNvGrpSpPr/>
        <p:nvPr/>
      </p:nvGrpSpPr>
      <p:grpSpPr>
        <a:xfrm>
          <a:off x="0" y="0"/>
          <a:ext cx="0" cy="0"/>
          <a:chOff x="0" y="0"/>
          <a:chExt cx="0" cy="0"/>
        </a:xfrm>
      </p:grpSpPr>
      <p:sp>
        <p:nvSpPr>
          <p:cNvPr id="3063" name="Google Shape;3063;p229"/>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Testing Decoder &amp; Ruleset</a:t>
            </a:r>
            <a:endParaRPr b="1" sz="3600">
              <a:solidFill>
                <a:schemeClr val="accent1"/>
              </a:solidFill>
              <a:latin typeface="Poppins"/>
              <a:ea typeface="Poppins"/>
              <a:cs typeface="Poppins"/>
              <a:sym typeface="Poppins"/>
            </a:endParaRPr>
          </a:p>
        </p:txBody>
      </p:sp>
      <p:cxnSp>
        <p:nvCxnSpPr>
          <p:cNvPr id="3064" name="Google Shape;3064;p22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065" name="Google Shape;3065;p22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066" name="Google Shape;3066;p22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067" name="Google Shape;3067;p22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068" name="Google Shape;3068;p2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069" name="Google Shape;3069;p2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70" name="Google Shape;3070;p229"/>
          <p:cNvSpPr txBox="1"/>
          <p:nvPr/>
        </p:nvSpPr>
        <p:spPr>
          <a:xfrm>
            <a:off x="694650" y="1265050"/>
            <a:ext cx="6013200" cy="298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ourier New"/>
                <a:ea typeface="Courier New"/>
                <a:cs typeface="Courier New"/>
                <a:sym typeface="Courier New"/>
              </a:rPr>
              <a:t>/var/ossec/bin/wazuh-logtest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rPr lang="en-US">
                <a:solidFill>
                  <a:schemeClr val="dk1"/>
                </a:solidFill>
                <a:latin typeface="Archivo Medium"/>
                <a:ea typeface="Archivo Medium"/>
                <a:cs typeface="Archivo Medium"/>
                <a:sym typeface="Archivo Medium"/>
              </a:rPr>
              <a:t>Type one log per line</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rPr lang="en-US">
                <a:solidFill>
                  <a:schemeClr val="dk1"/>
                </a:solidFill>
                <a:latin typeface="Archivo Medium"/>
                <a:ea typeface="Archivo Medium"/>
                <a:cs typeface="Archivo Medium"/>
                <a:sym typeface="Archivo Medium"/>
              </a:rPr>
              <a:t>Apr 14 19:28:21 gorilla sshd[31274]: Connection closed by 192.168.1.33</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rPr lang="en-US" sz="900">
                <a:solidFill>
                  <a:srgbClr val="343741"/>
                </a:solidFill>
                <a:highlight>
                  <a:srgbClr val="F5F7FA"/>
                </a:highlight>
                <a:latin typeface="Roboto Mono"/>
                <a:ea typeface="Roboto Mono"/>
                <a:cs typeface="Roboto Mono"/>
                <a:sym typeface="Roboto Mono"/>
              </a:rPr>
              <a:t>*</a:t>
            </a:r>
            <a:r>
              <a:rPr lang="en-US" sz="1200">
                <a:solidFill>
                  <a:schemeClr val="dk1"/>
                </a:solidFill>
                <a:latin typeface="Courier New"/>
                <a:ea typeface="Courier New"/>
                <a:cs typeface="Courier New"/>
                <a:sym typeface="Courier New"/>
              </a:rPr>
              <a:t>*Phase 1: Completed pre-decoding.</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full event: 'Apr 14 19:28:21 gorilla sshd[31274]: Connection closed by 192.168.1.33'</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timestamp: 'Apr 14 19:28:21'</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hostname: 'gorilla'</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program_name: 'sshd'</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**Phase 2: Completed decoding.</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name: 'sshd'</a:t>
            </a:r>
            <a:endParaRPr>
              <a:solidFill>
                <a:schemeClr val="dk1"/>
              </a:solidFill>
              <a:latin typeface="Archivo Medium"/>
              <a:ea typeface="Archivo Medium"/>
              <a:cs typeface="Archivo Medium"/>
              <a:sym typeface="Archivo Medium"/>
            </a:endParaRPr>
          </a:p>
        </p:txBody>
      </p:sp>
      <p:sp>
        <p:nvSpPr>
          <p:cNvPr id="3071" name="Google Shape;3071;p229"/>
          <p:cNvSpPr txBox="1"/>
          <p:nvPr/>
        </p:nvSpPr>
        <p:spPr>
          <a:xfrm>
            <a:off x="7164475" y="802325"/>
            <a:ext cx="4938600" cy="4710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ourier New"/>
                <a:ea typeface="Courier New"/>
                <a:cs typeface="Courier New"/>
                <a:sym typeface="Courier New"/>
              </a:rPr>
              <a:t>**Phase 3: Completed filtering (rules).</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	id: '2501'</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	level: '5'</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	description: 'syslog: User authentication failure.'</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	groups: '['syslog', 'access_control', 'authentication_failed']'</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	firedtimes: '1'</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	gdpr: '['IV_35.7.d', 'IV_32.2']'</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	gpg13: '['7.8']'</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	hipaa: '['164.312.b']'</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	mail: 'False'</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	nist_800_53: '['AU.14', 'AC.7']'</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	pci_dss: '['10.2.4', '10.2.5']'</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	tsc: '['CC6.1', 'CC6.8', 'CC7.2', 'CC7.3']'</a:t>
            </a:r>
            <a:endParaRPr>
              <a:solidFill>
                <a:schemeClr val="dk1"/>
              </a:solidFill>
              <a:latin typeface="Courier New"/>
              <a:ea typeface="Courier New"/>
              <a:cs typeface="Courier New"/>
              <a:sym typeface="Courier New"/>
            </a:endParaRPr>
          </a:p>
          <a:p>
            <a:pPr indent="0" lvl="0" marL="1371600" rtl="0" algn="l">
              <a:spcBef>
                <a:spcPts val="0"/>
              </a:spcBef>
              <a:spcAft>
                <a:spcPts val="0"/>
              </a:spcAft>
              <a:buNone/>
            </a:pPr>
            <a:r>
              <a:rPr lang="en-US">
                <a:solidFill>
                  <a:schemeClr val="dk1"/>
                </a:solidFill>
                <a:latin typeface="Courier New"/>
                <a:ea typeface="Courier New"/>
                <a:cs typeface="Courier New"/>
                <a:sym typeface="Courier New"/>
              </a:rPr>
              <a:t>**Alert to be generated.</a:t>
            </a:r>
            <a:endParaRPr>
              <a:latin typeface="Courier New"/>
              <a:ea typeface="Courier New"/>
              <a:cs typeface="Courier New"/>
              <a:sym typeface="Courier New"/>
            </a:endParaRPr>
          </a:p>
        </p:txBody>
      </p:sp>
      <p:cxnSp>
        <p:nvCxnSpPr>
          <p:cNvPr id="3072" name="Google Shape;3072;p229"/>
          <p:cNvCxnSpPr/>
          <p:nvPr/>
        </p:nvCxnSpPr>
        <p:spPr>
          <a:xfrm flipH="1" rot="10800000">
            <a:off x="4561000" y="3581250"/>
            <a:ext cx="3463200" cy="982800"/>
          </a:xfrm>
          <a:prstGeom prst="curvedConnector3">
            <a:avLst>
              <a:gd fmla="val 50000" name="adj1"/>
            </a:avLst>
          </a:prstGeom>
          <a:noFill/>
          <a:ln cap="flat" cmpd="sng" w="38100">
            <a:solidFill>
              <a:srgbClr val="C41F2F"/>
            </a:solidFill>
            <a:prstDash val="solid"/>
            <a:round/>
            <a:headEnd len="med" w="med" type="none"/>
            <a:tailEnd len="med" w="med" type="stealth"/>
          </a:ln>
        </p:spPr>
      </p:cxnSp>
    </p:spTree>
  </p:cSld>
  <p:clrMapOvr>
    <a:masterClrMapping/>
  </p:clrMapOvr>
  <p:transition spd="slow">
    <p:fade thruBlk="1"/>
  </p:transition>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6" name="Shape 3076"/>
        <p:cNvGrpSpPr/>
        <p:nvPr/>
      </p:nvGrpSpPr>
      <p:grpSpPr>
        <a:xfrm>
          <a:off x="0" y="0"/>
          <a:ext cx="0" cy="0"/>
          <a:chOff x="0" y="0"/>
          <a:chExt cx="0" cy="0"/>
        </a:xfrm>
      </p:grpSpPr>
      <p:sp>
        <p:nvSpPr>
          <p:cNvPr id="3077" name="Google Shape;3077;p230"/>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Decoder How It Works</a:t>
            </a:r>
            <a:endParaRPr b="1" i="0" sz="3600" u="none" cap="none" strike="noStrike">
              <a:solidFill>
                <a:schemeClr val="accent1"/>
              </a:solidFill>
              <a:latin typeface="Poppins"/>
              <a:ea typeface="Poppins"/>
              <a:cs typeface="Poppins"/>
              <a:sym typeface="Poppins"/>
            </a:endParaRPr>
          </a:p>
        </p:txBody>
      </p:sp>
      <p:cxnSp>
        <p:nvCxnSpPr>
          <p:cNvPr id="3078" name="Google Shape;3078;p23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079" name="Google Shape;3079;p23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080" name="Google Shape;3080;p23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081" name="Google Shape;3081;p23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082" name="Google Shape;3082;p2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083" name="Google Shape;3083;p2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84" name="Google Shape;3084;p230"/>
          <p:cNvSpPr txBox="1"/>
          <p:nvPr/>
        </p:nvSpPr>
        <p:spPr>
          <a:xfrm>
            <a:off x="704225" y="1514438"/>
            <a:ext cx="98199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800">
                <a:solidFill>
                  <a:schemeClr val="dk1"/>
                </a:solidFill>
                <a:latin typeface="Archivo Medium"/>
                <a:ea typeface="Archivo Medium"/>
                <a:cs typeface="Archivo Medium"/>
                <a:sym typeface="Archivo Medium"/>
              </a:rPr>
              <a:t>/</a:t>
            </a:r>
            <a:r>
              <a:rPr b="1" lang="en-US" sz="1800">
                <a:solidFill>
                  <a:schemeClr val="dk1"/>
                </a:solidFill>
                <a:latin typeface="Archivo"/>
                <a:ea typeface="Archivo"/>
                <a:cs typeface="Archivo"/>
                <a:sym typeface="Archivo"/>
              </a:rPr>
              <a:t>var/ossec/bin/wazuh-logtest</a:t>
            </a:r>
            <a:r>
              <a:rPr lang="en-US" sz="1800">
                <a:solidFill>
                  <a:schemeClr val="dk1"/>
                </a:solidFill>
                <a:latin typeface="Archivo Medium"/>
                <a:ea typeface="Archivo Medium"/>
                <a:cs typeface="Archivo Medium"/>
                <a:sym typeface="Archivo Medium"/>
              </a:rPr>
              <a:t> adalah alat bawaan yang tersedia secara default di Wazuh server. Dalam arsitektur cluster Wazuh, node master yang bertugas memproses log event.. Kamu dapat mengubah parameter konfigurasinya di bagian </a:t>
            </a:r>
            <a:r>
              <a:rPr b="1" lang="en-US" sz="1800">
                <a:solidFill>
                  <a:schemeClr val="dk1"/>
                </a:solidFill>
                <a:latin typeface="Archivo"/>
                <a:ea typeface="Archivo"/>
                <a:cs typeface="Archivo"/>
                <a:sym typeface="Archivo"/>
              </a:rPr>
              <a:t>&lt;rule_test&gt;</a:t>
            </a:r>
            <a:r>
              <a:rPr lang="en-US" sz="1800">
                <a:solidFill>
                  <a:schemeClr val="dk1"/>
                </a:solidFill>
                <a:latin typeface="Archivo Medium"/>
                <a:ea typeface="Archivo Medium"/>
                <a:cs typeface="Archivo Medium"/>
                <a:sym typeface="Archivo Medium"/>
              </a:rPr>
              <a:t> dalam file konfigurasi </a:t>
            </a:r>
            <a:r>
              <a:rPr b="1" lang="en-US" sz="1800">
                <a:solidFill>
                  <a:schemeClr val="dk1"/>
                </a:solidFill>
                <a:latin typeface="Archivo"/>
                <a:ea typeface="Archivo"/>
                <a:cs typeface="Archivo"/>
                <a:sym typeface="Archivo"/>
              </a:rPr>
              <a:t>/var/ossec/etc/ossec.conf</a:t>
            </a:r>
            <a:r>
              <a:rPr lang="en-US" sz="1800">
                <a:solidFill>
                  <a:schemeClr val="dk1"/>
                </a:solidFill>
                <a:latin typeface="Archivo Medium"/>
                <a:ea typeface="Archivo Medium"/>
                <a:cs typeface="Archivo Medium"/>
                <a:sym typeface="Archivo Medium"/>
              </a:rPr>
              <a:t> pada Wazuh server.</a:t>
            </a:r>
            <a:r>
              <a:rPr lang="en-US" sz="1800">
                <a:solidFill>
                  <a:schemeClr val="dk1"/>
                </a:solidFill>
                <a:latin typeface="Archivo Medium"/>
                <a:ea typeface="Archivo Medium"/>
                <a:cs typeface="Archivo Medium"/>
                <a:sym typeface="Archivo Medium"/>
              </a:rPr>
              <a:t>.</a:t>
            </a:r>
            <a:endParaRPr sz="18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t/>
            </a:r>
            <a:endParaRPr sz="18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rPr lang="en-US" sz="1800">
                <a:solidFill>
                  <a:schemeClr val="dk1"/>
                </a:solidFill>
                <a:latin typeface="Archivo Medium"/>
                <a:ea typeface="Archivo Medium"/>
                <a:cs typeface="Archivo Medium"/>
                <a:sym typeface="Archivo Medium"/>
              </a:rPr>
              <a:t>By default, the /var/ossec/bin/wazuh-logtest configuration is set as follows:</a:t>
            </a:r>
            <a:endParaRPr sz="18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18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&lt;rule_test&gt;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  &lt;enabled&gt;yes&lt;/enabled&gt;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  &lt;threads&gt;1&lt;/threads&gt;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  &lt;max_sessions&gt;64&lt;/max_sessions&gt;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  &lt;session_timeout&gt;15m&lt;/session_timeout&gt;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&lt;/rule_test&gt;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noFill/>
      </p:bgPr>
    </p:bg>
    <p:spTree>
      <p:nvGrpSpPr>
        <p:cNvPr id="3088" name="Shape 3088"/>
        <p:cNvGrpSpPr/>
        <p:nvPr/>
      </p:nvGrpSpPr>
      <p:grpSpPr>
        <a:xfrm>
          <a:off x="0" y="0"/>
          <a:ext cx="0" cy="0"/>
          <a:chOff x="0" y="0"/>
          <a:chExt cx="0" cy="0"/>
        </a:xfrm>
      </p:grpSpPr>
      <p:pic>
        <p:nvPicPr>
          <p:cNvPr descr="A picture containing food, drawing, shirt&#10;&#10;Description automatically generated" id="3089" name="Google Shape;3089;p23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090" name="Google Shape;3090;p2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91" name="Google Shape;3091;p23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092" name="Google Shape;3092;p231"/>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093" name="Google Shape;3093;p23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094" name="Google Shape;3094;p231"/>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095" name="Google Shape;3095;p231"/>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 Suricata Agent</a:t>
            </a:r>
            <a:endParaRPr sz="4800">
              <a:solidFill>
                <a:schemeClr val="lt1"/>
              </a:solidFill>
              <a:highlight>
                <a:srgbClr val="3585F9"/>
              </a:highlight>
              <a:latin typeface="Poppins"/>
              <a:ea typeface="Poppins"/>
              <a:cs typeface="Poppins"/>
              <a:sym typeface="Poppins"/>
            </a:endParaRPr>
          </a:p>
        </p:txBody>
      </p:sp>
      <p:pic>
        <p:nvPicPr>
          <p:cNvPr id="3096" name="Google Shape;3096;p231"/>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00" name="Shape 3100"/>
        <p:cNvGrpSpPr/>
        <p:nvPr/>
      </p:nvGrpSpPr>
      <p:grpSpPr>
        <a:xfrm>
          <a:off x="0" y="0"/>
          <a:ext cx="0" cy="0"/>
          <a:chOff x="0" y="0"/>
          <a:chExt cx="0" cy="0"/>
        </a:xfrm>
      </p:grpSpPr>
      <p:sp>
        <p:nvSpPr>
          <p:cNvPr id="3101" name="Google Shape;3101;p232"/>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Suricata Decoder </a:t>
            </a:r>
            <a:endParaRPr b="1" i="0" sz="3600" u="none" cap="none" strike="noStrike">
              <a:solidFill>
                <a:schemeClr val="accent1"/>
              </a:solidFill>
              <a:latin typeface="Poppins"/>
              <a:ea typeface="Poppins"/>
              <a:cs typeface="Poppins"/>
              <a:sym typeface="Poppins"/>
            </a:endParaRPr>
          </a:p>
        </p:txBody>
      </p:sp>
      <p:cxnSp>
        <p:nvCxnSpPr>
          <p:cNvPr id="3102" name="Google Shape;3102;p23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103" name="Google Shape;3103;p23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104" name="Google Shape;3104;p23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105" name="Google Shape;3105;p23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106" name="Google Shape;3106;p2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107" name="Google Shape;3107;p2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08" name="Google Shape;3108;p232"/>
          <p:cNvSpPr txBox="1"/>
          <p:nvPr/>
        </p:nvSpPr>
        <p:spPr>
          <a:xfrm>
            <a:off x="694650" y="1265038"/>
            <a:ext cx="98199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50">
              <a:solidFill>
                <a:schemeClr val="dk1"/>
              </a:solidFill>
              <a:latin typeface="Archivo"/>
              <a:ea typeface="Archivo"/>
              <a:cs typeface="Archivo"/>
              <a:sym typeface="Archivo"/>
            </a:endParaRPr>
          </a:p>
        </p:txBody>
      </p:sp>
      <p:sp>
        <p:nvSpPr>
          <p:cNvPr id="3109" name="Google Shape;3109;p232"/>
          <p:cNvSpPr txBox="1"/>
          <p:nvPr/>
        </p:nvSpPr>
        <p:spPr>
          <a:xfrm>
            <a:off x="8565275" y="22570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110" name="Google Shape;3110;p232"/>
          <p:cNvSpPr txBox="1"/>
          <p:nvPr/>
        </p:nvSpPr>
        <p:spPr>
          <a:xfrm>
            <a:off x="694650" y="1265038"/>
            <a:ext cx="9819900" cy="480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sudo nano suricata_decoders.xml</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 name="suricata_alert"&gt;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&lt;program_name&gt;^suricata$&lt;/program_name&gt;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 name="suricata_ddos"&gt;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&lt;parent&gt;suricata_alert&lt;/parent&gt;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&lt;regex&gt;.*event_type=\"alert\".*classification=\"DDoS Attack\".*src_ip=\"(\d+\.\d+\.\d+\.\d+)\".*dest_ip=\"(\d+\.\d+\.\d+\.\d+)\".*&lt;/regex&gt;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&lt;order&gt;src_ip, dest_ip&lt;/order&gt;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 name="suricata_c2"&gt;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&lt;parent&gt;suricata_alert&lt;/parent&gt;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&lt;regex&gt;.*event_type=\"alert\".*classification=\"C2 Beacon\".*src_ip=\"(\d+\.\d+\.\d+\.\d+)\".*dest_ip=\"(\d+\.\d+\.\d+\.\d+)\".*&lt;/regex&gt;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&lt;order&gt;src_ip, dest_ip&lt;/order&gt;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14" name="Shape 3114"/>
        <p:cNvGrpSpPr/>
        <p:nvPr/>
      </p:nvGrpSpPr>
      <p:grpSpPr>
        <a:xfrm>
          <a:off x="0" y="0"/>
          <a:ext cx="0" cy="0"/>
          <a:chOff x="0" y="0"/>
          <a:chExt cx="0" cy="0"/>
        </a:xfrm>
      </p:grpSpPr>
      <p:sp>
        <p:nvSpPr>
          <p:cNvPr id="3115" name="Google Shape;3115;p233"/>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Suricata rules</a:t>
            </a:r>
            <a:endParaRPr b="1" i="0" sz="3600" u="none" cap="none" strike="noStrike">
              <a:solidFill>
                <a:schemeClr val="accent1"/>
              </a:solidFill>
              <a:latin typeface="Poppins"/>
              <a:ea typeface="Poppins"/>
              <a:cs typeface="Poppins"/>
              <a:sym typeface="Poppins"/>
            </a:endParaRPr>
          </a:p>
        </p:txBody>
      </p:sp>
      <p:cxnSp>
        <p:nvCxnSpPr>
          <p:cNvPr id="3116" name="Google Shape;3116;p23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117" name="Google Shape;3117;p23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118" name="Google Shape;3118;p23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119" name="Google Shape;3119;p23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120" name="Google Shape;3120;p23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121" name="Google Shape;3121;p2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22" name="Google Shape;3122;p233"/>
          <p:cNvSpPr txBox="1"/>
          <p:nvPr/>
        </p:nvSpPr>
        <p:spPr>
          <a:xfrm>
            <a:off x="694650" y="1265038"/>
            <a:ext cx="98199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50">
              <a:solidFill>
                <a:schemeClr val="dk1"/>
              </a:solidFill>
              <a:latin typeface="Archivo"/>
              <a:ea typeface="Archivo"/>
              <a:cs typeface="Archivo"/>
              <a:sym typeface="Archivo"/>
            </a:endParaRPr>
          </a:p>
        </p:txBody>
      </p:sp>
      <p:sp>
        <p:nvSpPr>
          <p:cNvPr id="3123" name="Google Shape;3123;p233"/>
          <p:cNvSpPr txBox="1"/>
          <p:nvPr/>
        </p:nvSpPr>
        <p:spPr>
          <a:xfrm>
            <a:off x="8565275" y="22570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124" name="Google Shape;3124;p233"/>
          <p:cNvSpPr txBox="1"/>
          <p:nvPr/>
        </p:nvSpPr>
        <p:spPr>
          <a:xfrm>
            <a:off x="694650" y="1265038"/>
            <a:ext cx="9819900" cy="547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sudo nano suricata_attack_rules.xml</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&lt;group name="suricata_attack_rules"&gt;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&lt;rule id="100020" level="10"&gt;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&lt;decoded_as&gt;suricata_ddos&lt;/decoded_as&gt;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&lt;description&gt;DDoS Attack Detected by Suricata&lt;/description&gt;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&lt;group&gt;ddos, network, suricata&lt;/group&gt;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&lt;options&gt;no_full_log&lt;/options&gt;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&lt;mitre&gt;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&lt;id&gt;T1498&lt;/id&gt;  &lt;!-- Network Denial of Service --&gt;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&lt;technique&gt;DDoS Attack&lt;/technique&gt;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&lt;/mitre&gt;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&lt;/rule&gt;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&lt;rule id="100021" level="10"&gt;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&lt;decoded_as&gt;suricata_c2&lt;/decoded_as&gt;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&lt;description&gt;C2 Beacon Detected by Suricata&lt;/description&gt;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&lt;group&gt;c2, beacon, suricata&lt;/group&gt;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&lt;options&gt;no_full_log&lt;/options&gt;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&lt;mitre&gt;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&lt;id&gt;T1071&lt;/id&gt;  &lt;!-- Application Layer Protocol --&gt;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&lt;technique&gt;Command and Control (Beacon)&lt;/technique&gt;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&lt;/mitre&gt;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&lt;/rule&gt;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&lt;/group&gt;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None/>
            </a:pPr>
            <a:r>
              <a:t/>
            </a:r>
            <a:endParaRPr sz="1700">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28" name="Shape 3128"/>
        <p:cNvGrpSpPr/>
        <p:nvPr/>
      </p:nvGrpSpPr>
      <p:grpSpPr>
        <a:xfrm>
          <a:off x="0" y="0"/>
          <a:ext cx="0" cy="0"/>
          <a:chOff x="0" y="0"/>
          <a:chExt cx="0" cy="0"/>
        </a:xfrm>
      </p:grpSpPr>
      <p:sp>
        <p:nvSpPr>
          <p:cNvPr id="3129" name="Google Shape;3129;p234"/>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Decoder How It Works</a:t>
            </a:r>
            <a:endParaRPr b="1" i="0" sz="3600" u="none" cap="none" strike="noStrike">
              <a:solidFill>
                <a:schemeClr val="accent1"/>
              </a:solidFill>
              <a:latin typeface="Poppins"/>
              <a:ea typeface="Poppins"/>
              <a:cs typeface="Poppins"/>
              <a:sym typeface="Poppins"/>
            </a:endParaRPr>
          </a:p>
        </p:txBody>
      </p:sp>
      <p:cxnSp>
        <p:nvCxnSpPr>
          <p:cNvPr id="3130" name="Google Shape;3130;p23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131" name="Google Shape;3131;p23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132" name="Google Shape;3132;p23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133" name="Google Shape;3133;p23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134" name="Google Shape;3134;p2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135" name="Google Shape;3135;p2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36" name="Google Shape;3136;p234"/>
          <p:cNvSpPr txBox="1"/>
          <p:nvPr/>
        </p:nvSpPr>
        <p:spPr>
          <a:xfrm>
            <a:off x="694650" y="1265038"/>
            <a:ext cx="98199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50">
              <a:solidFill>
                <a:schemeClr val="dk1"/>
              </a:solidFill>
              <a:latin typeface="Archivo"/>
              <a:ea typeface="Archivo"/>
              <a:cs typeface="Archivo"/>
              <a:sym typeface="Archivo"/>
            </a:endParaRPr>
          </a:p>
        </p:txBody>
      </p:sp>
      <p:sp>
        <p:nvSpPr>
          <p:cNvPr id="3137" name="Google Shape;3137;p234"/>
          <p:cNvSpPr txBox="1"/>
          <p:nvPr/>
        </p:nvSpPr>
        <p:spPr>
          <a:xfrm>
            <a:off x="8565275" y="22570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138" name="Google Shape;3138;p234"/>
          <p:cNvSpPr txBox="1"/>
          <p:nvPr/>
        </p:nvSpPr>
        <p:spPr>
          <a:xfrm>
            <a:off x="694650" y="1265038"/>
            <a:ext cx="9819900" cy="253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logger -t suricata 'event_type="alert" classification="DDoS Attack" src_ip="192.168.1.1" dest_ip="10.0.0.5"'</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logger -t suricata 'event_type="alert" classification="C2 Beacon" src_ip="192.168.1.2" dest_ip="10.0.0.10"'</a:t>
            </a:r>
            <a:endParaRPr sz="1700">
              <a:solidFill>
                <a:schemeClr val="dk1"/>
              </a:solidFill>
              <a:latin typeface="Archivo"/>
              <a:ea typeface="Archivo"/>
              <a:cs typeface="Archivo"/>
              <a:sym typeface="Archivo"/>
            </a:endParaRPr>
          </a:p>
          <a:p>
            <a:pPr indent="0" lvl="0" marL="0" rtl="0" algn="l">
              <a:spcBef>
                <a:spcPts val="0"/>
              </a:spcBef>
              <a:spcAft>
                <a:spcPts val="0"/>
              </a:spcAft>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tail -f /var/ossec/logs/alerts/alerts.json</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None/>
            </a:pPr>
            <a:r>
              <a:t/>
            </a:r>
            <a:endParaRPr sz="1700">
              <a:solidFill>
                <a:schemeClr val="dk1"/>
              </a:solidFill>
              <a:latin typeface="Archivo"/>
              <a:ea typeface="Archivo"/>
              <a:cs typeface="Archivo"/>
              <a:sym typeface="Archivo"/>
            </a:endParaRPr>
          </a:p>
        </p:txBody>
      </p:sp>
      <p:sp>
        <p:nvSpPr>
          <p:cNvPr id="3139" name="Google Shape;3139;p234"/>
          <p:cNvSpPr txBox="1"/>
          <p:nvPr/>
        </p:nvSpPr>
        <p:spPr>
          <a:xfrm>
            <a:off x="281000" y="3222950"/>
            <a:ext cx="50610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t>
            </a:r>
            <a:endParaRPr/>
          </a:p>
          <a:p>
            <a:pPr indent="0" lvl="0" marL="0" rtl="0" algn="l">
              <a:spcBef>
                <a:spcPts val="0"/>
              </a:spcBef>
              <a:spcAft>
                <a:spcPts val="0"/>
              </a:spcAft>
              <a:buNone/>
            </a:pPr>
            <a:r>
              <a:rPr lang="en-US"/>
              <a:t>  "rule": {</a:t>
            </a:r>
            <a:endParaRPr/>
          </a:p>
          <a:p>
            <a:pPr indent="0" lvl="0" marL="0" rtl="0" algn="l">
              <a:spcBef>
                <a:spcPts val="0"/>
              </a:spcBef>
              <a:spcAft>
                <a:spcPts val="0"/>
              </a:spcAft>
              <a:buNone/>
            </a:pPr>
            <a:r>
              <a:rPr lang="en-US"/>
              <a:t>    "id": "100020",</a:t>
            </a:r>
            <a:endParaRPr/>
          </a:p>
          <a:p>
            <a:pPr indent="0" lvl="0" marL="0" rtl="0" algn="l">
              <a:spcBef>
                <a:spcPts val="0"/>
              </a:spcBef>
              <a:spcAft>
                <a:spcPts val="0"/>
              </a:spcAft>
              <a:buNone/>
            </a:pPr>
            <a:r>
              <a:rPr lang="en-US"/>
              <a:t>    "description": "DDoS Attack Detected by Suricata",</a:t>
            </a:r>
            <a:endParaRPr/>
          </a:p>
          <a:p>
            <a:pPr indent="0" lvl="0" marL="0" rtl="0" algn="l">
              <a:spcBef>
                <a:spcPts val="0"/>
              </a:spcBef>
              <a:spcAft>
                <a:spcPts val="0"/>
              </a:spcAft>
              <a:buNone/>
            </a:pPr>
            <a:r>
              <a:rPr lang="en-US"/>
              <a:t>    "level": 10,</a:t>
            </a:r>
            <a:endParaRPr/>
          </a:p>
          <a:p>
            <a:pPr indent="0" lvl="0" marL="0" rtl="0" algn="l">
              <a:spcBef>
                <a:spcPts val="0"/>
              </a:spcBef>
              <a:spcAft>
                <a:spcPts val="0"/>
              </a:spcAft>
              <a:buNone/>
            </a:pPr>
            <a:r>
              <a:rPr lang="en-US"/>
              <a:t>    "groups": ["ddos", "network", "suricata"],</a:t>
            </a:r>
            <a:endParaRPr/>
          </a:p>
          <a:p>
            <a:pPr indent="0" lvl="0" marL="0" rtl="0" algn="l">
              <a:spcBef>
                <a:spcPts val="0"/>
              </a:spcBef>
              <a:spcAft>
                <a:spcPts val="0"/>
              </a:spcAft>
              <a:buNone/>
            </a:pPr>
            <a:r>
              <a:rPr lang="en-US"/>
              <a:t>    "mitre": ["T1498"]</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"src_ip": "192.168.1.1",</a:t>
            </a:r>
            <a:endParaRPr/>
          </a:p>
          <a:p>
            <a:pPr indent="0" lvl="0" marL="0" rtl="0" algn="l">
              <a:spcBef>
                <a:spcPts val="0"/>
              </a:spcBef>
              <a:spcAft>
                <a:spcPts val="0"/>
              </a:spcAft>
              <a:buNone/>
            </a:pPr>
            <a:r>
              <a:rPr lang="en-US"/>
              <a:t>  "dest_ip": "10.0.0.5"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p:txBody>
      </p:sp>
      <p:sp>
        <p:nvSpPr>
          <p:cNvPr id="3140" name="Google Shape;3140;p234"/>
          <p:cNvSpPr txBox="1"/>
          <p:nvPr/>
        </p:nvSpPr>
        <p:spPr>
          <a:xfrm>
            <a:off x="5075900" y="3303050"/>
            <a:ext cx="57363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t>
            </a:r>
            <a:endParaRPr/>
          </a:p>
          <a:p>
            <a:pPr indent="0" lvl="0" marL="0" rtl="0" algn="l">
              <a:spcBef>
                <a:spcPts val="0"/>
              </a:spcBef>
              <a:spcAft>
                <a:spcPts val="0"/>
              </a:spcAft>
              <a:buNone/>
            </a:pPr>
            <a:r>
              <a:rPr lang="en-US"/>
              <a:t>  "rule": {</a:t>
            </a:r>
            <a:endParaRPr/>
          </a:p>
          <a:p>
            <a:pPr indent="0" lvl="0" marL="0" rtl="0" algn="l">
              <a:spcBef>
                <a:spcPts val="0"/>
              </a:spcBef>
              <a:spcAft>
                <a:spcPts val="0"/>
              </a:spcAft>
              <a:buNone/>
            </a:pPr>
            <a:r>
              <a:rPr lang="en-US"/>
              <a:t>    "id": "100021",</a:t>
            </a:r>
            <a:endParaRPr/>
          </a:p>
          <a:p>
            <a:pPr indent="0" lvl="0" marL="0" rtl="0" algn="l">
              <a:spcBef>
                <a:spcPts val="0"/>
              </a:spcBef>
              <a:spcAft>
                <a:spcPts val="0"/>
              </a:spcAft>
              <a:buNone/>
            </a:pPr>
            <a:r>
              <a:rPr lang="en-US"/>
              <a:t>    "description": "C2 Beacon Detected by Suricata",</a:t>
            </a:r>
            <a:endParaRPr/>
          </a:p>
          <a:p>
            <a:pPr indent="0" lvl="0" marL="0" rtl="0" algn="l">
              <a:spcBef>
                <a:spcPts val="0"/>
              </a:spcBef>
              <a:spcAft>
                <a:spcPts val="0"/>
              </a:spcAft>
              <a:buNone/>
            </a:pPr>
            <a:r>
              <a:rPr lang="en-US"/>
              <a:t>    "level": 10,</a:t>
            </a:r>
            <a:endParaRPr/>
          </a:p>
          <a:p>
            <a:pPr indent="0" lvl="0" marL="0" rtl="0" algn="l">
              <a:spcBef>
                <a:spcPts val="0"/>
              </a:spcBef>
              <a:spcAft>
                <a:spcPts val="0"/>
              </a:spcAft>
              <a:buNone/>
            </a:pPr>
            <a:r>
              <a:rPr lang="en-US"/>
              <a:t>    "groups": ["c2", "beacon", "suricata"],</a:t>
            </a:r>
            <a:endParaRPr/>
          </a:p>
          <a:p>
            <a:pPr indent="0" lvl="0" marL="0" rtl="0" algn="l">
              <a:spcBef>
                <a:spcPts val="0"/>
              </a:spcBef>
              <a:spcAft>
                <a:spcPts val="0"/>
              </a:spcAft>
              <a:buNone/>
            </a:pPr>
            <a:r>
              <a:rPr lang="en-US"/>
              <a:t>    "mitre": ["T1071"]</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"src_ip": "192.168.1.2",</a:t>
            </a:r>
            <a:endParaRPr/>
          </a:p>
          <a:p>
            <a:pPr indent="0" lvl="0" marL="0" rtl="0" algn="l">
              <a:spcBef>
                <a:spcPts val="0"/>
              </a:spcBef>
              <a:spcAft>
                <a:spcPts val="0"/>
              </a:spcAft>
              <a:buNone/>
            </a:pPr>
            <a:r>
              <a:rPr lang="en-US"/>
              <a:t>  "dest_ip": "10.0.0.10"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p:txBody>
      </p:sp>
    </p:spTree>
  </p:cSld>
  <p:clrMapOvr>
    <a:masterClrMapping/>
  </p:clrMapOvr>
  <p:transition spd="slow">
    <p:fade thruBlk="1"/>
  </p:transition>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144" name="Shape 3144"/>
        <p:cNvGrpSpPr/>
        <p:nvPr/>
      </p:nvGrpSpPr>
      <p:grpSpPr>
        <a:xfrm>
          <a:off x="0" y="0"/>
          <a:ext cx="0" cy="0"/>
          <a:chOff x="0" y="0"/>
          <a:chExt cx="0" cy="0"/>
        </a:xfrm>
      </p:grpSpPr>
      <p:pic>
        <p:nvPicPr>
          <p:cNvPr descr="A picture containing food, drawing, shirt&#10;&#10;Description automatically generated" id="3145" name="Google Shape;3145;p23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146" name="Google Shape;3146;p2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47" name="Google Shape;3147;p23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148" name="Google Shape;3148;p235"/>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149" name="Google Shape;3149;p23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150" name="Google Shape;3150;p235"/>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151" name="Google Shape;3151;p235"/>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3152" name="Google Shape;3152;p235"/>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156" name="Shape 3156"/>
        <p:cNvGrpSpPr/>
        <p:nvPr/>
      </p:nvGrpSpPr>
      <p:grpSpPr>
        <a:xfrm>
          <a:off x="0" y="0"/>
          <a:ext cx="0" cy="0"/>
          <a:chOff x="0" y="0"/>
          <a:chExt cx="0" cy="0"/>
        </a:xfrm>
      </p:grpSpPr>
      <p:pic>
        <p:nvPicPr>
          <p:cNvPr descr="A picture containing food, drawing, shirt&#10;&#10;Description automatically generated" id="3157" name="Google Shape;3157;p23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158" name="Google Shape;3158;p2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59" name="Google Shape;3159;p2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160" name="Google Shape;3160;p236"/>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161" name="Google Shape;3161;p23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162" name="Google Shape;3162;p236"/>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163" name="Google Shape;3163;p236"/>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 SSHD Decoder</a:t>
            </a:r>
            <a:endParaRPr sz="4800">
              <a:solidFill>
                <a:schemeClr val="lt1"/>
              </a:solidFill>
              <a:highlight>
                <a:srgbClr val="3585F9"/>
              </a:highlight>
              <a:latin typeface="Poppins"/>
              <a:ea typeface="Poppins"/>
              <a:cs typeface="Poppins"/>
              <a:sym typeface="Poppins"/>
            </a:endParaRPr>
          </a:p>
        </p:txBody>
      </p:sp>
      <p:pic>
        <p:nvPicPr>
          <p:cNvPr id="3164" name="Google Shape;3164;p236"/>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8" name="Shape 3168"/>
        <p:cNvGrpSpPr/>
        <p:nvPr/>
      </p:nvGrpSpPr>
      <p:grpSpPr>
        <a:xfrm>
          <a:off x="0" y="0"/>
          <a:ext cx="0" cy="0"/>
          <a:chOff x="0" y="0"/>
          <a:chExt cx="0" cy="0"/>
        </a:xfrm>
      </p:grpSpPr>
      <p:sp>
        <p:nvSpPr>
          <p:cNvPr id="3169" name="Google Shape;3169;p237"/>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Decoder How It Works</a:t>
            </a:r>
            <a:endParaRPr b="1" i="0" sz="3600" u="none" cap="none" strike="noStrike">
              <a:solidFill>
                <a:schemeClr val="accent1"/>
              </a:solidFill>
              <a:latin typeface="Poppins"/>
              <a:ea typeface="Poppins"/>
              <a:cs typeface="Poppins"/>
              <a:sym typeface="Poppins"/>
            </a:endParaRPr>
          </a:p>
        </p:txBody>
      </p:sp>
      <p:cxnSp>
        <p:nvCxnSpPr>
          <p:cNvPr id="3170" name="Google Shape;3170;p23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171" name="Google Shape;3171;p23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172" name="Google Shape;3172;p23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173" name="Google Shape;3173;p23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174" name="Google Shape;3174;p23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175" name="Google Shape;3175;p2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76" name="Google Shape;3176;p237"/>
          <p:cNvSpPr txBox="1"/>
          <p:nvPr/>
        </p:nvSpPr>
        <p:spPr>
          <a:xfrm>
            <a:off x="694650" y="1265038"/>
            <a:ext cx="98199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50">
              <a:solidFill>
                <a:schemeClr val="dk1"/>
              </a:solidFill>
              <a:latin typeface="Archivo"/>
              <a:ea typeface="Archivo"/>
              <a:cs typeface="Archivo"/>
              <a:sym typeface="Archivo"/>
            </a:endParaRPr>
          </a:p>
        </p:txBody>
      </p:sp>
      <p:sp>
        <p:nvSpPr>
          <p:cNvPr id="3177" name="Google Shape;3177;p237"/>
          <p:cNvSpPr txBox="1"/>
          <p:nvPr/>
        </p:nvSpPr>
        <p:spPr>
          <a:xfrm>
            <a:off x="8565275" y="22570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178" name="Google Shape;3178;p237"/>
          <p:cNvSpPr txBox="1"/>
          <p:nvPr/>
        </p:nvSpPr>
        <p:spPr>
          <a:xfrm>
            <a:off x="694650" y="1265038"/>
            <a:ext cx="9819900" cy="372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latin typeface="Archivo"/>
                <a:ea typeface="Archivo"/>
                <a:cs typeface="Archivo"/>
                <a:sym typeface="Archivo"/>
              </a:rPr>
              <a:t>sudo nano sshd_decoders.xml</a:t>
            </a:r>
            <a:endParaRPr sz="1700">
              <a:solidFill>
                <a:schemeClr val="dk1"/>
              </a:solidFill>
              <a:latin typeface="Archivo"/>
              <a:ea typeface="Archivo"/>
              <a:cs typeface="Archivo"/>
              <a:sym typeface="Archivo"/>
            </a:endParaRPr>
          </a:p>
          <a:p>
            <a:pPr indent="0" lvl="0" marL="0" rtl="0" algn="l">
              <a:spcBef>
                <a:spcPts val="0"/>
              </a:spcBef>
              <a:spcAft>
                <a:spcPts val="0"/>
              </a:spcAft>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 name="sshd"&gt;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&lt;program_name&gt;^sshd$&lt;/program_name&gt;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 name="sshd_failed_login"&gt;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&lt;parent&gt;sshd&lt;/parent&gt;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&lt;regex&gt;.*Failed password for (invalid user )?(\w+) from (\d+\.\d+\.\d+\.\d+) port \d+ ssh2&lt;/regex&gt;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&lt;order&gt;is_invalid_user, username, src_ip&lt;/order&gt;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&lt;/decoder&gt;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2" name="Shape 3182"/>
        <p:cNvGrpSpPr/>
        <p:nvPr/>
      </p:nvGrpSpPr>
      <p:grpSpPr>
        <a:xfrm>
          <a:off x="0" y="0"/>
          <a:ext cx="0" cy="0"/>
          <a:chOff x="0" y="0"/>
          <a:chExt cx="0" cy="0"/>
        </a:xfrm>
      </p:grpSpPr>
      <p:sp>
        <p:nvSpPr>
          <p:cNvPr id="3183" name="Google Shape;3183;p238"/>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Decoder How It Works</a:t>
            </a:r>
            <a:endParaRPr b="1" i="0" sz="3600" u="none" cap="none" strike="noStrike">
              <a:solidFill>
                <a:schemeClr val="accent1"/>
              </a:solidFill>
              <a:latin typeface="Poppins"/>
              <a:ea typeface="Poppins"/>
              <a:cs typeface="Poppins"/>
              <a:sym typeface="Poppins"/>
            </a:endParaRPr>
          </a:p>
        </p:txBody>
      </p:sp>
      <p:cxnSp>
        <p:nvCxnSpPr>
          <p:cNvPr id="3184" name="Google Shape;3184;p23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185" name="Google Shape;3185;p23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186" name="Google Shape;3186;p23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187" name="Google Shape;3187;p23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188" name="Google Shape;3188;p23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189" name="Google Shape;3189;p2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90" name="Google Shape;3190;p238"/>
          <p:cNvSpPr txBox="1"/>
          <p:nvPr/>
        </p:nvSpPr>
        <p:spPr>
          <a:xfrm>
            <a:off x="694650" y="1265038"/>
            <a:ext cx="98199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50">
              <a:solidFill>
                <a:schemeClr val="dk1"/>
              </a:solidFill>
              <a:latin typeface="Archivo"/>
              <a:ea typeface="Archivo"/>
              <a:cs typeface="Archivo"/>
              <a:sym typeface="Archivo"/>
            </a:endParaRPr>
          </a:p>
        </p:txBody>
      </p:sp>
      <p:sp>
        <p:nvSpPr>
          <p:cNvPr id="3191" name="Google Shape;3191;p238"/>
          <p:cNvSpPr txBox="1"/>
          <p:nvPr/>
        </p:nvSpPr>
        <p:spPr>
          <a:xfrm>
            <a:off x="8565275" y="22570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192" name="Google Shape;3192;p238"/>
          <p:cNvSpPr txBox="1"/>
          <p:nvPr/>
        </p:nvSpPr>
        <p:spPr>
          <a:xfrm>
            <a:off x="694650" y="1265038"/>
            <a:ext cx="9819900" cy="6310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latin typeface="Archivo"/>
                <a:ea typeface="Archivo"/>
                <a:cs typeface="Archivo"/>
                <a:sym typeface="Archivo"/>
              </a:rPr>
              <a:t>sudo nano sshd_login_rules.xml</a:t>
            </a:r>
            <a:endParaRPr sz="1700">
              <a:solidFill>
                <a:schemeClr val="dk1"/>
              </a:solidFill>
              <a:latin typeface="Archivo"/>
              <a:ea typeface="Archivo"/>
              <a:cs typeface="Archivo"/>
              <a:sym typeface="Archivo"/>
            </a:endParaRPr>
          </a:p>
          <a:p>
            <a:pPr indent="0" lvl="0" marL="0" rtl="0" algn="l">
              <a:spcBef>
                <a:spcPts val="0"/>
              </a:spcBef>
              <a:spcAft>
                <a:spcPts val="0"/>
              </a:spcAft>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&lt;group name="sshd_login_rules"&gt;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&lt;rule id="100030" level="5"&gt;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&lt;decoded_as&gt;sshd_failed_login&lt;/decoded_as&gt;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&lt;description&gt;SSH failed login attempt detected&lt;/description&gt;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&lt;group&gt;authentication, sshd, failed-login&lt;/group&gt;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&lt;options&gt;no_full_log&lt;/options&gt;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&lt;/rule&gt;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&lt;rule id="100031" level="10"&gt;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&lt;parent&gt;100030&lt;/parent&gt;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&lt;description&gt;SSH failed login 6 times from the same IP&lt;/description&gt;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&lt;group&gt;authentication, sshd, brute-force&lt;/group&gt;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&lt;mitre&gt;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&lt;id&gt;T1110&lt;/id&gt;  &lt;!-- Brute Force --&gt;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&lt;technique&gt;SSH Brute Force&lt;/technique&gt;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&lt;/mitre&gt;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&lt;firedtimes&gt;6&lt;/firedtimes&gt;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&lt;same_source_ip&gt;yes&lt;/same_source_ip&gt;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  &lt;/rule&gt;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a:solidFill>
                  <a:schemeClr val="dk1"/>
                </a:solidFill>
                <a:latin typeface="Courier New"/>
                <a:ea typeface="Courier New"/>
                <a:cs typeface="Courier New"/>
                <a:sym typeface="Courier New"/>
              </a:rPr>
              <a:t>&lt;/group&gt;</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6" name="Shape 3196"/>
        <p:cNvGrpSpPr/>
        <p:nvPr/>
      </p:nvGrpSpPr>
      <p:grpSpPr>
        <a:xfrm>
          <a:off x="0" y="0"/>
          <a:ext cx="0" cy="0"/>
          <a:chOff x="0" y="0"/>
          <a:chExt cx="0" cy="0"/>
        </a:xfrm>
      </p:grpSpPr>
      <p:sp>
        <p:nvSpPr>
          <p:cNvPr id="3197" name="Google Shape;3197;p239"/>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Decoder How It Works</a:t>
            </a:r>
            <a:endParaRPr b="1" i="0" sz="3600" u="none" cap="none" strike="noStrike">
              <a:solidFill>
                <a:schemeClr val="accent1"/>
              </a:solidFill>
              <a:latin typeface="Poppins"/>
              <a:ea typeface="Poppins"/>
              <a:cs typeface="Poppins"/>
              <a:sym typeface="Poppins"/>
            </a:endParaRPr>
          </a:p>
        </p:txBody>
      </p:sp>
      <p:cxnSp>
        <p:nvCxnSpPr>
          <p:cNvPr id="3198" name="Google Shape;3198;p23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199" name="Google Shape;3199;p23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200" name="Google Shape;3200;p23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201" name="Google Shape;3201;p23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202" name="Google Shape;3202;p23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203" name="Google Shape;3203;p23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04" name="Google Shape;3204;p239"/>
          <p:cNvSpPr txBox="1"/>
          <p:nvPr/>
        </p:nvSpPr>
        <p:spPr>
          <a:xfrm>
            <a:off x="694650" y="1265038"/>
            <a:ext cx="98199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50">
              <a:solidFill>
                <a:schemeClr val="dk1"/>
              </a:solidFill>
              <a:latin typeface="Archivo"/>
              <a:ea typeface="Archivo"/>
              <a:cs typeface="Archivo"/>
              <a:sym typeface="Archivo"/>
            </a:endParaRPr>
          </a:p>
        </p:txBody>
      </p:sp>
      <p:sp>
        <p:nvSpPr>
          <p:cNvPr id="3205" name="Google Shape;3205;p239"/>
          <p:cNvSpPr txBox="1"/>
          <p:nvPr/>
        </p:nvSpPr>
        <p:spPr>
          <a:xfrm>
            <a:off x="8565275" y="22570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206" name="Google Shape;3206;p239"/>
          <p:cNvSpPr txBox="1"/>
          <p:nvPr/>
        </p:nvSpPr>
        <p:spPr>
          <a:xfrm>
            <a:off x="694650" y="1265038"/>
            <a:ext cx="9819900" cy="253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logger -t sshd 'Failed password for invalid user admin from 192.168.1.100 port 22 ssh2'</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logger -t sshd 'Failed password for root from 192.168.1.100 port 22 ssh2'</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logger -t sshd 'Failed password for root from 192.168.1.100 port 22 ssh2'</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logger -t sshd 'Failed password for root from 192.168.1.100 port 22 ssh2'</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logger -t sshd 'Failed password for root from 192.168.1.100 port 22 ssh2'</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logger -t sshd 'Failed password for root from 192.168.1.100 port 22 ssh2'</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tail -f /var/ossec/logs/alerts/alerts.json</a:t>
            </a:r>
            <a:endParaRPr sz="1700">
              <a:solidFill>
                <a:schemeClr val="dk1"/>
              </a:solidFill>
              <a:latin typeface="Archivo"/>
              <a:ea typeface="Archivo"/>
              <a:cs typeface="Archivo"/>
              <a:sym typeface="Archivo"/>
            </a:endParaRPr>
          </a:p>
          <a:p>
            <a:pPr indent="0" lvl="0" marL="0" rtl="0" algn="l">
              <a:spcBef>
                <a:spcPts val="0"/>
              </a:spcBef>
              <a:spcAft>
                <a:spcPts val="0"/>
              </a:spcAft>
              <a:buNone/>
            </a:pPr>
            <a:r>
              <a:t/>
            </a:r>
            <a:endParaRPr sz="1700">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210" name="Shape 3210"/>
        <p:cNvGrpSpPr/>
        <p:nvPr/>
      </p:nvGrpSpPr>
      <p:grpSpPr>
        <a:xfrm>
          <a:off x="0" y="0"/>
          <a:ext cx="0" cy="0"/>
          <a:chOff x="0" y="0"/>
          <a:chExt cx="0" cy="0"/>
        </a:xfrm>
      </p:grpSpPr>
      <p:pic>
        <p:nvPicPr>
          <p:cNvPr descr="A picture containing food, drawing, shirt&#10;&#10;Description automatically generated" id="3211" name="Google Shape;3211;p24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212" name="Google Shape;3212;p2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13" name="Google Shape;3213;p2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214" name="Google Shape;3214;p240"/>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215" name="Google Shape;3215;p24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216" name="Google Shape;3216;p240"/>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217" name="Google Shape;3217;p240"/>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3218" name="Google Shape;3218;p240"/>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222" name="Shape 3222"/>
        <p:cNvGrpSpPr/>
        <p:nvPr/>
      </p:nvGrpSpPr>
      <p:grpSpPr>
        <a:xfrm>
          <a:off x="0" y="0"/>
          <a:ext cx="0" cy="0"/>
          <a:chOff x="0" y="0"/>
          <a:chExt cx="0" cy="0"/>
        </a:xfrm>
      </p:grpSpPr>
      <p:pic>
        <p:nvPicPr>
          <p:cNvPr descr="A picture containing food, drawing, shirt&#10;&#10;Description automatically generated" id="3223" name="Google Shape;3223;p24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224" name="Google Shape;3224;p2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25" name="Google Shape;3225;p2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226" name="Google Shape;3226;p241"/>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227" name="Google Shape;3227;p24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228" name="Google Shape;3228;p241"/>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229" name="Google Shape;3229;p241"/>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Wazuh CBD List</a:t>
            </a:r>
            <a:endParaRPr sz="4800">
              <a:solidFill>
                <a:schemeClr val="lt1"/>
              </a:solidFill>
              <a:highlight>
                <a:srgbClr val="3585F9"/>
              </a:highlight>
              <a:latin typeface="Poppins"/>
              <a:ea typeface="Poppins"/>
              <a:cs typeface="Poppins"/>
              <a:sym typeface="Poppins"/>
            </a:endParaRPr>
          </a:p>
        </p:txBody>
      </p:sp>
      <p:pic>
        <p:nvPicPr>
          <p:cNvPr id="3230" name="Google Shape;3230;p241"/>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4" name="Shape 3234"/>
        <p:cNvGrpSpPr/>
        <p:nvPr/>
      </p:nvGrpSpPr>
      <p:grpSpPr>
        <a:xfrm>
          <a:off x="0" y="0"/>
          <a:ext cx="0" cy="0"/>
          <a:chOff x="0" y="0"/>
          <a:chExt cx="0" cy="0"/>
        </a:xfrm>
      </p:grpSpPr>
      <p:sp>
        <p:nvSpPr>
          <p:cNvPr id="3235" name="Google Shape;3235;p242"/>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Objective</a:t>
            </a:r>
            <a:endParaRPr b="1" i="0" sz="3600" u="none" cap="none" strike="noStrike">
              <a:solidFill>
                <a:schemeClr val="accent1"/>
              </a:solidFill>
              <a:latin typeface="Poppins"/>
              <a:ea typeface="Poppins"/>
              <a:cs typeface="Poppins"/>
              <a:sym typeface="Poppins"/>
            </a:endParaRPr>
          </a:p>
        </p:txBody>
      </p:sp>
      <p:cxnSp>
        <p:nvCxnSpPr>
          <p:cNvPr id="3236" name="Google Shape;3236;p24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237" name="Google Shape;3237;p24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238" name="Google Shape;3238;p24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239" name="Google Shape;3239;p24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240" name="Google Shape;3240;p24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241" name="Google Shape;3241;p2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42" name="Google Shape;3242;p242"/>
          <p:cNvSpPr txBox="1"/>
          <p:nvPr/>
        </p:nvSpPr>
        <p:spPr>
          <a:xfrm>
            <a:off x="694650" y="1265038"/>
            <a:ext cx="98199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50">
              <a:solidFill>
                <a:schemeClr val="dk1"/>
              </a:solidFill>
              <a:latin typeface="Archivo"/>
              <a:ea typeface="Archivo"/>
              <a:cs typeface="Archivo"/>
              <a:sym typeface="Archivo"/>
            </a:endParaRPr>
          </a:p>
        </p:txBody>
      </p:sp>
      <p:sp>
        <p:nvSpPr>
          <p:cNvPr id="3243" name="Google Shape;3243;p242"/>
          <p:cNvSpPr txBox="1"/>
          <p:nvPr/>
        </p:nvSpPr>
        <p:spPr>
          <a:xfrm>
            <a:off x="8565275" y="22570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244" name="Google Shape;3244;p242"/>
          <p:cNvSpPr txBox="1"/>
          <p:nvPr/>
        </p:nvSpPr>
        <p:spPr>
          <a:xfrm>
            <a:off x="808475" y="1715488"/>
            <a:ext cx="98199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 CDB list lookups within rules</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 Use cases for CDB lists</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 File paths and line format for CDB lists</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 Creating new rules to utilize CDB lists</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p:txBody>
      </p:sp>
    </p:spTree>
  </p:cSld>
  <p:clrMapOvr>
    <a:masterClrMapping/>
  </p:clrMapOvr>
  <p:transition spd="slow">
    <p:fade thruBlk="1"/>
  </p:transition>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8" name="Shape 3248"/>
        <p:cNvGrpSpPr/>
        <p:nvPr/>
      </p:nvGrpSpPr>
      <p:grpSpPr>
        <a:xfrm>
          <a:off x="0" y="0"/>
          <a:ext cx="0" cy="0"/>
          <a:chOff x="0" y="0"/>
          <a:chExt cx="0" cy="0"/>
        </a:xfrm>
      </p:grpSpPr>
      <p:sp>
        <p:nvSpPr>
          <p:cNvPr id="3249" name="Google Shape;3249;p243"/>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CBD</a:t>
            </a:r>
            <a:endParaRPr b="1" i="0" sz="3600" u="none" cap="none" strike="noStrike">
              <a:solidFill>
                <a:schemeClr val="accent1"/>
              </a:solidFill>
              <a:latin typeface="Poppins"/>
              <a:ea typeface="Poppins"/>
              <a:cs typeface="Poppins"/>
              <a:sym typeface="Poppins"/>
            </a:endParaRPr>
          </a:p>
        </p:txBody>
      </p:sp>
      <p:cxnSp>
        <p:nvCxnSpPr>
          <p:cNvPr id="3250" name="Google Shape;3250;p24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251" name="Google Shape;3251;p24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252" name="Google Shape;3252;p24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253" name="Google Shape;3253;p24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254" name="Google Shape;3254;p24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255" name="Google Shape;3255;p2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56" name="Google Shape;3256;p243"/>
          <p:cNvSpPr txBox="1"/>
          <p:nvPr/>
        </p:nvSpPr>
        <p:spPr>
          <a:xfrm>
            <a:off x="694650" y="1265038"/>
            <a:ext cx="98199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50">
              <a:solidFill>
                <a:schemeClr val="dk1"/>
              </a:solidFill>
              <a:latin typeface="Archivo"/>
              <a:ea typeface="Archivo"/>
              <a:cs typeface="Archivo"/>
              <a:sym typeface="Archivo"/>
            </a:endParaRPr>
          </a:p>
        </p:txBody>
      </p:sp>
      <p:sp>
        <p:nvSpPr>
          <p:cNvPr id="3257" name="Google Shape;3257;p243"/>
          <p:cNvSpPr txBox="1"/>
          <p:nvPr/>
        </p:nvSpPr>
        <p:spPr>
          <a:xfrm>
            <a:off x="8565275" y="22570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258" name="Google Shape;3258;p243"/>
          <p:cNvSpPr txBox="1"/>
          <p:nvPr/>
        </p:nvSpPr>
        <p:spPr>
          <a:xfrm>
            <a:off x="808475" y="1715488"/>
            <a:ext cx="9819900" cy="489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latin typeface="Archivo"/>
                <a:ea typeface="Archivo"/>
                <a:cs typeface="Archivo"/>
                <a:sym typeface="Archivo"/>
              </a:rPr>
              <a:t>Dalam Wazuh, CDB adalah singkatan dari Constant Database. Ini adalah fitur yang digunakan untuk menyimpan dan mengelola daftar data tetap (constant data) secara efisien, yang dapat diperiksa selama proses analisis event — biasanya untuk keperluan blacklist atau whitelist.</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336550" lvl="0" marL="457200" rtl="0" algn="l">
              <a:spcBef>
                <a:spcPts val="0"/>
              </a:spcBef>
              <a:spcAft>
                <a:spcPts val="0"/>
              </a:spcAft>
              <a:buSzPts val="1700"/>
              <a:buFont typeface="Archivo"/>
              <a:buChar char="●"/>
            </a:pPr>
            <a:r>
              <a:rPr lang="en-US" sz="1700">
                <a:latin typeface="Archivo"/>
                <a:ea typeface="Archivo"/>
                <a:cs typeface="Archivo"/>
                <a:sym typeface="Archivo"/>
              </a:rPr>
              <a:t>Storage: CDB list adalah file teks sederhana di mana setiap entri disimpan dalam satu baris terpisah.</a:t>
            </a:r>
            <a:endParaRPr sz="1700">
              <a:latin typeface="Archivo"/>
              <a:ea typeface="Archivo"/>
              <a:cs typeface="Archivo"/>
              <a:sym typeface="Archivo"/>
            </a:endParaRPr>
          </a:p>
          <a:p>
            <a:pPr indent="0" lvl="0" marL="457200" rtl="0" algn="l">
              <a:spcBef>
                <a:spcPts val="0"/>
              </a:spcBef>
              <a:spcAft>
                <a:spcPts val="0"/>
              </a:spcAft>
              <a:buNone/>
            </a:pPr>
            <a:r>
              <a:t/>
            </a:r>
            <a:endParaRPr sz="1700">
              <a:latin typeface="Archivo"/>
              <a:ea typeface="Archivo"/>
              <a:cs typeface="Archivo"/>
              <a:sym typeface="Archivo"/>
            </a:endParaRPr>
          </a:p>
          <a:p>
            <a:pPr indent="-336550" lvl="0" marL="457200" rtl="0" algn="l">
              <a:spcBef>
                <a:spcPts val="0"/>
              </a:spcBef>
              <a:spcAft>
                <a:spcPts val="0"/>
              </a:spcAft>
              <a:buSzPts val="1700"/>
              <a:buFont typeface="Archivo"/>
              <a:buChar char="●"/>
            </a:pPr>
            <a:r>
              <a:rPr lang="en-US" sz="1700">
                <a:latin typeface="Archivo"/>
                <a:ea typeface="Archivo"/>
                <a:cs typeface="Archivo"/>
                <a:sym typeface="Archivo"/>
              </a:rPr>
              <a:t>Pencocokan (Lookup): Saat memproses log event, Wazuh akan mengekstrak field tertentu (misalnya alamat IP atau nama pengguna) dan memeriksa apakah nilai tersebut ada dalam CDB list yang sesuai.</a:t>
            </a:r>
            <a:endParaRPr sz="1700">
              <a:latin typeface="Archivo"/>
              <a:ea typeface="Archivo"/>
              <a:cs typeface="Archivo"/>
              <a:sym typeface="Archivo"/>
            </a:endParaRPr>
          </a:p>
          <a:p>
            <a:pPr indent="0" lvl="0" marL="457200" rtl="0" algn="l">
              <a:spcBef>
                <a:spcPts val="0"/>
              </a:spcBef>
              <a:spcAft>
                <a:spcPts val="0"/>
              </a:spcAft>
              <a:buNone/>
            </a:pPr>
            <a:r>
              <a:t/>
            </a:r>
            <a:endParaRPr sz="1700">
              <a:latin typeface="Archivo"/>
              <a:ea typeface="Archivo"/>
              <a:cs typeface="Archivo"/>
              <a:sym typeface="Archivo"/>
            </a:endParaRPr>
          </a:p>
          <a:p>
            <a:pPr indent="-336550" lvl="0" marL="457200" rtl="0" algn="l">
              <a:spcBef>
                <a:spcPts val="0"/>
              </a:spcBef>
              <a:spcAft>
                <a:spcPts val="0"/>
              </a:spcAft>
              <a:buSzPts val="1700"/>
              <a:buFont typeface="Archivo"/>
              <a:buChar char="●"/>
            </a:pPr>
            <a:r>
              <a:rPr lang="en-US" sz="1700">
                <a:latin typeface="Archivo"/>
                <a:ea typeface="Archivo"/>
                <a:cs typeface="Archivo"/>
                <a:sym typeface="Archivo"/>
              </a:rPr>
              <a:t>Performa: CDB dioptimalkan untuk pencarian cepat, sehingga sangat cocok digunakan untuk daftar data berukuran besar yang memerlukan proses lookup cepat tanpa beban overhead seperti kueri database kompleks.</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p:txBody>
      </p:sp>
    </p:spTree>
  </p:cSld>
  <p:clrMapOvr>
    <a:masterClrMapping/>
  </p:clrMapOvr>
  <p:transition spd="slow">
    <p:fade thruBlk="1"/>
  </p:transition>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2" name="Shape 3262"/>
        <p:cNvGrpSpPr/>
        <p:nvPr/>
      </p:nvGrpSpPr>
      <p:grpSpPr>
        <a:xfrm>
          <a:off x="0" y="0"/>
          <a:ext cx="0" cy="0"/>
          <a:chOff x="0" y="0"/>
          <a:chExt cx="0" cy="0"/>
        </a:xfrm>
      </p:grpSpPr>
      <p:sp>
        <p:nvSpPr>
          <p:cNvPr id="3263" name="Google Shape;3263;p244"/>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Common Use </a:t>
            </a:r>
            <a:endParaRPr b="1" i="0" sz="3600" u="none" cap="none" strike="noStrike">
              <a:solidFill>
                <a:schemeClr val="accent1"/>
              </a:solidFill>
              <a:latin typeface="Poppins"/>
              <a:ea typeface="Poppins"/>
              <a:cs typeface="Poppins"/>
              <a:sym typeface="Poppins"/>
            </a:endParaRPr>
          </a:p>
        </p:txBody>
      </p:sp>
      <p:cxnSp>
        <p:nvCxnSpPr>
          <p:cNvPr id="3264" name="Google Shape;3264;p24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265" name="Google Shape;3265;p24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266" name="Google Shape;3266;p24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267" name="Google Shape;3267;p24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268" name="Google Shape;3268;p24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269" name="Google Shape;3269;p2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70" name="Google Shape;3270;p244"/>
          <p:cNvSpPr txBox="1"/>
          <p:nvPr/>
        </p:nvSpPr>
        <p:spPr>
          <a:xfrm>
            <a:off x="694650" y="1265038"/>
            <a:ext cx="98199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50">
              <a:solidFill>
                <a:schemeClr val="dk1"/>
              </a:solidFill>
              <a:latin typeface="Archivo"/>
              <a:ea typeface="Archivo"/>
              <a:cs typeface="Archivo"/>
              <a:sym typeface="Archivo"/>
            </a:endParaRPr>
          </a:p>
        </p:txBody>
      </p:sp>
      <p:sp>
        <p:nvSpPr>
          <p:cNvPr id="3271" name="Google Shape;3271;p244"/>
          <p:cNvSpPr txBox="1"/>
          <p:nvPr/>
        </p:nvSpPr>
        <p:spPr>
          <a:xfrm>
            <a:off x="8565275" y="22570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272" name="Google Shape;3272;p244"/>
          <p:cNvSpPr txBox="1"/>
          <p:nvPr/>
        </p:nvSpPr>
        <p:spPr>
          <a:xfrm>
            <a:off x="808475" y="1715488"/>
            <a:ext cx="98199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700">
                <a:latin typeface="Archivo"/>
                <a:ea typeface="Archivo"/>
                <a:cs typeface="Archivo"/>
                <a:sym typeface="Archivo"/>
              </a:rPr>
              <a:t>IP Address Blacklisting</a:t>
            </a:r>
            <a:r>
              <a:rPr lang="en-US" sz="1700">
                <a:latin typeface="Archivo"/>
                <a:ea typeface="Archivo"/>
                <a:cs typeface="Archivo"/>
                <a:sym typeface="Archivo"/>
              </a:rPr>
              <a:t>: Kamu dapat membuat daftar CDB yang berisi alamat IP berbahaya yang sudah diketahui. Wazuh akan memeriksa event masuk (misalnya log firewall atau log SSHD) untuk melihat apakah alamat IP sumber termasuk dalam daftar blacklist dan akan meningkatkan level alert jika diperlukan</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US" sz="1700">
                <a:latin typeface="Archivo"/>
                <a:ea typeface="Archivo"/>
                <a:cs typeface="Archivo"/>
                <a:sym typeface="Archivo"/>
              </a:rPr>
              <a:t>User Whitelisting</a:t>
            </a:r>
            <a:r>
              <a:rPr lang="en-US" sz="1700">
                <a:latin typeface="Archivo"/>
                <a:ea typeface="Archivo"/>
                <a:cs typeface="Archivo"/>
                <a:sym typeface="Archivo"/>
              </a:rPr>
              <a:t>: Daftar CDB yang berisi pengguna tepercaya dapat digunakan untuk menurunkan level atau menekan alert jika nama pengguna dikenali sebagai aman..</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US" sz="1700">
                <a:latin typeface="Archivo"/>
                <a:ea typeface="Archivo"/>
                <a:cs typeface="Archivo"/>
                <a:sym typeface="Archivo"/>
              </a:rPr>
              <a:t>File Hash Matching</a:t>
            </a:r>
            <a:r>
              <a:rPr lang="en-US" sz="1700">
                <a:latin typeface="Archivo"/>
                <a:ea typeface="Archivo"/>
                <a:cs typeface="Archivo"/>
                <a:sym typeface="Archivo"/>
              </a:rPr>
              <a:t>: Daftar CDB dapat menyimpan hash file untuk mendeteksi apakah ada file berbahaya atau tidak sah yang ditemukan di sistem.</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US" sz="1700">
                <a:latin typeface="Archivo"/>
                <a:ea typeface="Archivo"/>
                <a:cs typeface="Archivo"/>
                <a:sym typeface="Archivo"/>
              </a:rPr>
              <a:t>Domain Name Filtering</a:t>
            </a:r>
            <a:r>
              <a:rPr lang="en-US" sz="1700">
                <a:latin typeface="Archivo"/>
                <a:ea typeface="Archivo"/>
                <a:cs typeface="Archivo"/>
                <a:sym typeface="Archivo"/>
              </a:rPr>
              <a:t>: Dengan memelihara daftar domain yang mencurigakan atau tepercaya, Wazuh dapat meningkatkan atau mengabaikan alert berdasarkan hasil pencocokan nama domain.</a:t>
            </a:r>
            <a:endParaRPr sz="1700">
              <a:latin typeface="Archivo"/>
              <a:ea typeface="Archivo"/>
              <a:cs typeface="Archivo"/>
              <a:sym typeface="Archivo"/>
            </a:endParaRPr>
          </a:p>
          <a:p>
            <a:pPr indent="0" lvl="0" marL="0" rtl="0" algn="l">
              <a:spcBef>
                <a:spcPts val="0"/>
              </a:spcBef>
              <a:spcAft>
                <a:spcPts val="0"/>
              </a:spcAft>
              <a:buNone/>
            </a:pPr>
            <a:r>
              <a:t/>
            </a:r>
            <a:endParaRPr sz="1700">
              <a:latin typeface="Archivo"/>
              <a:ea typeface="Archivo"/>
              <a:cs typeface="Archivo"/>
              <a:sym typeface="Archivo"/>
            </a:endParaRPr>
          </a:p>
        </p:txBody>
      </p:sp>
    </p:spTree>
  </p:cSld>
  <p:clrMapOvr>
    <a:masterClrMapping/>
  </p:clrMapOvr>
  <p:transition spd="slow">
    <p:fade thruBlk="1"/>
  </p:transition>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6" name="Shape 3276"/>
        <p:cNvGrpSpPr/>
        <p:nvPr/>
      </p:nvGrpSpPr>
      <p:grpSpPr>
        <a:xfrm>
          <a:off x="0" y="0"/>
          <a:ext cx="0" cy="0"/>
          <a:chOff x="0" y="0"/>
          <a:chExt cx="0" cy="0"/>
        </a:xfrm>
      </p:grpSpPr>
      <p:sp>
        <p:nvSpPr>
          <p:cNvPr id="3277" name="Google Shape;3277;p245"/>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Common Use </a:t>
            </a:r>
            <a:endParaRPr b="1" i="0" sz="3600" u="none" cap="none" strike="noStrike">
              <a:solidFill>
                <a:schemeClr val="accent1"/>
              </a:solidFill>
              <a:latin typeface="Poppins"/>
              <a:ea typeface="Poppins"/>
              <a:cs typeface="Poppins"/>
              <a:sym typeface="Poppins"/>
            </a:endParaRPr>
          </a:p>
        </p:txBody>
      </p:sp>
      <p:cxnSp>
        <p:nvCxnSpPr>
          <p:cNvPr id="3278" name="Google Shape;3278;p24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279" name="Google Shape;3279;p24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280" name="Google Shape;3280;p24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281" name="Google Shape;3281;p24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282" name="Google Shape;3282;p24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283" name="Google Shape;3283;p2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84" name="Google Shape;3284;p245"/>
          <p:cNvSpPr txBox="1"/>
          <p:nvPr/>
        </p:nvSpPr>
        <p:spPr>
          <a:xfrm>
            <a:off x="694650" y="1265038"/>
            <a:ext cx="98199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50">
              <a:solidFill>
                <a:schemeClr val="dk1"/>
              </a:solidFill>
              <a:latin typeface="Archivo"/>
              <a:ea typeface="Archivo"/>
              <a:cs typeface="Archivo"/>
              <a:sym typeface="Archivo"/>
            </a:endParaRPr>
          </a:p>
        </p:txBody>
      </p:sp>
      <p:sp>
        <p:nvSpPr>
          <p:cNvPr id="3285" name="Google Shape;3285;p245"/>
          <p:cNvSpPr txBox="1"/>
          <p:nvPr/>
        </p:nvSpPr>
        <p:spPr>
          <a:xfrm>
            <a:off x="8565275" y="22570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286" name="Google Shape;3286;p245"/>
          <p:cNvSpPr txBox="1"/>
          <p:nvPr/>
        </p:nvSpPr>
        <p:spPr>
          <a:xfrm>
            <a:off x="808475" y="1715500"/>
            <a:ext cx="46662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latin typeface="Archivo"/>
                <a:ea typeface="Archivo"/>
                <a:cs typeface="Archivo"/>
                <a:sym typeface="Archivo"/>
              </a:rPr>
              <a:t>Example </a:t>
            </a:r>
            <a:endParaRPr b="1" sz="1700">
              <a:latin typeface="Archivo"/>
              <a:ea typeface="Archivo"/>
              <a:cs typeface="Archivo"/>
              <a:sym typeface="Archivo"/>
            </a:endParaRPr>
          </a:p>
          <a:p>
            <a:pPr indent="0" lvl="0" marL="0" rtl="0" algn="l">
              <a:spcBef>
                <a:spcPts val="0"/>
              </a:spcBef>
              <a:spcAft>
                <a:spcPts val="0"/>
              </a:spcAft>
              <a:buNone/>
            </a:pPr>
            <a:r>
              <a:t/>
            </a:r>
            <a:endParaRPr b="1"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latin typeface="Courier New"/>
                <a:ea typeface="Courier New"/>
                <a:cs typeface="Courier New"/>
                <a:sym typeface="Courier New"/>
              </a:rPr>
              <a:t>sudo nano /var/ossec/etc/lists/ip_blacklist</a:t>
            </a:r>
            <a:endParaRPr sz="1700">
              <a:latin typeface="Courier New"/>
              <a:ea typeface="Courier New"/>
              <a:cs typeface="Courier New"/>
              <a:sym typeface="Courier New"/>
            </a:endParaRPr>
          </a:p>
          <a:p>
            <a:pPr indent="0" lvl="0" marL="0" rtl="0" algn="l">
              <a:spcBef>
                <a:spcPts val="0"/>
              </a:spcBef>
              <a:spcAft>
                <a:spcPts val="0"/>
              </a:spcAft>
              <a:buNone/>
            </a:pPr>
            <a:r>
              <a:t/>
            </a:r>
            <a:endParaRPr b="1"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US" sz="1700">
                <a:latin typeface="Archivo"/>
                <a:ea typeface="Archivo"/>
                <a:cs typeface="Archivo"/>
                <a:sym typeface="Archivo"/>
              </a:rPr>
              <a:t>192.168.1.100</a:t>
            </a:r>
            <a:endParaRPr b="1"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US" sz="1700">
                <a:latin typeface="Archivo"/>
                <a:ea typeface="Archivo"/>
                <a:cs typeface="Archivo"/>
                <a:sym typeface="Archivo"/>
              </a:rPr>
              <a:t>172.18.0.10</a:t>
            </a:r>
            <a:endParaRPr b="1"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US" sz="1700">
                <a:latin typeface="Archivo"/>
                <a:ea typeface="Archivo"/>
                <a:cs typeface="Archivo"/>
                <a:sym typeface="Archivo"/>
              </a:rPr>
              <a:t>10.1.2.5</a:t>
            </a:r>
            <a:endParaRPr b="1" sz="1700">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b="1" sz="1700">
              <a:latin typeface="Archivo"/>
              <a:ea typeface="Archivo"/>
              <a:cs typeface="Archivo"/>
              <a:sym typeface="Archivo"/>
            </a:endParaRPr>
          </a:p>
          <a:p>
            <a:pPr indent="0" lvl="0" marL="0" rtl="0" algn="l">
              <a:spcBef>
                <a:spcPts val="0"/>
              </a:spcBef>
              <a:spcAft>
                <a:spcPts val="0"/>
              </a:spcAft>
              <a:buNone/>
            </a:pPr>
            <a:r>
              <a:t/>
            </a:r>
            <a:endParaRPr b="1" sz="1700">
              <a:latin typeface="Archivo"/>
              <a:ea typeface="Archivo"/>
              <a:cs typeface="Archivo"/>
              <a:sym typeface="Archivo"/>
            </a:endParaRPr>
          </a:p>
        </p:txBody>
      </p:sp>
      <p:sp>
        <p:nvSpPr>
          <p:cNvPr id="3287" name="Google Shape;3287;p245"/>
          <p:cNvSpPr txBox="1"/>
          <p:nvPr/>
        </p:nvSpPr>
        <p:spPr>
          <a:xfrm>
            <a:off x="5528575" y="1650025"/>
            <a:ext cx="7134000" cy="235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&lt;group name="sshd,"&gt;</a:t>
            </a:r>
            <a:endParaRPr/>
          </a:p>
          <a:p>
            <a:pPr indent="0" lvl="0" marL="0" rtl="0" algn="l">
              <a:spcBef>
                <a:spcPts val="0"/>
              </a:spcBef>
              <a:spcAft>
                <a:spcPts val="0"/>
              </a:spcAft>
              <a:buNone/>
            </a:pPr>
            <a:r>
              <a:rPr lang="en-US"/>
              <a:t>  &lt;rule id="100001" level="10"&gt;</a:t>
            </a:r>
            <a:endParaRPr/>
          </a:p>
          <a:p>
            <a:pPr indent="0" lvl="0" marL="0" rtl="0" algn="l">
              <a:spcBef>
                <a:spcPts val="0"/>
              </a:spcBef>
              <a:spcAft>
                <a:spcPts val="0"/>
              </a:spcAft>
              <a:buNone/>
            </a:pPr>
            <a:r>
              <a:rPr lang="en-US"/>
              <a:t>    &lt;decoded_as&gt;sshd&lt;/decoded_as&gt;</a:t>
            </a:r>
            <a:endParaRPr/>
          </a:p>
          <a:p>
            <a:pPr indent="0" lvl="0" marL="0" rtl="0" algn="l">
              <a:spcBef>
                <a:spcPts val="0"/>
              </a:spcBef>
              <a:spcAft>
                <a:spcPts val="0"/>
              </a:spcAft>
              <a:buNone/>
            </a:pPr>
            <a:r>
              <a:rPr lang="en-US"/>
              <a:t>    &lt;field name="srcip"&gt;srcip&lt;/field&gt;</a:t>
            </a:r>
            <a:endParaRPr/>
          </a:p>
          <a:p>
            <a:pPr indent="0" lvl="0" marL="0" rtl="0" algn="l">
              <a:spcBef>
                <a:spcPts val="0"/>
              </a:spcBef>
              <a:spcAft>
                <a:spcPts val="0"/>
              </a:spcAft>
              <a:buNone/>
            </a:pPr>
            <a:r>
              <a:rPr lang="en-US"/>
              <a:t>    &lt;description&gt;SSH login attempt from a blacklisted IP&lt;/description&gt;</a:t>
            </a:r>
            <a:endParaRPr/>
          </a:p>
          <a:p>
            <a:pPr indent="0" lvl="0" marL="0" rtl="0" algn="l">
              <a:spcBef>
                <a:spcPts val="0"/>
              </a:spcBef>
              <a:spcAft>
                <a:spcPts val="0"/>
              </a:spcAft>
              <a:buNone/>
            </a:pPr>
            <a:r>
              <a:rPr lang="en-US"/>
              <a:t>    &lt;cdb&gt;lookup&lt;/cdb&gt;</a:t>
            </a:r>
            <a:endParaRPr/>
          </a:p>
          <a:p>
            <a:pPr indent="0" lvl="0" marL="0" rtl="0" algn="l">
              <a:spcBef>
                <a:spcPts val="0"/>
              </a:spcBef>
              <a:spcAft>
                <a:spcPts val="0"/>
              </a:spcAft>
              <a:buNone/>
            </a:pPr>
            <a:r>
              <a:rPr lang="en-US"/>
              <a:t>    &lt;list&gt;</a:t>
            </a:r>
            <a:r>
              <a:rPr b="1" lang="en-US"/>
              <a:t>/var/ossec/etc/lists/</a:t>
            </a:r>
            <a:r>
              <a:rPr b="1" lang="en-US" sz="1500">
                <a:solidFill>
                  <a:schemeClr val="dk1"/>
                </a:solidFill>
                <a:latin typeface="Courier New"/>
                <a:ea typeface="Courier New"/>
                <a:cs typeface="Courier New"/>
                <a:sym typeface="Courier New"/>
              </a:rPr>
              <a:t>ip_blacklist</a:t>
            </a:r>
            <a:r>
              <a:rPr lang="en-US"/>
              <a:t>&lt;/list&gt;</a:t>
            </a:r>
            <a:endParaRPr/>
          </a:p>
          <a:p>
            <a:pPr indent="0" lvl="0" marL="0" rtl="0" algn="l">
              <a:spcBef>
                <a:spcPts val="0"/>
              </a:spcBef>
              <a:spcAft>
                <a:spcPts val="0"/>
              </a:spcAft>
              <a:buNone/>
            </a:pPr>
            <a:r>
              <a:rPr lang="en-US"/>
              <a:t> </a:t>
            </a:r>
            <a:r>
              <a:rPr lang="en-US"/>
              <a:t>   &lt;/rule</a:t>
            </a:r>
            <a:r>
              <a:rPr lang="en-US"/>
              <a:t>&gt;</a:t>
            </a:r>
            <a:endParaRPr/>
          </a:p>
          <a:p>
            <a:pPr indent="0" lvl="0" marL="0" rtl="0" algn="l">
              <a:spcBef>
                <a:spcPts val="0"/>
              </a:spcBef>
              <a:spcAft>
                <a:spcPts val="0"/>
              </a:spcAft>
              <a:buNone/>
            </a:pPr>
            <a:r>
              <a:rPr lang="en-US"/>
              <a:t>&lt;/group&gt;</a:t>
            </a:r>
            <a:endParaRPr/>
          </a:p>
          <a:p>
            <a:pPr indent="0" lvl="0" marL="0" rtl="0" algn="l">
              <a:spcBef>
                <a:spcPts val="0"/>
              </a:spcBef>
              <a:spcAft>
                <a:spcPts val="0"/>
              </a:spcAft>
              <a:buNone/>
            </a:pPr>
            <a:r>
              <a:t/>
            </a:r>
            <a:endParaRPr/>
          </a:p>
        </p:txBody>
      </p:sp>
    </p:spTree>
  </p:cSld>
  <p:clrMapOvr>
    <a:masterClrMapping/>
  </p:clrMapOvr>
  <p:transition spd="slow">
    <p:fade thruBlk="1"/>
  </p:transition>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1" name="Shape 3291"/>
        <p:cNvGrpSpPr/>
        <p:nvPr/>
      </p:nvGrpSpPr>
      <p:grpSpPr>
        <a:xfrm>
          <a:off x="0" y="0"/>
          <a:ext cx="0" cy="0"/>
          <a:chOff x="0" y="0"/>
          <a:chExt cx="0" cy="0"/>
        </a:xfrm>
      </p:grpSpPr>
      <p:sp>
        <p:nvSpPr>
          <p:cNvPr id="3292" name="Google Shape;3292;p246"/>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CBD</a:t>
            </a:r>
            <a:endParaRPr b="1" i="0" sz="3600" u="none" cap="none" strike="noStrike">
              <a:solidFill>
                <a:schemeClr val="accent1"/>
              </a:solidFill>
              <a:latin typeface="Poppins"/>
              <a:ea typeface="Poppins"/>
              <a:cs typeface="Poppins"/>
              <a:sym typeface="Poppins"/>
            </a:endParaRPr>
          </a:p>
        </p:txBody>
      </p:sp>
      <p:cxnSp>
        <p:nvCxnSpPr>
          <p:cNvPr id="3293" name="Google Shape;3293;p24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294" name="Google Shape;3294;p24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295" name="Google Shape;3295;p24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296" name="Google Shape;3296;p24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297" name="Google Shape;3297;p24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298" name="Google Shape;3298;p24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99" name="Google Shape;3299;p246"/>
          <p:cNvSpPr txBox="1"/>
          <p:nvPr/>
        </p:nvSpPr>
        <p:spPr>
          <a:xfrm>
            <a:off x="808475" y="1397188"/>
            <a:ext cx="9819900" cy="558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solidFill>
                  <a:schemeClr val="dk1"/>
                </a:solidFill>
                <a:latin typeface="Archivo Medium"/>
                <a:ea typeface="Archivo Medium"/>
                <a:cs typeface="Archivo Medium"/>
                <a:sym typeface="Archivo Medium"/>
              </a:rPr>
              <a:t>Wazuh dapat memeriksa apakah suatu field yang diekstrak selama fase decoding terdapat dalam daftar CDB (Constant Database).</a:t>
            </a:r>
            <a:endParaRPr sz="1700">
              <a:solidFill>
                <a:schemeClr val="dk1"/>
              </a:solidFill>
              <a:latin typeface="Archivo Medium"/>
              <a:ea typeface="Archivo Medium"/>
              <a:cs typeface="Archivo Medium"/>
              <a:sym typeface="Archivo Medium"/>
            </a:endParaRPr>
          </a:p>
          <a:p>
            <a:pPr indent="0" lvl="0" marL="0" rtl="0" algn="l">
              <a:spcBef>
                <a:spcPts val="0"/>
              </a:spcBef>
              <a:spcAft>
                <a:spcPts val="0"/>
              </a:spcAft>
              <a:buClr>
                <a:schemeClr val="dk1"/>
              </a:buClr>
              <a:buSzPts val="1100"/>
              <a:buFont typeface="Arial"/>
              <a:buNone/>
            </a:pPr>
            <a:r>
              <a:rPr lang="en-US" sz="1700">
                <a:solidFill>
                  <a:schemeClr val="dk1"/>
                </a:solidFill>
                <a:latin typeface="Archivo Medium"/>
                <a:ea typeface="Archivo Medium"/>
                <a:cs typeface="Archivo Medium"/>
                <a:sym typeface="Archivo Medium"/>
              </a:rPr>
              <a:t>Penggunaan utama fitur ini adalah untuk membuat daftar whitelist atau blacklist yang berisi nama pengguna, hash file, alamat IP, atau nama domain.</a:t>
            </a:r>
            <a:endParaRPr sz="17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sz="1700">
              <a:solidFill>
                <a:schemeClr val="dk1"/>
              </a:solidFill>
              <a:latin typeface="Archivo Medium"/>
              <a:ea typeface="Archivo Medium"/>
              <a:cs typeface="Archivo Medium"/>
              <a:sym typeface="Archivo Medium"/>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&lt;ruleset&gt;</a:t>
            </a:r>
            <a:endParaRPr>
              <a:solidFill>
                <a:schemeClr val="dk1"/>
              </a:solidFill>
            </a:endParaRPr>
          </a:p>
          <a:p>
            <a:pPr indent="0" lvl="0" marL="0" rtl="0" algn="l">
              <a:spcBef>
                <a:spcPts val="0"/>
              </a:spcBef>
              <a:spcAft>
                <a:spcPts val="0"/>
              </a:spcAft>
              <a:buNone/>
            </a:pPr>
            <a:r>
              <a:rPr lang="en-US">
                <a:solidFill>
                  <a:schemeClr val="dk1"/>
                </a:solidFill>
              </a:rPr>
              <a:t>    &lt;!-- Default ruleset --&gt;</a:t>
            </a:r>
            <a:endParaRPr>
              <a:solidFill>
                <a:schemeClr val="dk1"/>
              </a:solidFill>
            </a:endParaRPr>
          </a:p>
          <a:p>
            <a:pPr indent="0" lvl="0" marL="0" rtl="0" algn="l">
              <a:spcBef>
                <a:spcPts val="0"/>
              </a:spcBef>
              <a:spcAft>
                <a:spcPts val="0"/>
              </a:spcAft>
              <a:buNone/>
            </a:pPr>
            <a:r>
              <a:rPr lang="en-US">
                <a:solidFill>
                  <a:schemeClr val="dk1"/>
                </a:solidFill>
              </a:rPr>
              <a:t>    &lt;decoder_dir&gt;ruleset/decoders&lt;/decoder_dir&gt;</a:t>
            </a:r>
            <a:endParaRPr>
              <a:solidFill>
                <a:schemeClr val="dk1"/>
              </a:solidFill>
            </a:endParaRPr>
          </a:p>
          <a:p>
            <a:pPr indent="0" lvl="0" marL="0" rtl="0" algn="l">
              <a:spcBef>
                <a:spcPts val="0"/>
              </a:spcBef>
              <a:spcAft>
                <a:spcPts val="0"/>
              </a:spcAft>
              <a:buNone/>
            </a:pPr>
            <a:r>
              <a:rPr lang="en-US">
                <a:solidFill>
                  <a:schemeClr val="dk1"/>
                </a:solidFill>
              </a:rPr>
              <a:t>    &lt;rule_dir&gt;ruleset/rules&lt;/rule_dir&gt;</a:t>
            </a:r>
            <a:endParaRPr>
              <a:solidFill>
                <a:schemeClr val="dk1"/>
              </a:solidFill>
            </a:endParaRPr>
          </a:p>
          <a:p>
            <a:pPr indent="0" lvl="0" marL="0" rtl="0" algn="l">
              <a:spcBef>
                <a:spcPts val="0"/>
              </a:spcBef>
              <a:spcAft>
                <a:spcPts val="0"/>
              </a:spcAft>
              <a:buNone/>
            </a:pPr>
            <a:r>
              <a:rPr lang="en-US">
                <a:solidFill>
                  <a:schemeClr val="dk1"/>
                </a:solidFill>
              </a:rPr>
              <a:t>    &lt;rule_exclude&gt;0215-policy_rules.xml&lt;/rule_exclude&gt;</a:t>
            </a:r>
            <a:endParaRPr>
              <a:solidFill>
                <a:schemeClr val="dk1"/>
              </a:solidFill>
            </a:endParaRPr>
          </a:p>
          <a:p>
            <a:pPr indent="0" lvl="0" marL="0" rtl="0" algn="l">
              <a:spcBef>
                <a:spcPts val="0"/>
              </a:spcBef>
              <a:spcAft>
                <a:spcPts val="0"/>
              </a:spcAft>
              <a:buNone/>
            </a:pPr>
            <a:r>
              <a:rPr lang="en-US">
                <a:solidFill>
                  <a:schemeClr val="dk1"/>
                </a:solidFill>
              </a:rPr>
              <a:t>    &lt;list&gt;etc/lists/audit-keys&lt;/list&gt;</a:t>
            </a:r>
            <a:endParaRPr>
              <a:solidFill>
                <a:schemeClr val="dk1"/>
              </a:solidFill>
            </a:endParaRPr>
          </a:p>
          <a:p>
            <a:pPr indent="0" lvl="0" marL="0" rtl="0" algn="l">
              <a:spcBef>
                <a:spcPts val="0"/>
              </a:spcBef>
              <a:spcAft>
                <a:spcPts val="0"/>
              </a:spcAft>
              <a:buNone/>
            </a:pPr>
            <a:r>
              <a:rPr lang="en-US">
                <a:solidFill>
                  <a:schemeClr val="dk1"/>
                </a:solidFill>
              </a:rPr>
              <a:t>    &lt;list&gt;etc/lists/amazon/aws-eventnames&lt;/list&gt;</a:t>
            </a:r>
            <a:endParaRPr>
              <a:solidFill>
                <a:schemeClr val="dk1"/>
              </a:solidFill>
            </a:endParaRPr>
          </a:p>
          <a:p>
            <a:pPr indent="0" lvl="0" marL="0" rtl="0" algn="l">
              <a:spcBef>
                <a:spcPts val="0"/>
              </a:spcBef>
              <a:spcAft>
                <a:spcPts val="0"/>
              </a:spcAft>
              <a:buNone/>
            </a:pPr>
            <a:r>
              <a:rPr lang="en-US">
                <a:solidFill>
                  <a:schemeClr val="dk1"/>
                </a:solidFill>
              </a:rPr>
              <a:t>    &lt;list&gt;etc/lists/security-eventchannel&lt;/list&gt;</a:t>
            </a:r>
            <a:endParaRPr>
              <a:solidFill>
                <a:schemeClr val="dk1"/>
              </a:solidFill>
            </a:endParaRPr>
          </a:p>
          <a:p>
            <a:pPr indent="0" lvl="0" marL="0" rtl="0" algn="l">
              <a:spcBef>
                <a:spcPts val="0"/>
              </a:spcBef>
              <a:spcAft>
                <a:spcPts val="0"/>
              </a:spcAft>
              <a:buNone/>
            </a:pPr>
            <a:r>
              <a:rPr lang="en-US">
                <a:solidFill>
                  <a:schemeClr val="dk1"/>
                </a:solidFill>
              </a:rPr>
              <a:t>    &lt;list&gt;etc/lists/list-IP&lt;/list&gt;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    &lt;!-- User-defined ruleset --&gt;</a:t>
            </a:r>
            <a:endParaRPr>
              <a:solidFill>
                <a:schemeClr val="dk1"/>
              </a:solidFill>
            </a:endParaRPr>
          </a:p>
          <a:p>
            <a:pPr indent="0" lvl="0" marL="0" rtl="0" algn="l">
              <a:spcBef>
                <a:spcPts val="0"/>
              </a:spcBef>
              <a:spcAft>
                <a:spcPts val="0"/>
              </a:spcAft>
              <a:buNone/>
            </a:pPr>
            <a:r>
              <a:rPr lang="en-US">
                <a:solidFill>
                  <a:schemeClr val="dk1"/>
                </a:solidFill>
              </a:rPr>
              <a:t>    &lt;decoder_dir&gt;etc/decoders&lt;/decoder_dir&gt;</a:t>
            </a:r>
            <a:endParaRPr>
              <a:solidFill>
                <a:schemeClr val="dk1"/>
              </a:solidFill>
            </a:endParaRPr>
          </a:p>
          <a:p>
            <a:pPr indent="0" lvl="0" marL="0" rtl="0" algn="l">
              <a:spcBef>
                <a:spcPts val="0"/>
              </a:spcBef>
              <a:spcAft>
                <a:spcPts val="0"/>
              </a:spcAft>
              <a:buNone/>
            </a:pPr>
            <a:r>
              <a:rPr lang="en-US">
                <a:solidFill>
                  <a:schemeClr val="dk1"/>
                </a:solidFill>
              </a:rPr>
              <a:t>    &lt;rule_dir&gt;etc/rules&lt;/rule_dir&gt;</a:t>
            </a:r>
            <a:endParaRPr>
              <a:solidFill>
                <a:schemeClr val="dk1"/>
              </a:solidFill>
            </a:endParaRPr>
          </a:p>
          <a:p>
            <a:pPr indent="0" lvl="0" marL="0" rtl="0" algn="l">
              <a:spcBef>
                <a:spcPts val="0"/>
              </a:spcBef>
              <a:spcAft>
                <a:spcPts val="0"/>
              </a:spcAft>
              <a:buNone/>
            </a:pPr>
            <a:r>
              <a:rPr lang="en-US">
                <a:solidFill>
                  <a:schemeClr val="dk1"/>
                </a:solidFill>
              </a:rPr>
              <a:t>  &lt;/ruleset&gt;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transition spd="slow">
    <p:fade thruBlk="1"/>
  </p:transition>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303" name="Shape 3303"/>
        <p:cNvGrpSpPr/>
        <p:nvPr/>
      </p:nvGrpSpPr>
      <p:grpSpPr>
        <a:xfrm>
          <a:off x="0" y="0"/>
          <a:ext cx="0" cy="0"/>
          <a:chOff x="0" y="0"/>
          <a:chExt cx="0" cy="0"/>
        </a:xfrm>
      </p:grpSpPr>
      <p:pic>
        <p:nvPicPr>
          <p:cNvPr descr="A picture containing food, drawing, shirt&#10;&#10;Description automatically generated" id="3304" name="Google Shape;3304;p24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305" name="Google Shape;3305;p2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06" name="Google Shape;3306;p24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307" name="Google Shape;3307;p247"/>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308" name="Google Shape;3308;p24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309" name="Google Shape;3309;p247"/>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310" name="Google Shape;3310;p247"/>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 CDB Usage</a:t>
            </a:r>
            <a:endParaRPr sz="4800">
              <a:solidFill>
                <a:schemeClr val="lt1"/>
              </a:solidFill>
              <a:highlight>
                <a:srgbClr val="3585F9"/>
              </a:highlight>
              <a:latin typeface="Poppins"/>
              <a:ea typeface="Poppins"/>
              <a:cs typeface="Poppins"/>
              <a:sym typeface="Poppins"/>
            </a:endParaRPr>
          </a:p>
        </p:txBody>
      </p:sp>
      <p:pic>
        <p:nvPicPr>
          <p:cNvPr id="3311" name="Google Shape;3311;p247"/>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5" name="Shape 3315"/>
        <p:cNvGrpSpPr/>
        <p:nvPr/>
      </p:nvGrpSpPr>
      <p:grpSpPr>
        <a:xfrm>
          <a:off x="0" y="0"/>
          <a:ext cx="0" cy="0"/>
          <a:chOff x="0" y="0"/>
          <a:chExt cx="0" cy="0"/>
        </a:xfrm>
      </p:grpSpPr>
      <p:sp>
        <p:nvSpPr>
          <p:cNvPr id="3316" name="Google Shape;3316;p248"/>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Objective </a:t>
            </a:r>
            <a:endParaRPr b="1" i="0" sz="3600" u="none" cap="none" strike="noStrike">
              <a:solidFill>
                <a:schemeClr val="accent1"/>
              </a:solidFill>
              <a:latin typeface="Poppins"/>
              <a:ea typeface="Poppins"/>
              <a:cs typeface="Poppins"/>
              <a:sym typeface="Poppins"/>
            </a:endParaRPr>
          </a:p>
        </p:txBody>
      </p:sp>
      <p:cxnSp>
        <p:nvCxnSpPr>
          <p:cNvPr id="3317" name="Google Shape;3317;p24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318" name="Google Shape;3318;p24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319" name="Google Shape;3319;p24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320" name="Google Shape;3320;p24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321" name="Google Shape;3321;p24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322" name="Google Shape;3322;p24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23" name="Google Shape;3323;p248"/>
          <p:cNvSpPr txBox="1"/>
          <p:nvPr/>
        </p:nvSpPr>
        <p:spPr>
          <a:xfrm>
            <a:off x="808475" y="1397188"/>
            <a:ext cx="9819900" cy="446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600">
                <a:solidFill>
                  <a:schemeClr val="dk1"/>
                </a:solidFill>
                <a:latin typeface="Archivo"/>
                <a:ea typeface="Archivo"/>
                <a:cs typeface="Archivo"/>
                <a:sym typeface="Archivo"/>
              </a:rPr>
              <a:t>Detect and block brute-force SSH login attempts.</a:t>
            </a:r>
            <a:endParaRPr sz="16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600">
                <a:solidFill>
                  <a:schemeClr val="dk1"/>
                </a:solidFill>
                <a:latin typeface="Archivo"/>
                <a:ea typeface="Archivo"/>
                <a:cs typeface="Archivo"/>
                <a:sym typeface="Archivo"/>
              </a:rPr>
              <a:t>Escalate alerts for IP addresses that appear in a pre-defined CDB blacklist.</a:t>
            </a:r>
            <a:endParaRPr sz="1600">
              <a:solidFill>
                <a:schemeClr val="dk1"/>
              </a:solidFill>
              <a:latin typeface="Archivo"/>
              <a:ea typeface="Archivo"/>
              <a:cs typeface="Archivo"/>
              <a:sym typeface="Archivo"/>
            </a:endParaRPr>
          </a:p>
          <a:p>
            <a:pPr indent="0" lvl="0" marL="0" rtl="0" algn="l">
              <a:spcBef>
                <a:spcPts val="0"/>
              </a:spcBef>
              <a:spcAft>
                <a:spcPts val="0"/>
              </a:spcAft>
              <a:buNone/>
            </a:pPr>
            <a:r>
              <a:t/>
            </a:r>
            <a:endParaRPr sz="1600">
              <a:solidFill>
                <a:schemeClr val="dk1"/>
              </a:solidFill>
              <a:latin typeface="Archivo"/>
              <a:ea typeface="Archivo"/>
              <a:cs typeface="Archivo"/>
              <a:sym typeface="Archivo"/>
            </a:endParaRPr>
          </a:p>
          <a:p>
            <a:pPr indent="0" lvl="0" marL="0" rtl="0" algn="l">
              <a:lnSpc>
                <a:spcPct val="115000"/>
              </a:lnSpc>
              <a:spcBef>
                <a:spcPts val="140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Lab Setup:</a:t>
            </a:r>
            <a:endParaRPr sz="1600">
              <a:solidFill>
                <a:schemeClr val="dk1"/>
              </a:solidFill>
              <a:latin typeface="Archivo Medium"/>
              <a:ea typeface="Archivo Medium"/>
              <a:cs typeface="Archivo Medium"/>
              <a:sym typeface="Archivo Medium"/>
            </a:endParaRPr>
          </a:p>
          <a:p>
            <a:pPr indent="0" lvl="0" marL="457200" rtl="0" algn="l">
              <a:lnSpc>
                <a:spcPct val="115000"/>
              </a:lnSpc>
              <a:spcBef>
                <a:spcPts val="140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Step 1: Create decoder for SSH logs.</a:t>
            </a:r>
            <a:endParaRPr sz="1600">
              <a:solidFill>
                <a:schemeClr val="dk1"/>
              </a:solidFill>
              <a:latin typeface="Archivo Medium"/>
              <a:ea typeface="Archivo Medium"/>
              <a:cs typeface="Archivo Medium"/>
              <a:sym typeface="Archivo Medium"/>
            </a:endParaRPr>
          </a:p>
          <a:p>
            <a:pPr indent="0" lvl="0" marL="457200" rtl="0" algn="l">
              <a:lnSpc>
                <a:spcPct val="115000"/>
              </a:lnSpc>
              <a:spcBef>
                <a:spcPts val="140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Step 2: Create rules to track malicious IPs with a lookup table (CBD).</a:t>
            </a:r>
            <a:endParaRPr sz="1600">
              <a:solidFill>
                <a:schemeClr val="dk1"/>
              </a:solidFill>
              <a:latin typeface="Archivo Medium"/>
              <a:ea typeface="Archivo Medium"/>
              <a:cs typeface="Archivo Medium"/>
              <a:sym typeface="Archivo Medium"/>
            </a:endParaRPr>
          </a:p>
          <a:p>
            <a:pPr indent="0" lvl="0" marL="457200" rtl="0" algn="l">
              <a:lnSpc>
                <a:spcPct val="115000"/>
              </a:lnSpc>
              <a:spcBef>
                <a:spcPts val="140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Step 3: Generate sample logs and populate the lookup table.</a:t>
            </a:r>
            <a:endParaRPr sz="1600">
              <a:solidFill>
                <a:schemeClr val="dk1"/>
              </a:solidFill>
              <a:latin typeface="Archivo Medium"/>
              <a:ea typeface="Archivo Medium"/>
              <a:cs typeface="Archivo Medium"/>
              <a:sym typeface="Archivo Medium"/>
            </a:endParaRPr>
          </a:p>
          <a:p>
            <a:pPr indent="0" lvl="0" marL="457200" rtl="0" algn="l">
              <a:lnSpc>
                <a:spcPct val="115000"/>
              </a:lnSpc>
              <a:spcBef>
                <a:spcPts val="140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Step 4: Verify logs and lookup table entries in Wazuh.</a:t>
            </a:r>
            <a:endParaRPr sz="1600">
              <a:solidFill>
                <a:schemeClr val="dk1"/>
              </a:solidFill>
              <a:latin typeface="Archivo Medium"/>
              <a:ea typeface="Archivo Medium"/>
              <a:cs typeface="Archivo Medium"/>
              <a:sym typeface="Archivo Medium"/>
            </a:endParaRPr>
          </a:p>
          <a:p>
            <a:pPr indent="0" lvl="0" marL="457200" rtl="0" algn="l">
              <a:lnSpc>
                <a:spcPct val="115000"/>
              </a:lnSpc>
              <a:spcBef>
                <a:spcPts val="1400"/>
              </a:spcBef>
              <a:spcAft>
                <a:spcPts val="0"/>
              </a:spcAft>
              <a:buClr>
                <a:schemeClr val="dk1"/>
              </a:buClr>
              <a:buSzPts val="1100"/>
              <a:buFont typeface="Arial"/>
              <a:buNone/>
            </a:pPr>
            <a:r>
              <a:rPr lang="en-US" sz="1600">
                <a:solidFill>
                  <a:schemeClr val="dk1"/>
                </a:solidFill>
                <a:latin typeface="Archivo Medium"/>
                <a:ea typeface="Archivo Medium"/>
                <a:cs typeface="Archivo Medium"/>
                <a:sym typeface="Archivo Medium"/>
              </a:rPr>
              <a:t>Step 5: Create a Kibana dashboard to monitor tracked IPs.</a:t>
            </a:r>
            <a:endParaRPr sz="1600">
              <a:solidFill>
                <a:schemeClr val="dk1"/>
              </a:solidFill>
              <a:latin typeface="Archivo Medium"/>
              <a:ea typeface="Archivo Medium"/>
              <a:cs typeface="Archivo Medium"/>
              <a:sym typeface="Archivo Medium"/>
            </a:endParaRPr>
          </a:p>
          <a:p>
            <a:pPr indent="0" lvl="0" marL="0" rtl="0" algn="l">
              <a:lnSpc>
                <a:spcPct val="115000"/>
              </a:lnSpc>
              <a:spcBef>
                <a:spcPts val="1400"/>
              </a:spcBef>
              <a:spcAft>
                <a:spcPts val="0"/>
              </a:spcAft>
              <a:buClr>
                <a:schemeClr val="dk1"/>
              </a:buClr>
              <a:buSzPts val="1100"/>
              <a:buFont typeface="Arial"/>
              <a:buNone/>
            </a:pPr>
            <a:r>
              <a:t/>
            </a:r>
            <a:endParaRPr sz="1600">
              <a:solidFill>
                <a:schemeClr val="dk1"/>
              </a:solidFill>
              <a:latin typeface="Archivo Medium"/>
              <a:ea typeface="Archivo Medium"/>
              <a:cs typeface="Archivo Medium"/>
              <a:sym typeface="Archivo Medium"/>
            </a:endParaRPr>
          </a:p>
          <a:p>
            <a:pPr indent="0" lvl="0" marL="0" rtl="0" algn="l">
              <a:spcBef>
                <a:spcPts val="400"/>
              </a:spcBef>
              <a:spcAft>
                <a:spcPts val="0"/>
              </a:spcAft>
              <a:buNone/>
            </a:pPr>
            <a:r>
              <a:t/>
            </a:r>
            <a:endParaRPr sz="1600">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7" name="Shape 3327"/>
        <p:cNvGrpSpPr/>
        <p:nvPr/>
      </p:nvGrpSpPr>
      <p:grpSpPr>
        <a:xfrm>
          <a:off x="0" y="0"/>
          <a:ext cx="0" cy="0"/>
          <a:chOff x="0" y="0"/>
          <a:chExt cx="0" cy="0"/>
        </a:xfrm>
      </p:grpSpPr>
      <p:sp>
        <p:nvSpPr>
          <p:cNvPr id="3328" name="Google Shape;3328;p249"/>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Create Decoders Wazuh</a:t>
            </a:r>
            <a:endParaRPr b="1" i="0" sz="3600" u="none" cap="none" strike="noStrike">
              <a:solidFill>
                <a:schemeClr val="accent1"/>
              </a:solidFill>
              <a:latin typeface="Poppins"/>
              <a:ea typeface="Poppins"/>
              <a:cs typeface="Poppins"/>
              <a:sym typeface="Poppins"/>
            </a:endParaRPr>
          </a:p>
        </p:txBody>
      </p:sp>
      <p:cxnSp>
        <p:nvCxnSpPr>
          <p:cNvPr id="3329" name="Google Shape;3329;p24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330" name="Google Shape;3330;p24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331" name="Google Shape;3331;p24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332" name="Google Shape;3332;p24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333" name="Google Shape;3333;p24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334" name="Google Shape;3334;p24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35" name="Google Shape;3335;p249"/>
          <p:cNvSpPr txBox="1"/>
          <p:nvPr/>
        </p:nvSpPr>
        <p:spPr>
          <a:xfrm>
            <a:off x="808475" y="1397188"/>
            <a:ext cx="9819900" cy="494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2100">
                <a:solidFill>
                  <a:schemeClr val="dk1"/>
                </a:solidFill>
                <a:latin typeface="Archivo"/>
                <a:ea typeface="Archivo"/>
                <a:cs typeface="Archivo"/>
                <a:sym typeface="Archivo"/>
              </a:rPr>
              <a:t>sudo nano sshd_decoders.xml</a:t>
            </a:r>
            <a:endParaRPr sz="2100">
              <a:solidFill>
                <a:schemeClr val="dk1"/>
              </a:solidFill>
              <a:latin typeface="Archivo"/>
              <a:ea typeface="Archivo"/>
              <a:cs typeface="Archivo"/>
              <a:sym typeface="Archivo"/>
            </a:endParaRPr>
          </a:p>
          <a:p>
            <a:pPr indent="0" lvl="0" marL="0" rtl="0" algn="l">
              <a:spcBef>
                <a:spcPts val="0"/>
              </a:spcBef>
              <a:spcAft>
                <a:spcPts val="0"/>
              </a:spcAft>
              <a:buNone/>
            </a:pPr>
            <a:r>
              <a:t/>
            </a:r>
            <a:endParaRPr sz="1800">
              <a:solidFill>
                <a:schemeClr val="dk1"/>
              </a:solidFill>
              <a:latin typeface="Archivo"/>
              <a:ea typeface="Archivo"/>
              <a:cs typeface="Archivo"/>
              <a:sym typeface="Archivo"/>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&lt;decoder name="sshd"&gt;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  &lt;program_name&gt;^sshd$&lt;/program_name&gt;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&lt;/decoder&gt;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&lt;decoder name="sshd_failed_login"&gt;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  &lt;parent&gt;sshd&lt;/parent&gt;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  &lt;regex&gt;.*Failed password for (invalid user )?(\w+) from (\d+\.\d+\.\d+\.\d+) port \d+ ssh2&lt;/regex&gt;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  &lt;order&gt;is_invalid_user, username, src_ip&lt;/order&gt;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800">
                <a:solidFill>
                  <a:schemeClr val="dk1"/>
                </a:solidFill>
                <a:latin typeface="Courier New"/>
                <a:ea typeface="Courier New"/>
                <a:cs typeface="Courier New"/>
                <a:sym typeface="Courier New"/>
              </a:rPr>
              <a:t>&lt;/decoder&gt;</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transition spd="slow">
    <p:fade thruBlk="1"/>
  </p:transition>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9" name="Shape 3339"/>
        <p:cNvGrpSpPr/>
        <p:nvPr/>
      </p:nvGrpSpPr>
      <p:grpSpPr>
        <a:xfrm>
          <a:off x="0" y="0"/>
          <a:ext cx="0" cy="0"/>
          <a:chOff x="0" y="0"/>
          <a:chExt cx="0" cy="0"/>
        </a:xfrm>
      </p:grpSpPr>
      <p:sp>
        <p:nvSpPr>
          <p:cNvPr id="3340" name="Google Shape;3340;p250"/>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Create Ruleset Wazuh</a:t>
            </a:r>
            <a:endParaRPr b="1" i="0" sz="3600" u="none" cap="none" strike="noStrike">
              <a:solidFill>
                <a:schemeClr val="accent1"/>
              </a:solidFill>
              <a:latin typeface="Poppins"/>
              <a:ea typeface="Poppins"/>
              <a:cs typeface="Poppins"/>
              <a:sym typeface="Poppins"/>
            </a:endParaRPr>
          </a:p>
        </p:txBody>
      </p:sp>
      <p:cxnSp>
        <p:nvCxnSpPr>
          <p:cNvPr id="3341" name="Google Shape;3341;p25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342" name="Google Shape;3342;p25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343" name="Google Shape;3343;p25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344" name="Google Shape;3344;p25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345" name="Google Shape;3345;p25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346" name="Google Shape;3346;p25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47" name="Google Shape;3347;p250"/>
          <p:cNvSpPr txBox="1"/>
          <p:nvPr/>
        </p:nvSpPr>
        <p:spPr>
          <a:xfrm>
            <a:off x="808475" y="1397200"/>
            <a:ext cx="6238500" cy="409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latin typeface="Archivo"/>
                <a:ea typeface="Archivo"/>
                <a:cs typeface="Archivo"/>
                <a:sym typeface="Archivo"/>
              </a:rPr>
              <a:t>sudo nano </a:t>
            </a:r>
            <a:r>
              <a:rPr lang="en-US" sz="1700">
                <a:solidFill>
                  <a:schemeClr val="dk1"/>
                </a:solidFill>
                <a:latin typeface="Archivo"/>
                <a:ea typeface="Archivo"/>
                <a:cs typeface="Archivo"/>
                <a:sym typeface="Archivo"/>
              </a:rPr>
              <a:t>sshd_ruleset</a:t>
            </a:r>
            <a:r>
              <a:rPr lang="en-US" sz="1700">
                <a:solidFill>
                  <a:schemeClr val="dk1"/>
                </a:solidFill>
                <a:latin typeface="Archivo"/>
                <a:ea typeface="Archivo"/>
                <a:cs typeface="Archivo"/>
                <a:sym typeface="Archivo"/>
              </a:rPr>
              <a:t>.xml</a:t>
            </a:r>
            <a:endParaRPr sz="1700">
              <a:solidFill>
                <a:schemeClr val="dk1"/>
              </a:solidFill>
              <a:latin typeface="Archivo"/>
              <a:ea typeface="Archivo"/>
              <a:cs typeface="Archivo"/>
              <a:sym typeface="Archivo"/>
            </a:endParaRPr>
          </a:p>
          <a:p>
            <a:pPr indent="0" lvl="0" marL="0" rtl="0" algn="l">
              <a:spcBef>
                <a:spcPts val="0"/>
              </a:spcBef>
              <a:spcAft>
                <a:spcPts val="0"/>
              </a:spcAft>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None/>
            </a:pPr>
            <a:r>
              <a:rPr lang="en-US">
                <a:solidFill>
                  <a:schemeClr val="dk1"/>
                </a:solidFill>
                <a:latin typeface="Courier New"/>
                <a:ea typeface="Courier New"/>
                <a:cs typeface="Courier New"/>
                <a:sym typeface="Courier New"/>
              </a:rPr>
              <a:t> </a:t>
            </a:r>
            <a:r>
              <a:rPr lang="en-US" sz="1200">
                <a:solidFill>
                  <a:schemeClr val="dk1"/>
                </a:solidFill>
                <a:latin typeface="Courier New"/>
                <a:ea typeface="Courier New"/>
                <a:cs typeface="Courier New"/>
                <a:sym typeface="Courier New"/>
              </a:rPr>
              <a:t>&lt;group name="sshd_lookup_rules"&gt;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&lt;rule id="100060" level="5"&gt;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&lt;decoded_as&gt;sshd_failed_login&lt;/decoded_as&gt;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&lt;description&gt;SSH failed login attempt detected&lt;/description&gt;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&lt;group&gt;authentication, sshd&lt;/group&gt;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&lt;/rule&gt;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&lt;rule id="100061" level="8"&gt;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&lt;parent&gt;100060&lt;/parent&gt;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&lt;description&gt;Multiple failed SSH logins detected from same IP&lt;/description&gt;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&lt;group&gt;authentication, sshd, brute-force&lt;/group&gt;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&lt;firedtimes&gt;3&lt;/firedtimes&gt;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&lt;same_source_ip&gt;yes&lt;/same_source_ip&gt;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&lt;lookup&gt;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&lt;name&gt;</a:t>
            </a:r>
            <a:r>
              <a:rPr b="1" lang="en-US">
                <a:solidFill>
                  <a:schemeClr val="dk1"/>
                </a:solidFill>
                <a:latin typeface="Courier New"/>
                <a:ea typeface="Courier New"/>
                <a:cs typeface="Courier New"/>
                <a:sym typeface="Courier New"/>
              </a:rPr>
              <a:t>ip_blacklist</a:t>
            </a:r>
            <a:r>
              <a:rPr lang="en-US" sz="1200">
                <a:solidFill>
                  <a:schemeClr val="dk1"/>
                </a:solidFill>
                <a:latin typeface="Courier New"/>
                <a:ea typeface="Courier New"/>
                <a:cs typeface="Courier New"/>
                <a:sym typeface="Courier New"/>
              </a:rPr>
              <a:t>&lt;/name&gt;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&lt;match&gt;src_ip&lt;/match&gt;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solidFill>
                  <a:schemeClr val="dk1"/>
                </a:solidFill>
                <a:latin typeface="Courier New"/>
                <a:ea typeface="Courier New"/>
                <a:cs typeface="Courier New"/>
                <a:sym typeface="Courier New"/>
              </a:rPr>
              <a:t>   &lt;/lookup&gt;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&lt;/rule&gt;</a:t>
            </a:r>
            <a:endParaRPr>
              <a:solidFill>
                <a:schemeClr val="dk1"/>
              </a:solidFill>
            </a:endParaRPr>
          </a:p>
        </p:txBody>
      </p:sp>
      <p:sp>
        <p:nvSpPr>
          <p:cNvPr id="3348" name="Google Shape;3348;p250"/>
          <p:cNvSpPr txBox="1"/>
          <p:nvPr/>
        </p:nvSpPr>
        <p:spPr>
          <a:xfrm>
            <a:off x="7239000" y="1743613"/>
            <a:ext cx="41148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&lt;rule id="100062" level="10"&gt;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&lt;description&gt;SSH login attempt from a known malicious IP&lt;/description&gt;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&lt;group&gt;authentication, sshd, tracked-ip&lt;/group&gt;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&lt;lookup&gt;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&lt;name&gt;</a:t>
            </a:r>
            <a:r>
              <a:rPr b="1" lang="en-US">
                <a:solidFill>
                  <a:schemeClr val="dk1"/>
                </a:solidFill>
                <a:latin typeface="Courier New"/>
                <a:ea typeface="Courier New"/>
                <a:cs typeface="Courier New"/>
                <a:sym typeface="Courier New"/>
              </a:rPr>
              <a:t>ip_blacklist</a:t>
            </a:r>
            <a:r>
              <a:rPr lang="en-US" sz="1200">
                <a:solidFill>
                  <a:schemeClr val="dk1"/>
                </a:solidFill>
                <a:latin typeface="Courier New"/>
                <a:ea typeface="Courier New"/>
                <a:cs typeface="Courier New"/>
                <a:sym typeface="Courier New"/>
              </a:rPr>
              <a:t>&lt;/name&gt;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&lt;match&gt;src_ip&lt;/match&gt;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&lt;type&gt;match&lt;/type&gt;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&lt;/lookup&gt;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  &lt;/rule&gt;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dk1"/>
                </a:solidFill>
                <a:latin typeface="Courier New"/>
                <a:ea typeface="Courier New"/>
                <a:cs typeface="Courier New"/>
                <a:sym typeface="Courier New"/>
              </a:rPr>
              <a:t>&lt;/group&gt;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transition spd="slow">
    <p:fade thruBlk="1"/>
  </p:transition>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2" name="Shape 3352"/>
        <p:cNvGrpSpPr/>
        <p:nvPr/>
      </p:nvGrpSpPr>
      <p:grpSpPr>
        <a:xfrm>
          <a:off x="0" y="0"/>
          <a:ext cx="0" cy="0"/>
          <a:chOff x="0" y="0"/>
          <a:chExt cx="0" cy="0"/>
        </a:xfrm>
      </p:grpSpPr>
      <p:sp>
        <p:nvSpPr>
          <p:cNvPr id="3353" name="Google Shape;3353;p251"/>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Tester</a:t>
            </a:r>
            <a:endParaRPr b="1" i="0" sz="3600" u="none" cap="none" strike="noStrike">
              <a:solidFill>
                <a:schemeClr val="accent1"/>
              </a:solidFill>
              <a:latin typeface="Poppins"/>
              <a:ea typeface="Poppins"/>
              <a:cs typeface="Poppins"/>
              <a:sym typeface="Poppins"/>
            </a:endParaRPr>
          </a:p>
        </p:txBody>
      </p:sp>
      <p:cxnSp>
        <p:nvCxnSpPr>
          <p:cNvPr id="3354" name="Google Shape;3354;p25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355" name="Google Shape;3355;p25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356" name="Google Shape;3356;p25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357" name="Google Shape;3357;p25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358" name="Google Shape;3358;p25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359" name="Google Shape;3359;p2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60" name="Google Shape;3360;p251"/>
          <p:cNvSpPr txBox="1"/>
          <p:nvPr/>
        </p:nvSpPr>
        <p:spPr>
          <a:xfrm>
            <a:off x="808475" y="1397200"/>
            <a:ext cx="108513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logger -t sshd 'Failed password for invalid user admin from 192.168.1.100 port 22 ssh2'</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logger -t sshd 'Failed password for invalid user admin from 192.168.1.100 port 22 ssh2'</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sz="1700">
                <a:solidFill>
                  <a:schemeClr val="dk1"/>
                </a:solidFill>
                <a:latin typeface="Archivo"/>
                <a:ea typeface="Archivo"/>
                <a:cs typeface="Archivo"/>
                <a:sym typeface="Archivo"/>
              </a:rPr>
              <a:t>logger -t sshd 'Failed password for invalid user admin from 192.168.1.100 port 22 ssh2'</a:t>
            </a:r>
            <a:endParaRPr sz="17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700">
              <a:solidFill>
                <a:schemeClr val="dk1"/>
              </a:solidFill>
              <a:latin typeface="Archivo"/>
              <a:ea typeface="Archivo"/>
              <a:cs typeface="Archivo"/>
              <a:sym typeface="Archivo"/>
            </a:endParaRPr>
          </a:p>
          <a:p>
            <a:pPr indent="0" lvl="0" marL="0" rtl="0" algn="l">
              <a:spcBef>
                <a:spcPts val="0"/>
              </a:spcBef>
              <a:spcAft>
                <a:spcPts val="0"/>
              </a:spcAft>
              <a:buNone/>
            </a:pPr>
            <a:r>
              <a:t/>
            </a:r>
            <a:endParaRPr sz="1700">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364" name="Shape 3364"/>
        <p:cNvGrpSpPr/>
        <p:nvPr/>
      </p:nvGrpSpPr>
      <p:grpSpPr>
        <a:xfrm>
          <a:off x="0" y="0"/>
          <a:ext cx="0" cy="0"/>
          <a:chOff x="0" y="0"/>
          <a:chExt cx="0" cy="0"/>
        </a:xfrm>
      </p:grpSpPr>
      <p:pic>
        <p:nvPicPr>
          <p:cNvPr descr="A picture containing food, drawing, shirt&#10;&#10;Description automatically generated" id="3365" name="Google Shape;3365;p25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366" name="Google Shape;3366;p25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67" name="Google Shape;3367;p25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368" name="Google Shape;3368;p252"/>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369" name="Google Shape;3369;p25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370" name="Google Shape;3370;p252"/>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371" name="Google Shape;3371;p252"/>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3372" name="Google Shape;3372;p252"/>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376" name="Shape 3376"/>
        <p:cNvGrpSpPr/>
        <p:nvPr/>
      </p:nvGrpSpPr>
      <p:grpSpPr>
        <a:xfrm>
          <a:off x="0" y="0"/>
          <a:ext cx="0" cy="0"/>
          <a:chOff x="0" y="0"/>
          <a:chExt cx="0" cy="0"/>
        </a:xfrm>
      </p:grpSpPr>
      <p:pic>
        <p:nvPicPr>
          <p:cNvPr descr="A picture containing food, drawing, shirt&#10;&#10;Description automatically generated" id="3377" name="Google Shape;3377;p25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378" name="Google Shape;3378;p25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79" name="Google Shape;3379;p25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380" name="Google Shape;3380;p253"/>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381" name="Google Shape;3381;p25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382" name="Google Shape;3382;p253"/>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383" name="Google Shape;3383;p253"/>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Wazuh Ruleset Traversal</a:t>
            </a:r>
            <a:endParaRPr sz="4800">
              <a:solidFill>
                <a:schemeClr val="lt1"/>
              </a:solidFill>
              <a:highlight>
                <a:srgbClr val="3585F9"/>
              </a:highlight>
              <a:latin typeface="Poppins"/>
              <a:ea typeface="Poppins"/>
              <a:cs typeface="Poppins"/>
              <a:sym typeface="Poppins"/>
            </a:endParaRPr>
          </a:p>
        </p:txBody>
      </p:sp>
      <p:pic>
        <p:nvPicPr>
          <p:cNvPr id="3384" name="Google Shape;3384;p253"/>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8" name="Shape 3388"/>
        <p:cNvGrpSpPr/>
        <p:nvPr/>
      </p:nvGrpSpPr>
      <p:grpSpPr>
        <a:xfrm>
          <a:off x="0" y="0"/>
          <a:ext cx="0" cy="0"/>
          <a:chOff x="0" y="0"/>
          <a:chExt cx="0" cy="0"/>
        </a:xfrm>
      </p:grpSpPr>
      <p:sp>
        <p:nvSpPr>
          <p:cNvPr id="3389" name="Google Shape;3389;p254"/>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Wazuh Ruleset</a:t>
            </a:r>
            <a:endParaRPr b="1" i="0" sz="3600" u="none" cap="none" strike="noStrike">
              <a:solidFill>
                <a:schemeClr val="accent1"/>
              </a:solidFill>
              <a:latin typeface="Poppins"/>
              <a:ea typeface="Poppins"/>
              <a:cs typeface="Poppins"/>
              <a:sym typeface="Poppins"/>
            </a:endParaRPr>
          </a:p>
        </p:txBody>
      </p:sp>
      <p:cxnSp>
        <p:nvCxnSpPr>
          <p:cNvPr id="3390" name="Google Shape;3390;p25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391" name="Google Shape;3391;p25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392" name="Google Shape;3392;p25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393" name="Google Shape;3393;p25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394" name="Google Shape;3394;p25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395" name="Google Shape;3395;p25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96" name="Google Shape;3396;p254"/>
          <p:cNvSpPr txBox="1"/>
          <p:nvPr/>
        </p:nvSpPr>
        <p:spPr>
          <a:xfrm>
            <a:off x="1066800" y="1650013"/>
            <a:ext cx="9819900" cy="437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1"/>
                </a:solidFill>
                <a:latin typeface="Archivo"/>
                <a:ea typeface="Archivo"/>
                <a:cs typeface="Archivo"/>
                <a:sym typeface="Archivo"/>
              </a:rPr>
              <a:t>Wazuh Ruleset adalah kumpulan aturan yang telah ditentukan sebelumnya dan digunakan oleh mesin analisis Wazuh untuk memproses, menganalisis, dan mengkategorikan event. Aturan-aturan ini disusun secara hierarkis, memungkinkan mesin untuk memproses event secara logis, dari yang bersifat umum hingga yang lebih spesifik.</a:t>
            </a:r>
            <a:endParaRPr sz="1600">
              <a:solidFill>
                <a:schemeClr val="dk1"/>
              </a:solidFill>
              <a:latin typeface="Archivo"/>
              <a:ea typeface="Archivo"/>
              <a:cs typeface="Archivo"/>
              <a:sym typeface="Archivo"/>
            </a:endParaRPr>
          </a:p>
          <a:p>
            <a:pPr indent="0" lvl="0" marL="0" rtl="0" algn="l">
              <a:spcBef>
                <a:spcPts val="0"/>
              </a:spcBef>
              <a:spcAft>
                <a:spcPts val="0"/>
              </a:spcAft>
              <a:buNone/>
            </a:pPr>
            <a:r>
              <a:rPr lang="en-US" sz="1600">
                <a:solidFill>
                  <a:schemeClr val="dk1"/>
                </a:solidFill>
                <a:latin typeface="Archivo"/>
                <a:ea typeface="Archivo"/>
                <a:cs typeface="Archivo"/>
                <a:sym typeface="Archivo"/>
              </a:rPr>
              <a:t>Memahami bagaimana mesin analisis Wazuh menelusuri hierarki ini sangat penting saat membuat aturan kustom untuk keperluan seperti eskalasi, whitelisting, dan penggunaan khusus lainnya.</a:t>
            </a:r>
            <a:endParaRPr sz="1600">
              <a:solidFill>
                <a:schemeClr val="dk1"/>
              </a:solidFill>
              <a:latin typeface="Archivo"/>
              <a:ea typeface="Archivo"/>
              <a:cs typeface="Archivo"/>
              <a:sym typeface="Archivo"/>
            </a:endParaRPr>
          </a:p>
          <a:p>
            <a:pPr indent="0" lvl="0" marL="0" rtl="0" algn="l">
              <a:spcBef>
                <a:spcPts val="0"/>
              </a:spcBef>
              <a:spcAft>
                <a:spcPts val="0"/>
              </a:spcAft>
              <a:buNone/>
            </a:pPr>
            <a:r>
              <a:t/>
            </a:r>
            <a:endParaRPr sz="1600">
              <a:solidFill>
                <a:schemeClr val="dk1"/>
              </a:solidFill>
              <a:latin typeface="Archivo"/>
              <a:ea typeface="Archivo"/>
              <a:cs typeface="Archivo"/>
              <a:sym typeface="Archivo"/>
            </a:endParaRPr>
          </a:p>
          <a:p>
            <a:pPr indent="0" lvl="0" marL="0" rtl="0" algn="l">
              <a:spcBef>
                <a:spcPts val="0"/>
              </a:spcBef>
              <a:spcAft>
                <a:spcPts val="0"/>
              </a:spcAft>
              <a:buNone/>
            </a:pPr>
            <a:r>
              <a:rPr lang="en-US" sz="1600">
                <a:solidFill>
                  <a:schemeClr val="dk1"/>
                </a:solidFill>
                <a:latin typeface="Archivo"/>
                <a:ea typeface="Archivo"/>
                <a:cs typeface="Archivo"/>
                <a:sym typeface="Archivo"/>
              </a:rPr>
              <a:t>Here’s a breakdown of the hierarchical flow:</a:t>
            </a:r>
            <a:endParaRPr sz="1600">
              <a:solidFill>
                <a:schemeClr val="dk1"/>
              </a:solidFill>
              <a:latin typeface="Archivo"/>
              <a:ea typeface="Archivo"/>
              <a:cs typeface="Archivo"/>
              <a:sym typeface="Archivo"/>
            </a:endParaRPr>
          </a:p>
          <a:p>
            <a:pPr indent="0" lvl="0" marL="457200" rtl="0" algn="l">
              <a:spcBef>
                <a:spcPts val="0"/>
              </a:spcBef>
              <a:spcAft>
                <a:spcPts val="0"/>
              </a:spcAft>
              <a:buNone/>
            </a:pPr>
            <a:r>
              <a:t/>
            </a:r>
            <a:endParaRPr sz="1600">
              <a:solidFill>
                <a:schemeClr val="dk1"/>
              </a:solidFill>
              <a:latin typeface="Archivo"/>
              <a:ea typeface="Archivo"/>
              <a:cs typeface="Archivo"/>
              <a:sym typeface="Archivo"/>
            </a:endParaRPr>
          </a:p>
          <a:p>
            <a:pPr indent="-330200" lvl="0" marL="457200" rtl="0" algn="l">
              <a:spcBef>
                <a:spcPts val="0"/>
              </a:spcBef>
              <a:spcAft>
                <a:spcPts val="0"/>
              </a:spcAft>
              <a:buClr>
                <a:schemeClr val="dk1"/>
              </a:buClr>
              <a:buSzPts val="1600"/>
              <a:buFont typeface="Archivo"/>
              <a:buChar char="●"/>
            </a:pPr>
            <a:r>
              <a:rPr lang="en-US" sz="1600">
                <a:solidFill>
                  <a:schemeClr val="dk1"/>
                </a:solidFill>
                <a:latin typeface="Archivo"/>
                <a:ea typeface="Archivo"/>
                <a:cs typeface="Archivo"/>
                <a:sym typeface="Archivo"/>
              </a:rPr>
              <a:t>Decoders (Parsing phase)</a:t>
            </a:r>
            <a:endParaRPr sz="1600">
              <a:solidFill>
                <a:schemeClr val="dk1"/>
              </a:solidFill>
              <a:latin typeface="Archivo"/>
              <a:ea typeface="Archivo"/>
              <a:cs typeface="Archivo"/>
              <a:sym typeface="Archivo"/>
            </a:endParaRPr>
          </a:p>
          <a:p>
            <a:pPr indent="-330200" lvl="0" marL="457200" rtl="0" algn="l">
              <a:spcBef>
                <a:spcPts val="0"/>
              </a:spcBef>
              <a:spcAft>
                <a:spcPts val="0"/>
              </a:spcAft>
              <a:buClr>
                <a:schemeClr val="dk1"/>
              </a:buClr>
              <a:buSzPts val="1600"/>
              <a:buFont typeface="Archivo"/>
              <a:buChar char="●"/>
            </a:pPr>
            <a:r>
              <a:rPr lang="en-US" sz="1600">
                <a:solidFill>
                  <a:schemeClr val="dk1"/>
                </a:solidFill>
                <a:latin typeface="Archivo"/>
                <a:ea typeface="Archivo"/>
                <a:cs typeface="Archivo"/>
                <a:sym typeface="Archivo"/>
              </a:rPr>
              <a:t>Generic Rules (High-level rule categories)</a:t>
            </a:r>
            <a:endParaRPr sz="1600">
              <a:solidFill>
                <a:schemeClr val="dk1"/>
              </a:solidFill>
              <a:latin typeface="Archivo"/>
              <a:ea typeface="Archivo"/>
              <a:cs typeface="Archivo"/>
              <a:sym typeface="Archivo"/>
            </a:endParaRPr>
          </a:p>
          <a:p>
            <a:pPr indent="-330200" lvl="0" marL="457200" rtl="0" algn="l">
              <a:spcBef>
                <a:spcPts val="0"/>
              </a:spcBef>
              <a:spcAft>
                <a:spcPts val="0"/>
              </a:spcAft>
              <a:buClr>
                <a:schemeClr val="dk1"/>
              </a:buClr>
              <a:buSzPts val="1600"/>
              <a:buFont typeface="Archivo"/>
              <a:buChar char="●"/>
            </a:pPr>
            <a:r>
              <a:rPr lang="en-US" sz="1600">
                <a:solidFill>
                  <a:schemeClr val="dk1"/>
                </a:solidFill>
                <a:latin typeface="Archivo"/>
                <a:ea typeface="Archivo"/>
                <a:cs typeface="Archivo"/>
                <a:sym typeface="Archivo"/>
              </a:rPr>
              <a:t>Specific Rules (Fine-tuned rules)</a:t>
            </a:r>
            <a:endParaRPr sz="1600">
              <a:solidFill>
                <a:schemeClr val="dk1"/>
              </a:solidFill>
              <a:latin typeface="Archivo"/>
              <a:ea typeface="Archivo"/>
              <a:cs typeface="Archivo"/>
              <a:sym typeface="Archivo"/>
            </a:endParaRPr>
          </a:p>
          <a:p>
            <a:pPr indent="-330200" lvl="0" marL="457200" rtl="0" algn="l">
              <a:spcBef>
                <a:spcPts val="0"/>
              </a:spcBef>
              <a:spcAft>
                <a:spcPts val="0"/>
              </a:spcAft>
              <a:buClr>
                <a:schemeClr val="dk1"/>
              </a:buClr>
              <a:buSzPts val="1600"/>
              <a:buFont typeface="Archivo"/>
              <a:buChar char="●"/>
            </a:pPr>
            <a:r>
              <a:rPr lang="en-US" sz="1600">
                <a:solidFill>
                  <a:schemeClr val="dk1"/>
                </a:solidFill>
                <a:latin typeface="Archivo"/>
                <a:ea typeface="Archivo"/>
                <a:cs typeface="Archivo"/>
                <a:sym typeface="Archivo"/>
              </a:rPr>
              <a:t>Custom Rules (User-defined or custom rules)</a:t>
            </a:r>
            <a:endParaRPr sz="1600">
              <a:solidFill>
                <a:schemeClr val="dk1"/>
              </a:solidFill>
              <a:latin typeface="Archivo"/>
              <a:ea typeface="Archivo"/>
              <a:cs typeface="Archivo"/>
              <a:sym typeface="Archivo"/>
            </a:endParaRPr>
          </a:p>
          <a:p>
            <a:pPr indent="-330200" lvl="0" marL="457200" rtl="0" algn="l">
              <a:spcBef>
                <a:spcPts val="0"/>
              </a:spcBef>
              <a:spcAft>
                <a:spcPts val="0"/>
              </a:spcAft>
              <a:buClr>
                <a:schemeClr val="dk1"/>
              </a:buClr>
              <a:buSzPts val="1600"/>
              <a:buFont typeface="Archivo"/>
              <a:buChar char="●"/>
            </a:pPr>
            <a:r>
              <a:rPr lang="en-US" sz="1600">
                <a:solidFill>
                  <a:schemeClr val="dk1"/>
                </a:solidFill>
                <a:latin typeface="Archivo"/>
                <a:ea typeface="Archivo"/>
                <a:cs typeface="Archivo"/>
                <a:sym typeface="Archivo"/>
              </a:rPr>
              <a:t>Actions (Alert, escalate, ignore, etc.)</a:t>
            </a:r>
            <a:endParaRPr sz="16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6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sz="1600">
              <a:solidFill>
                <a:schemeClr val="dk1"/>
              </a:solidFill>
              <a:latin typeface="Archivo"/>
              <a:ea typeface="Archivo"/>
              <a:cs typeface="Archivo"/>
              <a:sym typeface="Archivo"/>
            </a:endParaRPr>
          </a:p>
          <a:p>
            <a:pPr indent="0" lvl="0" marL="0" rtl="0" algn="l">
              <a:spcBef>
                <a:spcPts val="0"/>
              </a:spcBef>
              <a:spcAft>
                <a:spcPts val="0"/>
              </a:spcAft>
              <a:buNone/>
            </a:pPr>
            <a:r>
              <a:t/>
            </a:r>
            <a:endParaRPr sz="1600">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0" name="Shape 3400"/>
        <p:cNvGrpSpPr/>
        <p:nvPr/>
      </p:nvGrpSpPr>
      <p:grpSpPr>
        <a:xfrm>
          <a:off x="0" y="0"/>
          <a:ext cx="0" cy="0"/>
          <a:chOff x="0" y="0"/>
          <a:chExt cx="0" cy="0"/>
        </a:xfrm>
      </p:grpSpPr>
      <p:sp>
        <p:nvSpPr>
          <p:cNvPr id="3401" name="Google Shape;3401;p255"/>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Decoder : First Phase</a:t>
            </a:r>
            <a:endParaRPr b="1" i="0" sz="3600" u="none" cap="none" strike="noStrike">
              <a:solidFill>
                <a:schemeClr val="accent1"/>
              </a:solidFill>
              <a:latin typeface="Poppins"/>
              <a:ea typeface="Poppins"/>
              <a:cs typeface="Poppins"/>
              <a:sym typeface="Poppins"/>
            </a:endParaRPr>
          </a:p>
        </p:txBody>
      </p:sp>
      <p:cxnSp>
        <p:nvCxnSpPr>
          <p:cNvPr id="3402" name="Google Shape;3402;p25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403" name="Google Shape;3403;p25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404" name="Google Shape;3404;p25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405" name="Google Shape;3405;p25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406" name="Google Shape;3406;p25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407" name="Google Shape;3407;p25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08" name="Google Shape;3408;p255"/>
          <p:cNvSpPr txBox="1"/>
          <p:nvPr/>
        </p:nvSpPr>
        <p:spPr>
          <a:xfrm>
            <a:off x="808475" y="1715488"/>
            <a:ext cx="9819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&lt;decoder name="sshd"&gt;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&lt;program_name&gt;sshd&lt;/program_name&gt;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&lt;options&gt;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&lt;regex expression="Accepted password for (\w+) from (\S+) port (\d+)" /&gt;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&lt;regex field="srcip" expression="(\S+)" /&gt;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&lt;regex field="username" expression="(\w+)" /&gt;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&lt;/options&gt;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&lt;/decoder&gt;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a:solidFill>
                <a:schemeClr val="dk1"/>
              </a:solidFill>
              <a:latin typeface="Archivo"/>
              <a:ea typeface="Archivo"/>
              <a:cs typeface="Archivo"/>
              <a:sym typeface="Archivo"/>
            </a:endParaRPr>
          </a:p>
          <a:p>
            <a:pPr indent="0" lvl="0" marL="0" rtl="0" algn="l">
              <a:spcBef>
                <a:spcPts val="0"/>
              </a:spcBef>
              <a:spcAft>
                <a:spcPts val="0"/>
              </a:spcAft>
              <a:buNone/>
            </a:pPr>
            <a:r>
              <a:t/>
            </a:r>
            <a:endParaRPr>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2" name="Shape 3412"/>
        <p:cNvGrpSpPr/>
        <p:nvPr/>
      </p:nvGrpSpPr>
      <p:grpSpPr>
        <a:xfrm>
          <a:off x="0" y="0"/>
          <a:ext cx="0" cy="0"/>
          <a:chOff x="0" y="0"/>
          <a:chExt cx="0" cy="0"/>
        </a:xfrm>
      </p:grpSpPr>
      <p:sp>
        <p:nvSpPr>
          <p:cNvPr id="3413" name="Google Shape;3413;p256"/>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Decoder : High-Level Matching</a:t>
            </a:r>
            <a:endParaRPr b="1" i="0" sz="3600" u="none" cap="none" strike="noStrike">
              <a:solidFill>
                <a:schemeClr val="accent1"/>
              </a:solidFill>
              <a:latin typeface="Poppins"/>
              <a:ea typeface="Poppins"/>
              <a:cs typeface="Poppins"/>
              <a:sym typeface="Poppins"/>
            </a:endParaRPr>
          </a:p>
        </p:txBody>
      </p:sp>
      <p:cxnSp>
        <p:nvCxnSpPr>
          <p:cNvPr id="3414" name="Google Shape;3414;p25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415" name="Google Shape;3415;p25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416" name="Google Shape;3416;p25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417" name="Google Shape;3417;p25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418" name="Google Shape;3418;p25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419" name="Google Shape;3419;p25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20" name="Google Shape;3420;p256"/>
          <p:cNvSpPr txBox="1"/>
          <p:nvPr/>
        </p:nvSpPr>
        <p:spPr>
          <a:xfrm>
            <a:off x="808475" y="1715488"/>
            <a:ext cx="98199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&lt;group name="authentication"&gt;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&lt;rule id="5500" level="3"&gt;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&lt;description&gt;Authentication failure.&lt;/description&gt;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&lt;decoded_as&gt;sshd&lt;/decoded_as&gt;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a:t>
            </a:r>
            <a:r>
              <a:rPr b="1" lang="en-US">
                <a:solidFill>
                  <a:schemeClr val="dk1"/>
                </a:solidFill>
                <a:latin typeface="Archivo"/>
                <a:ea typeface="Archivo"/>
                <a:cs typeface="Archivo"/>
                <a:sym typeface="Archivo"/>
              </a:rPr>
              <a:t> &lt;group&gt;authentication_failed&lt;/group&gt;</a:t>
            </a:r>
            <a:endParaRPr b="1">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&lt;pci_dss&gt;10.2.4&lt;/pci_dss&gt;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&lt;gpg13&gt;7.1&lt;/gpg13&gt;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&lt;hipaa&gt;164.312(b)&lt;/hipaa&gt;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&lt;/rule&gt;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&lt;/group&gt;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a:solidFill>
                <a:schemeClr val="dk1"/>
              </a:solidFill>
              <a:latin typeface="Archivo"/>
              <a:ea typeface="Archivo"/>
              <a:cs typeface="Archivo"/>
              <a:sym typeface="Archivo"/>
            </a:endParaRPr>
          </a:p>
          <a:p>
            <a:pPr indent="0" lvl="0" marL="0" rtl="0" algn="l">
              <a:spcBef>
                <a:spcPts val="0"/>
              </a:spcBef>
              <a:spcAft>
                <a:spcPts val="0"/>
              </a:spcAft>
              <a:buNone/>
            </a:pPr>
            <a:r>
              <a:t/>
            </a:r>
            <a:endParaRPr>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4" name="Shape 3424"/>
        <p:cNvGrpSpPr/>
        <p:nvPr/>
      </p:nvGrpSpPr>
      <p:grpSpPr>
        <a:xfrm>
          <a:off x="0" y="0"/>
          <a:ext cx="0" cy="0"/>
          <a:chOff x="0" y="0"/>
          <a:chExt cx="0" cy="0"/>
        </a:xfrm>
      </p:grpSpPr>
      <p:sp>
        <p:nvSpPr>
          <p:cNvPr id="3425" name="Google Shape;3425;p257"/>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Decoder : Fine-Tuned Matching</a:t>
            </a:r>
            <a:endParaRPr b="1" i="0" sz="3600" u="none" cap="none" strike="noStrike">
              <a:solidFill>
                <a:schemeClr val="accent1"/>
              </a:solidFill>
              <a:latin typeface="Poppins"/>
              <a:ea typeface="Poppins"/>
              <a:cs typeface="Poppins"/>
              <a:sym typeface="Poppins"/>
            </a:endParaRPr>
          </a:p>
        </p:txBody>
      </p:sp>
      <p:cxnSp>
        <p:nvCxnSpPr>
          <p:cNvPr id="3426" name="Google Shape;3426;p25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427" name="Google Shape;3427;p25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428" name="Google Shape;3428;p25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429" name="Google Shape;3429;p25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430" name="Google Shape;3430;p25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431" name="Google Shape;3431;p25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32" name="Google Shape;3432;p257"/>
          <p:cNvSpPr txBox="1"/>
          <p:nvPr/>
        </p:nvSpPr>
        <p:spPr>
          <a:xfrm>
            <a:off x="808475" y="1715488"/>
            <a:ext cx="98199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&lt;group name="authentication_failed, sshd"&gt;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&lt;rule id="5710" level="5"&gt;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&lt;description&gt;Multiple authentication failures for sshd.&lt;/description&gt;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a:t>
            </a:r>
            <a:r>
              <a:rPr b="1" lang="en-US">
                <a:solidFill>
                  <a:schemeClr val="dk1"/>
                </a:solidFill>
                <a:latin typeface="Archivo"/>
                <a:ea typeface="Archivo"/>
                <a:cs typeface="Archivo"/>
                <a:sym typeface="Archivo"/>
              </a:rPr>
              <a:t>&lt;if_group&gt;authentication_failed&lt;/if_group&gt;</a:t>
            </a:r>
            <a:endParaRPr b="1">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&lt;frequency&gt;5&lt;/frequency&gt;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&lt;timeframe&gt;180&lt;/timeframe&gt;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&lt;pci_dss&gt;10.2.4&lt;/pci_dss&gt;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&lt;gpg13&gt;7.1&lt;/gpg13&gt;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&lt;hipaa&gt;164.312(b)&lt;/hipaa&gt;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&lt;/rule&gt;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&lt;/group&gt;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a:solidFill>
                <a:schemeClr val="dk1"/>
              </a:solidFill>
              <a:latin typeface="Archivo"/>
              <a:ea typeface="Archivo"/>
              <a:cs typeface="Archivo"/>
              <a:sym typeface="Archivo"/>
            </a:endParaRPr>
          </a:p>
          <a:p>
            <a:pPr indent="0" lvl="0" marL="0" rtl="0" algn="l">
              <a:spcBef>
                <a:spcPts val="0"/>
              </a:spcBef>
              <a:spcAft>
                <a:spcPts val="0"/>
              </a:spcAft>
              <a:buNone/>
            </a:pPr>
            <a:r>
              <a:t/>
            </a:r>
            <a:endParaRPr>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6" name="Shape 3436"/>
        <p:cNvGrpSpPr/>
        <p:nvPr/>
      </p:nvGrpSpPr>
      <p:grpSpPr>
        <a:xfrm>
          <a:off x="0" y="0"/>
          <a:ext cx="0" cy="0"/>
          <a:chOff x="0" y="0"/>
          <a:chExt cx="0" cy="0"/>
        </a:xfrm>
      </p:grpSpPr>
      <p:sp>
        <p:nvSpPr>
          <p:cNvPr id="3437" name="Google Shape;3437;p258"/>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Decoder : Tailoring the Ruleset</a:t>
            </a:r>
            <a:endParaRPr b="1" i="0" sz="3600" u="none" cap="none" strike="noStrike">
              <a:solidFill>
                <a:schemeClr val="accent1"/>
              </a:solidFill>
              <a:latin typeface="Poppins"/>
              <a:ea typeface="Poppins"/>
              <a:cs typeface="Poppins"/>
              <a:sym typeface="Poppins"/>
            </a:endParaRPr>
          </a:p>
        </p:txBody>
      </p:sp>
      <p:cxnSp>
        <p:nvCxnSpPr>
          <p:cNvPr id="3438" name="Google Shape;3438;p25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439" name="Google Shape;3439;p25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440" name="Google Shape;3440;p25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441" name="Google Shape;3441;p25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442" name="Google Shape;3442;p25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443" name="Google Shape;3443;p25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44" name="Google Shape;3444;p258"/>
          <p:cNvSpPr txBox="1"/>
          <p:nvPr/>
        </p:nvSpPr>
        <p:spPr>
          <a:xfrm>
            <a:off x="808475" y="1715488"/>
            <a:ext cx="98199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&lt;group name="sshd, blacklisted_ip"&gt;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&lt;rule id="100002" level="10"&gt;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a:t>
            </a:r>
            <a:r>
              <a:rPr b="1" lang="en-US">
                <a:solidFill>
                  <a:schemeClr val="dk1"/>
                </a:solidFill>
                <a:latin typeface="Archivo"/>
                <a:ea typeface="Archivo"/>
                <a:cs typeface="Archivo"/>
                <a:sym typeface="Archivo"/>
              </a:rPr>
              <a:t>&lt;if_sid&gt;5710&lt;/if_sid&gt;</a:t>
            </a:r>
            <a:endParaRPr b="1">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&lt;description&gt;SSHD brute force from blacklisted IP&lt;/description&gt;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&lt;field name="srcip"&gt;srcip&lt;/field&gt;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&lt;cdb&gt;lookup&lt;/cdb&gt;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a:t>
            </a:r>
            <a:r>
              <a:rPr b="1" lang="en-US">
                <a:solidFill>
                  <a:schemeClr val="dk1"/>
                </a:solidFill>
                <a:latin typeface="Archivo"/>
                <a:ea typeface="Archivo"/>
                <a:cs typeface="Archivo"/>
                <a:sym typeface="Archivo"/>
              </a:rPr>
              <a:t>&lt;list&gt;/var/ossec/etc/lists/blacklist_ips&lt;/list&gt;</a:t>
            </a:r>
            <a:endParaRPr b="1">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&lt;type&gt;ip&lt;/type&gt;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&lt;options&gt;match&lt;/options&gt;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&lt;pci_dss&gt;10.6&lt;/pci_dss&gt;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  &lt;/rule&gt;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US">
                <a:solidFill>
                  <a:schemeClr val="dk1"/>
                </a:solidFill>
                <a:latin typeface="Archivo"/>
                <a:ea typeface="Archivo"/>
                <a:cs typeface="Archivo"/>
                <a:sym typeface="Archivo"/>
              </a:rPr>
              <a:t>&lt;/group&gt;</a:t>
            </a:r>
            <a:endParaRPr>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t/>
            </a:r>
            <a:endParaRPr>
              <a:solidFill>
                <a:schemeClr val="dk1"/>
              </a:solidFill>
              <a:latin typeface="Archivo"/>
              <a:ea typeface="Archivo"/>
              <a:cs typeface="Archivo"/>
              <a:sym typeface="Archivo"/>
            </a:endParaRPr>
          </a:p>
          <a:p>
            <a:pPr indent="0" lvl="0" marL="0" rtl="0" algn="l">
              <a:spcBef>
                <a:spcPts val="0"/>
              </a:spcBef>
              <a:spcAft>
                <a:spcPts val="0"/>
              </a:spcAft>
              <a:buNone/>
            </a:pPr>
            <a:r>
              <a:t/>
            </a:r>
            <a:endParaRPr>
              <a:solidFill>
                <a:schemeClr val="dk1"/>
              </a:solidFill>
              <a:latin typeface="Archivo"/>
              <a:ea typeface="Archivo"/>
              <a:cs typeface="Archivo"/>
              <a:sym typeface="Archivo"/>
            </a:endParaRPr>
          </a:p>
        </p:txBody>
      </p:sp>
    </p:spTree>
  </p:cSld>
  <p:clrMapOvr>
    <a:masterClrMapping/>
  </p:clrMapOvr>
  <p:transition spd="slow">
    <p:fade thruBlk="1"/>
  </p:transition>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3448" name="Shape 3448"/>
        <p:cNvGrpSpPr/>
        <p:nvPr/>
      </p:nvGrpSpPr>
      <p:grpSpPr>
        <a:xfrm>
          <a:off x="0" y="0"/>
          <a:ext cx="0" cy="0"/>
          <a:chOff x="0" y="0"/>
          <a:chExt cx="0" cy="0"/>
        </a:xfrm>
      </p:grpSpPr>
      <p:pic>
        <p:nvPicPr>
          <p:cNvPr id="3449" name="Google Shape;3449;p259"/>
          <p:cNvPicPr preferRelativeResize="0"/>
          <p:nvPr/>
        </p:nvPicPr>
        <p:blipFill rotWithShape="1">
          <a:blip r:embed="rId3">
            <a:alphaModFix/>
          </a:blip>
          <a:srcRect b="0" l="0" r="0" t="0"/>
          <a:stretch/>
        </p:blipFill>
        <p:spPr>
          <a:xfrm>
            <a:off x="8735306" y="4992977"/>
            <a:ext cx="1855917" cy="1473975"/>
          </a:xfrm>
          <a:prstGeom prst="rect">
            <a:avLst/>
          </a:prstGeom>
          <a:noFill/>
          <a:ln>
            <a:noFill/>
          </a:ln>
        </p:spPr>
      </p:pic>
      <p:sp>
        <p:nvSpPr>
          <p:cNvPr id="3450" name="Google Shape;3450;p259"/>
          <p:cNvSpPr txBox="1"/>
          <p:nvPr/>
        </p:nvSpPr>
        <p:spPr>
          <a:xfrm>
            <a:off x="842064" y="2423701"/>
            <a:ext cx="94770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chemeClr val="lt1"/>
                </a:solidFill>
                <a:latin typeface="Poppins"/>
                <a:ea typeface="Poppins"/>
                <a:cs typeface="Poppins"/>
                <a:sym typeface="Poppins"/>
              </a:rPr>
              <a:t>Day 3 </a:t>
            </a:r>
            <a:endParaRPr b="1" sz="6000">
              <a:solidFill>
                <a:schemeClr val="lt1"/>
              </a:solidFill>
              <a:latin typeface="Poppins"/>
              <a:ea typeface="Poppins"/>
              <a:cs typeface="Poppins"/>
              <a:sym typeface="Poppins"/>
            </a:endParaRPr>
          </a:p>
          <a:p>
            <a:pPr indent="0" lvl="0" marL="0" marR="0" rtl="0" algn="l">
              <a:spcBef>
                <a:spcPts val="0"/>
              </a:spcBef>
              <a:spcAft>
                <a:spcPts val="0"/>
              </a:spcAft>
              <a:buNone/>
            </a:pPr>
            <a:r>
              <a:rPr b="1" lang="en-US" sz="6000">
                <a:solidFill>
                  <a:schemeClr val="lt1"/>
                </a:solidFill>
                <a:latin typeface="Poppins"/>
                <a:ea typeface="Poppins"/>
                <a:cs typeface="Poppins"/>
                <a:sym typeface="Poppins"/>
              </a:rPr>
              <a:t>Wazuh Training</a:t>
            </a:r>
            <a:endParaRPr b="1" sz="6000">
              <a:solidFill>
                <a:schemeClr val="lt1"/>
              </a:solidFill>
              <a:latin typeface="Poppins"/>
              <a:ea typeface="Poppins"/>
              <a:cs typeface="Poppins"/>
              <a:sym typeface="Poppins"/>
            </a:endParaRPr>
          </a:p>
        </p:txBody>
      </p:sp>
      <p:sp>
        <p:nvSpPr>
          <p:cNvPr id="3451" name="Google Shape;3451;p259"/>
          <p:cNvSpPr txBox="1"/>
          <p:nvPr/>
        </p:nvSpPr>
        <p:spPr>
          <a:xfrm>
            <a:off x="902361" y="2056611"/>
            <a:ext cx="24240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Poppins"/>
                <a:ea typeface="Poppins"/>
                <a:cs typeface="Poppins"/>
                <a:sym typeface="Poppins"/>
              </a:rPr>
              <a:t>Cyber Security</a:t>
            </a:r>
            <a:endParaRPr/>
          </a:p>
        </p:txBody>
      </p:sp>
      <p:sp>
        <p:nvSpPr>
          <p:cNvPr id="3452" name="Google Shape;3452;p259"/>
          <p:cNvSpPr txBox="1"/>
          <p:nvPr/>
        </p:nvSpPr>
        <p:spPr>
          <a:xfrm>
            <a:off x="1103436" y="4459188"/>
            <a:ext cx="2735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Poppins"/>
                <a:ea typeface="Poppins"/>
                <a:cs typeface="Poppins"/>
                <a:sym typeface="Poppins"/>
              </a:rPr>
              <a:t>Aditya Firman Nugroho</a:t>
            </a:r>
            <a:br>
              <a:rPr lang="en-US" sz="1200">
                <a:solidFill>
                  <a:schemeClr val="lt1"/>
                </a:solidFill>
                <a:latin typeface="Poppins"/>
                <a:ea typeface="Poppins"/>
                <a:cs typeface="Poppins"/>
                <a:sym typeface="Poppins"/>
              </a:rPr>
            </a:br>
            <a:r>
              <a:rPr b="1" lang="en-US" sz="1200">
                <a:solidFill>
                  <a:schemeClr val="lt1"/>
                </a:solidFill>
                <a:latin typeface="Poppins"/>
                <a:ea typeface="Poppins"/>
                <a:cs typeface="Poppins"/>
                <a:sym typeface="Poppins"/>
              </a:rPr>
              <a:t>Cyber Geek</a:t>
            </a:r>
            <a:r>
              <a:rPr lang="en-US" sz="1200">
                <a:solidFill>
                  <a:schemeClr val="lt1"/>
                </a:solidFill>
                <a:latin typeface="Poppins"/>
                <a:ea typeface="Poppins"/>
                <a:cs typeface="Poppins"/>
                <a:sym typeface="Poppins"/>
              </a:rPr>
              <a:t> </a:t>
            </a:r>
            <a:endParaRPr/>
          </a:p>
        </p:txBody>
      </p:sp>
      <p:sp>
        <p:nvSpPr>
          <p:cNvPr id="3453" name="Google Shape;3453;p259"/>
          <p:cNvSpPr txBox="1"/>
          <p:nvPr/>
        </p:nvSpPr>
        <p:spPr>
          <a:xfrm>
            <a:off x="2045414" y="5739660"/>
            <a:ext cx="8757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oppins"/>
                <a:ea typeface="Poppins"/>
                <a:cs typeface="Poppins"/>
                <a:sym typeface="Poppins"/>
              </a:rPr>
              <a:t>www.idn.id</a:t>
            </a:r>
            <a:endParaRPr/>
          </a:p>
        </p:txBody>
      </p:sp>
      <p:pic>
        <p:nvPicPr>
          <p:cNvPr id="3454" name="Google Shape;3454;p259"/>
          <p:cNvPicPr preferRelativeResize="0"/>
          <p:nvPr/>
        </p:nvPicPr>
        <p:blipFill rotWithShape="1">
          <a:blip r:embed="rId4">
            <a:alphaModFix/>
          </a:blip>
          <a:srcRect b="0" l="0" r="0" t="0"/>
          <a:stretch/>
        </p:blipFill>
        <p:spPr>
          <a:xfrm>
            <a:off x="1101757" y="5716543"/>
            <a:ext cx="943658" cy="276471"/>
          </a:xfrm>
          <a:prstGeom prst="rect">
            <a:avLst/>
          </a:prstGeom>
          <a:noFill/>
          <a:ln>
            <a:noFill/>
          </a:ln>
        </p:spPr>
      </p:pic>
      <p:sp>
        <p:nvSpPr>
          <p:cNvPr id="3455" name="Google Shape;3455;p259"/>
          <p:cNvSpPr txBox="1"/>
          <p:nvPr/>
        </p:nvSpPr>
        <p:spPr>
          <a:xfrm>
            <a:off x="1207326" y="5740708"/>
            <a:ext cx="7377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oppins"/>
                <a:ea typeface="Poppins"/>
                <a:cs typeface="Poppins"/>
                <a:sym typeface="Poppins"/>
              </a:rPr>
              <a:t>visit now</a:t>
            </a:r>
            <a:endParaRPr/>
          </a:p>
        </p:txBody>
      </p:sp>
      <p:pic>
        <p:nvPicPr>
          <p:cNvPr id="3456" name="Google Shape;3456;p259"/>
          <p:cNvPicPr preferRelativeResize="0"/>
          <p:nvPr/>
        </p:nvPicPr>
        <p:blipFill rotWithShape="1">
          <a:blip r:embed="rId5">
            <a:alphaModFix/>
          </a:blip>
          <a:srcRect b="0" l="0" r="0" t="0"/>
          <a:stretch/>
        </p:blipFill>
        <p:spPr>
          <a:xfrm>
            <a:off x="7420619" y="949737"/>
            <a:ext cx="157143" cy="157143"/>
          </a:xfrm>
          <a:prstGeom prst="rect">
            <a:avLst/>
          </a:prstGeom>
          <a:noFill/>
          <a:ln>
            <a:noFill/>
          </a:ln>
        </p:spPr>
      </p:pic>
      <p:pic>
        <p:nvPicPr>
          <p:cNvPr id="3457" name="Google Shape;3457;p259"/>
          <p:cNvPicPr preferRelativeResize="0"/>
          <p:nvPr/>
        </p:nvPicPr>
        <p:blipFill rotWithShape="1">
          <a:blip r:embed="rId5">
            <a:alphaModFix/>
          </a:blip>
          <a:srcRect b="0" l="0" r="0" t="0"/>
          <a:stretch/>
        </p:blipFill>
        <p:spPr>
          <a:xfrm>
            <a:off x="7664459" y="949736"/>
            <a:ext cx="157143" cy="157143"/>
          </a:xfrm>
          <a:prstGeom prst="rect">
            <a:avLst/>
          </a:prstGeom>
          <a:noFill/>
          <a:ln>
            <a:noFill/>
          </a:ln>
        </p:spPr>
      </p:pic>
      <p:pic>
        <p:nvPicPr>
          <p:cNvPr id="3458" name="Google Shape;3458;p259"/>
          <p:cNvPicPr preferRelativeResize="0"/>
          <p:nvPr/>
        </p:nvPicPr>
        <p:blipFill rotWithShape="1">
          <a:blip r:embed="rId5">
            <a:alphaModFix/>
          </a:blip>
          <a:srcRect b="0" l="0" r="0" t="0"/>
          <a:stretch/>
        </p:blipFill>
        <p:spPr>
          <a:xfrm>
            <a:off x="7908299" y="949735"/>
            <a:ext cx="157143" cy="157143"/>
          </a:xfrm>
          <a:prstGeom prst="rect">
            <a:avLst/>
          </a:prstGeom>
          <a:noFill/>
          <a:ln>
            <a:noFill/>
          </a:ln>
        </p:spPr>
      </p:pic>
      <p:pic>
        <p:nvPicPr>
          <p:cNvPr id="3459" name="Google Shape;3459;p259"/>
          <p:cNvPicPr preferRelativeResize="0"/>
          <p:nvPr/>
        </p:nvPicPr>
        <p:blipFill rotWithShape="1">
          <a:blip r:embed="rId5">
            <a:alphaModFix/>
          </a:blip>
          <a:srcRect b="0" l="0" r="0" t="0"/>
          <a:stretch/>
        </p:blipFill>
        <p:spPr>
          <a:xfrm>
            <a:off x="8152139" y="949734"/>
            <a:ext cx="157143" cy="157143"/>
          </a:xfrm>
          <a:prstGeom prst="rect">
            <a:avLst/>
          </a:prstGeom>
          <a:noFill/>
          <a:ln>
            <a:noFill/>
          </a:ln>
        </p:spPr>
      </p:pic>
      <p:pic>
        <p:nvPicPr>
          <p:cNvPr id="3460" name="Google Shape;3460;p259"/>
          <p:cNvPicPr preferRelativeResize="0"/>
          <p:nvPr/>
        </p:nvPicPr>
        <p:blipFill rotWithShape="1">
          <a:blip r:embed="rId5">
            <a:alphaModFix/>
          </a:blip>
          <a:srcRect b="0" l="0" r="0" t="0"/>
          <a:stretch/>
        </p:blipFill>
        <p:spPr>
          <a:xfrm>
            <a:off x="8395979" y="949733"/>
            <a:ext cx="157143" cy="157143"/>
          </a:xfrm>
          <a:prstGeom prst="rect">
            <a:avLst/>
          </a:prstGeom>
          <a:noFill/>
          <a:ln>
            <a:noFill/>
          </a:ln>
        </p:spPr>
      </p:pic>
      <p:pic>
        <p:nvPicPr>
          <p:cNvPr id="3461" name="Google Shape;3461;p259"/>
          <p:cNvPicPr preferRelativeResize="0"/>
          <p:nvPr/>
        </p:nvPicPr>
        <p:blipFill rotWithShape="1">
          <a:blip r:embed="rId5">
            <a:alphaModFix/>
          </a:blip>
          <a:srcRect b="0" l="0" r="0" t="0"/>
          <a:stretch/>
        </p:blipFill>
        <p:spPr>
          <a:xfrm>
            <a:off x="8639819" y="949732"/>
            <a:ext cx="157143" cy="157143"/>
          </a:xfrm>
          <a:prstGeom prst="rect">
            <a:avLst/>
          </a:prstGeom>
          <a:noFill/>
          <a:ln>
            <a:noFill/>
          </a:ln>
        </p:spPr>
      </p:pic>
      <p:pic>
        <p:nvPicPr>
          <p:cNvPr id="3462" name="Google Shape;3462;p259"/>
          <p:cNvPicPr preferRelativeResize="0"/>
          <p:nvPr/>
        </p:nvPicPr>
        <p:blipFill rotWithShape="1">
          <a:blip r:embed="rId5">
            <a:alphaModFix/>
          </a:blip>
          <a:srcRect b="0" l="0" r="0" t="0"/>
          <a:stretch/>
        </p:blipFill>
        <p:spPr>
          <a:xfrm>
            <a:off x="7420619" y="1162524"/>
            <a:ext cx="157143" cy="157143"/>
          </a:xfrm>
          <a:prstGeom prst="rect">
            <a:avLst/>
          </a:prstGeom>
          <a:noFill/>
          <a:ln>
            <a:noFill/>
          </a:ln>
        </p:spPr>
      </p:pic>
      <p:pic>
        <p:nvPicPr>
          <p:cNvPr id="3463" name="Google Shape;3463;p259"/>
          <p:cNvPicPr preferRelativeResize="0"/>
          <p:nvPr/>
        </p:nvPicPr>
        <p:blipFill rotWithShape="1">
          <a:blip r:embed="rId5">
            <a:alphaModFix/>
          </a:blip>
          <a:srcRect b="0" l="0" r="0" t="0"/>
          <a:stretch/>
        </p:blipFill>
        <p:spPr>
          <a:xfrm>
            <a:off x="7664458" y="1162523"/>
            <a:ext cx="157143" cy="157143"/>
          </a:xfrm>
          <a:prstGeom prst="rect">
            <a:avLst/>
          </a:prstGeom>
          <a:noFill/>
          <a:ln>
            <a:noFill/>
          </a:ln>
        </p:spPr>
      </p:pic>
      <p:pic>
        <p:nvPicPr>
          <p:cNvPr id="3464" name="Google Shape;3464;p259"/>
          <p:cNvPicPr preferRelativeResize="0"/>
          <p:nvPr/>
        </p:nvPicPr>
        <p:blipFill rotWithShape="1">
          <a:blip r:embed="rId5">
            <a:alphaModFix/>
          </a:blip>
          <a:srcRect b="0" l="0" r="0" t="0"/>
          <a:stretch/>
        </p:blipFill>
        <p:spPr>
          <a:xfrm>
            <a:off x="7908297" y="1162522"/>
            <a:ext cx="157143" cy="157143"/>
          </a:xfrm>
          <a:prstGeom prst="rect">
            <a:avLst/>
          </a:prstGeom>
          <a:noFill/>
          <a:ln>
            <a:noFill/>
          </a:ln>
        </p:spPr>
      </p:pic>
      <p:pic>
        <p:nvPicPr>
          <p:cNvPr id="3465" name="Google Shape;3465;p259"/>
          <p:cNvPicPr preferRelativeResize="0"/>
          <p:nvPr/>
        </p:nvPicPr>
        <p:blipFill rotWithShape="1">
          <a:blip r:embed="rId5">
            <a:alphaModFix/>
          </a:blip>
          <a:srcRect b="0" l="0" r="0" t="0"/>
          <a:stretch/>
        </p:blipFill>
        <p:spPr>
          <a:xfrm>
            <a:off x="8152136" y="1162521"/>
            <a:ext cx="157143" cy="157143"/>
          </a:xfrm>
          <a:prstGeom prst="rect">
            <a:avLst/>
          </a:prstGeom>
          <a:noFill/>
          <a:ln>
            <a:noFill/>
          </a:ln>
        </p:spPr>
      </p:pic>
      <p:pic>
        <p:nvPicPr>
          <p:cNvPr id="3466" name="Google Shape;3466;p259"/>
          <p:cNvPicPr preferRelativeResize="0"/>
          <p:nvPr/>
        </p:nvPicPr>
        <p:blipFill rotWithShape="1">
          <a:blip r:embed="rId5">
            <a:alphaModFix/>
          </a:blip>
          <a:srcRect b="0" l="0" r="0" t="0"/>
          <a:stretch/>
        </p:blipFill>
        <p:spPr>
          <a:xfrm>
            <a:off x="8395975" y="1162520"/>
            <a:ext cx="157143" cy="157143"/>
          </a:xfrm>
          <a:prstGeom prst="rect">
            <a:avLst/>
          </a:prstGeom>
          <a:noFill/>
          <a:ln>
            <a:noFill/>
          </a:ln>
        </p:spPr>
      </p:pic>
      <p:pic>
        <p:nvPicPr>
          <p:cNvPr id="3467" name="Google Shape;3467;p259"/>
          <p:cNvPicPr preferRelativeResize="0"/>
          <p:nvPr/>
        </p:nvPicPr>
        <p:blipFill rotWithShape="1">
          <a:blip r:embed="rId5">
            <a:alphaModFix/>
          </a:blip>
          <a:srcRect b="0" l="0" r="0" t="0"/>
          <a:stretch/>
        </p:blipFill>
        <p:spPr>
          <a:xfrm>
            <a:off x="8639814" y="1162519"/>
            <a:ext cx="157143" cy="157143"/>
          </a:xfrm>
          <a:prstGeom prst="rect">
            <a:avLst/>
          </a:prstGeom>
          <a:noFill/>
          <a:ln>
            <a:noFill/>
          </a:ln>
        </p:spPr>
      </p:pic>
      <p:pic>
        <p:nvPicPr>
          <p:cNvPr id="3468" name="Google Shape;3468;p259"/>
          <p:cNvPicPr preferRelativeResize="0"/>
          <p:nvPr/>
        </p:nvPicPr>
        <p:blipFill rotWithShape="1">
          <a:blip r:embed="rId5">
            <a:alphaModFix/>
          </a:blip>
          <a:srcRect b="0" l="0" r="0" t="0"/>
          <a:stretch/>
        </p:blipFill>
        <p:spPr>
          <a:xfrm>
            <a:off x="10046787" y="5767072"/>
            <a:ext cx="157143" cy="157143"/>
          </a:xfrm>
          <a:prstGeom prst="rect">
            <a:avLst/>
          </a:prstGeom>
          <a:noFill/>
          <a:ln>
            <a:noFill/>
          </a:ln>
        </p:spPr>
      </p:pic>
      <p:pic>
        <p:nvPicPr>
          <p:cNvPr id="3469" name="Google Shape;3469;p259"/>
          <p:cNvPicPr preferRelativeResize="0"/>
          <p:nvPr/>
        </p:nvPicPr>
        <p:blipFill rotWithShape="1">
          <a:blip r:embed="rId5">
            <a:alphaModFix/>
          </a:blip>
          <a:srcRect b="0" l="0" r="0" t="0"/>
          <a:stretch/>
        </p:blipFill>
        <p:spPr>
          <a:xfrm>
            <a:off x="10290627" y="5767071"/>
            <a:ext cx="157143" cy="157143"/>
          </a:xfrm>
          <a:prstGeom prst="rect">
            <a:avLst/>
          </a:prstGeom>
          <a:noFill/>
          <a:ln>
            <a:noFill/>
          </a:ln>
        </p:spPr>
      </p:pic>
      <p:pic>
        <p:nvPicPr>
          <p:cNvPr id="3470" name="Google Shape;3470;p259"/>
          <p:cNvPicPr preferRelativeResize="0"/>
          <p:nvPr/>
        </p:nvPicPr>
        <p:blipFill rotWithShape="1">
          <a:blip r:embed="rId5">
            <a:alphaModFix/>
          </a:blip>
          <a:srcRect b="0" l="0" r="0" t="0"/>
          <a:stretch/>
        </p:blipFill>
        <p:spPr>
          <a:xfrm>
            <a:off x="10534467" y="5767070"/>
            <a:ext cx="157143" cy="157143"/>
          </a:xfrm>
          <a:prstGeom prst="rect">
            <a:avLst/>
          </a:prstGeom>
          <a:noFill/>
          <a:ln>
            <a:noFill/>
          </a:ln>
        </p:spPr>
      </p:pic>
      <p:pic>
        <p:nvPicPr>
          <p:cNvPr id="3471" name="Google Shape;3471;p259"/>
          <p:cNvPicPr preferRelativeResize="0"/>
          <p:nvPr/>
        </p:nvPicPr>
        <p:blipFill rotWithShape="1">
          <a:blip r:embed="rId5">
            <a:alphaModFix/>
          </a:blip>
          <a:srcRect b="0" l="0" r="0" t="0"/>
          <a:stretch/>
        </p:blipFill>
        <p:spPr>
          <a:xfrm>
            <a:off x="10778307" y="5767069"/>
            <a:ext cx="157143" cy="157143"/>
          </a:xfrm>
          <a:prstGeom prst="rect">
            <a:avLst/>
          </a:prstGeom>
          <a:noFill/>
          <a:ln>
            <a:noFill/>
          </a:ln>
        </p:spPr>
      </p:pic>
      <p:pic>
        <p:nvPicPr>
          <p:cNvPr id="3472" name="Google Shape;3472;p259"/>
          <p:cNvPicPr preferRelativeResize="0"/>
          <p:nvPr/>
        </p:nvPicPr>
        <p:blipFill rotWithShape="1">
          <a:blip r:embed="rId5">
            <a:alphaModFix/>
          </a:blip>
          <a:srcRect b="0" l="0" r="0" t="0"/>
          <a:stretch/>
        </p:blipFill>
        <p:spPr>
          <a:xfrm>
            <a:off x="11022147" y="5767068"/>
            <a:ext cx="157143" cy="157143"/>
          </a:xfrm>
          <a:prstGeom prst="rect">
            <a:avLst/>
          </a:prstGeom>
          <a:noFill/>
          <a:ln>
            <a:noFill/>
          </a:ln>
        </p:spPr>
      </p:pic>
      <p:pic>
        <p:nvPicPr>
          <p:cNvPr id="3473" name="Google Shape;3473;p259"/>
          <p:cNvPicPr preferRelativeResize="0"/>
          <p:nvPr/>
        </p:nvPicPr>
        <p:blipFill rotWithShape="1">
          <a:blip r:embed="rId5">
            <a:alphaModFix/>
          </a:blip>
          <a:srcRect b="0" l="0" r="0" t="0"/>
          <a:stretch/>
        </p:blipFill>
        <p:spPr>
          <a:xfrm>
            <a:off x="11265987" y="5767067"/>
            <a:ext cx="157143" cy="157143"/>
          </a:xfrm>
          <a:prstGeom prst="rect">
            <a:avLst/>
          </a:prstGeom>
          <a:noFill/>
          <a:ln>
            <a:noFill/>
          </a:ln>
        </p:spPr>
      </p:pic>
      <p:pic>
        <p:nvPicPr>
          <p:cNvPr id="3474" name="Google Shape;3474;p259"/>
          <p:cNvPicPr preferRelativeResize="0"/>
          <p:nvPr/>
        </p:nvPicPr>
        <p:blipFill rotWithShape="1">
          <a:blip r:embed="rId5">
            <a:alphaModFix/>
          </a:blip>
          <a:srcRect b="0" l="0" r="0" t="0"/>
          <a:stretch/>
        </p:blipFill>
        <p:spPr>
          <a:xfrm>
            <a:off x="10046787" y="5979859"/>
            <a:ext cx="157143" cy="157143"/>
          </a:xfrm>
          <a:prstGeom prst="rect">
            <a:avLst/>
          </a:prstGeom>
          <a:noFill/>
          <a:ln>
            <a:noFill/>
          </a:ln>
        </p:spPr>
      </p:pic>
      <p:pic>
        <p:nvPicPr>
          <p:cNvPr id="3475" name="Google Shape;3475;p259"/>
          <p:cNvPicPr preferRelativeResize="0"/>
          <p:nvPr/>
        </p:nvPicPr>
        <p:blipFill rotWithShape="1">
          <a:blip r:embed="rId5">
            <a:alphaModFix/>
          </a:blip>
          <a:srcRect b="0" l="0" r="0" t="0"/>
          <a:stretch/>
        </p:blipFill>
        <p:spPr>
          <a:xfrm>
            <a:off x="10290626" y="5979858"/>
            <a:ext cx="157143" cy="157143"/>
          </a:xfrm>
          <a:prstGeom prst="rect">
            <a:avLst/>
          </a:prstGeom>
          <a:noFill/>
          <a:ln>
            <a:noFill/>
          </a:ln>
        </p:spPr>
      </p:pic>
      <p:pic>
        <p:nvPicPr>
          <p:cNvPr id="3476" name="Google Shape;3476;p259"/>
          <p:cNvPicPr preferRelativeResize="0"/>
          <p:nvPr/>
        </p:nvPicPr>
        <p:blipFill rotWithShape="1">
          <a:blip r:embed="rId5">
            <a:alphaModFix/>
          </a:blip>
          <a:srcRect b="0" l="0" r="0" t="0"/>
          <a:stretch/>
        </p:blipFill>
        <p:spPr>
          <a:xfrm>
            <a:off x="10534465" y="5979857"/>
            <a:ext cx="157143" cy="157143"/>
          </a:xfrm>
          <a:prstGeom prst="rect">
            <a:avLst/>
          </a:prstGeom>
          <a:noFill/>
          <a:ln>
            <a:noFill/>
          </a:ln>
        </p:spPr>
      </p:pic>
      <p:pic>
        <p:nvPicPr>
          <p:cNvPr id="3477" name="Google Shape;3477;p259"/>
          <p:cNvPicPr preferRelativeResize="0"/>
          <p:nvPr/>
        </p:nvPicPr>
        <p:blipFill rotWithShape="1">
          <a:blip r:embed="rId5">
            <a:alphaModFix/>
          </a:blip>
          <a:srcRect b="0" l="0" r="0" t="0"/>
          <a:stretch/>
        </p:blipFill>
        <p:spPr>
          <a:xfrm>
            <a:off x="10778304" y="5979856"/>
            <a:ext cx="157143" cy="157143"/>
          </a:xfrm>
          <a:prstGeom prst="rect">
            <a:avLst/>
          </a:prstGeom>
          <a:noFill/>
          <a:ln>
            <a:noFill/>
          </a:ln>
        </p:spPr>
      </p:pic>
      <p:pic>
        <p:nvPicPr>
          <p:cNvPr id="3478" name="Google Shape;3478;p259"/>
          <p:cNvPicPr preferRelativeResize="0"/>
          <p:nvPr/>
        </p:nvPicPr>
        <p:blipFill rotWithShape="1">
          <a:blip r:embed="rId5">
            <a:alphaModFix/>
          </a:blip>
          <a:srcRect b="0" l="0" r="0" t="0"/>
          <a:stretch/>
        </p:blipFill>
        <p:spPr>
          <a:xfrm>
            <a:off x="11022143" y="5979855"/>
            <a:ext cx="157143" cy="157143"/>
          </a:xfrm>
          <a:prstGeom prst="rect">
            <a:avLst/>
          </a:prstGeom>
          <a:noFill/>
          <a:ln>
            <a:noFill/>
          </a:ln>
        </p:spPr>
      </p:pic>
      <p:pic>
        <p:nvPicPr>
          <p:cNvPr id="3479" name="Google Shape;3479;p259"/>
          <p:cNvPicPr preferRelativeResize="0"/>
          <p:nvPr/>
        </p:nvPicPr>
        <p:blipFill rotWithShape="1">
          <a:blip r:embed="rId5">
            <a:alphaModFix/>
          </a:blip>
          <a:srcRect b="0" l="0" r="0" t="0"/>
          <a:stretch/>
        </p:blipFill>
        <p:spPr>
          <a:xfrm>
            <a:off x="11265982" y="5979854"/>
            <a:ext cx="157143" cy="157143"/>
          </a:xfrm>
          <a:prstGeom prst="rect">
            <a:avLst/>
          </a:prstGeom>
          <a:noFill/>
          <a:ln>
            <a:noFill/>
          </a:ln>
        </p:spPr>
      </p:pic>
      <p:pic>
        <p:nvPicPr>
          <p:cNvPr id="3480" name="Google Shape;3480;p259"/>
          <p:cNvPicPr preferRelativeResize="0"/>
          <p:nvPr/>
        </p:nvPicPr>
        <p:blipFill rotWithShape="1">
          <a:blip r:embed="rId6">
            <a:alphaModFix/>
          </a:blip>
          <a:srcRect b="0" l="0" r="0" t="0"/>
          <a:stretch/>
        </p:blipFill>
        <p:spPr>
          <a:xfrm rot="6280505">
            <a:off x="9663482" y="1641145"/>
            <a:ext cx="2166077" cy="2256331"/>
          </a:xfrm>
          <a:prstGeom prst="rect">
            <a:avLst/>
          </a:prstGeom>
          <a:noFill/>
          <a:ln>
            <a:noFill/>
          </a:ln>
        </p:spPr>
      </p:pic>
      <p:pic>
        <p:nvPicPr>
          <p:cNvPr id="3481" name="Google Shape;3481;p259"/>
          <p:cNvPicPr preferRelativeResize="0"/>
          <p:nvPr/>
        </p:nvPicPr>
        <p:blipFill rotWithShape="1">
          <a:blip r:embed="rId7">
            <a:alphaModFix/>
          </a:blip>
          <a:srcRect b="0" l="0" r="0" t="0"/>
          <a:stretch/>
        </p:blipFill>
        <p:spPr>
          <a:xfrm>
            <a:off x="8553122" y="2267369"/>
            <a:ext cx="501941" cy="501941"/>
          </a:xfrm>
          <a:prstGeom prst="rect">
            <a:avLst/>
          </a:prstGeom>
          <a:noFill/>
          <a:ln>
            <a:noFill/>
          </a:ln>
        </p:spPr>
      </p:pic>
      <p:pic>
        <p:nvPicPr>
          <p:cNvPr id="3482" name="Google Shape;3482;p259"/>
          <p:cNvPicPr preferRelativeResize="0"/>
          <p:nvPr/>
        </p:nvPicPr>
        <p:blipFill rotWithShape="1">
          <a:blip r:embed="rId8">
            <a:alphaModFix/>
          </a:blip>
          <a:srcRect b="0" l="0" r="0" t="0"/>
          <a:stretch/>
        </p:blipFill>
        <p:spPr>
          <a:xfrm>
            <a:off x="8767747" y="5108544"/>
            <a:ext cx="854810" cy="854810"/>
          </a:xfrm>
          <a:prstGeom prst="rect">
            <a:avLst/>
          </a:prstGeom>
          <a:noFill/>
          <a:ln>
            <a:noFill/>
          </a:ln>
        </p:spPr>
      </p:pic>
      <p:pic>
        <p:nvPicPr>
          <p:cNvPr id="3483" name="Google Shape;3483;p259"/>
          <p:cNvPicPr preferRelativeResize="0"/>
          <p:nvPr/>
        </p:nvPicPr>
        <p:blipFill rotWithShape="1">
          <a:blip r:embed="rId9">
            <a:alphaModFix/>
          </a:blip>
          <a:srcRect b="0" l="0" r="0" t="0"/>
          <a:stretch/>
        </p:blipFill>
        <p:spPr>
          <a:xfrm>
            <a:off x="7426365" y="5740908"/>
            <a:ext cx="215541" cy="215541"/>
          </a:xfrm>
          <a:prstGeom prst="rect">
            <a:avLst/>
          </a:prstGeom>
          <a:noFill/>
          <a:ln>
            <a:noFill/>
          </a:ln>
        </p:spPr>
      </p:pic>
      <p:pic>
        <p:nvPicPr>
          <p:cNvPr id="3484" name="Google Shape;3484;p259"/>
          <p:cNvPicPr preferRelativeResize="0"/>
          <p:nvPr/>
        </p:nvPicPr>
        <p:blipFill rotWithShape="1">
          <a:blip r:embed="rId10">
            <a:alphaModFix/>
          </a:blip>
          <a:srcRect b="0" l="0" r="0" t="0"/>
          <a:stretch/>
        </p:blipFill>
        <p:spPr>
          <a:xfrm>
            <a:off x="1034046" y="4445778"/>
            <a:ext cx="67711" cy="461665"/>
          </a:xfrm>
          <a:prstGeom prst="rect">
            <a:avLst/>
          </a:prstGeom>
          <a:noFill/>
          <a:ln>
            <a:noFill/>
          </a:ln>
        </p:spPr>
      </p:pic>
      <p:pic>
        <p:nvPicPr>
          <p:cNvPr id="3485" name="Google Shape;3485;p259"/>
          <p:cNvPicPr preferRelativeResize="0"/>
          <p:nvPr/>
        </p:nvPicPr>
        <p:blipFill rotWithShape="1">
          <a:blip r:embed="rId11">
            <a:alphaModFix/>
          </a:blip>
          <a:srcRect b="0" l="0" r="0" t="0"/>
          <a:stretch/>
        </p:blipFill>
        <p:spPr>
          <a:xfrm>
            <a:off x="902361" y="587968"/>
            <a:ext cx="2817438" cy="880669"/>
          </a:xfrm>
          <a:prstGeom prst="rect">
            <a:avLst/>
          </a:prstGeom>
          <a:noFill/>
          <a:ln>
            <a:noFill/>
          </a:ln>
        </p:spPr>
      </p:pic>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9" name="Shape 3489"/>
        <p:cNvGrpSpPr/>
        <p:nvPr/>
      </p:nvGrpSpPr>
      <p:grpSpPr>
        <a:xfrm>
          <a:off x="0" y="0"/>
          <a:ext cx="0" cy="0"/>
          <a:chOff x="0" y="0"/>
          <a:chExt cx="0" cy="0"/>
        </a:xfrm>
      </p:grpSpPr>
      <p:sp>
        <p:nvSpPr>
          <p:cNvPr id="3490" name="Google Shape;3490;p260"/>
          <p:cNvSpPr txBox="1"/>
          <p:nvPr/>
        </p:nvSpPr>
        <p:spPr>
          <a:xfrm>
            <a:off x="603102" y="486375"/>
            <a:ext cx="9726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chemeClr val="accent1"/>
                </a:solidFill>
                <a:latin typeface="Poppins"/>
                <a:ea typeface="Poppins"/>
                <a:cs typeface="Poppins"/>
                <a:sym typeface="Poppins"/>
              </a:rPr>
              <a:t>Objective</a:t>
            </a:r>
            <a:endParaRPr b="1" i="0" sz="3600" u="none" cap="none" strike="noStrike">
              <a:solidFill>
                <a:schemeClr val="accent1"/>
              </a:solidFill>
              <a:latin typeface="Poppins"/>
              <a:ea typeface="Poppins"/>
              <a:cs typeface="Poppins"/>
              <a:sym typeface="Poppins"/>
            </a:endParaRPr>
          </a:p>
        </p:txBody>
      </p:sp>
      <p:cxnSp>
        <p:nvCxnSpPr>
          <p:cNvPr id="3491" name="Google Shape;3491;p26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descr="A picture containing food, drawing, shirt&#10;&#10;Description automatically generated" id="3492" name="Google Shape;3492;p26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493" name="Google Shape;3493;p26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494" name="Google Shape;3494;p26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495" name="Google Shape;3495;p26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496" name="Google Shape;3496;p26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97" name="Google Shape;3497;p260"/>
          <p:cNvSpPr txBox="1"/>
          <p:nvPr/>
        </p:nvSpPr>
        <p:spPr>
          <a:xfrm>
            <a:off x="808475" y="1715488"/>
            <a:ext cx="9819900" cy="23397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Memahami bagaimana syscheck mendeteksi perubahan file.</a:t>
            </a:r>
            <a:endParaRPr sz="2000">
              <a:solidFill>
                <a:schemeClr val="dk1"/>
              </a:solidFill>
              <a:latin typeface="Archivo Medium"/>
              <a:ea typeface="Archivo Medium"/>
              <a:cs typeface="Archivo Medium"/>
              <a:sym typeface="Archivo Medium"/>
            </a:endParaRPr>
          </a:p>
          <a:p>
            <a:pPr indent="-355600" lvl="0" marL="457200" rtl="0" algn="l">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Menyebutkan berbagai opsi syscheck.</a:t>
            </a:r>
            <a:endParaRPr sz="2000">
              <a:solidFill>
                <a:schemeClr val="dk1"/>
              </a:solidFill>
              <a:latin typeface="Archivo Medium"/>
              <a:ea typeface="Archivo Medium"/>
              <a:cs typeface="Archivo Medium"/>
              <a:sym typeface="Archivo Medium"/>
            </a:endParaRPr>
          </a:p>
          <a:p>
            <a:pPr indent="-355600" lvl="0" marL="457200" rtl="0" algn="l">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Mengonfigurasi syscheck untuk deteksi secara real-time.</a:t>
            </a:r>
            <a:endParaRPr sz="2000">
              <a:solidFill>
                <a:schemeClr val="dk1"/>
              </a:solidFill>
              <a:latin typeface="Archivo Medium"/>
              <a:ea typeface="Archivo Medium"/>
              <a:cs typeface="Archivo Medium"/>
              <a:sym typeface="Archivo Medium"/>
            </a:endParaRPr>
          </a:p>
          <a:p>
            <a:pPr indent="-355600" lvl="0" marL="457200" rtl="0" algn="l">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Menyiapkan syscheck untuk pengumpulan who-data dan pelaporan perbedaan perubahan file (diff).</a:t>
            </a:r>
            <a:endParaRPr sz="2000">
              <a:solidFill>
                <a:schemeClr val="dk1"/>
              </a:solidFill>
              <a:latin typeface="Archivo Medium"/>
              <a:ea typeface="Archivo Medium"/>
              <a:cs typeface="Archivo Medium"/>
              <a:sym typeface="Archivo Medium"/>
            </a:endParaRPr>
          </a:p>
          <a:p>
            <a:pPr indent="-355600" lvl="0" marL="457200" rtl="0" algn="l">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Mengecualikan file yang sering berubah dari pemantauan syscheck.</a:t>
            </a:r>
            <a:endParaRPr sz="2000">
              <a:solidFill>
                <a:schemeClr val="dk1"/>
              </a:solidFill>
              <a:latin typeface="Archivo Medium"/>
              <a:ea typeface="Archivo Medium"/>
              <a:cs typeface="Archivo Medium"/>
              <a:sym typeface="Archivo Medium"/>
            </a:endParaRPr>
          </a:p>
          <a:p>
            <a:pPr indent="0" lvl="0" marL="457200" rtl="0" algn="l">
              <a:spcBef>
                <a:spcPts val="0"/>
              </a:spcBef>
              <a:spcAft>
                <a:spcPts val="0"/>
              </a:spcAft>
              <a:buNone/>
            </a:pPr>
            <a:r>
              <a:t/>
            </a:r>
            <a:endParaRPr sz="20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501" name="Shape 3501"/>
        <p:cNvGrpSpPr/>
        <p:nvPr/>
      </p:nvGrpSpPr>
      <p:grpSpPr>
        <a:xfrm>
          <a:off x="0" y="0"/>
          <a:ext cx="0" cy="0"/>
          <a:chOff x="0" y="0"/>
          <a:chExt cx="0" cy="0"/>
        </a:xfrm>
      </p:grpSpPr>
      <p:pic>
        <p:nvPicPr>
          <p:cNvPr descr="A picture containing food, drawing, shirt&#10;&#10;Description automatically generated" id="3502" name="Google Shape;3502;p26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503" name="Google Shape;3503;p26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504" name="Google Shape;3504;p26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505" name="Google Shape;3505;p261"/>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506" name="Google Shape;3506;p26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507" name="Google Shape;3507;p261"/>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508" name="Google Shape;3508;p261"/>
          <p:cNvSpPr txBox="1"/>
          <p:nvPr/>
        </p:nvSpPr>
        <p:spPr>
          <a:xfrm>
            <a:off x="1357489" y="3880051"/>
            <a:ext cx="9477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lt1"/>
                </a:solidFill>
                <a:highlight>
                  <a:srgbClr val="3585F9"/>
                </a:highlight>
                <a:latin typeface="Poppins"/>
                <a:ea typeface="Poppins"/>
                <a:cs typeface="Poppins"/>
                <a:sym typeface="Poppins"/>
              </a:rPr>
              <a:t>File Integrity Monitoring</a:t>
            </a:r>
            <a:endParaRPr sz="4400">
              <a:solidFill>
                <a:schemeClr val="lt1"/>
              </a:solidFill>
              <a:highlight>
                <a:srgbClr val="3585F9"/>
              </a:highlight>
              <a:latin typeface="Poppins"/>
              <a:ea typeface="Poppins"/>
              <a:cs typeface="Poppins"/>
              <a:sym typeface="Poppins"/>
            </a:endParaRPr>
          </a:p>
        </p:txBody>
      </p:sp>
      <p:pic>
        <p:nvPicPr>
          <p:cNvPr id="3509" name="Google Shape;3509;p261"/>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3" name="Shape 3513"/>
        <p:cNvGrpSpPr/>
        <p:nvPr/>
      </p:nvGrpSpPr>
      <p:grpSpPr>
        <a:xfrm>
          <a:off x="0" y="0"/>
          <a:ext cx="0" cy="0"/>
          <a:chOff x="0" y="0"/>
          <a:chExt cx="0" cy="0"/>
        </a:xfrm>
      </p:grpSpPr>
      <p:sp>
        <p:nvSpPr>
          <p:cNvPr id="3514" name="Google Shape;3514;p262"/>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File Integrity </a:t>
            </a:r>
            <a:r>
              <a:rPr b="1" lang="en-US" sz="3600">
                <a:solidFill>
                  <a:srgbClr val="6D9EEB"/>
                </a:solidFill>
                <a:latin typeface="Poppins"/>
                <a:ea typeface="Poppins"/>
                <a:cs typeface="Poppins"/>
                <a:sym typeface="Poppins"/>
              </a:rPr>
              <a:t>Monitoring</a:t>
            </a:r>
            <a:endParaRPr b="1" i="0" sz="3600" u="none" cap="none" strike="noStrike">
              <a:solidFill>
                <a:srgbClr val="6D9EEB"/>
              </a:solidFill>
              <a:latin typeface="Poppins"/>
              <a:ea typeface="Poppins"/>
              <a:cs typeface="Poppins"/>
              <a:sym typeface="Poppins"/>
            </a:endParaRPr>
          </a:p>
        </p:txBody>
      </p:sp>
      <p:cxnSp>
        <p:nvCxnSpPr>
          <p:cNvPr id="3515" name="Google Shape;3515;p26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516" name="Google Shape;3516;p26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517" name="Google Shape;3517;p26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518" name="Google Shape;3518;p26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519" name="Google Shape;3519;p26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520" name="Google Shape;3520;p26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521" name="Google Shape;3521;p26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522" name="Google Shape;3522;p262"/>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523" name="Google Shape;3523;p262"/>
          <p:cNvSpPr txBox="1"/>
          <p:nvPr/>
        </p:nvSpPr>
        <p:spPr>
          <a:xfrm>
            <a:off x="1000925" y="1650025"/>
            <a:ext cx="102939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182">
                <a:solidFill>
                  <a:schemeClr val="dk1"/>
                </a:solidFill>
                <a:latin typeface="Archivo Medium"/>
                <a:ea typeface="Archivo Medium"/>
                <a:cs typeface="Archivo Medium"/>
                <a:sym typeface="Archivo Medium"/>
              </a:rPr>
              <a:t>File Integrity Monitoring (FIM) adalah proses keamanan yang digunakan untuk memantau integritas file sistem dan aplikasi. FIM merupakan lapisan pertahanan keamanan yang penting bagi organisasi yang memantau aset-aset sensitif. FIM memberikan perlindungan terhadap data sensitif, aplikasi, dan file perangkat dengan cara memantau, melakukan pemindaian rutin, dan memverifikasi integritas file tersebu.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a:p>
            <a:pPr indent="-367188" lvl="0" marL="457200" rtl="0" algn="l">
              <a:lnSpc>
                <a:spcPct val="80000"/>
              </a:lnSpc>
              <a:spcBef>
                <a:spcPts val="0"/>
              </a:spcBef>
              <a:spcAft>
                <a:spcPts val="0"/>
              </a:spcAft>
              <a:buClr>
                <a:schemeClr val="dk1"/>
              </a:buClr>
              <a:buSzPts val="2183"/>
              <a:buFont typeface="Archivo Medium"/>
              <a:buAutoNum type="arabicPeriod"/>
            </a:pPr>
            <a:r>
              <a:rPr lang="en-US" sz="2182">
                <a:solidFill>
                  <a:schemeClr val="dk1"/>
                </a:solidFill>
                <a:latin typeface="Archivo Medium"/>
                <a:ea typeface="Archivo Medium"/>
                <a:cs typeface="Archivo Medium"/>
                <a:sym typeface="Archivo Medium"/>
              </a:rPr>
              <a:t>Change Management</a:t>
            </a:r>
            <a:endParaRPr sz="2182">
              <a:solidFill>
                <a:schemeClr val="dk1"/>
              </a:solidFill>
              <a:latin typeface="Archivo Medium"/>
              <a:ea typeface="Archivo Medium"/>
              <a:cs typeface="Archivo Medium"/>
              <a:sym typeface="Archivo Medium"/>
            </a:endParaRPr>
          </a:p>
          <a:p>
            <a:pPr indent="-367188" lvl="0" marL="457200" rtl="0" algn="l">
              <a:lnSpc>
                <a:spcPct val="80000"/>
              </a:lnSpc>
              <a:spcBef>
                <a:spcPts val="0"/>
              </a:spcBef>
              <a:spcAft>
                <a:spcPts val="0"/>
              </a:spcAft>
              <a:buClr>
                <a:schemeClr val="dk1"/>
              </a:buClr>
              <a:buSzPts val="2183"/>
              <a:buFont typeface="Archivo Medium"/>
              <a:buAutoNum type="arabicPeriod"/>
            </a:pPr>
            <a:r>
              <a:rPr lang="en-US" sz="2182">
                <a:solidFill>
                  <a:schemeClr val="dk1"/>
                </a:solidFill>
                <a:latin typeface="Archivo Medium"/>
                <a:ea typeface="Archivo Medium"/>
                <a:cs typeface="Archivo Medium"/>
                <a:sym typeface="Archivo Medium"/>
              </a:rPr>
              <a:t>Threat Detection and Response</a:t>
            </a:r>
            <a:endParaRPr sz="2182">
              <a:solidFill>
                <a:schemeClr val="dk1"/>
              </a:solidFill>
              <a:latin typeface="Archivo Medium"/>
              <a:ea typeface="Archivo Medium"/>
              <a:cs typeface="Archivo Medium"/>
              <a:sym typeface="Archivo Medium"/>
            </a:endParaRPr>
          </a:p>
          <a:p>
            <a:pPr indent="-367188" lvl="0" marL="457200" rtl="0" algn="l">
              <a:lnSpc>
                <a:spcPct val="80000"/>
              </a:lnSpc>
              <a:spcBef>
                <a:spcPts val="0"/>
              </a:spcBef>
              <a:spcAft>
                <a:spcPts val="0"/>
              </a:spcAft>
              <a:buClr>
                <a:schemeClr val="dk1"/>
              </a:buClr>
              <a:buSzPts val="2183"/>
              <a:buFont typeface="Archivo Medium"/>
              <a:buAutoNum type="arabicPeriod"/>
            </a:pPr>
            <a:r>
              <a:rPr lang="en-US" sz="2182">
                <a:solidFill>
                  <a:schemeClr val="dk1"/>
                </a:solidFill>
                <a:latin typeface="Archivo Medium"/>
                <a:ea typeface="Archivo Medium"/>
                <a:cs typeface="Archivo Medium"/>
                <a:sym typeface="Archivo Medium"/>
              </a:rPr>
              <a:t>Regulatory Compliance</a:t>
            </a:r>
            <a:endParaRPr sz="21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7" name="Shape 3527"/>
        <p:cNvGrpSpPr/>
        <p:nvPr/>
      </p:nvGrpSpPr>
      <p:grpSpPr>
        <a:xfrm>
          <a:off x="0" y="0"/>
          <a:ext cx="0" cy="0"/>
          <a:chOff x="0" y="0"/>
          <a:chExt cx="0" cy="0"/>
        </a:xfrm>
      </p:grpSpPr>
      <p:sp>
        <p:nvSpPr>
          <p:cNvPr id="3528" name="Google Shape;3528;p263"/>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File Integrity Monitoring</a:t>
            </a:r>
            <a:endParaRPr b="1" i="0" sz="3600" u="none" cap="none" strike="noStrike">
              <a:solidFill>
                <a:srgbClr val="6D9EEB"/>
              </a:solidFill>
              <a:latin typeface="Poppins"/>
              <a:ea typeface="Poppins"/>
              <a:cs typeface="Poppins"/>
              <a:sym typeface="Poppins"/>
            </a:endParaRPr>
          </a:p>
        </p:txBody>
      </p:sp>
      <p:cxnSp>
        <p:nvCxnSpPr>
          <p:cNvPr id="3529" name="Google Shape;3529;p26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530" name="Google Shape;3530;p26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531" name="Google Shape;3531;p26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532" name="Google Shape;3532;p26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533" name="Google Shape;3533;p26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534" name="Google Shape;3534;p26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535" name="Google Shape;3535;p26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536" name="Google Shape;3536;p263"/>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537" name="Google Shape;3537;p263"/>
          <p:cNvSpPr txBox="1"/>
          <p:nvPr/>
        </p:nvSpPr>
        <p:spPr>
          <a:xfrm>
            <a:off x="1000925" y="1650025"/>
            <a:ext cx="99720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100">
                <a:solidFill>
                  <a:schemeClr val="dk1"/>
                </a:solidFill>
                <a:latin typeface="Archivo Medium"/>
                <a:ea typeface="Archivo Medium"/>
                <a:cs typeface="Archivo Medium"/>
                <a:sym typeface="Archivo Medium"/>
              </a:rPr>
              <a:t>Syscheck adalah komponen file integrity monitoring (FIM) dari Wazuh. Komponen ini mendeteksi perubahan pada file dan direktori dengan memantau atribut-atributnya, seperti ukuran, izin akses, atau isi file. Syscheck dapat dikonfigurasi untuk melakukan pemantauan secara real-time, menghasilkan laporan perubahan file, dan mengumpulkan metadata tambahan seperti "who-data" (yaitu informasi pengguna yang melakukan perubahan)</a:t>
            </a:r>
            <a:endParaRPr sz="21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1" name="Shape 3541"/>
        <p:cNvGrpSpPr/>
        <p:nvPr/>
      </p:nvGrpSpPr>
      <p:grpSpPr>
        <a:xfrm>
          <a:off x="0" y="0"/>
          <a:ext cx="0" cy="0"/>
          <a:chOff x="0" y="0"/>
          <a:chExt cx="0" cy="0"/>
        </a:xfrm>
      </p:grpSpPr>
      <p:sp>
        <p:nvSpPr>
          <p:cNvPr id="3542" name="Google Shape;3542;p264"/>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Syscheck Option</a:t>
            </a:r>
            <a:endParaRPr b="1" i="0" sz="3600" u="none" cap="none" strike="noStrike">
              <a:solidFill>
                <a:srgbClr val="6D9EEB"/>
              </a:solidFill>
              <a:latin typeface="Poppins"/>
              <a:ea typeface="Poppins"/>
              <a:cs typeface="Poppins"/>
              <a:sym typeface="Poppins"/>
            </a:endParaRPr>
          </a:p>
        </p:txBody>
      </p:sp>
      <p:cxnSp>
        <p:nvCxnSpPr>
          <p:cNvPr id="3543" name="Google Shape;3543;p26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544" name="Google Shape;3544;p26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545" name="Google Shape;3545;p26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546" name="Google Shape;3546;p26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547" name="Google Shape;3547;p26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548" name="Google Shape;3548;p26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549" name="Google Shape;3549;p26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550" name="Google Shape;3550;p264"/>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551" name="Google Shape;3551;p264"/>
          <p:cNvSpPr txBox="1"/>
          <p:nvPr/>
        </p:nvSpPr>
        <p:spPr>
          <a:xfrm>
            <a:off x="1000925" y="1650025"/>
            <a:ext cx="99720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pic>
        <p:nvPicPr>
          <p:cNvPr id="3552" name="Google Shape;3552;p264"/>
          <p:cNvPicPr preferRelativeResize="0"/>
          <p:nvPr/>
        </p:nvPicPr>
        <p:blipFill>
          <a:blip r:embed="rId6">
            <a:alphaModFix/>
          </a:blip>
          <a:stretch>
            <a:fillRect/>
          </a:stretch>
        </p:blipFill>
        <p:spPr>
          <a:xfrm>
            <a:off x="2697824" y="1526350"/>
            <a:ext cx="6203451" cy="4331200"/>
          </a:xfrm>
          <a:prstGeom prst="rect">
            <a:avLst/>
          </a:prstGeom>
          <a:noFill/>
          <a:ln>
            <a:noFill/>
          </a:ln>
        </p:spPr>
      </p:pic>
    </p:spTree>
  </p:cSld>
  <p:clrMapOvr>
    <a:masterClrMapping/>
  </p:clrMapOvr>
  <p:transition spd="slow">
    <p:fade thruBlk="1"/>
  </p:transition>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6" name="Shape 3556"/>
        <p:cNvGrpSpPr/>
        <p:nvPr/>
      </p:nvGrpSpPr>
      <p:grpSpPr>
        <a:xfrm>
          <a:off x="0" y="0"/>
          <a:ext cx="0" cy="0"/>
          <a:chOff x="0" y="0"/>
          <a:chExt cx="0" cy="0"/>
        </a:xfrm>
      </p:grpSpPr>
      <p:sp>
        <p:nvSpPr>
          <p:cNvPr id="3557" name="Google Shape;3557;p265"/>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File Integrity </a:t>
            </a:r>
            <a:r>
              <a:rPr b="1" lang="en-US" sz="3600">
                <a:solidFill>
                  <a:srgbClr val="6D9EEB"/>
                </a:solidFill>
                <a:latin typeface="Poppins"/>
                <a:ea typeface="Poppins"/>
                <a:cs typeface="Poppins"/>
                <a:sym typeface="Poppins"/>
              </a:rPr>
              <a:t>Monitoring</a:t>
            </a:r>
            <a:endParaRPr b="1" i="0" sz="3600" u="none" cap="none" strike="noStrike">
              <a:solidFill>
                <a:srgbClr val="6D9EEB"/>
              </a:solidFill>
              <a:latin typeface="Poppins"/>
              <a:ea typeface="Poppins"/>
              <a:cs typeface="Poppins"/>
              <a:sym typeface="Poppins"/>
            </a:endParaRPr>
          </a:p>
        </p:txBody>
      </p:sp>
      <p:cxnSp>
        <p:nvCxnSpPr>
          <p:cNvPr id="3558" name="Google Shape;3558;p26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559" name="Google Shape;3559;p26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560" name="Google Shape;3560;p26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561" name="Google Shape;3561;p26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562" name="Google Shape;3562;p26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563" name="Google Shape;3563;p26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564" name="Google Shape;3564;p26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565" name="Google Shape;3565;p265"/>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566" name="Google Shape;3566;p265"/>
          <p:cNvSpPr txBox="1"/>
          <p:nvPr/>
        </p:nvSpPr>
        <p:spPr>
          <a:xfrm>
            <a:off x="1000925" y="1650025"/>
            <a:ext cx="99099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Modul FIM menjalankan pemindaian berkala pada jalur (path) tertentu dan memantau direktori tertentu untuk perubahan secara real-time. Kamu dapat menentukan jalur mana yang ingin dipantau melalui konfigurasi pada Wazuh agent dan Wazuh manager.</a:t>
            </a:r>
            <a:endParaRPr sz="1982">
              <a:solidFill>
                <a:schemeClr val="dk1"/>
              </a:solidFill>
              <a:latin typeface="Archivo Medium"/>
              <a:ea typeface="Archivo Medium"/>
              <a:cs typeface="Archivo Medium"/>
              <a:sym typeface="Archivo Medium"/>
            </a:endParaRPr>
          </a:p>
        </p:txBody>
      </p:sp>
      <p:pic>
        <p:nvPicPr>
          <p:cNvPr id="3567" name="Google Shape;3567;p265"/>
          <p:cNvPicPr preferRelativeResize="0"/>
          <p:nvPr/>
        </p:nvPicPr>
        <p:blipFill>
          <a:blip r:embed="rId6">
            <a:alphaModFix/>
          </a:blip>
          <a:stretch>
            <a:fillRect/>
          </a:stretch>
        </p:blipFill>
        <p:spPr>
          <a:xfrm>
            <a:off x="1929100" y="3026454"/>
            <a:ext cx="8218027" cy="2991549"/>
          </a:xfrm>
          <a:prstGeom prst="rect">
            <a:avLst/>
          </a:prstGeom>
          <a:noFill/>
          <a:ln>
            <a:noFill/>
          </a:ln>
          <a:effectLst>
            <a:outerShdw blurRad="57150" rotWithShape="0" algn="bl" dir="9600000" dist="19050">
              <a:srgbClr val="000000">
                <a:alpha val="80000"/>
              </a:srgbClr>
            </a:outerShdw>
          </a:effectLst>
        </p:spPr>
      </p:pic>
    </p:spTree>
  </p:cSld>
  <p:clrMapOvr>
    <a:masterClrMapping/>
  </p:clrMapOvr>
  <p:transition spd="slow">
    <p:fade thruBlk="1"/>
  </p:transition>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1" name="Shape 3571"/>
        <p:cNvGrpSpPr/>
        <p:nvPr/>
      </p:nvGrpSpPr>
      <p:grpSpPr>
        <a:xfrm>
          <a:off x="0" y="0"/>
          <a:ext cx="0" cy="0"/>
          <a:chOff x="0" y="0"/>
          <a:chExt cx="0" cy="0"/>
        </a:xfrm>
      </p:grpSpPr>
      <p:sp>
        <p:nvSpPr>
          <p:cNvPr id="3572" name="Google Shape;3572;p266"/>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File Integrity </a:t>
            </a:r>
            <a:r>
              <a:rPr b="1" lang="en-US" sz="3600">
                <a:solidFill>
                  <a:srgbClr val="6D9EEB"/>
                </a:solidFill>
                <a:latin typeface="Poppins"/>
                <a:ea typeface="Poppins"/>
                <a:cs typeface="Poppins"/>
                <a:sym typeface="Poppins"/>
              </a:rPr>
              <a:t>Monitoring</a:t>
            </a:r>
            <a:endParaRPr b="1" i="0" sz="3600" u="none" cap="none" strike="noStrike">
              <a:solidFill>
                <a:srgbClr val="6D9EEB"/>
              </a:solidFill>
              <a:latin typeface="Poppins"/>
              <a:ea typeface="Poppins"/>
              <a:cs typeface="Poppins"/>
              <a:sym typeface="Poppins"/>
            </a:endParaRPr>
          </a:p>
        </p:txBody>
      </p:sp>
      <p:cxnSp>
        <p:nvCxnSpPr>
          <p:cNvPr id="3573" name="Google Shape;3573;p26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574" name="Google Shape;3574;p26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575" name="Google Shape;3575;p26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576" name="Google Shape;3576;p26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577" name="Google Shape;3577;p26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578" name="Google Shape;3578;p26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579" name="Google Shape;3579;p26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580" name="Google Shape;3580;p266"/>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581" name="Google Shape;3581;p266"/>
          <p:cNvSpPr txBox="1"/>
          <p:nvPr/>
        </p:nvSpPr>
        <p:spPr>
          <a:xfrm>
            <a:off x="1000925" y="1730050"/>
            <a:ext cx="100716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b="1" lang="en-US" sz="1982">
                <a:solidFill>
                  <a:schemeClr val="dk1"/>
                </a:solidFill>
                <a:latin typeface="Archivo"/>
                <a:ea typeface="Archivo"/>
                <a:cs typeface="Archivo"/>
                <a:sym typeface="Archivo"/>
              </a:rPr>
              <a:t>Memicu peringatan ketika izin eksekusi ditambahkan ke sebuah skrip</a:t>
            </a:r>
            <a:endParaRPr b="1" sz="1982">
              <a:solidFill>
                <a:schemeClr val="dk1"/>
              </a:solidFill>
              <a:latin typeface="Archivo"/>
              <a:ea typeface="Archivo"/>
              <a:cs typeface="Archivo"/>
              <a:sym typeface="Archivo"/>
            </a:endParaRPr>
          </a:p>
          <a:p>
            <a:pPr indent="0" lvl="0" marL="0" rtl="0" algn="l">
              <a:lnSpc>
                <a:spcPct val="80000"/>
              </a:lnSpc>
              <a:spcBef>
                <a:spcPts val="0"/>
              </a:spcBef>
              <a:spcAft>
                <a:spcPts val="0"/>
              </a:spcAft>
              <a:buClr>
                <a:schemeClr val="dk1"/>
              </a:buClr>
              <a:buSzPts val="1100"/>
              <a:buFont typeface="Arial"/>
              <a:buNone/>
            </a:pPr>
            <a:r>
              <a:t/>
            </a:r>
            <a:endParaRPr b="1" sz="1982">
              <a:solidFill>
                <a:schemeClr val="dk1"/>
              </a:solidFill>
              <a:latin typeface="Archivo"/>
              <a:ea typeface="Archivo"/>
              <a:cs typeface="Archivo"/>
              <a:sym typeface="Archivo"/>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Jika sebuah skrip mengandung kode berbahaya, seperti perintah untuk menghapus atau memodifikasi file atau data penting, maka eksekusi dari kode tersebut dapat menyebabkan kerusakan serius atau kehilangan data.</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582" name="Google Shape;3582;p266"/>
          <p:cNvSpPr txBox="1"/>
          <p:nvPr/>
        </p:nvSpPr>
        <p:spPr>
          <a:xfrm>
            <a:off x="554275" y="3006100"/>
            <a:ext cx="50670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&lt;group name="syscheck"&gt;</a:t>
            </a:r>
            <a:endParaRPr/>
          </a:p>
          <a:p>
            <a:pPr indent="0" lvl="0" marL="0" rtl="0" algn="l">
              <a:spcBef>
                <a:spcPts val="0"/>
              </a:spcBef>
              <a:spcAft>
                <a:spcPts val="0"/>
              </a:spcAft>
              <a:buNone/>
            </a:pPr>
            <a:r>
              <a:rPr lang="en-US"/>
              <a:t>  &lt;rule id="100002" level="8"&gt;</a:t>
            </a:r>
            <a:endParaRPr/>
          </a:p>
          <a:p>
            <a:pPr indent="0" lvl="0" marL="0" rtl="0" algn="l">
              <a:spcBef>
                <a:spcPts val="0"/>
              </a:spcBef>
              <a:spcAft>
                <a:spcPts val="0"/>
              </a:spcAft>
              <a:buNone/>
            </a:pPr>
            <a:r>
              <a:rPr lang="en-US"/>
              <a:t>    &lt;if_sid&gt;550&lt;/if_sid&gt;</a:t>
            </a:r>
            <a:endParaRPr/>
          </a:p>
          <a:p>
            <a:pPr indent="0" lvl="0" marL="0" rtl="0" algn="l">
              <a:spcBef>
                <a:spcPts val="0"/>
              </a:spcBef>
              <a:spcAft>
                <a:spcPts val="0"/>
              </a:spcAft>
              <a:buNone/>
            </a:pPr>
            <a:r>
              <a:rPr lang="en-US"/>
              <a:t>    &lt;field name="file"&gt;.sh$&lt;/field&gt;</a:t>
            </a:r>
            <a:endParaRPr/>
          </a:p>
          <a:p>
            <a:pPr indent="0" lvl="0" marL="0" rtl="0" algn="l">
              <a:spcBef>
                <a:spcPts val="0"/>
              </a:spcBef>
              <a:spcAft>
                <a:spcPts val="0"/>
              </a:spcAft>
              <a:buNone/>
            </a:pPr>
            <a:r>
              <a:rPr lang="en-US"/>
              <a:t>    &lt;field name="changed_fields"&gt;^permission$&lt;/field&gt;</a:t>
            </a:r>
            <a:endParaRPr/>
          </a:p>
          <a:p>
            <a:pPr indent="0" lvl="0" marL="0" rtl="0" algn="l">
              <a:spcBef>
                <a:spcPts val="0"/>
              </a:spcBef>
              <a:spcAft>
                <a:spcPts val="0"/>
              </a:spcAft>
              <a:buNone/>
            </a:pPr>
            <a:r>
              <a:rPr lang="en-US"/>
              <a:t>    &lt;field name="perm" type="pcre2"&gt;\w\wx&lt;/field&gt;</a:t>
            </a:r>
            <a:endParaRPr/>
          </a:p>
          <a:p>
            <a:pPr indent="0" lvl="0" marL="0" rtl="0" algn="l">
              <a:spcBef>
                <a:spcPts val="0"/>
              </a:spcBef>
              <a:spcAft>
                <a:spcPts val="0"/>
              </a:spcAft>
              <a:buNone/>
            </a:pPr>
            <a:r>
              <a:rPr lang="en-US"/>
              <a:t>    &lt;description&gt;Execute permission added to shell script.&lt;/description&gt;</a:t>
            </a:r>
            <a:endParaRPr/>
          </a:p>
          <a:p>
            <a:pPr indent="0" lvl="0" marL="0" rtl="0" algn="l">
              <a:spcBef>
                <a:spcPts val="0"/>
              </a:spcBef>
              <a:spcAft>
                <a:spcPts val="0"/>
              </a:spcAft>
              <a:buNone/>
            </a:pPr>
            <a:r>
              <a:rPr lang="en-US"/>
              <a:t>    &lt;mitre&gt;</a:t>
            </a:r>
            <a:endParaRPr/>
          </a:p>
          <a:p>
            <a:pPr indent="0" lvl="0" marL="0" rtl="0" algn="l">
              <a:spcBef>
                <a:spcPts val="0"/>
              </a:spcBef>
              <a:spcAft>
                <a:spcPts val="0"/>
              </a:spcAft>
              <a:buNone/>
            </a:pPr>
            <a:r>
              <a:rPr lang="en-US"/>
              <a:t>      &lt;id&gt;T1222.002&lt;/id&gt;</a:t>
            </a:r>
            <a:endParaRPr/>
          </a:p>
          <a:p>
            <a:pPr indent="0" lvl="0" marL="0" rtl="0" algn="l">
              <a:spcBef>
                <a:spcPts val="0"/>
              </a:spcBef>
              <a:spcAft>
                <a:spcPts val="0"/>
              </a:spcAft>
              <a:buNone/>
            </a:pPr>
            <a:r>
              <a:rPr lang="en-US"/>
              <a:t>    &lt;/mitre&gt;</a:t>
            </a:r>
            <a:endParaRPr/>
          </a:p>
          <a:p>
            <a:pPr indent="0" lvl="0" marL="0" rtl="0" algn="l">
              <a:spcBef>
                <a:spcPts val="0"/>
              </a:spcBef>
              <a:spcAft>
                <a:spcPts val="0"/>
              </a:spcAft>
              <a:buNone/>
            </a:pPr>
            <a:r>
              <a:rPr lang="en-US"/>
              <a:t>  &lt;/rule&gt;</a:t>
            </a:r>
            <a:endParaRPr/>
          </a:p>
          <a:p>
            <a:pPr indent="0" lvl="0" marL="0" rtl="0" algn="l">
              <a:spcBef>
                <a:spcPts val="0"/>
              </a:spcBef>
              <a:spcAft>
                <a:spcPts val="0"/>
              </a:spcAft>
              <a:buNone/>
            </a:pPr>
            <a:r>
              <a:rPr lang="en-US"/>
              <a:t>&lt;/group&gt;</a:t>
            </a:r>
            <a:endParaRPr/>
          </a:p>
        </p:txBody>
      </p:sp>
      <p:sp>
        <p:nvSpPr>
          <p:cNvPr id="3583" name="Google Shape;3583;p266"/>
          <p:cNvSpPr txBox="1"/>
          <p:nvPr/>
        </p:nvSpPr>
        <p:spPr>
          <a:xfrm>
            <a:off x="7549900" y="3277950"/>
            <a:ext cx="3446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&lt;syscheck&gt;</a:t>
            </a:r>
            <a:endParaRPr/>
          </a:p>
          <a:p>
            <a:pPr indent="0" lvl="0" marL="0" rtl="0" algn="l">
              <a:spcBef>
                <a:spcPts val="0"/>
              </a:spcBef>
              <a:spcAft>
                <a:spcPts val="0"/>
              </a:spcAft>
              <a:buNone/>
            </a:pPr>
            <a:r>
              <a:rPr lang="en-US"/>
              <a:t>   &lt;directories realtime="yes"&gt;/specialdir3&lt;/directories&gt;</a:t>
            </a:r>
            <a:endParaRPr/>
          </a:p>
          <a:p>
            <a:pPr indent="0" lvl="0" marL="0" rtl="0" algn="l">
              <a:spcBef>
                <a:spcPts val="0"/>
              </a:spcBef>
              <a:spcAft>
                <a:spcPts val="0"/>
              </a:spcAft>
              <a:buNone/>
            </a:pPr>
            <a:r>
              <a:rPr lang="en-US"/>
              <a:t>&lt;/syscheck&gt;</a:t>
            </a:r>
            <a:endParaRPr/>
          </a:p>
        </p:txBody>
      </p:sp>
      <p:sp>
        <p:nvSpPr>
          <p:cNvPr id="3584" name="Google Shape;3584;p266"/>
          <p:cNvSpPr txBox="1"/>
          <p:nvPr/>
        </p:nvSpPr>
        <p:spPr>
          <a:xfrm>
            <a:off x="7687750" y="49358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touch /specialdir3/fim.sh</a:t>
            </a:r>
            <a:endParaRPr/>
          </a:p>
          <a:p>
            <a:pPr indent="0" lvl="0" marL="0" rtl="0" algn="l">
              <a:spcBef>
                <a:spcPts val="0"/>
              </a:spcBef>
              <a:spcAft>
                <a:spcPts val="0"/>
              </a:spcAft>
              <a:buNone/>
            </a:pPr>
            <a:r>
              <a:rPr lang="en-US"/>
              <a:t>chmod +x /specialdir3/fim.sh</a:t>
            </a:r>
            <a:endParaRPr/>
          </a:p>
        </p:txBody>
      </p:sp>
      <p:cxnSp>
        <p:nvCxnSpPr>
          <p:cNvPr id="3585" name="Google Shape;3585;p266"/>
          <p:cNvCxnSpPr>
            <a:stCxn id="3582" idx="3"/>
            <a:endCxn id="3583" idx="1"/>
          </p:cNvCxnSpPr>
          <p:nvPr/>
        </p:nvCxnSpPr>
        <p:spPr>
          <a:xfrm flipH="1" rot="10800000">
            <a:off x="5621275" y="3801400"/>
            <a:ext cx="1928700" cy="697800"/>
          </a:xfrm>
          <a:prstGeom prst="curvedConnector3">
            <a:avLst>
              <a:gd fmla="val 49998" name="adj1"/>
            </a:avLst>
          </a:prstGeom>
          <a:noFill/>
          <a:ln cap="flat" cmpd="sng" w="28575">
            <a:solidFill>
              <a:srgbClr val="FF0000"/>
            </a:solidFill>
            <a:prstDash val="solid"/>
            <a:round/>
            <a:headEnd len="med" w="med" type="none"/>
            <a:tailEnd len="med" w="med" type="stealth"/>
          </a:ln>
        </p:spPr>
      </p:cxnSp>
      <p:cxnSp>
        <p:nvCxnSpPr>
          <p:cNvPr id="3586" name="Google Shape;3586;p266"/>
          <p:cNvCxnSpPr>
            <a:stCxn id="3583" idx="2"/>
            <a:endCxn id="3584" idx="0"/>
          </p:cNvCxnSpPr>
          <p:nvPr/>
        </p:nvCxnSpPr>
        <p:spPr>
          <a:xfrm rot="5400000">
            <a:off x="8924800" y="4587600"/>
            <a:ext cx="611100" cy="85200"/>
          </a:xfrm>
          <a:prstGeom prst="curvedConnector3">
            <a:avLst>
              <a:gd fmla="val 50008" name="adj1"/>
            </a:avLst>
          </a:prstGeom>
          <a:noFill/>
          <a:ln cap="flat" cmpd="sng" w="28575">
            <a:solidFill>
              <a:srgbClr val="FF0000"/>
            </a:solidFill>
            <a:prstDash val="solid"/>
            <a:round/>
            <a:headEnd len="med" w="med" type="none"/>
            <a:tailEnd len="med" w="med" type="stealth"/>
          </a:ln>
        </p:spPr>
      </p:cxnSp>
    </p:spTree>
  </p:cSld>
  <p:clrMapOvr>
    <a:masterClrMapping/>
  </p:clrMapOvr>
  <p:transition spd="slow">
    <p:fade thruBlk="1"/>
  </p:transition>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0" name="Shape 3590"/>
        <p:cNvGrpSpPr/>
        <p:nvPr/>
      </p:nvGrpSpPr>
      <p:grpSpPr>
        <a:xfrm>
          <a:off x="0" y="0"/>
          <a:ext cx="0" cy="0"/>
          <a:chOff x="0" y="0"/>
          <a:chExt cx="0" cy="0"/>
        </a:xfrm>
      </p:grpSpPr>
      <p:sp>
        <p:nvSpPr>
          <p:cNvPr id="3591" name="Google Shape;3591;p267"/>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File Integrity </a:t>
            </a:r>
            <a:r>
              <a:rPr b="1" lang="en-US" sz="3600">
                <a:solidFill>
                  <a:srgbClr val="6D9EEB"/>
                </a:solidFill>
                <a:latin typeface="Poppins"/>
                <a:ea typeface="Poppins"/>
                <a:cs typeface="Poppins"/>
                <a:sym typeface="Poppins"/>
              </a:rPr>
              <a:t>Monitoring ( Who-data )</a:t>
            </a:r>
            <a:endParaRPr b="1" i="0" sz="3600" u="none" cap="none" strike="noStrike">
              <a:solidFill>
                <a:srgbClr val="6D9EEB"/>
              </a:solidFill>
              <a:latin typeface="Poppins"/>
              <a:ea typeface="Poppins"/>
              <a:cs typeface="Poppins"/>
              <a:sym typeface="Poppins"/>
            </a:endParaRPr>
          </a:p>
        </p:txBody>
      </p:sp>
      <p:cxnSp>
        <p:nvCxnSpPr>
          <p:cNvPr id="3592" name="Google Shape;3592;p26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593" name="Google Shape;3593;p26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594" name="Google Shape;3594;p26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595" name="Google Shape;3595;p26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596" name="Google Shape;3596;p26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597" name="Google Shape;3597;p26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598" name="Google Shape;3598;p26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599" name="Google Shape;3599;p267"/>
          <p:cNvSpPr txBox="1"/>
          <p:nvPr/>
        </p:nvSpPr>
        <p:spPr>
          <a:xfrm>
            <a:off x="1000925" y="1730050"/>
            <a:ext cx="100716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Pengumpulan who-data mencatat pengguna yang melakukan perubahan pada file, yang sangat berguna untuk keperluan audit dan kepatuhan (compliance).</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sudo nano /var/ossec/etc/ossec.conf</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&lt;syscheck&gt;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&lt;directories realtime="yes" whodata="yes"&gt;/etc&lt;/directories&gt;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&lt;directories realtime="yes" whodata="yes"&gt;/var/www/html&lt;/directories&gt;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&lt;/syscheck&gt;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3" name="Shape 3603"/>
        <p:cNvGrpSpPr/>
        <p:nvPr/>
      </p:nvGrpSpPr>
      <p:grpSpPr>
        <a:xfrm>
          <a:off x="0" y="0"/>
          <a:ext cx="0" cy="0"/>
          <a:chOff x="0" y="0"/>
          <a:chExt cx="0" cy="0"/>
        </a:xfrm>
      </p:grpSpPr>
      <p:sp>
        <p:nvSpPr>
          <p:cNvPr id="3604" name="Google Shape;3604;p268"/>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File Integrity Monitoring ( </a:t>
            </a:r>
            <a:r>
              <a:rPr b="1" lang="en-US" sz="3600">
                <a:solidFill>
                  <a:srgbClr val="6D9EEB"/>
                </a:solidFill>
                <a:latin typeface="Poppins"/>
                <a:ea typeface="Poppins"/>
                <a:cs typeface="Poppins"/>
                <a:sym typeface="Poppins"/>
              </a:rPr>
              <a:t>Change Diff</a:t>
            </a:r>
            <a:r>
              <a:rPr b="1" lang="en-US" sz="3600">
                <a:solidFill>
                  <a:srgbClr val="6D9EEB"/>
                </a:solidFill>
                <a:latin typeface="Poppins"/>
                <a:ea typeface="Poppins"/>
                <a:cs typeface="Poppins"/>
                <a:sym typeface="Poppins"/>
              </a:rPr>
              <a:t> )</a:t>
            </a:r>
            <a:endParaRPr b="1" i="0" sz="3600" u="none" cap="none" strike="noStrike">
              <a:solidFill>
                <a:srgbClr val="6D9EEB"/>
              </a:solidFill>
              <a:latin typeface="Poppins"/>
              <a:ea typeface="Poppins"/>
              <a:cs typeface="Poppins"/>
              <a:sym typeface="Poppins"/>
            </a:endParaRPr>
          </a:p>
        </p:txBody>
      </p:sp>
      <p:cxnSp>
        <p:nvCxnSpPr>
          <p:cNvPr id="3605" name="Google Shape;3605;p26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606" name="Google Shape;3606;p26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607" name="Google Shape;3607;p26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608" name="Google Shape;3608;p26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609" name="Google Shape;3609;p26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610" name="Google Shape;3610;p26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611" name="Google Shape;3611;p26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612" name="Google Shape;3612;p268"/>
          <p:cNvSpPr txBox="1"/>
          <p:nvPr/>
        </p:nvSpPr>
        <p:spPr>
          <a:xfrm>
            <a:off x="1000925" y="1730050"/>
            <a:ext cx="100716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Diff reporting memungkinkan Wazuh untuk melaporkan perbedaan nyata antara isi file asli dan isi file yang telah dimodifikasi</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sudo nano /var/ossec/etc/ossec.conf</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&lt;syscheck&gt;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&lt;directories realtime="yes" report_changes="yes"&gt;/etc&lt;/directories&gt;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&lt;directories realtime="yes" report_changes="yes"&gt;/var/www/html&lt;/directories&gt;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&lt;/syscheck&gt;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6" name="Shape 3616"/>
        <p:cNvGrpSpPr/>
        <p:nvPr/>
      </p:nvGrpSpPr>
      <p:grpSpPr>
        <a:xfrm>
          <a:off x="0" y="0"/>
          <a:ext cx="0" cy="0"/>
          <a:chOff x="0" y="0"/>
          <a:chExt cx="0" cy="0"/>
        </a:xfrm>
      </p:grpSpPr>
      <p:sp>
        <p:nvSpPr>
          <p:cNvPr id="3617" name="Google Shape;3617;p269"/>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File Integrity Monitoring ( Ignore )</a:t>
            </a:r>
            <a:endParaRPr b="1" i="0" sz="3600" u="none" cap="none" strike="noStrike">
              <a:solidFill>
                <a:srgbClr val="6D9EEB"/>
              </a:solidFill>
              <a:latin typeface="Poppins"/>
              <a:ea typeface="Poppins"/>
              <a:cs typeface="Poppins"/>
              <a:sym typeface="Poppins"/>
            </a:endParaRPr>
          </a:p>
        </p:txBody>
      </p:sp>
      <p:cxnSp>
        <p:nvCxnSpPr>
          <p:cNvPr id="3618" name="Google Shape;3618;p26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619" name="Google Shape;3619;p26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620" name="Google Shape;3620;p26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621" name="Google Shape;3621;p26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622" name="Google Shape;3622;p26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623" name="Google Shape;3623;p2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624" name="Google Shape;3624;p26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625" name="Google Shape;3625;p269"/>
          <p:cNvSpPr txBox="1"/>
          <p:nvPr/>
        </p:nvSpPr>
        <p:spPr>
          <a:xfrm>
            <a:off x="603100" y="1423725"/>
            <a:ext cx="112254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Dalam beberapa kasus, mungkin terdapat file yang sering berubah (seperti file log atau file sementara), dan kamu tidak ingin Syscheck menghasilkan peringatan atas perubahan tersebut. Untuk mengecualikan file atau direktori ini dari pemantauan, kamu dapat menggunakan opsi </a:t>
            </a:r>
            <a:r>
              <a:rPr b="1" lang="en-US" sz="1900">
                <a:solidFill>
                  <a:schemeClr val="dk1"/>
                </a:solidFill>
                <a:latin typeface="Archivo"/>
                <a:ea typeface="Archivo"/>
                <a:cs typeface="Archivo"/>
                <a:sym typeface="Archivo"/>
              </a:rPr>
              <a:t>&lt;ignore&gt;</a:t>
            </a:r>
            <a:r>
              <a:rPr lang="en-US" sz="1900">
                <a:solidFill>
                  <a:schemeClr val="dk1"/>
                </a:solidFill>
                <a:latin typeface="Archivo Medium"/>
                <a:ea typeface="Archivo Medium"/>
                <a:cs typeface="Archivo Medium"/>
                <a:sym typeface="Archivo Medium"/>
              </a:rPr>
              <a:t>.</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100">
              <a:solidFill>
                <a:schemeClr val="dk1"/>
              </a:solidFill>
            </a:endParaRPr>
          </a:p>
          <a:p>
            <a:pPr indent="0" lvl="0" marL="0" rtl="0" algn="l">
              <a:lnSpc>
                <a:spcPct val="80000"/>
              </a:lnSpc>
              <a:spcBef>
                <a:spcPts val="0"/>
              </a:spcBef>
              <a:spcAft>
                <a:spcPts val="0"/>
              </a:spcAft>
              <a:buNone/>
            </a:pPr>
            <a:r>
              <a:t/>
            </a:r>
            <a:endParaRPr sz="1100">
              <a:solidFill>
                <a:schemeClr val="dk1"/>
              </a:solidFill>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sudo nano /var/ossec/etc/ossec.conf</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&lt;syscheck&gt;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&lt;directories realtime="yes"&gt;/etc&lt;/directories&gt;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&lt;directories realtime="yes"&gt;/var/www/html&lt;/directories&gt;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 Exclude certain directories or files --&gt;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&lt;ignore&gt;/var/log/*&lt;/ignore&gt;        &lt;!-- Ignore log files --&gt;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&lt;ignore&gt;/tmp/*&lt;/ignore&gt;            &lt;!-- Ignore temporary files --&gt;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&lt;ignore&gt;/var/www/html/cache/*&lt;/ignore&gt;  &lt;!-- Ignore cache files --&gt;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&lt;/syscheck&gt;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629" name="Shape 3629"/>
        <p:cNvGrpSpPr/>
        <p:nvPr/>
      </p:nvGrpSpPr>
      <p:grpSpPr>
        <a:xfrm>
          <a:off x="0" y="0"/>
          <a:ext cx="0" cy="0"/>
          <a:chOff x="0" y="0"/>
          <a:chExt cx="0" cy="0"/>
        </a:xfrm>
      </p:grpSpPr>
      <p:pic>
        <p:nvPicPr>
          <p:cNvPr descr="A picture containing food, drawing, shirt&#10;&#10;Description automatically generated" id="3630" name="Google Shape;3630;p27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631" name="Google Shape;3631;p27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32" name="Google Shape;3632;p27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633" name="Google Shape;3633;p270"/>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634" name="Google Shape;3634;p27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635" name="Google Shape;3635;p270"/>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636" name="Google Shape;3636;p270"/>
          <p:cNvSpPr txBox="1"/>
          <p:nvPr/>
        </p:nvSpPr>
        <p:spPr>
          <a:xfrm>
            <a:off x="1357489" y="3803851"/>
            <a:ext cx="9477000" cy="1800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700">
                <a:solidFill>
                  <a:schemeClr val="lt1"/>
                </a:solidFill>
                <a:highlight>
                  <a:srgbClr val="3585F9"/>
                </a:highlight>
                <a:latin typeface="Poppins"/>
                <a:ea typeface="Poppins"/>
                <a:cs typeface="Poppins"/>
                <a:sym typeface="Poppins"/>
              </a:rPr>
              <a:t>Lab: Set Up Comprehensive File Integrity Monitoring (FIM) on a Wazuh Agent</a:t>
            </a:r>
            <a:endParaRPr sz="3700">
              <a:solidFill>
                <a:schemeClr val="lt1"/>
              </a:solidFill>
              <a:highlight>
                <a:srgbClr val="3585F9"/>
              </a:highlight>
              <a:latin typeface="Poppins"/>
              <a:ea typeface="Poppins"/>
              <a:cs typeface="Poppins"/>
              <a:sym typeface="Poppins"/>
            </a:endParaRPr>
          </a:p>
        </p:txBody>
      </p:sp>
      <p:pic>
        <p:nvPicPr>
          <p:cNvPr id="3637" name="Google Shape;3637;p270"/>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1" name="Shape 3641"/>
        <p:cNvGrpSpPr/>
        <p:nvPr/>
      </p:nvGrpSpPr>
      <p:grpSpPr>
        <a:xfrm>
          <a:off x="0" y="0"/>
          <a:ext cx="0" cy="0"/>
          <a:chOff x="0" y="0"/>
          <a:chExt cx="0" cy="0"/>
        </a:xfrm>
      </p:grpSpPr>
      <p:sp>
        <p:nvSpPr>
          <p:cNvPr id="3642" name="Google Shape;3642;p271"/>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3643" name="Google Shape;3643;p27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644" name="Google Shape;3644;p27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645" name="Google Shape;3645;p27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646" name="Google Shape;3646;p27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647" name="Google Shape;3647;p27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648" name="Google Shape;3648;p27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649" name="Google Shape;3649;p27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650" name="Google Shape;3650;p271"/>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651" name="Google Shape;3651;p271"/>
          <p:cNvSpPr txBox="1"/>
          <p:nvPr/>
        </p:nvSpPr>
        <p:spPr>
          <a:xfrm>
            <a:off x="778700" y="1730050"/>
            <a:ext cx="102939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282">
                <a:solidFill>
                  <a:schemeClr val="dk1"/>
                </a:solidFill>
                <a:latin typeface="Archivo Medium"/>
                <a:ea typeface="Archivo Medium"/>
                <a:cs typeface="Archivo Medium"/>
                <a:sym typeface="Archivo Medium"/>
              </a:rPr>
              <a:t>Objective </a:t>
            </a:r>
            <a:endParaRPr sz="22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282">
              <a:solidFill>
                <a:schemeClr val="dk1"/>
              </a:solidFill>
              <a:latin typeface="Archivo Medium"/>
              <a:ea typeface="Archivo Medium"/>
              <a:cs typeface="Archivo Medium"/>
              <a:sym typeface="Archivo Medium"/>
            </a:endParaRPr>
          </a:p>
          <a:p>
            <a:pPr indent="-368300" lvl="0" marL="457200" rtl="0" algn="l">
              <a:lnSpc>
                <a:spcPct val="80000"/>
              </a:lnSpc>
              <a:spcBef>
                <a:spcPts val="0"/>
              </a:spcBef>
              <a:spcAft>
                <a:spcPts val="0"/>
              </a:spcAft>
              <a:buClr>
                <a:schemeClr val="dk1"/>
              </a:buClr>
              <a:buSzPts val="2200"/>
              <a:buFont typeface="Archivo Medium"/>
              <a:buChar char="●"/>
            </a:pPr>
            <a:r>
              <a:rPr lang="en-US" sz="2200">
                <a:solidFill>
                  <a:schemeClr val="dk1"/>
                </a:solidFill>
                <a:latin typeface="Archivo Medium"/>
                <a:ea typeface="Archivo Medium"/>
                <a:cs typeface="Archivo Medium"/>
                <a:sym typeface="Archivo Medium"/>
              </a:rPr>
              <a:t>Mengonfigurasi pemantauan FIM secara menyeluruh pada Wazuh agent.</a:t>
            </a:r>
            <a:endParaRPr sz="2200">
              <a:solidFill>
                <a:schemeClr val="dk1"/>
              </a:solidFill>
              <a:latin typeface="Archivo Medium"/>
              <a:ea typeface="Archivo Medium"/>
              <a:cs typeface="Archivo Medium"/>
              <a:sym typeface="Archivo Medium"/>
            </a:endParaRPr>
          </a:p>
          <a:p>
            <a:pPr indent="-368300" lvl="0" marL="457200" rtl="0" algn="l">
              <a:lnSpc>
                <a:spcPct val="80000"/>
              </a:lnSpc>
              <a:spcBef>
                <a:spcPts val="0"/>
              </a:spcBef>
              <a:spcAft>
                <a:spcPts val="0"/>
              </a:spcAft>
              <a:buClr>
                <a:schemeClr val="dk1"/>
              </a:buClr>
              <a:buSzPts val="2200"/>
              <a:buFont typeface="Archivo Medium"/>
              <a:buChar char="●"/>
            </a:pPr>
            <a:r>
              <a:rPr lang="en-US" sz="2200">
                <a:solidFill>
                  <a:schemeClr val="dk1"/>
                </a:solidFill>
                <a:latin typeface="Archivo Medium"/>
                <a:ea typeface="Archivo Medium"/>
                <a:cs typeface="Archivo Medium"/>
                <a:sym typeface="Archivo Medium"/>
              </a:rPr>
              <a:t>Mengaktifkan pemantauan real-time terhadap direktori dan file.</a:t>
            </a:r>
            <a:endParaRPr sz="2200">
              <a:solidFill>
                <a:schemeClr val="dk1"/>
              </a:solidFill>
              <a:latin typeface="Archivo Medium"/>
              <a:ea typeface="Archivo Medium"/>
              <a:cs typeface="Archivo Medium"/>
              <a:sym typeface="Archivo Medium"/>
            </a:endParaRPr>
          </a:p>
          <a:p>
            <a:pPr indent="-368300" lvl="0" marL="457200" rtl="0" algn="l">
              <a:lnSpc>
                <a:spcPct val="80000"/>
              </a:lnSpc>
              <a:spcBef>
                <a:spcPts val="0"/>
              </a:spcBef>
              <a:spcAft>
                <a:spcPts val="0"/>
              </a:spcAft>
              <a:buClr>
                <a:schemeClr val="dk1"/>
              </a:buClr>
              <a:buSzPts val="2200"/>
              <a:buFont typeface="Archivo Medium"/>
              <a:buChar char="●"/>
            </a:pPr>
            <a:r>
              <a:rPr lang="en-US" sz="2200">
                <a:solidFill>
                  <a:schemeClr val="dk1"/>
                </a:solidFill>
                <a:latin typeface="Archivo Medium"/>
                <a:ea typeface="Archivo Medium"/>
                <a:cs typeface="Archivo Medium"/>
                <a:sym typeface="Archivo Medium"/>
              </a:rPr>
              <a:t>Menyiapkan pengumpulan who-data dan pelaporan perbedaan (diff reporting).</a:t>
            </a:r>
            <a:endParaRPr sz="2200">
              <a:solidFill>
                <a:schemeClr val="dk1"/>
              </a:solidFill>
              <a:latin typeface="Archivo Medium"/>
              <a:ea typeface="Archivo Medium"/>
              <a:cs typeface="Archivo Medium"/>
              <a:sym typeface="Archivo Medium"/>
            </a:endParaRPr>
          </a:p>
          <a:p>
            <a:pPr indent="-368300" lvl="0" marL="457200" rtl="0" algn="l">
              <a:lnSpc>
                <a:spcPct val="80000"/>
              </a:lnSpc>
              <a:spcBef>
                <a:spcPts val="0"/>
              </a:spcBef>
              <a:spcAft>
                <a:spcPts val="0"/>
              </a:spcAft>
              <a:buClr>
                <a:schemeClr val="dk1"/>
              </a:buClr>
              <a:buSzPts val="2200"/>
              <a:buFont typeface="Archivo Medium"/>
              <a:buChar char="●"/>
            </a:pPr>
            <a:r>
              <a:rPr lang="en-US" sz="2200">
                <a:solidFill>
                  <a:schemeClr val="dk1"/>
                </a:solidFill>
                <a:latin typeface="Archivo Medium"/>
                <a:ea typeface="Archivo Medium"/>
                <a:cs typeface="Archivo Medium"/>
                <a:sym typeface="Archivo Medium"/>
              </a:rPr>
              <a:t>Melakukan perubahan pada file dan mengamati alert FIM yang muncul di Wazuh.</a:t>
            </a:r>
            <a:endParaRPr sz="2200">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22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2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5" name="Shape 3655"/>
        <p:cNvGrpSpPr/>
        <p:nvPr/>
      </p:nvGrpSpPr>
      <p:grpSpPr>
        <a:xfrm>
          <a:off x="0" y="0"/>
          <a:ext cx="0" cy="0"/>
          <a:chOff x="0" y="0"/>
          <a:chExt cx="0" cy="0"/>
        </a:xfrm>
      </p:grpSpPr>
      <p:sp>
        <p:nvSpPr>
          <p:cNvPr id="3656" name="Google Shape;3656;p272"/>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ossec</a:t>
            </a:r>
            <a:r>
              <a:rPr b="1" lang="en-US" sz="3600">
                <a:solidFill>
                  <a:srgbClr val="6D9EEB"/>
                </a:solidFill>
                <a:latin typeface="Poppins"/>
                <a:ea typeface="Poppins"/>
                <a:cs typeface="Poppins"/>
                <a:sym typeface="Poppins"/>
              </a:rPr>
              <a:t>.conf on agent</a:t>
            </a:r>
            <a:r>
              <a:rPr b="1" lang="en-US" sz="3600">
                <a:solidFill>
                  <a:srgbClr val="6D9EEB"/>
                </a:solidFill>
                <a:latin typeface="Poppins"/>
                <a:ea typeface="Poppins"/>
                <a:cs typeface="Poppins"/>
                <a:sym typeface="Poppins"/>
              </a:rPr>
              <a:t> </a:t>
            </a:r>
            <a:endParaRPr b="1" i="0" sz="3600" u="none" cap="none" strike="noStrike">
              <a:solidFill>
                <a:srgbClr val="6D9EEB"/>
              </a:solidFill>
              <a:latin typeface="Poppins"/>
              <a:ea typeface="Poppins"/>
              <a:cs typeface="Poppins"/>
              <a:sym typeface="Poppins"/>
            </a:endParaRPr>
          </a:p>
        </p:txBody>
      </p:sp>
      <p:cxnSp>
        <p:nvCxnSpPr>
          <p:cNvPr id="3657" name="Google Shape;3657;p27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658" name="Google Shape;3658;p27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659" name="Google Shape;3659;p27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660" name="Google Shape;3660;p27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661" name="Google Shape;3661;p27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662" name="Google Shape;3662;p27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663" name="Google Shape;3663;p27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664" name="Google Shape;3664;p272"/>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665" name="Google Shape;3665;p272"/>
          <p:cNvSpPr txBox="1"/>
          <p:nvPr/>
        </p:nvSpPr>
        <p:spPr>
          <a:xfrm>
            <a:off x="778700" y="1730050"/>
            <a:ext cx="102939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182">
                <a:solidFill>
                  <a:schemeClr val="dk1"/>
                </a:solidFill>
                <a:latin typeface="Archivo Medium"/>
                <a:ea typeface="Archivo Medium"/>
                <a:cs typeface="Archivo Medium"/>
                <a:sym typeface="Archivo Medium"/>
              </a:rPr>
              <a:t>nano /var/ossec/etc/ossec.conf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&lt;syscheck&gt;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&lt;!-- Monitor critical system directories --&gt;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&lt;directories realtime="yes" whodata="yes" report_changes="yes"&gt;/etc&lt;/directories&gt;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&lt;directories realtime="yes" whodata="yes" report_changes="yes"&gt;/var/www/html&lt;/directories&gt;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&lt;!-- Exclude log and temp files from monitoring --&gt;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&lt;ignore&gt;/var/log/*&lt;/ignore&gt;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&lt;ignore&gt;/tmp/*&lt;/ignore&gt;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&lt;/syscheck&gt;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9" name="Shape 3669"/>
        <p:cNvGrpSpPr/>
        <p:nvPr/>
      </p:nvGrpSpPr>
      <p:grpSpPr>
        <a:xfrm>
          <a:off x="0" y="0"/>
          <a:ext cx="0" cy="0"/>
          <a:chOff x="0" y="0"/>
          <a:chExt cx="0" cy="0"/>
        </a:xfrm>
      </p:grpSpPr>
      <p:sp>
        <p:nvSpPr>
          <p:cNvPr id="3670" name="Google Shape;3670;p273"/>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Testing </a:t>
            </a:r>
            <a:endParaRPr b="1" i="0" sz="3600" u="none" cap="none" strike="noStrike">
              <a:solidFill>
                <a:srgbClr val="6D9EEB"/>
              </a:solidFill>
              <a:latin typeface="Poppins"/>
              <a:ea typeface="Poppins"/>
              <a:cs typeface="Poppins"/>
              <a:sym typeface="Poppins"/>
            </a:endParaRPr>
          </a:p>
        </p:txBody>
      </p:sp>
      <p:cxnSp>
        <p:nvCxnSpPr>
          <p:cNvPr id="3671" name="Google Shape;3671;p27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672" name="Google Shape;3672;p27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673" name="Google Shape;3673;p27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674" name="Google Shape;3674;p27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675" name="Google Shape;3675;p27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676" name="Google Shape;3676;p27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677" name="Google Shape;3677;p27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678" name="Google Shape;3678;p273"/>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679" name="Google Shape;3679;p273"/>
          <p:cNvSpPr txBox="1"/>
          <p:nvPr/>
        </p:nvSpPr>
        <p:spPr>
          <a:xfrm>
            <a:off x="778700" y="1730050"/>
            <a:ext cx="102939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Archivo Medium"/>
                <a:ea typeface="Archivo Medium"/>
                <a:cs typeface="Archivo Medium"/>
                <a:sym typeface="Archivo Medium"/>
              </a:rPr>
              <a:t>sudo nano</a:t>
            </a:r>
            <a:r>
              <a:rPr lang="en-US" sz="2182">
                <a:solidFill>
                  <a:schemeClr val="dk1"/>
                </a:solidFill>
                <a:latin typeface="Courier New"/>
                <a:ea typeface="Courier New"/>
                <a:cs typeface="Courier New"/>
                <a:sym typeface="Courier New"/>
              </a:rPr>
              <a:t> /var/www/html/index.html</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2182">
                <a:solidFill>
                  <a:schemeClr val="dk1"/>
                </a:solidFill>
                <a:latin typeface="Courier New"/>
                <a:ea typeface="Courier New"/>
                <a:cs typeface="Courier New"/>
                <a:sym typeface="Courier New"/>
              </a:rPr>
              <a:t>&lt;h1&gt;hello&lt;/h1&gt;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2182">
                <a:solidFill>
                  <a:schemeClr val="dk1"/>
                </a:solidFill>
                <a:latin typeface="Archivo Medium"/>
                <a:ea typeface="Archivo Medium"/>
                <a:cs typeface="Archivo Medium"/>
                <a:sym typeface="Archivo Medium"/>
              </a:rPr>
              <a:t>in Wazuh Dashboard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Wazuh Alert: File '/etc/hosts' was modified by user 'root'.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Differences:</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Old content: '127.0.0.1 localhost'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New content: '127.0.0.1 localhost test.local'</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1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683" name="Shape 3683"/>
        <p:cNvGrpSpPr/>
        <p:nvPr/>
      </p:nvGrpSpPr>
      <p:grpSpPr>
        <a:xfrm>
          <a:off x="0" y="0"/>
          <a:ext cx="0" cy="0"/>
          <a:chOff x="0" y="0"/>
          <a:chExt cx="0" cy="0"/>
        </a:xfrm>
      </p:grpSpPr>
      <p:pic>
        <p:nvPicPr>
          <p:cNvPr descr="A picture containing food, drawing, shirt&#10;&#10;Description automatically generated" id="3684" name="Google Shape;3684;p27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685" name="Google Shape;3685;p27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86" name="Google Shape;3686;p27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687" name="Google Shape;3687;p274"/>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688" name="Google Shape;3688;p27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689" name="Google Shape;3689;p274"/>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690" name="Google Shape;3690;p274"/>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3691" name="Google Shape;3691;p274"/>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695" name="Shape 3695"/>
        <p:cNvGrpSpPr/>
        <p:nvPr/>
      </p:nvGrpSpPr>
      <p:grpSpPr>
        <a:xfrm>
          <a:off x="0" y="0"/>
          <a:ext cx="0" cy="0"/>
          <a:chOff x="0" y="0"/>
          <a:chExt cx="0" cy="0"/>
        </a:xfrm>
      </p:grpSpPr>
      <p:pic>
        <p:nvPicPr>
          <p:cNvPr descr="A picture containing food, drawing, shirt&#10;&#10;Description automatically generated" id="3696" name="Google Shape;3696;p27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697" name="Google Shape;3697;p27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98" name="Google Shape;3698;p27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699" name="Google Shape;3699;p275"/>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700" name="Google Shape;3700;p27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701" name="Google Shape;3701;p275"/>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702" name="Google Shape;3702;p275"/>
          <p:cNvSpPr txBox="1"/>
          <p:nvPr/>
        </p:nvSpPr>
        <p:spPr>
          <a:xfrm>
            <a:off x="1357489" y="3803851"/>
            <a:ext cx="9477000" cy="144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lt1"/>
                </a:solidFill>
                <a:highlight>
                  <a:srgbClr val="3585F9"/>
                </a:highlight>
                <a:latin typeface="Poppins"/>
                <a:ea typeface="Poppins"/>
                <a:cs typeface="Poppins"/>
                <a:sym typeface="Poppins"/>
              </a:rPr>
              <a:t>Agent Inventory Collection and Vulnerability Detection</a:t>
            </a:r>
            <a:endParaRPr sz="4400">
              <a:solidFill>
                <a:schemeClr val="lt1"/>
              </a:solidFill>
              <a:highlight>
                <a:srgbClr val="3585F9"/>
              </a:highlight>
              <a:latin typeface="Poppins"/>
              <a:ea typeface="Poppins"/>
              <a:cs typeface="Poppins"/>
              <a:sym typeface="Poppins"/>
            </a:endParaRPr>
          </a:p>
        </p:txBody>
      </p:sp>
      <p:pic>
        <p:nvPicPr>
          <p:cNvPr id="3703" name="Google Shape;3703;p275"/>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7" name="Shape 3707"/>
        <p:cNvGrpSpPr/>
        <p:nvPr/>
      </p:nvGrpSpPr>
      <p:grpSpPr>
        <a:xfrm>
          <a:off x="0" y="0"/>
          <a:ext cx="0" cy="0"/>
          <a:chOff x="0" y="0"/>
          <a:chExt cx="0" cy="0"/>
        </a:xfrm>
      </p:grpSpPr>
      <p:sp>
        <p:nvSpPr>
          <p:cNvPr id="3708" name="Google Shape;3708;p276"/>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3709" name="Google Shape;3709;p27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710" name="Google Shape;3710;p27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711" name="Google Shape;3711;p27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712" name="Google Shape;3712;p27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713" name="Google Shape;3713;p27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714" name="Google Shape;3714;p27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715" name="Google Shape;3715;p27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716" name="Google Shape;3716;p276"/>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717" name="Google Shape;3717;p276"/>
          <p:cNvSpPr txBox="1"/>
          <p:nvPr/>
        </p:nvSpPr>
        <p:spPr>
          <a:xfrm>
            <a:off x="778700" y="1730050"/>
            <a:ext cx="10293900" cy="2859300"/>
          </a:xfrm>
          <a:prstGeom prst="rect">
            <a:avLst/>
          </a:prstGeom>
          <a:noFill/>
          <a:ln>
            <a:noFill/>
          </a:ln>
        </p:spPr>
        <p:txBody>
          <a:bodyPr anchorCtr="0" anchor="t" bIns="45700" lIns="91425" spcFirstLastPara="1" rIns="91425" wrap="square" tIns="45700">
            <a:noAutofit/>
          </a:bodyPr>
          <a:lstStyle/>
          <a:p>
            <a:pPr indent="-354488" lvl="0" marL="457200" rtl="0" algn="l">
              <a:lnSpc>
                <a:spcPct val="115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Bagaimana Wazuh agent secara rutin mengumpulkan dan melaporkan item inventaris ke Wazuh manager.</a:t>
            </a:r>
            <a:endParaRPr sz="1982">
              <a:solidFill>
                <a:schemeClr val="dk1"/>
              </a:solidFill>
              <a:latin typeface="Archivo Medium"/>
              <a:ea typeface="Archivo Medium"/>
              <a:cs typeface="Archivo Medium"/>
              <a:sym typeface="Archivo Medium"/>
            </a:endParaRPr>
          </a:p>
          <a:p>
            <a:pPr indent="0" lvl="0" marL="457200" rtl="0" algn="l">
              <a:lnSpc>
                <a:spcPct val="115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115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Bagaimana inventaris paket perangkat lunak yang terpasang beserta versi-versinya dapat secara otomatis dibandingkan dengan basis data kerentanan publik, untuk memberikan peringatan proaktif terhadap agent yang menjalankan perangkat lunak rentan.</a:t>
            </a:r>
            <a:endParaRPr sz="1982">
              <a:solidFill>
                <a:schemeClr val="dk1"/>
              </a:solidFill>
              <a:latin typeface="Archivo Medium"/>
              <a:ea typeface="Archivo Medium"/>
              <a:cs typeface="Archivo Medium"/>
              <a:sym typeface="Archivo Medium"/>
            </a:endParaRPr>
          </a:p>
          <a:p>
            <a:pPr indent="0" lvl="0" marL="457200" rtl="0" algn="l">
              <a:lnSpc>
                <a:spcPct val="115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115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Di mana data inventaris yang dikumpulkan dapat ditinjau melalui Wazuh Dashboard.</a:t>
            </a:r>
            <a:endParaRPr sz="1982">
              <a:solidFill>
                <a:schemeClr val="dk1"/>
              </a:solidFill>
              <a:latin typeface="Archivo Medium"/>
              <a:ea typeface="Archivo Medium"/>
              <a:cs typeface="Archivo Medium"/>
              <a:sym typeface="Archivo Medium"/>
            </a:endParaRPr>
          </a:p>
          <a:p>
            <a:pPr indent="0" lvl="0" marL="457200" rtl="0" algn="l">
              <a:lnSpc>
                <a:spcPct val="115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1" name="Shape 3721"/>
        <p:cNvGrpSpPr/>
        <p:nvPr/>
      </p:nvGrpSpPr>
      <p:grpSpPr>
        <a:xfrm>
          <a:off x="0" y="0"/>
          <a:ext cx="0" cy="0"/>
          <a:chOff x="0" y="0"/>
          <a:chExt cx="0" cy="0"/>
        </a:xfrm>
      </p:grpSpPr>
      <p:sp>
        <p:nvSpPr>
          <p:cNvPr id="3722" name="Google Shape;3722;p277"/>
          <p:cNvSpPr txBox="1"/>
          <p:nvPr/>
        </p:nvSpPr>
        <p:spPr>
          <a:xfrm>
            <a:off x="603103" y="486375"/>
            <a:ext cx="10392900" cy="2247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3500">
                <a:solidFill>
                  <a:srgbClr val="6D9EEB"/>
                </a:solidFill>
                <a:latin typeface="Poppins"/>
                <a:ea typeface="Poppins"/>
                <a:cs typeface="Poppins"/>
                <a:sym typeface="Poppins"/>
              </a:rPr>
              <a:t>Agent Inventory Collection and Vulnerability Detection in Wazuh</a:t>
            </a:r>
            <a:endParaRPr b="1" sz="3500">
              <a:solidFill>
                <a:srgbClr val="6D9EEB"/>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b="1" sz="3500">
              <a:solidFill>
                <a:srgbClr val="6D9EEB"/>
              </a:solidFill>
              <a:latin typeface="Poppins"/>
              <a:ea typeface="Poppins"/>
              <a:cs typeface="Poppins"/>
              <a:sym typeface="Poppins"/>
            </a:endParaRPr>
          </a:p>
          <a:p>
            <a:pPr indent="0" lvl="0" marL="0" marR="0" rtl="0" algn="l">
              <a:lnSpc>
                <a:spcPct val="100000"/>
              </a:lnSpc>
              <a:spcBef>
                <a:spcPts val="0"/>
              </a:spcBef>
              <a:spcAft>
                <a:spcPts val="0"/>
              </a:spcAft>
              <a:buClr>
                <a:srgbClr val="C41F2F"/>
              </a:buClr>
              <a:buSzPts val="3600"/>
              <a:buFont typeface="Arial"/>
              <a:buNone/>
            </a:pPr>
            <a:r>
              <a:t/>
            </a:r>
            <a:endParaRPr b="1" sz="3500">
              <a:solidFill>
                <a:srgbClr val="6D9EEB"/>
              </a:solidFill>
              <a:latin typeface="Poppins"/>
              <a:ea typeface="Poppins"/>
              <a:cs typeface="Poppins"/>
              <a:sym typeface="Poppins"/>
            </a:endParaRPr>
          </a:p>
        </p:txBody>
      </p:sp>
      <p:cxnSp>
        <p:nvCxnSpPr>
          <p:cNvPr id="3723" name="Google Shape;3723;p27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724" name="Google Shape;3724;p27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725" name="Google Shape;3725;p27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726" name="Google Shape;3726;p27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727" name="Google Shape;3727;p27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728" name="Google Shape;3728;p27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729" name="Google Shape;3729;p27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730" name="Google Shape;3730;p277"/>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731" name="Google Shape;3731;p277"/>
          <p:cNvSpPr txBox="1"/>
          <p:nvPr/>
        </p:nvSpPr>
        <p:spPr>
          <a:xfrm>
            <a:off x="1000925" y="2029550"/>
            <a:ext cx="99456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Pengumpulan Inventaris Agen (Agent Inventory Collection) dan Deteksi Kerentanan (Vulnerability Detection) adalah fitur utama Wazuh yang memungkinkan organisasi untuk memantau infrastruktur mereka dan mengidentifikasi potensi risiko.</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Modul Syscollector dan Vulnerability Detection dalam Wazuh bekerja bersama untuk mengumpulkan informasi sistem secara menyeluruh (seperti perangkat lunak yang terpasang, konfigurasi jaringan, dan detail perangkat keras), lalu mencocokkannya dengan kerentanan yang telah diketahui dari basis data publik</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5" name="Shape 3735"/>
        <p:cNvGrpSpPr/>
        <p:nvPr/>
      </p:nvGrpSpPr>
      <p:grpSpPr>
        <a:xfrm>
          <a:off x="0" y="0"/>
          <a:ext cx="0" cy="0"/>
          <a:chOff x="0" y="0"/>
          <a:chExt cx="0" cy="0"/>
        </a:xfrm>
      </p:grpSpPr>
      <p:sp>
        <p:nvSpPr>
          <p:cNvPr id="3736" name="Google Shape;3736;p278"/>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Agent Inventory Collection</a:t>
            </a:r>
            <a:endParaRPr b="1" i="0" sz="3600" u="none" cap="none" strike="noStrike">
              <a:solidFill>
                <a:srgbClr val="6D9EEB"/>
              </a:solidFill>
              <a:latin typeface="Poppins"/>
              <a:ea typeface="Poppins"/>
              <a:cs typeface="Poppins"/>
              <a:sym typeface="Poppins"/>
            </a:endParaRPr>
          </a:p>
        </p:txBody>
      </p:sp>
      <p:cxnSp>
        <p:nvCxnSpPr>
          <p:cNvPr id="3737" name="Google Shape;3737;p27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738" name="Google Shape;3738;p27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739" name="Google Shape;3739;p27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740" name="Google Shape;3740;p27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741" name="Google Shape;3741;p27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742" name="Google Shape;3742;p27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743" name="Google Shape;3743;p27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744" name="Google Shape;3744;p278"/>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745" name="Google Shape;3745;p278"/>
          <p:cNvSpPr txBox="1"/>
          <p:nvPr/>
        </p:nvSpPr>
        <p:spPr>
          <a:xfrm>
            <a:off x="1000925" y="1491925"/>
            <a:ext cx="9972000" cy="2859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Pengumpulan Inventaris Agen Wazuh (Wazuh Agent Inventory Collection) mengumpulkan informasi detail mengenai perangkat keras, perangkat lunak, dan konfigurasi dari semua sistem yang terpasang Wazuh agent. Hal ini memungkinkan tim IT untuk menjaga informasi aset yang selalu terbarui, yang sangat penting untuk mengidentifikasi perangkat lunak usang, perubahan yang tidak sah, atau penyimpangan konfigurasi (configuration drift)..</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6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Clr>
                <a:schemeClr val="dk1"/>
              </a:buClr>
              <a:buSzPts val="1100"/>
              <a:buFont typeface="Arial"/>
              <a:buNone/>
            </a:pPr>
            <a:r>
              <a:rPr lang="en-US" sz="1682">
                <a:solidFill>
                  <a:schemeClr val="dk1"/>
                </a:solidFill>
                <a:latin typeface="Courier New"/>
                <a:ea typeface="Courier New"/>
                <a:cs typeface="Courier New"/>
                <a:sym typeface="Courier New"/>
              </a:rPr>
              <a:t>&lt;syscollector&gt;</a:t>
            </a:r>
            <a:endParaRPr sz="16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82">
                <a:solidFill>
                  <a:schemeClr val="dk1"/>
                </a:solidFill>
                <a:latin typeface="Courier New"/>
                <a:ea typeface="Courier New"/>
                <a:cs typeface="Courier New"/>
                <a:sym typeface="Courier New"/>
              </a:rPr>
              <a:t>  &lt;interval&gt;12h&lt;/interval&gt;  &lt;!-- How often to collect inventory data --&gt;</a:t>
            </a:r>
            <a:endParaRPr sz="16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82">
                <a:solidFill>
                  <a:schemeClr val="dk1"/>
                </a:solidFill>
                <a:latin typeface="Courier New"/>
                <a:ea typeface="Courier New"/>
                <a:cs typeface="Courier New"/>
                <a:sym typeface="Courier New"/>
              </a:rPr>
              <a:t>  &lt;hardware&gt;yes&lt;/hardware&gt;  &lt;!-- Collect hardware information --&gt;</a:t>
            </a:r>
            <a:endParaRPr sz="16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82">
                <a:solidFill>
                  <a:schemeClr val="dk1"/>
                </a:solidFill>
                <a:latin typeface="Courier New"/>
                <a:ea typeface="Courier New"/>
                <a:cs typeface="Courier New"/>
                <a:sym typeface="Courier New"/>
              </a:rPr>
              <a:t>  &lt;os&gt;yes&lt;/os&gt;              &lt;!-- Collect OS information --&gt;</a:t>
            </a:r>
            <a:endParaRPr sz="16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82">
                <a:solidFill>
                  <a:schemeClr val="dk1"/>
                </a:solidFill>
                <a:latin typeface="Courier New"/>
                <a:ea typeface="Courier New"/>
                <a:cs typeface="Courier New"/>
                <a:sym typeface="Courier New"/>
              </a:rPr>
              <a:t>  &lt;network&gt;yes&lt;/network&gt;    &lt;!-- Collect network information --&gt;</a:t>
            </a:r>
            <a:endParaRPr sz="16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82">
                <a:solidFill>
                  <a:schemeClr val="dk1"/>
                </a:solidFill>
                <a:latin typeface="Courier New"/>
                <a:ea typeface="Courier New"/>
                <a:cs typeface="Courier New"/>
                <a:sym typeface="Courier New"/>
              </a:rPr>
              <a:t>  &lt;packages&gt;yes&lt;/packages&gt;  &lt;!-- Collect installed software packages --&gt;</a:t>
            </a:r>
            <a:endParaRPr sz="16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82">
                <a:solidFill>
                  <a:schemeClr val="dk1"/>
                </a:solidFill>
                <a:latin typeface="Courier New"/>
                <a:ea typeface="Courier New"/>
                <a:cs typeface="Courier New"/>
                <a:sym typeface="Courier New"/>
              </a:rPr>
              <a:t>&lt;/syscollector&gt;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6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6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9" name="Shape 3749"/>
        <p:cNvGrpSpPr/>
        <p:nvPr/>
      </p:nvGrpSpPr>
      <p:grpSpPr>
        <a:xfrm>
          <a:off x="0" y="0"/>
          <a:ext cx="0" cy="0"/>
          <a:chOff x="0" y="0"/>
          <a:chExt cx="0" cy="0"/>
        </a:xfrm>
      </p:grpSpPr>
      <p:sp>
        <p:nvSpPr>
          <p:cNvPr id="3750" name="Google Shape;3750;p279"/>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Use Cases </a:t>
            </a:r>
            <a:endParaRPr b="1" i="0" sz="3600" u="none" cap="none" strike="noStrike">
              <a:solidFill>
                <a:srgbClr val="6D9EEB"/>
              </a:solidFill>
              <a:latin typeface="Poppins"/>
              <a:ea typeface="Poppins"/>
              <a:cs typeface="Poppins"/>
              <a:sym typeface="Poppins"/>
            </a:endParaRPr>
          </a:p>
        </p:txBody>
      </p:sp>
      <p:cxnSp>
        <p:nvCxnSpPr>
          <p:cNvPr id="3751" name="Google Shape;3751;p27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752" name="Google Shape;3752;p27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753" name="Google Shape;3753;p27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754" name="Google Shape;3754;p27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755" name="Google Shape;3755;p27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756" name="Google Shape;3756;p27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757" name="Google Shape;3757;p27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758" name="Google Shape;3758;p279"/>
          <p:cNvSpPr txBox="1"/>
          <p:nvPr/>
        </p:nvSpPr>
        <p:spPr>
          <a:xfrm>
            <a:off x="1000925" y="1650025"/>
            <a:ext cx="9641700" cy="2838600"/>
          </a:xfrm>
          <a:prstGeom prst="rect">
            <a:avLst/>
          </a:prstGeom>
          <a:noFill/>
          <a:ln>
            <a:noFill/>
          </a:ln>
        </p:spPr>
        <p:txBody>
          <a:bodyPr anchorCtr="0" anchor="t" bIns="91425" lIns="91425" spcFirstLastPara="1" rIns="91425" wrap="square" tIns="91425">
            <a:spAutoFit/>
          </a:bodyPr>
          <a:lstStyle/>
          <a:p>
            <a:pPr indent="-354488" lvl="0" marL="457200" rtl="0" algn="l">
              <a:lnSpc>
                <a:spcPct val="115000"/>
              </a:lnSpc>
              <a:spcBef>
                <a:spcPts val="0"/>
              </a:spcBef>
              <a:spcAft>
                <a:spcPts val="0"/>
              </a:spcAft>
              <a:buClr>
                <a:schemeClr val="dk1"/>
              </a:buClr>
              <a:buSzPts val="1983"/>
              <a:buFont typeface="Archivo Medium"/>
              <a:buChar char="●"/>
            </a:pPr>
            <a:r>
              <a:rPr lang="en-US" sz="2182">
                <a:solidFill>
                  <a:schemeClr val="dk1"/>
                </a:solidFill>
                <a:latin typeface="Archivo Medium"/>
                <a:ea typeface="Archivo Medium"/>
                <a:cs typeface="Archivo Medium"/>
                <a:sym typeface="Archivo Medium"/>
              </a:rPr>
              <a:t>Manajemen Aset: Menjaga inventaris perangkat lunak yang terpasang di seluruh infrastruktur agar selalu terbarui.</a:t>
            </a:r>
            <a:endParaRPr sz="2182">
              <a:solidFill>
                <a:schemeClr val="dk1"/>
              </a:solidFill>
              <a:latin typeface="Archivo Medium"/>
              <a:ea typeface="Archivo Medium"/>
              <a:cs typeface="Archivo Medium"/>
              <a:sym typeface="Archivo Medium"/>
            </a:endParaRPr>
          </a:p>
          <a:p>
            <a:pPr indent="-354488" lvl="0" marL="457200" rtl="0" algn="l">
              <a:lnSpc>
                <a:spcPct val="115000"/>
              </a:lnSpc>
              <a:spcBef>
                <a:spcPts val="0"/>
              </a:spcBef>
              <a:spcAft>
                <a:spcPts val="0"/>
              </a:spcAft>
              <a:buClr>
                <a:schemeClr val="dk1"/>
              </a:buClr>
              <a:buSzPts val="1983"/>
              <a:buFont typeface="Archivo Medium"/>
              <a:buChar char="●"/>
            </a:pPr>
            <a:r>
              <a:rPr lang="en-US" sz="2182">
                <a:solidFill>
                  <a:schemeClr val="dk1"/>
                </a:solidFill>
                <a:latin typeface="Archivo Medium"/>
                <a:ea typeface="Archivo Medium"/>
                <a:cs typeface="Archivo Medium"/>
                <a:sym typeface="Archivo Medium"/>
              </a:rPr>
              <a:t>Kepatuhan ( Compliance ) : Memastikan hanya perangkat lunak yang diizinkan yang terpasang di sistem Anda.</a:t>
            </a:r>
            <a:endParaRPr sz="2182">
              <a:solidFill>
                <a:schemeClr val="dk1"/>
              </a:solidFill>
              <a:latin typeface="Archivo Medium"/>
              <a:ea typeface="Archivo Medium"/>
              <a:cs typeface="Archivo Medium"/>
              <a:sym typeface="Archivo Medium"/>
            </a:endParaRPr>
          </a:p>
          <a:p>
            <a:pPr indent="-354488" lvl="0" marL="457200" rtl="0" algn="l">
              <a:lnSpc>
                <a:spcPct val="115000"/>
              </a:lnSpc>
              <a:spcBef>
                <a:spcPts val="0"/>
              </a:spcBef>
              <a:spcAft>
                <a:spcPts val="0"/>
              </a:spcAft>
              <a:buClr>
                <a:schemeClr val="dk1"/>
              </a:buClr>
              <a:buSzPts val="1983"/>
              <a:buFont typeface="Archivo Medium"/>
              <a:buChar char="●"/>
            </a:pPr>
            <a:r>
              <a:rPr lang="en-US" sz="2182">
                <a:solidFill>
                  <a:schemeClr val="dk1"/>
                </a:solidFill>
                <a:latin typeface="Archivo Medium"/>
                <a:ea typeface="Archivo Medium"/>
                <a:cs typeface="Archivo Medium"/>
                <a:sym typeface="Archivo Medium"/>
              </a:rPr>
              <a:t>Deteksi Perubahan ( Change Management ) : Memantau pemasangan atau modifikasi perangkat lunak yang tidak sah.</a:t>
            </a:r>
            <a:endParaRPr sz="21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sz="21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2" name="Shape 3762"/>
        <p:cNvGrpSpPr/>
        <p:nvPr/>
      </p:nvGrpSpPr>
      <p:grpSpPr>
        <a:xfrm>
          <a:off x="0" y="0"/>
          <a:ext cx="0" cy="0"/>
          <a:chOff x="0" y="0"/>
          <a:chExt cx="0" cy="0"/>
        </a:xfrm>
      </p:grpSpPr>
      <p:sp>
        <p:nvSpPr>
          <p:cNvPr id="3763" name="Google Shape;3763;p280"/>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Vulnerability Management</a:t>
            </a:r>
            <a:endParaRPr b="1" i="0" sz="3600" u="none" cap="none" strike="noStrike">
              <a:solidFill>
                <a:srgbClr val="6D9EEB"/>
              </a:solidFill>
              <a:latin typeface="Poppins"/>
              <a:ea typeface="Poppins"/>
              <a:cs typeface="Poppins"/>
              <a:sym typeface="Poppins"/>
            </a:endParaRPr>
          </a:p>
        </p:txBody>
      </p:sp>
      <p:cxnSp>
        <p:nvCxnSpPr>
          <p:cNvPr id="3764" name="Google Shape;3764;p28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765" name="Google Shape;3765;p28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766" name="Google Shape;3766;p28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767" name="Google Shape;3767;p28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768" name="Google Shape;3768;p28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769" name="Google Shape;3769;p28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770" name="Google Shape;3770;p28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771" name="Google Shape;3771;p280"/>
          <p:cNvSpPr txBox="1"/>
          <p:nvPr/>
        </p:nvSpPr>
        <p:spPr>
          <a:xfrm>
            <a:off x="1000925" y="1650025"/>
            <a:ext cx="9972000" cy="480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882">
                <a:solidFill>
                  <a:schemeClr val="dk1"/>
                </a:solidFill>
                <a:latin typeface="Archivo Medium"/>
                <a:ea typeface="Archivo Medium"/>
                <a:cs typeface="Archivo Medium"/>
                <a:sym typeface="Archivo Medium"/>
              </a:rPr>
              <a:t>The Vulnerability Detection feature in Wazuh compares the software inventory collected from agents against public vulnerability databases such as NVD (National Vulnerability Database) and other vendor feeds. This feature allows organizations to identify unpatched software and known vulnerabilities (CVEs) in their systems</a:t>
            </a:r>
            <a:endParaRPr sz="18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sz="18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882">
                <a:solidFill>
                  <a:schemeClr val="dk1"/>
                </a:solidFill>
                <a:latin typeface="Courier New"/>
                <a:ea typeface="Courier New"/>
                <a:cs typeface="Courier New"/>
                <a:sym typeface="Courier New"/>
              </a:rPr>
              <a:t>&lt;vulnerability-detector&gt;</a:t>
            </a:r>
            <a:endParaRPr sz="18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882">
                <a:solidFill>
                  <a:schemeClr val="dk1"/>
                </a:solidFill>
                <a:latin typeface="Courier New"/>
                <a:ea typeface="Courier New"/>
                <a:cs typeface="Courier New"/>
                <a:sym typeface="Courier New"/>
              </a:rPr>
              <a:t>  &lt;enabled&gt;yes&lt;/enabled&gt;</a:t>
            </a:r>
            <a:endParaRPr sz="18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882">
                <a:solidFill>
                  <a:schemeClr val="dk1"/>
                </a:solidFill>
                <a:latin typeface="Courier New"/>
                <a:ea typeface="Courier New"/>
                <a:cs typeface="Courier New"/>
                <a:sym typeface="Courier New"/>
              </a:rPr>
              <a:t>  &lt;interval&gt;1h&lt;/interval&gt;  &lt;!-- How often to check for vulnerabilities --&gt;</a:t>
            </a:r>
            <a:endParaRPr sz="18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882">
                <a:solidFill>
                  <a:schemeClr val="dk1"/>
                </a:solidFill>
                <a:latin typeface="Courier New"/>
                <a:ea typeface="Courier New"/>
                <a:cs typeface="Courier New"/>
                <a:sym typeface="Courier New"/>
              </a:rPr>
              <a:t>  &lt;feed&gt;nvd&lt;/feed&gt;         &lt;!-- Enable NVD feed --&gt;</a:t>
            </a:r>
            <a:endParaRPr sz="18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882">
                <a:solidFill>
                  <a:schemeClr val="dk1"/>
                </a:solidFill>
                <a:latin typeface="Courier New"/>
                <a:ea typeface="Courier New"/>
                <a:cs typeface="Courier New"/>
                <a:sym typeface="Courier New"/>
              </a:rPr>
              <a:t>  &lt;feed&gt;debian&lt;/feed&gt;      &lt;!-- Enable Debian feed --&gt;</a:t>
            </a:r>
            <a:endParaRPr sz="18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882">
                <a:solidFill>
                  <a:schemeClr val="dk1"/>
                </a:solidFill>
                <a:latin typeface="Courier New"/>
                <a:ea typeface="Courier New"/>
                <a:cs typeface="Courier New"/>
                <a:sym typeface="Courier New"/>
              </a:rPr>
              <a:t>  &lt;feed&gt;redhat&lt;/feed&gt;      &lt;!-- Enable Red Hat feed --&gt;</a:t>
            </a:r>
            <a:endParaRPr sz="18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882">
                <a:solidFill>
                  <a:schemeClr val="dk1"/>
                </a:solidFill>
                <a:latin typeface="Courier New"/>
                <a:ea typeface="Courier New"/>
                <a:cs typeface="Courier New"/>
                <a:sym typeface="Courier New"/>
              </a:rPr>
              <a:t>&lt;/vulnerability-detector&gt;</a:t>
            </a:r>
            <a:endParaRPr sz="1882">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18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sz="18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5" name="Shape 3775"/>
        <p:cNvGrpSpPr/>
        <p:nvPr/>
      </p:nvGrpSpPr>
      <p:grpSpPr>
        <a:xfrm>
          <a:off x="0" y="0"/>
          <a:ext cx="0" cy="0"/>
          <a:chOff x="0" y="0"/>
          <a:chExt cx="0" cy="0"/>
        </a:xfrm>
      </p:grpSpPr>
      <p:sp>
        <p:nvSpPr>
          <p:cNvPr id="3776" name="Google Shape;3776;p281"/>
          <p:cNvSpPr txBox="1"/>
          <p:nvPr/>
        </p:nvSpPr>
        <p:spPr>
          <a:xfrm>
            <a:off x="603103" y="486375"/>
            <a:ext cx="103929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How Wazuh Inventory Collection and Vulnerability Detection Work Together</a:t>
            </a:r>
            <a:endParaRPr b="1" i="0" sz="3600" u="none" cap="none" strike="noStrike">
              <a:solidFill>
                <a:srgbClr val="6D9EEB"/>
              </a:solidFill>
              <a:latin typeface="Poppins"/>
              <a:ea typeface="Poppins"/>
              <a:cs typeface="Poppins"/>
              <a:sym typeface="Poppins"/>
            </a:endParaRPr>
          </a:p>
        </p:txBody>
      </p:sp>
      <p:cxnSp>
        <p:nvCxnSpPr>
          <p:cNvPr id="3777" name="Google Shape;3777;p28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778" name="Google Shape;3778;p28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779" name="Google Shape;3779;p28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780" name="Google Shape;3780;p28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781" name="Google Shape;3781;p28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782" name="Google Shape;3782;p28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783" name="Google Shape;3783;p28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784" name="Google Shape;3784;p281"/>
          <p:cNvSpPr txBox="1"/>
          <p:nvPr/>
        </p:nvSpPr>
        <p:spPr>
          <a:xfrm>
            <a:off x="1000925" y="1887375"/>
            <a:ext cx="9972000" cy="36618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Clr>
                <a:schemeClr val="dk1"/>
              </a:buClr>
              <a:buSzPts val="1100"/>
              <a:buFont typeface="Arial"/>
              <a:buNone/>
            </a:pPr>
            <a:r>
              <a:rPr lang="en-US" sz="1882">
                <a:solidFill>
                  <a:schemeClr val="dk1"/>
                </a:solidFill>
                <a:latin typeface="Archivo Medium"/>
                <a:ea typeface="Archivo Medium"/>
                <a:cs typeface="Archivo Medium"/>
                <a:sym typeface="Archivo Medium"/>
              </a:rPr>
              <a:t>Inventory Collection:</a:t>
            </a:r>
            <a:endParaRPr sz="1882">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1882">
              <a:solidFill>
                <a:schemeClr val="dk1"/>
              </a:solidFill>
              <a:latin typeface="Archivo Medium"/>
              <a:ea typeface="Archivo Medium"/>
              <a:cs typeface="Archivo Medium"/>
              <a:sym typeface="Archivo Medium"/>
            </a:endParaRPr>
          </a:p>
          <a:p>
            <a:pPr indent="-348138" lvl="0" marL="457200" rtl="0" algn="l">
              <a:lnSpc>
                <a:spcPct val="80000"/>
              </a:lnSpc>
              <a:spcBef>
                <a:spcPts val="0"/>
              </a:spcBef>
              <a:spcAft>
                <a:spcPts val="0"/>
              </a:spcAft>
              <a:buClr>
                <a:schemeClr val="dk1"/>
              </a:buClr>
              <a:buSzPts val="1883"/>
              <a:buFont typeface="Archivo Medium"/>
              <a:buChar char="●"/>
            </a:pPr>
            <a:r>
              <a:rPr lang="en-US" sz="1882">
                <a:solidFill>
                  <a:schemeClr val="dk1"/>
                </a:solidFill>
                <a:latin typeface="Archivo Medium"/>
                <a:ea typeface="Archivo Medium"/>
                <a:cs typeface="Archivo Medium"/>
                <a:sym typeface="Archivo Medium"/>
              </a:rPr>
              <a:t>Wazuh collects software information from each endpoint (e.g., versions of installed packages).</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882">
                <a:solidFill>
                  <a:schemeClr val="dk1"/>
                </a:solidFill>
                <a:latin typeface="Archivo Medium"/>
                <a:ea typeface="Archivo Medium"/>
                <a:cs typeface="Archivo Medium"/>
                <a:sym typeface="Archivo Medium"/>
              </a:rPr>
              <a:t>Vulnerability Detection:</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882">
              <a:solidFill>
                <a:schemeClr val="dk1"/>
              </a:solidFill>
              <a:latin typeface="Archivo Medium"/>
              <a:ea typeface="Archivo Medium"/>
              <a:cs typeface="Archivo Medium"/>
              <a:sym typeface="Archivo Medium"/>
            </a:endParaRPr>
          </a:p>
          <a:p>
            <a:pPr indent="-348138" lvl="0" marL="457200" rtl="0" algn="l">
              <a:lnSpc>
                <a:spcPct val="80000"/>
              </a:lnSpc>
              <a:spcBef>
                <a:spcPts val="0"/>
              </a:spcBef>
              <a:spcAft>
                <a:spcPts val="0"/>
              </a:spcAft>
              <a:buClr>
                <a:schemeClr val="dk1"/>
              </a:buClr>
              <a:buSzPts val="1883"/>
              <a:buFont typeface="Archivo Medium"/>
              <a:buChar char="●"/>
            </a:pPr>
            <a:r>
              <a:rPr lang="en-US" sz="1882">
                <a:solidFill>
                  <a:schemeClr val="dk1"/>
                </a:solidFill>
                <a:latin typeface="Archivo Medium"/>
                <a:ea typeface="Archivo Medium"/>
                <a:cs typeface="Archivo Medium"/>
                <a:sym typeface="Archivo Medium"/>
              </a:rPr>
              <a:t>The collected software information is automatically correlated with CVE feeds.</a:t>
            </a:r>
            <a:endParaRPr sz="1882">
              <a:solidFill>
                <a:schemeClr val="dk1"/>
              </a:solidFill>
              <a:latin typeface="Archivo Medium"/>
              <a:ea typeface="Archivo Medium"/>
              <a:cs typeface="Archivo Medium"/>
              <a:sym typeface="Archivo Medium"/>
            </a:endParaRPr>
          </a:p>
          <a:p>
            <a:pPr indent="-348138" lvl="0" marL="457200" rtl="0" algn="l">
              <a:lnSpc>
                <a:spcPct val="80000"/>
              </a:lnSpc>
              <a:spcBef>
                <a:spcPts val="0"/>
              </a:spcBef>
              <a:spcAft>
                <a:spcPts val="0"/>
              </a:spcAft>
              <a:buClr>
                <a:schemeClr val="dk1"/>
              </a:buClr>
              <a:buSzPts val="1883"/>
              <a:buFont typeface="Archivo Medium"/>
              <a:buChar char="●"/>
            </a:pPr>
            <a:r>
              <a:rPr lang="en-US" sz="1882">
                <a:solidFill>
                  <a:schemeClr val="dk1"/>
                </a:solidFill>
                <a:latin typeface="Archivo Medium"/>
                <a:ea typeface="Archivo Medium"/>
                <a:cs typeface="Archivo Medium"/>
                <a:sym typeface="Archivo Medium"/>
              </a:rPr>
              <a:t>Alerts are generated if outdated or vulnerable software is detected.</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882">
                <a:solidFill>
                  <a:schemeClr val="dk1"/>
                </a:solidFill>
                <a:latin typeface="Archivo Medium"/>
                <a:ea typeface="Archivo Medium"/>
                <a:cs typeface="Archivo Medium"/>
                <a:sym typeface="Archivo Medium"/>
              </a:rPr>
              <a:t>Remediation:</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882">
              <a:solidFill>
                <a:schemeClr val="dk1"/>
              </a:solidFill>
              <a:latin typeface="Archivo Medium"/>
              <a:ea typeface="Archivo Medium"/>
              <a:cs typeface="Archivo Medium"/>
              <a:sym typeface="Archivo Medium"/>
            </a:endParaRPr>
          </a:p>
          <a:p>
            <a:pPr indent="-348138" lvl="0" marL="457200" rtl="0" algn="l">
              <a:lnSpc>
                <a:spcPct val="80000"/>
              </a:lnSpc>
              <a:spcBef>
                <a:spcPts val="0"/>
              </a:spcBef>
              <a:spcAft>
                <a:spcPts val="0"/>
              </a:spcAft>
              <a:buClr>
                <a:schemeClr val="dk1"/>
              </a:buClr>
              <a:buSzPts val="1883"/>
              <a:buFont typeface="Archivo Medium"/>
              <a:buChar char="●"/>
            </a:pPr>
            <a:r>
              <a:rPr lang="en-US" sz="1882">
                <a:solidFill>
                  <a:schemeClr val="dk1"/>
                </a:solidFill>
                <a:latin typeface="Archivo Medium"/>
                <a:ea typeface="Archivo Medium"/>
                <a:cs typeface="Archivo Medium"/>
                <a:sym typeface="Archivo Medium"/>
              </a:rPr>
              <a:t>Use the alerts to prioritize patching efforts based on severity.</a:t>
            </a:r>
            <a:endParaRPr sz="1882">
              <a:solidFill>
                <a:schemeClr val="dk1"/>
              </a:solidFill>
              <a:latin typeface="Archivo Medium"/>
              <a:ea typeface="Archivo Medium"/>
              <a:cs typeface="Archivo Medium"/>
              <a:sym typeface="Archivo Medium"/>
            </a:endParaRPr>
          </a:p>
          <a:p>
            <a:pPr indent="-348138" lvl="0" marL="457200" rtl="0" algn="l">
              <a:lnSpc>
                <a:spcPct val="80000"/>
              </a:lnSpc>
              <a:spcBef>
                <a:spcPts val="0"/>
              </a:spcBef>
              <a:spcAft>
                <a:spcPts val="0"/>
              </a:spcAft>
              <a:buClr>
                <a:schemeClr val="dk1"/>
              </a:buClr>
              <a:buSzPts val="1883"/>
              <a:buFont typeface="Archivo Medium"/>
              <a:buChar char="●"/>
            </a:pPr>
            <a:r>
              <a:rPr lang="en-US" sz="1882">
                <a:solidFill>
                  <a:schemeClr val="dk1"/>
                </a:solidFill>
                <a:latin typeface="Archivo Medium"/>
                <a:ea typeface="Archivo Medium"/>
                <a:cs typeface="Archivo Medium"/>
                <a:sym typeface="Archivo Medium"/>
              </a:rPr>
              <a:t>Track progress of vulnerability remediation in Kibana.</a:t>
            </a:r>
            <a:endParaRPr sz="18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8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788" name="Shape 3788"/>
        <p:cNvGrpSpPr/>
        <p:nvPr/>
      </p:nvGrpSpPr>
      <p:grpSpPr>
        <a:xfrm>
          <a:off x="0" y="0"/>
          <a:ext cx="0" cy="0"/>
          <a:chOff x="0" y="0"/>
          <a:chExt cx="0" cy="0"/>
        </a:xfrm>
      </p:grpSpPr>
      <p:pic>
        <p:nvPicPr>
          <p:cNvPr descr="A picture containing food, drawing, shirt&#10;&#10;Description automatically generated" id="3789" name="Google Shape;3789;p28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790" name="Google Shape;3790;p28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91" name="Google Shape;3791;p28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792" name="Google Shape;3792;p282"/>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793" name="Google Shape;3793;p28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794" name="Google Shape;3794;p282"/>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795" name="Google Shape;3795;p282"/>
          <p:cNvSpPr txBox="1"/>
          <p:nvPr/>
        </p:nvSpPr>
        <p:spPr>
          <a:xfrm>
            <a:off x="1357489" y="3803851"/>
            <a:ext cx="9477000" cy="1508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 </a:t>
            </a:r>
            <a:r>
              <a:rPr lang="en-US" sz="4400">
                <a:solidFill>
                  <a:schemeClr val="lt1"/>
                </a:solidFill>
                <a:highlight>
                  <a:srgbClr val="3585F9"/>
                </a:highlight>
                <a:latin typeface="Poppins"/>
                <a:ea typeface="Poppins"/>
                <a:cs typeface="Poppins"/>
                <a:sym typeface="Poppins"/>
              </a:rPr>
              <a:t>Agent Inventory Collection and Vulnerability Detection</a:t>
            </a:r>
            <a:endParaRPr sz="4800">
              <a:solidFill>
                <a:schemeClr val="lt1"/>
              </a:solidFill>
              <a:highlight>
                <a:srgbClr val="3585F9"/>
              </a:highlight>
              <a:latin typeface="Poppins"/>
              <a:ea typeface="Poppins"/>
              <a:cs typeface="Poppins"/>
              <a:sym typeface="Poppins"/>
            </a:endParaRPr>
          </a:p>
        </p:txBody>
      </p:sp>
      <p:pic>
        <p:nvPicPr>
          <p:cNvPr id="3796" name="Google Shape;3796;p282"/>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0" name="Shape 3800"/>
        <p:cNvGrpSpPr/>
        <p:nvPr/>
      </p:nvGrpSpPr>
      <p:grpSpPr>
        <a:xfrm>
          <a:off x="0" y="0"/>
          <a:ext cx="0" cy="0"/>
          <a:chOff x="0" y="0"/>
          <a:chExt cx="0" cy="0"/>
        </a:xfrm>
      </p:grpSpPr>
      <p:sp>
        <p:nvSpPr>
          <p:cNvPr id="3801" name="Google Shape;3801;p283"/>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3802" name="Google Shape;3802;p28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803" name="Google Shape;3803;p28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804" name="Google Shape;3804;p28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805" name="Google Shape;3805;p28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806" name="Google Shape;3806;p28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807" name="Google Shape;3807;p28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808" name="Google Shape;3808;p28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809" name="Google Shape;3809;p283"/>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810" name="Google Shape;3810;p283"/>
          <p:cNvSpPr txBox="1"/>
          <p:nvPr/>
        </p:nvSpPr>
        <p:spPr>
          <a:xfrm>
            <a:off x="778700" y="1730050"/>
            <a:ext cx="10293900" cy="2859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2182">
                <a:solidFill>
                  <a:schemeClr val="dk1"/>
                </a:solidFill>
                <a:latin typeface="Archivo Medium"/>
                <a:ea typeface="Archivo Medium"/>
                <a:cs typeface="Archivo Medium"/>
                <a:sym typeface="Archivo Medium"/>
              </a:rPr>
              <a:t>Objective </a:t>
            </a:r>
            <a:endParaRPr sz="21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sz="2182">
              <a:solidFill>
                <a:schemeClr val="dk1"/>
              </a:solidFill>
              <a:latin typeface="Archivo Medium"/>
              <a:ea typeface="Archivo Medium"/>
              <a:cs typeface="Archivo Medium"/>
              <a:sym typeface="Archivo Medium"/>
            </a:endParaRPr>
          </a:p>
          <a:p>
            <a:pPr indent="-367188" lvl="0" marL="457200" rtl="0" algn="l">
              <a:lnSpc>
                <a:spcPct val="115000"/>
              </a:lnSpc>
              <a:spcBef>
                <a:spcPts val="0"/>
              </a:spcBef>
              <a:spcAft>
                <a:spcPts val="0"/>
              </a:spcAft>
              <a:buClr>
                <a:schemeClr val="dk1"/>
              </a:buClr>
              <a:buSzPts val="2183"/>
              <a:buFont typeface="Archivo Medium"/>
              <a:buAutoNum type="arabicPeriod"/>
            </a:pPr>
            <a:r>
              <a:rPr lang="en-US" sz="2182">
                <a:solidFill>
                  <a:schemeClr val="dk1"/>
                </a:solidFill>
                <a:latin typeface="Archivo Medium"/>
                <a:ea typeface="Archivo Medium"/>
                <a:cs typeface="Archivo Medium"/>
                <a:sym typeface="Archivo Medium"/>
              </a:rPr>
              <a:t>Setting up Wazuh’s Vulnerability Detector.</a:t>
            </a:r>
            <a:endParaRPr sz="2182">
              <a:solidFill>
                <a:schemeClr val="dk1"/>
              </a:solidFill>
              <a:latin typeface="Archivo Medium"/>
              <a:ea typeface="Archivo Medium"/>
              <a:cs typeface="Archivo Medium"/>
              <a:sym typeface="Archivo Medium"/>
            </a:endParaRPr>
          </a:p>
          <a:p>
            <a:pPr indent="-367188" lvl="0" marL="457200" rtl="0" algn="l">
              <a:lnSpc>
                <a:spcPct val="115000"/>
              </a:lnSpc>
              <a:spcBef>
                <a:spcPts val="0"/>
              </a:spcBef>
              <a:spcAft>
                <a:spcPts val="0"/>
              </a:spcAft>
              <a:buClr>
                <a:schemeClr val="dk1"/>
              </a:buClr>
              <a:buSzPts val="2183"/>
              <a:buFont typeface="Archivo Medium"/>
              <a:buAutoNum type="arabicPeriod"/>
            </a:pPr>
            <a:r>
              <a:rPr lang="en-US" sz="2182">
                <a:solidFill>
                  <a:schemeClr val="dk1"/>
                </a:solidFill>
                <a:latin typeface="Archivo Medium"/>
                <a:ea typeface="Archivo Medium"/>
                <a:cs typeface="Archivo Medium"/>
                <a:sym typeface="Archivo Medium"/>
              </a:rPr>
              <a:t>Generating vulnerable software to trigger an alert.</a:t>
            </a:r>
            <a:endParaRPr sz="2182">
              <a:solidFill>
                <a:schemeClr val="dk1"/>
              </a:solidFill>
              <a:latin typeface="Archivo Medium"/>
              <a:ea typeface="Archivo Medium"/>
              <a:cs typeface="Archivo Medium"/>
              <a:sym typeface="Archivo Medium"/>
            </a:endParaRPr>
          </a:p>
          <a:p>
            <a:pPr indent="-367188" lvl="0" marL="457200" rtl="0" algn="l">
              <a:lnSpc>
                <a:spcPct val="115000"/>
              </a:lnSpc>
              <a:spcBef>
                <a:spcPts val="0"/>
              </a:spcBef>
              <a:spcAft>
                <a:spcPts val="0"/>
              </a:spcAft>
              <a:buClr>
                <a:schemeClr val="dk1"/>
              </a:buClr>
              <a:buSzPts val="2183"/>
              <a:buFont typeface="Archivo Medium"/>
              <a:buAutoNum type="arabicPeriod"/>
            </a:pPr>
            <a:r>
              <a:rPr lang="en-US" sz="2182">
                <a:solidFill>
                  <a:schemeClr val="dk1"/>
                </a:solidFill>
                <a:latin typeface="Archivo Medium"/>
                <a:ea typeface="Archivo Medium"/>
                <a:cs typeface="Archivo Medium"/>
                <a:sym typeface="Archivo Medium"/>
              </a:rPr>
              <a:t>Identifying vulnerabilities through Wazuh alerts.</a:t>
            </a:r>
            <a:endParaRPr sz="2182">
              <a:solidFill>
                <a:schemeClr val="dk1"/>
              </a:solidFill>
              <a:latin typeface="Archivo Medium"/>
              <a:ea typeface="Archivo Medium"/>
              <a:cs typeface="Archivo Medium"/>
              <a:sym typeface="Archivo Medium"/>
            </a:endParaRPr>
          </a:p>
          <a:p>
            <a:pPr indent="-367188" lvl="0" marL="457200" rtl="0" algn="l">
              <a:lnSpc>
                <a:spcPct val="115000"/>
              </a:lnSpc>
              <a:spcBef>
                <a:spcPts val="0"/>
              </a:spcBef>
              <a:spcAft>
                <a:spcPts val="0"/>
              </a:spcAft>
              <a:buClr>
                <a:schemeClr val="dk1"/>
              </a:buClr>
              <a:buSzPts val="2183"/>
              <a:buFont typeface="Archivo Medium"/>
              <a:buAutoNum type="arabicPeriod"/>
            </a:pPr>
            <a:r>
              <a:rPr lang="en-US" sz="2182">
                <a:solidFill>
                  <a:schemeClr val="dk1"/>
                </a:solidFill>
                <a:latin typeface="Archivo Medium"/>
                <a:ea typeface="Archivo Medium"/>
                <a:cs typeface="Archivo Medium"/>
                <a:sym typeface="Archivo Medium"/>
              </a:rPr>
              <a:t>Mitigating the vulnerability by patching or removing the software.</a:t>
            </a:r>
            <a:endParaRPr sz="2182">
              <a:solidFill>
                <a:schemeClr val="dk1"/>
              </a:solidFill>
              <a:latin typeface="Archivo Medium"/>
              <a:ea typeface="Archivo Medium"/>
              <a:cs typeface="Archivo Medium"/>
              <a:sym typeface="Archivo Medium"/>
            </a:endParaRPr>
          </a:p>
          <a:p>
            <a:pPr indent="-367188" lvl="0" marL="457200" rtl="0" algn="l">
              <a:lnSpc>
                <a:spcPct val="115000"/>
              </a:lnSpc>
              <a:spcBef>
                <a:spcPts val="0"/>
              </a:spcBef>
              <a:spcAft>
                <a:spcPts val="0"/>
              </a:spcAft>
              <a:buClr>
                <a:schemeClr val="dk1"/>
              </a:buClr>
              <a:buSzPts val="2183"/>
              <a:buFont typeface="Archivo Medium"/>
              <a:buAutoNum type="arabicPeriod"/>
            </a:pPr>
            <a:r>
              <a:rPr lang="en-US" sz="2182">
                <a:solidFill>
                  <a:schemeClr val="dk1"/>
                </a:solidFill>
                <a:latin typeface="Archivo Medium"/>
                <a:ea typeface="Archivo Medium"/>
                <a:cs typeface="Archivo Medium"/>
                <a:sym typeface="Archivo Medium"/>
              </a:rPr>
              <a:t>Verifying remediation through a Kibana dashboard.</a:t>
            </a:r>
            <a:endParaRPr sz="21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sz="21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4" name="Shape 3814"/>
        <p:cNvGrpSpPr/>
        <p:nvPr/>
      </p:nvGrpSpPr>
      <p:grpSpPr>
        <a:xfrm>
          <a:off x="0" y="0"/>
          <a:ext cx="0" cy="0"/>
          <a:chOff x="0" y="0"/>
          <a:chExt cx="0" cy="0"/>
        </a:xfrm>
      </p:grpSpPr>
      <p:sp>
        <p:nvSpPr>
          <p:cNvPr id="3815" name="Google Shape;3815;p284"/>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Configuration ossec.conf ( agent )</a:t>
            </a:r>
            <a:endParaRPr b="1" i="0" sz="3600" u="none" cap="none" strike="noStrike">
              <a:solidFill>
                <a:srgbClr val="6D9EEB"/>
              </a:solidFill>
              <a:latin typeface="Poppins"/>
              <a:ea typeface="Poppins"/>
              <a:cs typeface="Poppins"/>
              <a:sym typeface="Poppins"/>
            </a:endParaRPr>
          </a:p>
        </p:txBody>
      </p:sp>
      <p:cxnSp>
        <p:nvCxnSpPr>
          <p:cNvPr id="3816" name="Google Shape;3816;p28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817" name="Google Shape;3817;p28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818" name="Google Shape;3818;p28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819" name="Google Shape;3819;p28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820" name="Google Shape;3820;p2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821" name="Google Shape;3821;p28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822" name="Google Shape;3822;p28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823" name="Google Shape;3823;p284"/>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824" name="Google Shape;3824;p284"/>
          <p:cNvSpPr txBox="1"/>
          <p:nvPr/>
        </p:nvSpPr>
        <p:spPr>
          <a:xfrm>
            <a:off x="778700" y="1730050"/>
            <a:ext cx="102939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sudo nano /var/ossec/etc/ossec.conf</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&lt;vulnerability-detector&gt;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&lt;enabled&gt;yes&lt;/enabled&gt;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&lt;interval&gt;6h&lt;/interval&gt;  &lt;!-- Scan every 6 hours --&gt;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&lt;feed&gt;nvd&lt;/feed&gt;          &lt;!-- Use NVD CVE feed --&gt;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&lt;feed&gt;ubuntu&lt;/feed&gt;       &lt;!-- Ubuntu CVE feed (if on Ubuntu) --&gt;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  &lt;alerts&gt;yes&lt;/alerts&gt;       &lt;!-- Enable alerts for vulnerabilities --&gt;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&lt;/vulnerability-detector&gt;</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2182">
                <a:solidFill>
                  <a:schemeClr val="dk1"/>
                </a:solidFill>
                <a:latin typeface="Courier New"/>
                <a:ea typeface="Courier New"/>
                <a:cs typeface="Courier New"/>
                <a:sym typeface="Courier New"/>
              </a:rPr>
              <a:t>sudo apt install openssl=1.1.1f-1ubuntu2 -y</a:t>
            </a:r>
            <a:endParaRPr sz="21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8" name="Shape 3828"/>
        <p:cNvGrpSpPr/>
        <p:nvPr/>
      </p:nvGrpSpPr>
      <p:grpSpPr>
        <a:xfrm>
          <a:off x="0" y="0"/>
          <a:ext cx="0" cy="0"/>
          <a:chOff x="0" y="0"/>
          <a:chExt cx="0" cy="0"/>
        </a:xfrm>
      </p:grpSpPr>
      <p:sp>
        <p:nvSpPr>
          <p:cNvPr id="3829" name="Google Shape;3829;p285"/>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Openssl Vulnerability</a:t>
            </a:r>
            <a:endParaRPr b="1" i="0" sz="3600" u="none" cap="none" strike="noStrike">
              <a:solidFill>
                <a:srgbClr val="6D9EEB"/>
              </a:solidFill>
              <a:latin typeface="Poppins"/>
              <a:ea typeface="Poppins"/>
              <a:cs typeface="Poppins"/>
              <a:sym typeface="Poppins"/>
            </a:endParaRPr>
          </a:p>
        </p:txBody>
      </p:sp>
      <p:cxnSp>
        <p:nvCxnSpPr>
          <p:cNvPr id="3830" name="Google Shape;3830;p28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831" name="Google Shape;3831;p28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832" name="Google Shape;3832;p28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833" name="Google Shape;3833;p28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834" name="Google Shape;3834;p28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835" name="Google Shape;3835;p28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836" name="Google Shape;3836;p28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837" name="Google Shape;3837;p285"/>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838" name="Google Shape;3838;p285"/>
          <p:cNvSpPr txBox="1"/>
          <p:nvPr/>
        </p:nvSpPr>
        <p:spPr>
          <a:xfrm>
            <a:off x="1000925" y="1650025"/>
            <a:ext cx="102939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Courier New"/>
                <a:ea typeface="Courier New"/>
                <a:cs typeface="Courier New"/>
                <a:sym typeface="Courier New"/>
              </a:rPr>
              <a:t>openssl version</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Courier New"/>
                <a:ea typeface="Courier New"/>
                <a:cs typeface="Courier New"/>
                <a:sym typeface="Courier New"/>
              </a:rPr>
              <a:t>OpenSSL 1.1.1f  31 Mar 2020</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Courier New"/>
                <a:ea typeface="Courier New"/>
                <a:cs typeface="Courier New"/>
                <a:sym typeface="Courier New"/>
              </a:rPr>
              <a:t>tail -f /var/ossec/logs/alerts/alerts.json</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  "rule": {</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    "id": "23501",</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    "level": 12,</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    "description": "Known vulnerability detected",</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    "groups": ["vulnerability-detector", "software"]</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  },</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  "package": "openssl",</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  "version": "1.1.1f",</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  "cve": "CVE-2020-1967",</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  "severity": "HIGH",</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  "status": "unpatched"</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782">
                <a:solidFill>
                  <a:schemeClr val="dk1"/>
                </a:solidFill>
                <a:latin typeface="Courier New"/>
                <a:ea typeface="Courier New"/>
                <a:cs typeface="Courier New"/>
                <a:sym typeface="Courier New"/>
              </a:rPr>
              <a:t>}</a:t>
            </a:r>
            <a:endParaRPr sz="17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2" name="Shape 3842"/>
        <p:cNvGrpSpPr/>
        <p:nvPr/>
      </p:nvGrpSpPr>
      <p:grpSpPr>
        <a:xfrm>
          <a:off x="0" y="0"/>
          <a:ext cx="0" cy="0"/>
          <a:chOff x="0" y="0"/>
          <a:chExt cx="0" cy="0"/>
        </a:xfrm>
      </p:grpSpPr>
      <p:sp>
        <p:nvSpPr>
          <p:cNvPr id="3843" name="Google Shape;3843;p286"/>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Proving</a:t>
            </a:r>
            <a:r>
              <a:rPr b="1" lang="en-US" sz="3600">
                <a:solidFill>
                  <a:srgbClr val="6D9EEB"/>
                </a:solidFill>
                <a:latin typeface="Poppins"/>
                <a:ea typeface="Poppins"/>
                <a:cs typeface="Poppins"/>
                <a:sym typeface="Poppins"/>
              </a:rPr>
              <a:t> </a:t>
            </a:r>
            <a:endParaRPr b="1" i="0" sz="3600" u="none" cap="none" strike="noStrike">
              <a:solidFill>
                <a:srgbClr val="6D9EEB"/>
              </a:solidFill>
              <a:latin typeface="Poppins"/>
              <a:ea typeface="Poppins"/>
              <a:cs typeface="Poppins"/>
              <a:sym typeface="Poppins"/>
            </a:endParaRPr>
          </a:p>
        </p:txBody>
      </p:sp>
      <p:cxnSp>
        <p:nvCxnSpPr>
          <p:cNvPr id="3844" name="Google Shape;3844;p28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845" name="Google Shape;3845;p28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846" name="Google Shape;3846;p28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847" name="Google Shape;3847;p28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848" name="Google Shape;3848;p28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849" name="Google Shape;3849;p28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850" name="Google Shape;3850;p28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851" name="Google Shape;3851;p286"/>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852" name="Google Shape;3852;p286"/>
          <p:cNvSpPr txBox="1"/>
          <p:nvPr/>
        </p:nvSpPr>
        <p:spPr>
          <a:xfrm>
            <a:off x="1066800" y="1650025"/>
            <a:ext cx="102939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sudo apt upgrade openssl -y</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sudo /var/ossec/bin/wazuh-control restart agent</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tail -f /var/ossec/logs/alerts/alerts.json</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6" name="Shape 3856"/>
        <p:cNvGrpSpPr/>
        <p:nvPr/>
      </p:nvGrpSpPr>
      <p:grpSpPr>
        <a:xfrm>
          <a:off x="0" y="0"/>
          <a:ext cx="0" cy="0"/>
          <a:chOff x="0" y="0"/>
          <a:chExt cx="0" cy="0"/>
        </a:xfrm>
      </p:grpSpPr>
      <p:sp>
        <p:nvSpPr>
          <p:cNvPr id="3857" name="Google Shape;3857;p287"/>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File Integrity Monitoring</a:t>
            </a:r>
            <a:endParaRPr b="1" i="0" sz="3600" u="none" cap="none" strike="noStrike">
              <a:solidFill>
                <a:srgbClr val="6D9EEB"/>
              </a:solidFill>
              <a:latin typeface="Poppins"/>
              <a:ea typeface="Poppins"/>
              <a:cs typeface="Poppins"/>
              <a:sym typeface="Poppins"/>
            </a:endParaRPr>
          </a:p>
        </p:txBody>
      </p:sp>
      <p:cxnSp>
        <p:nvCxnSpPr>
          <p:cNvPr id="3858" name="Google Shape;3858;p28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859" name="Google Shape;3859;p28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860" name="Google Shape;3860;p28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861" name="Google Shape;3861;p28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862" name="Google Shape;3862;p28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863" name="Google Shape;3863;p28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864" name="Google Shape;3864;p28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865" name="Google Shape;3865;p287"/>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866" name="Google Shape;3866;p287"/>
          <p:cNvSpPr txBox="1"/>
          <p:nvPr/>
        </p:nvSpPr>
        <p:spPr>
          <a:xfrm>
            <a:off x="778700" y="1730050"/>
            <a:ext cx="102939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&lt;syscheck&gt;</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  &lt;directories realtime="yes"&gt;%PROGRAMDATA%\Microsoft\Windows\Start Menu\Programs\Startup&lt;/directories&gt;</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&lt;/syscheck&gt;</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cd "C:\ProgramData\Microsoft\Windows\Start Menu\Programs\Startup"</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Invoke-WebRequest -Uri https://secure.eicar.org/eicar.com.txt -OutFile eicar.txt</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Remove-Item eicar.txt</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pic>
        <p:nvPicPr>
          <p:cNvPr id="3867" name="Google Shape;3867;p287"/>
          <p:cNvPicPr preferRelativeResize="0"/>
          <p:nvPr/>
        </p:nvPicPr>
        <p:blipFill>
          <a:blip r:embed="rId6">
            <a:alphaModFix/>
          </a:blip>
          <a:stretch>
            <a:fillRect/>
          </a:stretch>
        </p:blipFill>
        <p:spPr>
          <a:xfrm>
            <a:off x="732712" y="1650025"/>
            <a:ext cx="10563289" cy="3409113"/>
          </a:xfrm>
          <a:prstGeom prst="rect">
            <a:avLst/>
          </a:prstGeom>
          <a:noFill/>
          <a:ln>
            <a:noFill/>
          </a:ln>
          <a:effectLst>
            <a:outerShdw blurRad="57150" rotWithShape="0" algn="bl" dir="12600000" dist="19050">
              <a:srgbClr val="000000">
                <a:alpha val="80000"/>
              </a:srgbClr>
            </a:outerShdw>
          </a:effectLst>
        </p:spPr>
      </p:pic>
    </p:spTree>
  </p:cSld>
  <p:clrMapOvr>
    <a:masterClrMapping/>
  </p:clrMapOvr>
  <p:transition spd="slow">
    <p:fade thruBlk="1"/>
  </p:transition>
</p:sld>
</file>

<file path=ppt/slides/slide2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871" name="Shape 3871"/>
        <p:cNvGrpSpPr/>
        <p:nvPr/>
      </p:nvGrpSpPr>
      <p:grpSpPr>
        <a:xfrm>
          <a:off x="0" y="0"/>
          <a:ext cx="0" cy="0"/>
          <a:chOff x="0" y="0"/>
          <a:chExt cx="0" cy="0"/>
        </a:xfrm>
      </p:grpSpPr>
      <p:pic>
        <p:nvPicPr>
          <p:cNvPr descr="A picture containing food, drawing, shirt&#10;&#10;Description automatically generated" id="3872" name="Google Shape;3872;p28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873" name="Google Shape;3873;p28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874" name="Google Shape;3874;p28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875" name="Google Shape;3875;p288"/>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876" name="Google Shape;3876;p28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877" name="Google Shape;3877;p288"/>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878" name="Google Shape;3878;p288"/>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3879" name="Google Shape;3879;p288"/>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883" name="Shape 3883"/>
        <p:cNvGrpSpPr/>
        <p:nvPr/>
      </p:nvGrpSpPr>
      <p:grpSpPr>
        <a:xfrm>
          <a:off x="0" y="0"/>
          <a:ext cx="0" cy="0"/>
          <a:chOff x="0" y="0"/>
          <a:chExt cx="0" cy="0"/>
        </a:xfrm>
      </p:grpSpPr>
      <p:pic>
        <p:nvPicPr>
          <p:cNvPr descr="A picture containing food, drawing, shirt&#10;&#10;Description automatically generated" id="3884" name="Google Shape;3884;p28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885" name="Google Shape;3885;p28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886" name="Google Shape;3886;p28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887" name="Google Shape;3887;p289"/>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888" name="Google Shape;3888;p28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889" name="Google Shape;3889;p289"/>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890" name="Google Shape;3890;p289"/>
          <p:cNvSpPr txBox="1"/>
          <p:nvPr/>
        </p:nvSpPr>
        <p:spPr>
          <a:xfrm>
            <a:off x="1357489" y="3803851"/>
            <a:ext cx="9477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lt1"/>
                </a:solidFill>
                <a:highlight>
                  <a:srgbClr val="3585F9"/>
                </a:highlight>
                <a:latin typeface="Poppins"/>
                <a:ea typeface="Poppins"/>
                <a:cs typeface="Poppins"/>
                <a:sym typeface="Poppins"/>
              </a:rPr>
              <a:t>Rootkit Detection</a:t>
            </a:r>
            <a:endParaRPr sz="4400">
              <a:solidFill>
                <a:schemeClr val="lt1"/>
              </a:solidFill>
              <a:highlight>
                <a:srgbClr val="3585F9"/>
              </a:highlight>
              <a:latin typeface="Poppins"/>
              <a:ea typeface="Poppins"/>
              <a:cs typeface="Poppins"/>
              <a:sym typeface="Poppins"/>
            </a:endParaRPr>
          </a:p>
        </p:txBody>
      </p:sp>
      <p:pic>
        <p:nvPicPr>
          <p:cNvPr id="3891" name="Google Shape;3891;p289"/>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5" name="Shape 3895"/>
        <p:cNvGrpSpPr/>
        <p:nvPr/>
      </p:nvGrpSpPr>
      <p:grpSpPr>
        <a:xfrm>
          <a:off x="0" y="0"/>
          <a:ext cx="0" cy="0"/>
          <a:chOff x="0" y="0"/>
          <a:chExt cx="0" cy="0"/>
        </a:xfrm>
      </p:grpSpPr>
      <p:sp>
        <p:nvSpPr>
          <p:cNvPr id="3896" name="Google Shape;3896;p290"/>
          <p:cNvSpPr txBox="1"/>
          <p:nvPr/>
        </p:nvSpPr>
        <p:spPr>
          <a:xfrm>
            <a:off x="603103" y="486375"/>
            <a:ext cx="10392900" cy="6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900">
                <a:solidFill>
                  <a:srgbClr val="6D9EEB"/>
                </a:solidFill>
                <a:latin typeface="Poppins"/>
                <a:ea typeface="Poppins"/>
                <a:cs typeface="Poppins"/>
                <a:sym typeface="Poppins"/>
              </a:rPr>
              <a:t>Security Configuration Assessment </a:t>
            </a:r>
            <a:endParaRPr b="1" i="0" sz="3900" u="none" cap="none" strike="noStrike">
              <a:solidFill>
                <a:srgbClr val="6D9EEB"/>
              </a:solidFill>
              <a:latin typeface="Poppins"/>
              <a:ea typeface="Poppins"/>
              <a:cs typeface="Poppins"/>
              <a:sym typeface="Poppins"/>
            </a:endParaRPr>
          </a:p>
        </p:txBody>
      </p:sp>
      <p:cxnSp>
        <p:nvCxnSpPr>
          <p:cNvPr id="3897" name="Google Shape;3897;p29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898" name="Google Shape;3898;p29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899" name="Google Shape;3899;p29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900" name="Google Shape;3900;p29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901" name="Google Shape;3901;p29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902" name="Google Shape;3902;p29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903" name="Google Shape;3903;p29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904" name="Google Shape;3904;p290"/>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905" name="Google Shape;3905;p290"/>
          <p:cNvSpPr txBox="1"/>
          <p:nvPr/>
        </p:nvSpPr>
        <p:spPr>
          <a:xfrm>
            <a:off x="1000925" y="1650025"/>
            <a:ext cx="100935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2100">
                <a:solidFill>
                  <a:schemeClr val="dk1"/>
                </a:solidFill>
                <a:latin typeface="Archivo Medium"/>
                <a:ea typeface="Archivo Medium"/>
                <a:cs typeface="Archivo Medium"/>
                <a:sym typeface="Archivo Medium"/>
              </a:rPr>
              <a:t>Wazuh menggunakan kombinasi dari Pemantauan Integritas File (File Integrity Monitoring/FIM), Rootcheck, dan analisis log secara real-time untuk mendeteksi rootkit baik pada mode pengguna (user-mode) maupun mode kernel (kernel-mode).</a:t>
            </a:r>
            <a:endParaRPr sz="21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1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100">
                <a:solidFill>
                  <a:schemeClr val="dk1"/>
                </a:solidFill>
                <a:latin typeface="Archivo Medium"/>
                <a:ea typeface="Archivo Medium"/>
                <a:cs typeface="Archivo Medium"/>
                <a:sym typeface="Archivo Medium"/>
              </a:rPr>
              <a:t>Rootkit adalah perangkat lunak berbahaya yang berusaha mendapatkan akses tidak sah ke sistem dan menyembunyikan keberadaannya. Wazuh memantau perilaku sistem dan memindai indikator kompromi (Indicators of Compromise/IoC) untuk mendeteksi intrusi semacam ini.</a:t>
            </a:r>
            <a:endParaRPr sz="21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1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9" name="Shape 3909"/>
        <p:cNvGrpSpPr/>
        <p:nvPr/>
      </p:nvGrpSpPr>
      <p:grpSpPr>
        <a:xfrm>
          <a:off x="0" y="0"/>
          <a:ext cx="0" cy="0"/>
          <a:chOff x="0" y="0"/>
          <a:chExt cx="0" cy="0"/>
        </a:xfrm>
      </p:grpSpPr>
      <p:sp>
        <p:nvSpPr>
          <p:cNvPr id="3910" name="Google Shape;3910;p291"/>
          <p:cNvSpPr txBox="1"/>
          <p:nvPr/>
        </p:nvSpPr>
        <p:spPr>
          <a:xfrm>
            <a:off x="603103" y="486375"/>
            <a:ext cx="10392900" cy="2308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3600">
                <a:solidFill>
                  <a:srgbClr val="6D9EEB"/>
                </a:solidFill>
                <a:latin typeface="Poppins"/>
                <a:ea typeface="Poppins"/>
                <a:cs typeface="Poppins"/>
                <a:sym typeface="Poppins"/>
              </a:rPr>
              <a:t>What are User-Mode and Kernel-Mode Rootkits?</a:t>
            </a:r>
            <a:endParaRPr b="1" sz="3600">
              <a:solidFill>
                <a:srgbClr val="6D9EEB"/>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b="1" sz="3600">
              <a:solidFill>
                <a:srgbClr val="6D9EEB"/>
              </a:solidFill>
              <a:latin typeface="Poppins"/>
              <a:ea typeface="Poppins"/>
              <a:cs typeface="Poppins"/>
              <a:sym typeface="Poppins"/>
            </a:endParaRPr>
          </a:p>
          <a:p>
            <a:pPr indent="0" lvl="0" marL="0" marR="0" rtl="0" algn="l">
              <a:lnSpc>
                <a:spcPct val="100000"/>
              </a:lnSpc>
              <a:spcBef>
                <a:spcPts val="0"/>
              </a:spcBef>
              <a:spcAft>
                <a:spcPts val="0"/>
              </a:spcAft>
              <a:buClr>
                <a:srgbClr val="C41F2F"/>
              </a:buClr>
              <a:buSzPts val="3600"/>
              <a:buFont typeface="Arial"/>
              <a:buNone/>
            </a:pPr>
            <a:r>
              <a:t/>
            </a:r>
            <a:endParaRPr b="1" sz="3600">
              <a:solidFill>
                <a:srgbClr val="6D9EEB"/>
              </a:solidFill>
              <a:latin typeface="Poppins"/>
              <a:ea typeface="Poppins"/>
              <a:cs typeface="Poppins"/>
              <a:sym typeface="Poppins"/>
            </a:endParaRPr>
          </a:p>
        </p:txBody>
      </p:sp>
      <p:cxnSp>
        <p:nvCxnSpPr>
          <p:cNvPr id="3911" name="Google Shape;3911;p29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912" name="Google Shape;3912;p29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913" name="Google Shape;3913;p29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914" name="Google Shape;3914;p29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915" name="Google Shape;3915;p29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916" name="Google Shape;3916;p29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917" name="Google Shape;3917;p29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918" name="Google Shape;3918;p291"/>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919" name="Google Shape;3919;p291"/>
          <p:cNvSpPr txBox="1"/>
          <p:nvPr/>
        </p:nvSpPr>
        <p:spPr>
          <a:xfrm>
            <a:off x="1000925" y="2065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2000">
                <a:solidFill>
                  <a:schemeClr val="dk1"/>
                </a:solidFill>
                <a:latin typeface="Archivo Medium"/>
                <a:ea typeface="Archivo Medium"/>
                <a:cs typeface="Archivo Medium"/>
                <a:sym typeface="Archivo Medium"/>
              </a:rPr>
              <a:t>Rootkit Mode Pengguna (User-Mode Rootkits):</a:t>
            </a:r>
            <a:endParaRPr sz="2000">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2000">
              <a:solidFill>
                <a:schemeClr val="dk1"/>
              </a:solidFill>
              <a:latin typeface="Archivo Medium"/>
              <a:ea typeface="Archivo Medium"/>
              <a:cs typeface="Archivo Medium"/>
              <a:sym typeface="Archivo Medium"/>
            </a:endParaRPr>
          </a:p>
          <a:p>
            <a:pPr indent="-355600" lvl="0" marL="457200" rtl="0" algn="l">
              <a:lnSpc>
                <a:spcPct val="80000"/>
              </a:lnSpc>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Beroperasi di ruang pengguna dan memodifikasi file biner sistem atau file konfigurasi.</a:t>
            </a:r>
            <a:endParaRPr sz="2000">
              <a:solidFill>
                <a:schemeClr val="dk1"/>
              </a:solidFill>
              <a:latin typeface="Archivo Medium"/>
              <a:ea typeface="Archivo Medium"/>
              <a:cs typeface="Archivo Medium"/>
              <a:sym typeface="Archivo Medium"/>
            </a:endParaRPr>
          </a:p>
          <a:p>
            <a:pPr indent="-355600" lvl="0" marL="457200" rtl="0" algn="l">
              <a:lnSpc>
                <a:spcPct val="80000"/>
              </a:lnSpc>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Bertujuan untuk memanipulasi proses level pengguna (misalnya, mengganti perintah ls atau ps dengan versi berbahaya).</a:t>
            </a:r>
            <a:endParaRPr sz="2000">
              <a:solidFill>
                <a:schemeClr val="dk1"/>
              </a:solidFill>
              <a:latin typeface="Archivo Medium"/>
              <a:ea typeface="Archivo Medium"/>
              <a:cs typeface="Archivo Medium"/>
              <a:sym typeface="Archivo Medium"/>
            </a:endParaRPr>
          </a:p>
          <a:p>
            <a:pPr indent="-355600" lvl="0" marL="457200" rtl="0" algn="l">
              <a:lnSpc>
                <a:spcPct val="80000"/>
              </a:lnSpc>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Dapat menyembunyikan file, proses, atau koneksi jaringan dengan cara mengotak-atik utilitas sistem.</a:t>
            </a:r>
            <a:endParaRPr sz="20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0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000">
                <a:solidFill>
                  <a:schemeClr val="dk1"/>
                </a:solidFill>
                <a:latin typeface="Archivo Medium"/>
                <a:ea typeface="Archivo Medium"/>
                <a:cs typeface="Archivo Medium"/>
                <a:sym typeface="Archivo Medium"/>
              </a:rPr>
              <a:t>Rootkit Mode Kernel (Kernel-Mode Rootkits):</a:t>
            </a:r>
            <a:endParaRPr sz="2000">
              <a:solidFill>
                <a:schemeClr val="dk1"/>
              </a:solidFill>
              <a:latin typeface="Archivo Medium"/>
              <a:ea typeface="Archivo Medium"/>
              <a:cs typeface="Archivo Medium"/>
              <a:sym typeface="Archivo Medium"/>
            </a:endParaRPr>
          </a:p>
          <a:p>
            <a:pPr indent="0" lvl="0" marL="457200" rtl="0" algn="l">
              <a:lnSpc>
                <a:spcPct val="80000"/>
              </a:lnSpc>
              <a:spcBef>
                <a:spcPts val="0"/>
              </a:spcBef>
              <a:spcAft>
                <a:spcPts val="0"/>
              </a:spcAft>
              <a:buNone/>
            </a:pPr>
            <a:r>
              <a:t/>
            </a:r>
            <a:endParaRPr sz="2000">
              <a:solidFill>
                <a:schemeClr val="dk1"/>
              </a:solidFill>
              <a:latin typeface="Archivo Medium"/>
              <a:ea typeface="Archivo Medium"/>
              <a:cs typeface="Archivo Medium"/>
              <a:sym typeface="Archivo Medium"/>
            </a:endParaRPr>
          </a:p>
          <a:p>
            <a:pPr indent="-355600" lvl="0" marL="457200" rtl="0" algn="l">
              <a:lnSpc>
                <a:spcPct val="80000"/>
              </a:lnSpc>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Beroperasi di ruang kernel (inti dari sistem operasi).</a:t>
            </a:r>
            <a:endParaRPr sz="2000">
              <a:solidFill>
                <a:schemeClr val="dk1"/>
              </a:solidFill>
              <a:latin typeface="Archivo Medium"/>
              <a:ea typeface="Archivo Medium"/>
              <a:cs typeface="Archivo Medium"/>
              <a:sym typeface="Archivo Medium"/>
            </a:endParaRPr>
          </a:p>
          <a:p>
            <a:pPr indent="-355600" lvl="0" marL="457200" rtl="0" algn="l">
              <a:lnSpc>
                <a:spcPct val="80000"/>
              </a:lnSpc>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Memodifikasi kernel atau memuat modul kernel berbahaya (seperti driver) untuk mendapatkan kontrol yang lebih dalam.</a:t>
            </a:r>
            <a:endParaRPr sz="2000">
              <a:solidFill>
                <a:schemeClr val="dk1"/>
              </a:solidFill>
              <a:latin typeface="Archivo Medium"/>
              <a:ea typeface="Archivo Medium"/>
              <a:cs typeface="Archivo Medium"/>
              <a:sym typeface="Archivo Medium"/>
            </a:endParaRPr>
          </a:p>
          <a:p>
            <a:pPr indent="-355600" lvl="0" marL="457200" rtl="0" algn="l">
              <a:lnSpc>
                <a:spcPct val="80000"/>
              </a:lnSpc>
              <a:spcBef>
                <a:spcPts val="0"/>
              </a:spcBef>
              <a:spcAft>
                <a:spcPts val="0"/>
              </a:spcAft>
              <a:buClr>
                <a:schemeClr val="dk1"/>
              </a:buClr>
              <a:buSzPts val="2000"/>
              <a:buFont typeface="Archivo Medium"/>
              <a:buChar char="●"/>
            </a:pPr>
            <a:r>
              <a:rPr lang="en-US" sz="2000">
                <a:solidFill>
                  <a:schemeClr val="dk1"/>
                </a:solidFill>
                <a:latin typeface="Archivo Medium"/>
                <a:ea typeface="Archivo Medium"/>
                <a:cs typeface="Archivo Medium"/>
                <a:sym typeface="Archivo Medium"/>
              </a:rPr>
              <a:t>Dapat mencegat panggilan sistem (system calls) atau menyembunyikan proses dan file dari administrator sistem serta alat keamanan.</a:t>
            </a:r>
            <a:endParaRPr sz="20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0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3" name="Shape 3923"/>
        <p:cNvGrpSpPr/>
        <p:nvPr/>
      </p:nvGrpSpPr>
      <p:grpSpPr>
        <a:xfrm>
          <a:off x="0" y="0"/>
          <a:ext cx="0" cy="0"/>
          <a:chOff x="0" y="0"/>
          <a:chExt cx="0" cy="0"/>
        </a:xfrm>
      </p:grpSpPr>
      <p:sp>
        <p:nvSpPr>
          <p:cNvPr id="3924" name="Google Shape;3924;p292"/>
          <p:cNvSpPr txBox="1"/>
          <p:nvPr/>
        </p:nvSpPr>
        <p:spPr>
          <a:xfrm>
            <a:off x="603103" y="486375"/>
            <a:ext cx="10392900" cy="1831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4100">
                <a:solidFill>
                  <a:srgbClr val="6D9EEB"/>
                </a:solidFill>
                <a:latin typeface="Poppins"/>
                <a:ea typeface="Poppins"/>
                <a:cs typeface="Poppins"/>
                <a:sym typeface="Poppins"/>
              </a:rPr>
              <a:t>How Wazuh Detects User-Mode </a:t>
            </a:r>
            <a:endParaRPr b="1" sz="4100">
              <a:solidFill>
                <a:srgbClr val="6D9EEB"/>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b="1" sz="3600">
              <a:solidFill>
                <a:srgbClr val="6D9EEB"/>
              </a:solidFill>
              <a:latin typeface="Poppins"/>
              <a:ea typeface="Poppins"/>
              <a:cs typeface="Poppins"/>
              <a:sym typeface="Poppins"/>
            </a:endParaRPr>
          </a:p>
          <a:p>
            <a:pPr indent="0" lvl="0" marL="0" marR="0" rtl="0" algn="l">
              <a:lnSpc>
                <a:spcPct val="100000"/>
              </a:lnSpc>
              <a:spcBef>
                <a:spcPts val="0"/>
              </a:spcBef>
              <a:spcAft>
                <a:spcPts val="0"/>
              </a:spcAft>
              <a:buClr>
                <a:srgbClr val="C41F2F"/>
              </a:buClr>
              <a:buSzPts val="3600"/>
              <a:buFont typeface="Arial"/>
              <a:buNone/>
            </a:pPr>
            <a:r>
              <a:t/>
            </a:r>
            <a:endParaRPr b="1" sz="3600">
              <a:solidFill>
                <a:srgbClr val="6D9EEB"/>
              </a:solidFill>
              <a:latin typeface="Poppins"/>
              <a:ea typeface="Poppins"/>
              <a:cs typeface="Poppins"/>
              <a:sym typeface="Poppins"/>
            </a:endParaRPr>
          </a:p>
        </p:txBody>
      </p:sp>
      <p:cxnSp>
        <p:nvCxnSpPr>
          <p:cNvPr id="3925" name="Google Shape;3925;p29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926" name="Google Shape;3926;p29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927" name="Google Shape;3927;p29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928" name="Google Shape;3928;p29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929" name="Google Shape;3929;p29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930" name="Google Shape;3930;p29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931" name="Google Shape;3931;p29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932" name="Google Shape;3932;p292"/>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933" name="Google Shape;3933;p292"/>
          <p:cNvSpPr txBox="1"/>
          <p:nvPr/>
        </p:nvSpPr>
        <p:spPr>
          <a:xfrm>
            <a:off x="1000925" y="1650025"/>
            <a:ext cx="9972000" cy="2859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2100">
                <a:solidFill>
                  <a:schemeClr val="dk1"/>
                </a:solidFill>
                <a:latin typeface="Archivo Medium"/>
                <a:ea typeface="Archivo Medium"/>
                <a:cs typeface="Archivo Medium"/>
                <a:sym typeface="Archivo Medium"/>
              </a:rPr>
              <a:t>File Integrity Monitoring (FIM) Mendeteksi Rootkit Mode Pengguna:</a:t>
            </a:r>
            <a:endParaRPr sz="21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Clr>
                <a:schemeClr val="dk1"/>
              </a:buClr>
              <a:buSzPts val="1100"/>
              <a:buFont typeface="Arial"/>
              <a:buNone/>
            </a:pPr>
            <a:r>
              <a:t/>
            </a:r>
            <a:endParaRPr sz="2100">
              <a:solidFill>
                <a:schemeClr val="dk1"/>
              </a:solidFill>
              <a:latin typeface="Archivo Medium"/>
              <a:ea typeface="Archivo Medium"/>
              <a:cs typeface="Archivo Medium"/>
              <a:sym typeface="Archivo Medium"/>
            </a:endParaRPr>
          </a:p>
          <a:p>
            <a:pPr indent="-361950" lvl="0" marL="457200" rtl="0" algn="l">
              <a:lnSpc>
                <a:spcPct val="115000"/>
              </a:lnSpc>
              <a:spcBef>
                <a:spcPts val="0"/>
              </a:spcBef>
              <a:spcAft>
                <a:spcPts val="0"/>
              </a:spcAft>
              <a:buClr>
                <a:schemeClr val="dk1"/>
              </a:buClr>
              <a:buSzPts val="2100"/>
              <a:buFont typeface="Archivo Medium"/>
              <a:buChar char="●"/>
            </a:pPr>
            <a:r>
              <a:rPr lang="en-US" sz="2100">
                <a:solidFill>
                  <a:schemeClr val="dk1"/>
                </a:solidFill>
                <a:latin typeface="Archivo Medium"/>
                <a:ea typeface="Archivo Medium"/>
                <a:cs typeface="Archivo Medium"/>
                <a:sym typeface="Archivo Medium"/>
              </a:rPr>
              <a:t>Wazuh memantau direktori-direktori penting (misalnya, /bin, /usr/bin, /etc) untuk mendeteksi perubahan file yang tidak diharapkan.</a:t>
            </a:r>
            <a:endParaRPr sz="2100">
              <a:solidFill>
                <a:schemeClr val="dk1"/>
              </a:solidFill>
              <a:latin typeface="Archivo Medium"/>
              <a:ea typeface="Archivo Medium"/>
              <a:cs typeface="Archivo Medium"/>
              <a:sym typeface="Archivo Medium"/>
            </a:endParaRPr>
          </a:p>
          <a:p>
            <a:pPr indent="-361950" lvl="0" marL="457200" rtl="0" algn="l">
              <a:lnSpc>
                <a:spcPct val="115000"/>
              </a:lnSpc>
              <a:spcBef>
                <a:spcPts val="0"/>
              </a:spcBef>
              <a:spcAft>
                <a:spcPts val="0"/>
              </a:spcAft>
              <a:buClr>
                <a:schemeClr val="dk1"/>
              </a:buClr>
              <a:buSzPts val="2100"/>
              <a:buFont typeface="Archivo Medium"/>
              <a:buChar char="●"/>
            </a:pPr>
            <a:r>
              <a:rPr lang="en-US" sz="2100">
                <a:solidFill>
                  <a:schemeClr val="dk1"/>
                </a:solidFill>
                <a:latin typeface="Archivo Medium"/>
                <a:ea typeface="Archivo Medium"/>
                <a:cs typeface="Archivo Medium"/>
                <a:sym typeface="Archivo Medium"/>
              </a:rPr>
              <a:t>Jika perangkat lunak berbahaya menggantikan file biner inti seperti ps, ls, atau netstat, Wazuh akan mengeluarkan peringatan.</a:t>
            </a:r>
            <a:endParaRPr sz="21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Clr>
                <a:schemeClr val="dk1"/>
              </a:buClr>
              <a:buSzPts val="1100"/>
              <a:buFont typeface="Arial"/>
              <a:buNone/>
            </a:pPr>
            <a:r>
              <a:t/>
            </a:r>
            <a:endParaRPr sz="21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rPr lang="en-US" sz="2100">
                <a:solidFill>
                  <a:schemeClr val="dk1"/>
                </a:solidFill>
                <a:latin typeface="Archivo Medium"/>
                <a:ea typeface="Archivo Medium"/>
                <a:cs typeface="Archivo Medium"/>
                <a:sym typeface="Archivo Medium"/>
              </a:rPr>
              <a:t>Memantau Library Sistem dan File Konfigurasi:</a:t>
            </a:r>
            <a:endParaRPr sz="21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Clr>
                <a:schemeClr val="dk1"/>
              </a:buClr>
              <a:buSzPts val="1100"/>
              <a:buFont typeface="Arial"/>
              <a:buNone/>
            </a:pPr>
            <a:r>
              <a:t/>
            </a:r>
            <a:endParaRPr sz="2100">
              <a:solidFill>
                <a:schemeClr val="dk1"/>
              </a:solidFill>
              <a:latin typeface="Archivo Medium"/>
              <a:ea typeface="Archivo Medium"/>
              <a:cs typeface="Archivo Medium"/>
              <a:sym typeface="Archivo Medium"/>
            </a:endParaRPr>
          </a:p>
          <a:p>
            <a:pPr indent="-361950" lvl="0" marL="457200" rtl="0" algn="l">
              <a:lnSpc>
                <a:spcPct val="115000"/>
              </a:lnSpc>
              <a:spcBef>
                <a:spcPts val="0"/>
              </a:spcBef>
              <a:spcAft>
                <a:spcPts val="0"/>
              </a:spcAft>
              <a:buClr>
                <a:schemeClr val="dk1"/>
              </a:buClr>
              <a:buSzPts val="2100"/>
              <a:buFont typeface="Archivo Medium"/>
              <a:buChar char="●"/>
            </a:pPr>
            <a:r>
              <a:rPr lang="en-US" sz="2100">
                <a:solidFill>
                  <a:schemeClr val="dk1"/>
                </a:solidFill>
                <a:latin typeface="Archivo Medium"/>
                <a:ea typeface="Archivo Medium"/>
                <a:cs typeface="Archivo Medium"/>
                <a:sym typeface="Archivo Medium"/>
              </a:rPr>
              <a:t>Mendeteksi jika rootkit memanipulasi library bersama (misalnya, libc.so) atau file konfigurasi.</a:t>
            </a:r>
            <a:endParaRPr sz="21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sz="21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7" name="Shape 3937"/>
        <p:cNvGrpSpPr/>
        <p:nvPr/>
      </p:nvGrpSpPr>
      <p:grpSpPr>
        <a:xfrm>
          <a:off x="0" y="0"/>
          <a:ext cx="0" cy="0"/>
          <a:chOff x="0" y="0"/>
          <a:chExt cx="0" cy="0"/>
        </a:xfrm>
      </p:grpSpPr>
      <p:sp>
        <p:nvSpPr>
          <p:cNvPr id="3938" name="Google Shape;3938;p293"/>
          <p:cNvSpPr txBox="1"/>
          <p:nvPr/>
        </p:nvSpPr>
        <p:spPr>
          <a:xfrm>
            <a:off x="603103" y="486375"/>
            <a:ext cx="10392900" cy="1754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3600">
                <a:solidFill>
                  <a:srgbClr val="6D9EEB"/>
                </a:solidFill>
                <a:latin typeface="Poppins"/>
                <a:ea typeface="Poppins"/>
                <a:cs typeface="Poppins"/>
                <a:sym typeface="Poppins"/>
              </a:rPr>
              <a:t>Rootcheck (Rootkit Detection Module)</a:t>
            </a:r>
            <a:endParaRPr b="1" sz="3600">
              <a:solidFill>
                <a:srgbClr val="6D9EEB"/>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b="1" sz="3600">
              <a:solidFill>
                <a:srgbClr val="6D9EEB"/>
              </a:solidFill>
              <a:latin typeface="Poppins"/>
              <a:ea typeface="Poppins"/>
              <a:cs typeface="Poppins"/>
              <a:sym typeface="Poppins"/>
            </a:endParaRPr>
          </a:p>
          <a:p>
            <a:pPr indent="0" lvl="0" marL="0" marR="0" rtl="0" algn="l">
              <a:lnSpc>
                <a:spcPct val="100000"/>
              </a:lnSpc>
              <a:spcBef>
                <a:spcPts val="0"/>
              </a:spcBef>
              <a:spcAft>
                <a:spcPts val="0"/>
              </a:spcAft>
              <a:buClr>
                <a:srgbClr val="C41F2F"/>
              </a:buClr>
              <a:buSzPts val="3600"/>
              <a:buFont typeface="Arial"/>
              <a:buNone/>
            </a:pPr>
            <a:r>
              <a:t/>
            </a:r>
            <a:endParaRPr b="1" sz="3600">
              <a:solidFill>
                <a:srgbClr val="6D9EEB"/>
              </a:solidFill>
              <a:latin typeface="Poppins"/>
              <a:ea typeface="Poppins"/>
              <a:cs typeface="Poppins"/>
              <a:sym typeface="Poppins"/>
            </a:endParaRPr>
          </a:p>
        </p:txBody>
      </p:sp>
      <p:cxnSp>
        <p:nvCxnSpPr>
          <p:cNvPr id="3939" name="Google Shape;3939;p29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940" name="Google Shape;3940;p29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941" name="Google Shape;3941;p29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942" name="Google Shape;3942;p29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943" name="Google Shape;3943;p29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944" name="Google Shape;3944;p29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945" name="Google Shape;3945;p29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946" name="Google Shape;3946;p293"/>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947" name="Google Shape;3947;p293"/>
          <p:cNvSpPr txBox="1"/>
          <p:nvPr/>
        </p:nvSpPr>
        <p:spPr>
          <a:xfrm>
            <a:off x="890250" y="1383225"/>
            <a:ext cx="9972000" cy="2859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Mendeteksi Rootkit Mode Kernel:</a:t>
            </a:r>
            <a:endParaRPr sz="1900">
              <a:solidFill>
                <a:schemeClr val="dk1"/>
              </a:solidFill>
              <a:latin typeface="Archivo Medium"/>
              <a:ea typeface="Archivo Medium"/>
              <a:cs typeface="Archivo Medium"/>
              <a:sym typeface="Archivo Medium"/>
            </a:endParaRPr>
          </a:p>
          <a:p>
            <a:pPr indent="-349250" lvl="0" marL="457200" rtl="0" algn="l">
              <a:lnSpc>
                <a:spcPct val="115000"/>
              </a:lnSpc>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Rootcheck melakukan pemindaian untuk mencari tanda-tanda perilaku rootkit baik di ruang kernel maupun ruang pengguna.</a:t>
            </a:r>
            <a:endParaRPr sz="1900">
              <a:solidFill>
                <a:schemeClr val="dk1"/>
              </a:solidFill>
              <a:latin typeface="Archivo Medium"/>
              <a:ea typeface="Archivo Medium"/>
              <a:cs typeface="Archivo Medium"/>
              <a:sym typeface="Archivo Medium"/>
            </a:endParaRPr>
          </a:p>
          <a:p>
            <a:pPr indent="457200" lvl="0" marL="457200" rtl="0" algn="l">
              <a:lnSpc>
                <a:spcPct val="115000"/>
              </a:lnSpc>
              <a:spcBef>
                <a:spcPts val="0"/>
              </a:spcBef>
              <a:spcAft>
                <a:spcPts val="0"/>
              </a:spcAft>
              <a:buNone/>
            </a:pPr>
            <a:r>
              <a:rPr lang="en-US" sz="1900">
                <a:solidFill>
                  <a:schemeClr val="dk1"/>
                </a:solidFill>
                <a:latin typeface="Archivo Medium"/>
                <a:ea typeface="Archivo Medium"/>
                <a:cs typeface="Archivo Medium"/>
                <a:sym typeface="Archivo Medium"/>
              </a:rPr>
              <a:t>Rootcheck memeriksa:</a:t>
            </a:r>
            <a:endParaRPr sz="1900">
              <a:solidFill>
                <a:schemeClr val="dk1"/>
              </a:solidFill>
              <a:latin typeface="Archivo Medium"/>
              <a:ea typeface="Archivo Medium"/>
              <a:cs typeface="Archivo Medium"/>
              <a:sym typeface="Archivo Medium"/>
            </a:endParaRPr>
          </a:p>
          <a:p>
            <a:pPr indent="-349250" lvl="0" marL="1371600" rtl="0" algn="l">
              <a:lnSpc>
                <a:spcPct val="115000"/>
              </a:lnSpc>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Proses dan file yang disembunyikan.</a:t>
            </a:r>
            <a:endParaRPr sz="1900">
              <a:solidFill>
                <a:schemeClr val="dk1"/>
              </a:solidFill>
              <a:latin typeface="Archivo Medium"/>
              <a:ea typeface="Archivo Medium"/>
              <a:cs typeface="Archivo Medium"/>
              <a:sym typeface="Archivo Medium"/>
            </a:endParaRPr>
          </a:p>
          <a:p>
            <a:pPr indent="-349250" lvl="0" marL="1371600" rtl="0" algn="l">
              <a:lnSpc>
                <a:spcPct val="115000"/>
              </a:lnSpc>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Modul kernel atau driver yang mencurigakan.</a:t>
            </a:r>
            <a:endParaRPr sz="1900">
              <a:solidFill>
                <a:schemeClr val="dk1"/>
              </a:solidFill>
              <a:latin typeface="Archivo Medium"/>
              <a:ea typeface="Archivo Medium"/>
              <a:cs typeface="Archivo Medium"/>
              <a:sym typeface="Archivo Medium"/>
            </a:endParaRPr>
          </a:p>
          <a:p>
            <a:pPr indent="-349250" lvl="0" marL="1371600" rtl="0" algn="l">
              <a:lnSpc>
                <a:spcPct val="115000"/>
              </a:lnSpc>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Panggilan sistem yang dimanipulasi (syscall hooking).</a:t>
            </a:r>
            <a:endParaRPr sz="1900">
              <a:solidFill>
                <a:schemeClr val="dk1"/>
              </a:solidFill>
              <a:latin typeface="Archivo Medium"/>
              <a:ea typeface="Archivo Medium"/>
              <a:cs typeface="Archivo Medium"/>
              <a:sym typeface="Archivo Medium"/>
            </a:endParaRPr>
          </a:p>
          <a:p>
            <a:pPr indent="-349250" lvl="0" marL="1371600" rtl="0" algn="l">
              <a:lnSpc>
                <a:spcPct val="115000"/>
              </a:lnSpc>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Perubahan pada entri /proc (yang sering digunakan rootkit untuk menyembunyikan proses)</a:t>
            </a:r>
            <a:endParaRPr sz="19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rPr lang="en-US" sz="1900">
                <a:solidFill>
                  <a:schemeClr val="dk1"/>
                </a:solidFill>
                <a:latin typeface="Archivo Medium"/>
                <a:ea typeface="Archivo Medium"/>
                <a:cs typeface="Archivo Medium"/>
                <a:sym typeface="Archivo Medium"/>
              </a:rPr>
              <a:t>Pencocokan Perilaku (Signature Matching):</a:t>
            </a:r>
            <a:endParaRPr sz="1900">
              <a:solidFill>
                <a:schemeClr val="dk1"/>
              </a:solidFill>
              <a:latin typeface="Archivo Medium"/>
              <a:ea typeface="Archivo Medium"/>
              <a:cs typeface="Archivo Medium"/>
              <a:sym typeface="Archivo Medium"/>
            </a:endParaRPr>
          </a:p>
          <a:p>
            <a:pPr indent="-349250" lvl="0" marL="457200" rtl="0" algn="l">
              <a:lnSpc>
                <a:spcPct val="115000"/>
              </a:lnSpc>
              <a:spcBef>
                <a:spcPts val="0"/>
              </a:spcBef>
              <a:spcAft>
                <a:spcPts val="0"/>
              </a:spcAft>
              <a:buClr>
                <a:schemeClr val="dk1"/>
              </a:buClr>
              <a:buSzPts val="1900"/>
              <a:buFont typeface="Archivo Medium"/>
              <a:buChar char="●"/>
            </a:pPr>
            <a:r>
              <a:rPr lang="en-US" sz="1900">
                <a:solidFill>
                  <a:schemeClr val="dk1"/>
                </a:solidFill>
                <a:latin typeface="Archivo Medium"/>
                <a:ea typeface="Archivo Medium"/>
                <a:cs typeface="Archivo Medium"/>
                <a:sym typeface="Archivo Medium"/>
              </a:rPr>
              <a:t>Rootcheck membandingkan kondisi sistem dengan tanda tangan rootkit dan indikator kompromi (IoC) yang telah dikenal. Peringatan akan dikeluarkan jika ada anomali atau perilaku mencurigakan yang cocok dengan pola yang diketahui.</a:t>
            </a:r>
            <a:endParaRPr sz="19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rPr lang="en-US" sz="1900">
                <a:solidFill>
                  <a:schemeClr val="dk1"/>
                </a:solidFill>
                <a:latin typeface="Archivo Medium"/>
                <a:ea typeface="Archivo Medium"/>
                <a:cs typeface="Archivo Medium"/>
                <a:sym typeface="Archivo Medium"/>
              </a:rPr>
              <a:t>.</a:t>
            </a:r>
            <a:endParaRPr sz="19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Clr>
                <a:schemeClr val="dk1"/>
              </a:buClr>
              <a:buSzPts val="1100"/>
              <a:buFont typeface="Arial"/>
              <a:buNone/>
            </a:pPr>
            <a:r>
              <a:t/>
            </a:r>
            <a:endParaRPr sz="1900">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951" name="Shape 3951"/>
        <p:cNvGrpSpPr/>
        <p:nvPr/>
      </p:nvGrpSpPr>
      <p:grpSpPr>
        <a:xfrm>
          <a:off x="0" y="0"/>
          <a:ext cx="0" cy="0"/>
          <a:chOff x="0" y="0"/>
          <a:chExt cx="0" cy="0"/>
        </a:xfrm>
      </p:grpSpPr>
      <p:pic>
        <p:nvPicPr>
          <p:cNvPr descr="A picture containing food, drawing, shirt&#10;&#10;Description automatically generated" id="3952" name="Google Shape;3952;p29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3953" name="Google Shape;3953;p29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54" name="Google Shape;3954;p29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3955" name="Google Shape;3955;p294"/>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3956" name="Google Shape;3956;p29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3957" name="Google Shape;3957;p294"/>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3958" name="Google Shape;3958;p294"/>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 FIM Detecting Malware</a:t>
            </a:r>
            <a:endParaRPr sz="4800">
              <a:solidFill>
                <a:schemeClr val="lt1"/>
              </a:solidFill>
              <a:highlight>
                <a:srgbClr val="3585F9"/>
              </a:highlight>
              <a:latin typeface="Poppins"/>
              <a:ea typeface="Poppins"/>
              <a:cs typeface="Poppins"/>
              <a:sym typeface="Poppins"/>
            </a:endParaRPr>
          </a:p>
        </p:txBody>
      </p:sp>
      <p:pic>
        <p:nvPicPr>
          <p:cNvPr id="3959" name="Google Shape;3959;p294"/>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3" name="Shape 3963"/>
        <p:cNvGrpSpPr/>
        <p:nvPr/>
      </p:nvGrpSpPr>
      <p:grpSpPr>
        <a:xfrm>
          <a:off x="0" y="0"/>
          <a:ext cx="0" cy="0"/>
          <a:chOff x="0" y="0"/>
          <a:chExt cx="0" cy="0"/>
        </a:xfrm>
      </p:grpSpPr>
      <p:sp>
        <p:nvSpPr>
          <p:cNvPr id="3964" name="Google Shape;3964;p295"/>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3965" name="Google Shape;3965;p29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966" name="Google Shape;3966;p29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967" name="Google Shape;3967;p29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968" name="Google Shape;3968;p29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969" name="Google Shape;3969;p29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970" name="Google Shape;3970;p29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971" name="Google Shape;3971;p29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972" name="Google Shape;3972;p295"/>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973" name="Google Shape;3973;p295"/>
          <p:cNvSpPr txBox="1"/>
          <p:nvPr/>
        </p:nvSpPr>
        <p:spPr>
          <a:xfrm>
            <a:off x="778700" y="1730050"/>
            <a:ext cx="102939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Objective :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AutoNum type="arabicPeriod"/>
            </a:pPr>
            <a:r>
              <a:rPr lang="en-US" sz="1982">
                <a:solidFill>
                  <a:schemeClr val="dk1"/>
                </a:solidFill>
                <a:latin typeface="Archivo Medium"/>
                <a:ea typeface="Archivo Medium"/>
                <a:cs typeface="Archivo Medium"/>
                <a:sym typeface="Archivo Medium"/>
              </a:rPr>
              <a:t>Enable Rootcheck and FIM in Wazuh.</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AutoNum type="arabicPeriod"/>
            </a:pPr>
            <a:r>
              <a:rPr lang="en-US" sz="1982">
                <a:solidFill>
                  <a:schemeClr val="dk1"/>
                </a:solidFill>
                <a:latin typeface="Archivo Medium"/>
                <a:ea typeface="Archivo Medium"/>
                <a:cs typeface="Archivo Medium"/>
                <a:sym typeface="Archivo Medium"/>
              </a:rPr>
              <a:t>Simulate rootkit-like activity by creating hidden files and modifying binaries.</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AutoNum type="arabicPeriod"/>
            </a:pPr>
            <a:r>
              <a:rPr lang="en-US" sz="1982">
                <a:solidFill>
                  <a:schemeClr val="dk1"/>
                </a:solidFill>
                <a:latin typeface="Archivo Medium"/>
                <a:ea typeface="Archivo Medium"/>
                <a:cs typeface="Archivo Medium"/>
                <a:sym typeface="Archivo Medium"/>
              </a:rPr>
              <a:t>Verify Wazuh alerts for both user-mode and kernel-mode rootkits.</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7" name="Shape 3977"/>
        <p:cNvGrpSpPr/>
        <p:nvPr/>
      </p:nvGrpSpPr>
      <p:grpSpPr>
        <a:xfrm>
          <a:off x="0" y="0"/>
          <a:ext cx="0" cy="0"/>
          <a:chOff x="0" y="0"/>
          <a:chExt cx="0" cy="0"/>
        </a:xfrm>
      </p:grpSpPr>
      <p:sp>
        <p:nvSpPr>
          <p:cNvPr id="3978" name="Google Shape;3978;p296"/>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 Agent ) </a:t>
            </a:r>
            <a:endParaRPr b="1" i="0" sz="3600" u="none" cap="none" strike="noStrike">
              <a:solidFill>
                <a:srgbClr val="6D9EEB"/>
              </a:solidFill>
              <a:latin typeface="Poppins"/>
              <a:ea typeface="Poppins"/>
              <a:cs typeface="Poppins"/>
              <a:sym typeface="Poppins"/>
            </a:endParaRPr>
          </a:p>
        </p:txBody>
      </p:sp>
      <p:cxnSp>
        <p:nvCxnSpPr>
          <p:cNvPr id="3979" name="Google Shape;3979;p29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980" name="Google Shape;3980;p29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981" name="Google Shape;3981;p29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982" name="Google Shape;3982;p29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983" name="Google Shape;3983;p29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984" name="Google Shape;3984;p29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985" name="Google Shape;3985;p29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3986" name="Google Shape;3986;p296"/>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3987" name="Google Shape;3987;p296"/>
          <p:cNvSpPr txBox="1"/>
          <p:nvPr/>
        </p:nvSpPr>
        <p:spPr>
          <a:xfrm>
            <a:off x="702100" y="1601925"/>
            <a:ext cx="102939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sudo nano /var/ossec/etc/ossec.conf</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&lt;rootcheck&gt;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  &lt;enabled&gt;yes&lt;/enabled&gt;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  &lt;rootkit_files&gt;yes&lt;/rootkit_files&gt; &lt;!-- Scan for rootkit IoCs --&gt;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  &lt;rootkit_trojans&gt;yes&lt;/rootkit_trojans&gt; &lt;!-- Detect known trojans →</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    </a:t>
            </a:r>
            <a:r>
              <a:rPr lang="en-US" sz="1682">
                <a:solidFill>
                  <a:schemeClr val="dk1"/>
                </a:solidFill>
                <a:latin typeface="Courier New"/>
                <a:ea typeface="Courier New"/>
                <a:cs typeface="Courier New"/>
                <a:sym typeface="Courier New"/>
              </a:rPr>
              <a:t>&lt;check_rk&gt;yes&lt;/check_rk&gt; &lt;!-- Enable kernel check →</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  &lt;frequency&gt;3600&lt;/frequency&gt; &lt;!-- Scan every hour --&gt;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&lt;/rootcheck&gt;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&lt;syscheck&gt;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  &lt;directories check_all="yes"&gt;/bin&lt;/directories&gt;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  &lt;directories check_all="yes"&gt;/sbin&lt;/directories&gt;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  &lt;directories check_all="yes"&gt;/etc&lt;/directories&gt;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  &lt;directories check_all="yes"&gt;/usr/bin&lt;/directories&gt;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  &lt;directories check_all="yes"&gt;/tmp&lt;/directories&gt; &lt;!-- Rootkit hiding place --&gt;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  &lt;alert_new_files&gt;yes&lt;/alert_new_files&gt;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  &lt;frequency&gt;3600&lt;/frequency&gt;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682">
                <a:solidFill>
                  <a:schemeClr val="dk1"/>
                </a:solidFill>
                <a:latin typeface="Courier New"/>
                <a:ea typeface="Courier New"/>
                <a:cs typeface="Courier New"/>
                <a:sym typeface="Courier New"/>
              </a:rPr>
              <a:t>&lt;/syscheck&gt;</a:t>
            </a:r>
            <a:endParaRPr sz="16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6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6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1" name="Shape 3991"/>
        <p:cNvGrpSpPr/>
        <p:nvPr/>
      </p:nvGrpSpPr>
      <p:grpSpPr>
        <a:xfrm>
          <a:off x="0" y="0"/>
          <a:ext cx="0" cy="0"/>
          <a:chOff x="0" y="0"/>
          <a:chExt cx="0" cy="0"/>
        </a:xfrm>
      </p:grpSpPr>
      <p:sp>
        <p:nvSpPr>
          <p:cNvPr id="3992" name="Google Shape;3992;p297"/>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Simulate User-Mode Rootkit Activity</a:t>
            </a:r>
            <a:endParaRPr b="1" i="0" sz="3600" u="none" cap="none" strike="noStrike">
              <a:solidFill>
                <a:srgbClr val="6D9EEB"/>
              </a:solidFill>
              <a:latin typeface="Poppins"/>
              <a:ea typeface="Poppins"/>
              <a:cs typeface="Poppins"/>
              <a:sym typeface="Poppins"/>
            </a:endParaRPr>
          </a:p>
        </p:txBody>
      </p:sp>
      <p:cxnSp>
        <p:nvCxnSpPr>
          <p:cNvPr id="3993" name="Google Shape;3993;p29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3994" name="Google Shape;3994;p29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3995" name="Google Shape;3995;p29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3996" name="Google Shape;3996;p29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3997" name="Google Shape;3997;p29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3998" name="Google Shape;3998;p29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999" name="Google Shape;3999;p29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000" name="Google Shape;4000;p297"/>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001" name="Google Shape;4001;p297"/>
          <p:cNvSpPr txBox="1"/>
          <p:nvPr/>
        </p:nvSpPr>
        <p:spPr>
          <a:xfrm>
            <a:off x="1000925" y="1697975"/>
            <a:ext cx="9945600" cy="3096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touch /etc/.hidden_malware</a:t>
            </a:r>
            <a:endParaRPr sz="19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sudo mv /bin/ps /bin/ps.bak</a:t>
            </a:r>
            <a:endParaRPr sz="19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echo "#!/bin/bash" | sudo tee /bin/ps &gt; /dev/null</a:t>
            </a:r>
            <a:endParaRPr sz="19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rPr lang="en-US" sz="1982">
                <a:solidFill>
                  <a:schemeClr val="dk1"/>
                </a:solidFill>
                <a:latin typeface="Archivo Medium"/>
                <a:ea typeface="Archivo Medium"/>
                <a:cs typeface="Archivo Medium"/>
                <a:sym typeface="Archivo Medium"/>
              </a:rPr>
              <a:t>sudo chmod +x /bin/ps</a:t>
            </a:r>
            <a:endParaRPr sz="19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rPr lang="en-US" sz="1982">
                <a:solidFill>
                  <a:schemeClr val="dk1"/>
                </a:solidFill>
                <a:latin typeface="Archivo Medium"/>
                <a:ea typeface="Archivo Medium"/>
                <a:cs typeface="Archivo Medium"/>
                <a:sym typeface="Archivo Medium"/>
              </a:rPr>
              <a:t>tail -f /var/ossec/logs/alerts/alerts.json</a:t>
            </a:r>
            <a:endParaRPr sz="19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5" name="Shape 4005"/>
        <p:cNvGrpSpPr/>
        <p:nvPr/>
      </p:nvGrpSpPr>
      <p:grpSpPr>
        <a:xfrm>
          <a:off x="0" y="0"/>
          <a:ext cx="0" cy="0"/>
          <a:chOff x="0" y="0"/>
          <a:chExt cx="0" cy="0"/>
        </a:xfrm>
      </p:grpSpPr>
      <p:sp>
        <p:nvSpPr>
          <p:cNvPr id="4006" name="Google Shape;4006;p298"/>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3600">
                <a:solidFill>
                  <a:srgbClr val="6D9EEB"/>
                </a:solidFill>
                <a:latin typeface="Poppins"/>
                <a:ea typeface="Poppins"/>
                <a:cs typeface="Poppins"/>
                <a:sym typeface="Poppins"/>
              </a:rPr>
              <a:t>Simulate Kernel-Mode Rootkit Detection</a:t>
            </a:r>
            <a:endParaRPr b="1" sz="3600">
              <a:solidFill>
                <a:srgbClr val="6D9EEB"/>
              </a:solidFill>
              <a:latin typeface="Poppins"/>
              <a:ea typeface="Poppins"/>
              <a:cs typeface="Poppins"/>
              <a:sym typeface="Poppins"/>
            </a:endParaRPr>
          </a:p>
        </p:txBody>
      </p:sp>
      <p:cxnSp>
        <p:nvCxnSpPr>
          <p:cNvPr id="4007" name="Google Shape;4007;p29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008" name="Google Shape;4008;p29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009" name="Google Shape;4009;p29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010" name="Google Shape;4010;p29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011" name="Google Shape;4011;p29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012" name="Google Shape;4012;p29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013" name="Google Shape;4013;p29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014" name="Google Shape;4014;p298"/>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015" name="Google Shape;4015;p298"/>
          <p:cNvSpPr txBox="1"/>
          <p:nvPr/>
        </p:nvSpPr>
        <p:spPr>
          <a:xfrm>
            <a:off x="1000925" y="1887750"/>
            <a:ext cx="99456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Courier New"/>
                <a:ea typeface="Courier New"/>
                <a:cs typeface="Courier New"/>
                <a:sym typeface="Courier New"/>
              </a:rPr>
              <a:t>sudo apt-get install rkhunter</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Courier New"/>
                <a:ea typeface="Courier New"/>
                <a:cs typeface="Courier New"/>
                <a:sym typeface="Courier New"/>
              </a:rPr>
              <a:t>sudo rkhunter --check --skip-keypress</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2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019" name="Shape 4019"/>
        <p:cNvGrpSpPr/>
        <p:nvPr/>
      </p:nvGrpSpPr>
      <p:grpSpPr>
        <a:xfrm>
          <a:off x="0" y="0"/>
          <a:ext cx="0" cy="0"/>
          <a:chOff x="0" y="0"/>
          <a:chExt cx="0" cy="0"/>
        </a:xfrm>
      </p:grpSpPr>
      <p:pic>
        <p:nvPicPr>
          <p:cNvPr descr="A picture containing food, drawing, shirt&#10;&#10;Description automatically generated" id="4020" name="Google Shape;4020;p29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021" name="Google Shape;4021;p29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022" name="Google Shape;4022;p29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023" name="Google Shape;4023;p299"/>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024" name="Google Shape;4024;p29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025" name="Google Shape;4025;p299"/>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026" name="Google Shape;4026;p299"/>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4027" name="Google Shape;4027;p299"/>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031" name="Shape 4031"/>
        <p:cNvGrpSpPr/>
        <p:nvPr/>
      </p:nvGrpSpPr>
      <p:grpSpPr>
        <a:xfrm>
          <a:off x="0" y="0"/>
          <a:ext cx="0" cy="0"/>
          <a:chOff x="0" y="0"/>
          <a:chExt cx="0" cy="0"/>
        </a:xfrm>
      </p:grpSpPr>
      <p:pic>
        <p:nvPicPr>
          <p:cNvPr descr="A picture containing food, drawing, shirt&#10;&#10;Description automatically generated" id="4032" name="Google Shape;4032;p30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033" name="Google Shape;4033;p30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034" name="Google Shape;4034;p30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035" name="Google Shape;4035;p300"/>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036" name="Google Shape;4036;p30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037" name="Google Shape;4037;p300"/>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038" name="Google Shape;4038;p300"/>
          <p:cNvSpPr txBox="1"/>
          <p:nvPr/>
        </p:nvSpPr>
        <p:spPr>
          <a:xfrm>
            <a:off x="1357489" y="3803851"/>
            <a:ext cx="9477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lt1"/>
                </a:solidFill>
                <a:highlight>
                  <a:srgbClr val="3585F9"/>
                </a:highlight>
                <a:latin typeface="Poppins"/>
                <a:ea typeface="Poppins"/>
                <a:cs typeface="Poppins"/>
                <a:sym typeface="Poppins"/>
              </a:rPr>
              <a:t>Wazuh Integration System</a:t>
            </a:r>
            <a:endParaRPr sz="4400">
              <a:solidFill>
                <a:schemeClr val="lt1"/>
              </a:solidFill>
              <a:highlight>
                <a:srgbClr val="3585F9"/>
              </a:highlight>
              <a:latin typeface="Poppins"/>
              <a:ea typeface="Poppins"/>
              <a:cs typeface="Poppins"/>
              <a:sym typeface="Poppins"/>
            </a:endParaRPr>
          </a:p>
        </p:txBody>
      </p:sp>
      <p:pic>
        <p:nvPicPr>
          <p:cNvPr id="4039" name="Google Shape;4039;p300"/>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3" name="Shape 4043"/>
        <p:cNvGrpSpPr/>
        <p:nvPr/>
      </p:nvGrpSpPr>
      <p:grpSpPr>
        <a:xfrm>
          <a:off x="0" y="0"/>
          <a:ext cx="0" cy="0"/>
          <a:chOff x="0" y="0"/>
          <a:chExt cx="0" cy="0"/>
        </a:xfrm>
      </p:grpSpPr>
      <p:sp>
        <p:nvSpPr>
          <p:cNvPr id="4044" name="Google Shape;4044;p301"/>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4045" name="Google Shape;4045;p30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046" name="Google Shape;4046;p30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047" name="Google Shape;4047;p30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048" name="Google Shape;4048;p30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049" name="Google Shape;4049;p30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050" name="Google Shape;4050;p30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051" name="Google Shape;4051;p30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052" name="Google Shape;4052;p301"/>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053" name="Google Shape;4053;p301"/>
          <p:cNvSpPr txBox="1"/>
          <p:nvPr/>
        </p:nvSpPr>
        <p:spPr>
          <a:xfrm>
            <a:off x="1000925" y="1730050"/>
            <a:ext cx="100716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Objective :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Configuration of the Wazuh manager to use various integrations</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Passing full alert data plus static elements like API keys or webhooks to integration scripts</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Review of Wazuh-provided integration scripts for VirusTotal, Slack, and PagerDuty, and how these can be used as templates to build your own integration scripts</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7" name="Shape 4057"/>
        <p:cNvGrpSpPr/>
        <p:nvPr/>
      </p:nvGrpSpPr>
      <p:grpSpPr>
        <a:xfrm>
          <a:off x="0" y="0"/>
          <a:ext cx="0" cy="0"/>
          <a:chOff x="0" y="0"/>
          <a:chExt cx="0" cy="0"/>
        </a:xfrm>
      </p:grpSpPr>
      <p:sp>
        <p:nvSpPr>
          <p:cNvPr id="4058" name="Google Shape;4058;p302"/>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Integrations System</a:t>
            </a:r>
            <a:endParaRPr b="1" i="0" sz="3600" u="none" cap="none" strike="noStrike">
              <a:solidFill>
                <a:srgbClr val="6D9EEB"/>
              </a:solidFill>
              <a:latin typeface="Poppins"/>
              <a:ea typeface="Poppins"/>
              <a:cs typeface="Poppins"/>
              <a:sym typeface="Poppins"/>
            </a:endParaRPr>
          </a:p>
        </p:txBody>
      </p:sp>
      <p:cxnSp>
        <p:nvCxnSpPr>
          <p:cNvPr id="4059" name="Google Shape;4059;p30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060" name="Google Shape;4060;p30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061" name="Google Shape;4061;p30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062" name="Google Shape;4062;p30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063" name="Google Shape;4063;p30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064" name="Google Shape;4064;p30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065" name="Google Shape;4065;p30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066" name="Google Shape;4066;p302"/>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067" name="Google Shape;4067;p302"/>
          <p:cNvSpPr txBox="1"/>
          <p:nvPr/>
        </p:nvSpPr>
        <p:spPr>
          <a:xfrm>
            <a:off x="1000925" y="1650025"/>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200">
                <a:solidFill>
                  <a:schemeClr val="dk1"/>
                </a:solidFill>
                <a:latin typeface="Archivo Medium"/>
                <a:ea typeface="Archivo Medium"/>
                <a:cs typeface="Archivo Medium"/>
                <a:sym typeface="Archivo Medium"/>
              </a:rPr>
              <a:t>Integrasi Wazuh dipicu berdasarkan alert tertentu dan dapat memanggil API eksternal, layanan pihak ketiga, atau skrip khusus. Untuk mengonfigurasi integrasi pada Wazuh Manager, kamu perlu memodifikasi file ossec.conf dan menentukan kondisi kapan sebuah skrip atau integrasi akan dijalankan</a:t>
            </a:r>
            <a:endParaRPr sz="22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1" name="Shape 4071"/>
        <p:cNvGrpSpPr/>
        <p:nvPr/>
      </p:nvGrpSpPr>
      <p:grpSpPr>
        <a:xfrm>
          <a:off x="0" y="0"/>
          <a:ext cx="0" cy="0"/>
          <a:chOff x="0" y="0"/>
          <a:chExt cx="0" cy="0"/>
        </a:xfrm>
      </p:grpSpPr>
      <p:sp>
        <p:nvSpPr>
          <p:cNvPr id="4072" name="Google Shape;4072;p303"/>
          <p:cNvSpPr txBox="1"/>
          <p:nvPr/>
        </p:nvSpPr>
        <p:spPr>
          <a:xfrm>
            <a:off x="603103" y="486375"/>
            <a:ext cx="10392900" cy="1200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Wazuh Integrations System</a:t>
            </a:r>
            <a:endParaRPr b="1" sz="3600">
              <a:solidFill>
                <a:srgbClr val="6D9EEB"/>
              </a:solidFill>
              <a:latin typeface="Poppins"/>
              <a:ea typeface="Poppins"/>
              <a:cs typeface="Poppins"/>
              <a:sym typeface="Poppins"/>
            </a:endParaRPr>
          </a:p>
          <a:p>
            <a:pPr indent="0" lvl="0" marL="0" marR="0" rtl="0" algn="l">
              <a:lnSpc>
                <a:spcPct val="100000"/>
              </a:lnSpc>
              <a:spcBef>
                <a:spcPts val="0"/>
              </a:spcBef>
              <a:spcAft>
                <a:spcPts val="0"/>
              </a:spcAft>
              <a:buClr>
                <a:srgbClr val="C41F2F"/>
              </a:buClr>
              <a:buSzPts val="3600"/>
              <a:buFont typeface="Arial"/>
              <a:buNone/>
            </a:pPr>
            <a:r>
              <a:t/>
            </a:r>
            <a:endParaRPr b="1" sz="3600">
              <a:solidFill>
                <a:srgbClr val="6D9EEB"/>
              </a:solidFill>
              <a:latin typeface="Poppins"/>
              <a:ea typeface="Poppins"/>
              <a:cs typeface="Poppins"/>
              <a:sym typeface="Poppins"/>
            </a:endParaRPr>
          </a:p>
        </p:txBody>
      </p:sp>
      <p:cxnSp>
        <p:nvCxnSpPr>
          <p:cNvPr id="4073" name="Google Shape;4073;p30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074" name="Google Shape;4074;p30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075" name="Google Shape;4075;p30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076" name="Google Shape;4076;p30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077" name="Google Shape;4077;p30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078" name="Google Shape;4078;p30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079" name="Google Shape;4079;p30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080" name="Google Shape;4080;p303"/>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081" name="Google Shape;4081;p303"/>
          <p:cNvSpPr txBox="1"/>
          <p:nvPr/>
        </p:nvSpPr>
        <p:spPr>
          <a:xfrm>
            <a:off x="1000925" y="1592050"/>
            <a:ext cx="10152600" cy="2859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800">
                <a:solidFill>
                  <a:schemeClr val="dk1"/>
                </a:solidFill>
                <a:latin typeface="Archivo Medium"/>
                <a:ea typeface="Archivo Medium"/>
                <a:cs typeface="Archivo Medium"/>
                <a:sym typeface="Archivo Medium"/>
              </a:rPr>
              <a:t> Kamu dapat membuat beberapa integrasi untuk berbagai jenis alert, misalnya:</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120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Mengirim alert ke VirusTotal untuk deteksi malware.</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dk1"/>
              </a:buClr>
              <a:buSzPts val="1800"/>
              <a:buFont typeface="Archivo Medium"/>
              <a:buChar char="●"/>
            </a:pPr>
            <a:r>
              <a:rPr lang="en-US" sz="1800">
                <a:solidFill>
                  <a:schemeClr val="dk1"/>
                </a:solidFill>
                <a:latin typeface="Archivo Medium"/>
                <a:ea typeface="Archivo Medium"/>
                <a:cs typeface="Archivo Medium"/>
                <a:sym typeface="Archivo Medium"/>
              </a:rPr>
              <a:t>Mengirim notifikasi ke Slack untuk alert dengan prioritas tinggi.</a:t>
            </a:r>
            <a:endParaRPr sz="1800">
              <a:solidFill>
                <a:schemeClr val="dk1"/>
              </a:solidFill>
              <a:latin typeface="Archivo Medium"/>
              <a:ea typeface="Archivo Medium"/>
              <a:cs typeface="Archivo Medium"/>
              <a:sym typeface="Archivo Medium"/>
            </a:endParaRPr>
          </a:p>
          <a:p>
            <a:pPr indent="0" lvl="0" marL="0" rtl="0" algn="l">
              <a:lnSpc>
                <a:spcPct val="115000"/>
              </a:lnSpc>
              <a:spcBef>
                <a:spcPts val="1200"/>
              </a:spcBef>
              <a:spcAft>
                <a:spcPts val="0"/>
              </a:spcAft>
              <a:buNone/>
            </a:pPr>
            <a:r>
              <a:rPr lang="en-US" sz="1800">
                <a:solidFill>
                  <a:schemeClr val="dk1"/>
                </a:solidFill>
                <a:latin typeface="Courier New"/>
                <a:ea typeface="Courier New"/>
                <a:cs typeface="Courier New"/>
                <a:sym typeface="Courier New"/>
              </a:rPr>
              <a:t>sudo nano /var/ossec/etc/ossec.conf</a:t>
            </a:r>
            <a:endParaRPr sz="18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200">
                <a:solidFill>
                  <a:schemeClr val="dk1"/>
                </a:solidFill>
                <a:latin typeface="Courier New"/>
                <a:ea typeface="Courier New"/>
                <a:cs typeface="Courier New"/>
                <a:sym typeface="Courier New"/>
              </a:rPr>
              <a:t>&lt;integration</a:t>
            </a:r>
            <a:r>
              <a:rPr lang="en-US" sz="1200">
                <a:solidFill>
                  <a:schemeClr val="dk1"/>
                </a:solidFill>
                <a:latin typeface="Courier New"/>
                <a:ea typeface="Courier New"/>
                <a:cs typeface="Courier New"/>
                <a:sym typeface="Courier New"/>
              </a:rPr>
              <a:t>&gt;</a:t>
            </a:r>
            <a:endParaRPr sz="12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200">
                <a:solidFill>
                  <a:schemeClr val="dk1"/>
                </a:solidFill>
                <a:latin typeface="Courier New"/>
                <a:ea typeface="Courier New"/>
                <a:cs typeface="Courier New"/>
                <a:sym typeface="Courier New"/>
              </a:rPr>
              <a:t>  </a:t>
            </a:r>
            <a:r>
              <a:rPr lang="en-US" sz="1200">
                <a:solidFill>
                  <a:schemeClr val="dk1"/>
                </a:solidFill>
                <a:latin typeface="Courier New"/>
                <a:ea typeface="Courier New"/>
                <a:cs typeface="Courier New"/>
                <a:sym typeface="Courier New"/>
              </a:rPr>
              <a:t>  &lt;name&gt;slack&lt;/name&gt;</a:t>
            </a:r>
            <a:endParaRPr sz="12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200">
                <a:solidFill>
                  <a:schemeClr val="dk1"/>
                </a:solidFill>
                <a:latin typeface="Courier New"/>
                <a:ea typeface="Courier New"/>
                <a:cs typeface="Courier New"/>
                <a:sym typeface="Courier New"/>
              </a:rPr>
              <a:t>    &lt;hook_url&gt;https://hooks.slack.com/services/YOUR/SLACK/WEBHOOK&lt;/hook_url&gt;</a:t>
            </a:r>
            <a:endParaRPr sz="12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200">
                <a:solidFill>
                  <a:schemeClr val="dk1"/>
                </a:solidFill>
                <a:latin typeface="Courier New"/>
                <a:ea typeface="Courier New"/>
                <a:cs typeface="Courier New"/>
                <a:sym typeface="Courier New"/>
              </a:rPr>
              <a:t>    &lt;name&gt;virustotal&lt;/name&gt;</a:t>
            </a:r>
            <a:endParaRPr sz="12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200">
                <a:solidFill>
                  <a:schemeClr val="dk1"/>
                </a:solidFill>
                <a:latin typeface="Courier New"/>
                <a:ea typeface="Courier New"/>
                <a:cs typeface="Courier New"/>
                <a:sym typeface="Courier New"/>
              </a:rPr>
              <a:t>    &lt;hook_url&gt;https://www.virustotal.com/api/v3/file/&lt;/hook_url&gt;</a:t>
            </a:r>
            <a:endParaRPr sz="1200">
              <a:solidFill>
                <a:schemeClr val="dk1"/>
              </a:solidFill>
              <a:latin typeface="Courier New"/>
              <a:ea typeface="Courier New"/>
              <a:cs typeface="Courier New"/>
              <a:sym typeface="Courier New"/>
            </a:endParaRPr>
          </a:p>
          <a:p>
            <a:pPr indent="0" lvl="0" marL="0" rtl="0" algn="l">
              <a:lnSpc>
                <a:spcPct val="100000"/>
              </a:lnSpc>
              <a:spcBef>
                <a:spcPts val="1200"/>
              </a:spcBef>
              <a:spcAft>
                <a:spcPts val="0"/>
              </a:spcAft>
              <a:buNone/>
            </a:pPr>
            <a:r>
              <a:rPr lang="en-US" sz="1200">
                <a:solidFill>
                  <a:schemeClr val="dk1"/>
                </a:solidFill>
                <a:latin typeface="Courier New"/>
                <a:ea typeface="Courier New"/>
                <a:cs typeface="Courier New"/>
                <a:sym typeface="Courier New"/>
              </a:rPr>
              <a:t>    &lt;api_key&gt;YOUR_VIRUSTOTAL_API_KEY&lt;/api_key&gt;</a:t>
            </a:r>
            <a:endParaRPr sz="1200">
              <a:solidFill>
                <a:schemeClr val="dk1"/>
              </a:solidFill>
              <a:latin typeface="Courier New"/>
              <a:ea typeface="Courier New"/>
              <a:cs typeface="Courier New"/>
              <a:sym typeface="Courier New"/>
            </a:endParaRPr>
          </a:p>
          <a:p>
            <a:pPr indent="0" lvl="0" marL="0" rtl="0" algn="l">
              <a:lnSpc>
                <a:spcPct val="100000"/>
              </a:lnSpc>
              <a:spcBef>
                <a:spcPts val="1200"/>
              </a:spcBef>
              <a:spcAft>
                <a:spcPts val="1200"/>
              </a:spcAft>
              <a:buNone/>
            </a:pPr>
            <a:r>
              <a:rPr lang="en-US" sz="1200">
                <a:solidFill>
                  <a:schemeClr val="dk1"/>
                </a:solidFill>
                <a:latin typeface="Courier New"/>
                <a:ea typeface="Courier New"/>
                <a:cs typeface="Courier New"/>
                <a:sym typeface="Courier New"/>
              </a:rPr>
              <a:t>&lt;/integration&gt;</a:t>
            </a:r>
            <a:endParaRPr sz="1200">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2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085" name="Shape 4085"/>
        <p:cNvGrpSpPr/>
        <p:nvPr/>
      </p:nvGrpSpPr>
      <p:grpSpPr>
        <a:xfrm>
          <a:off x="0" y="0"/>
          <a:ext cx="0" cy="0"/>
          <a:chOff x="0" y="0"/>
          <a:chExt cx="0" cy="0"/>
        </a:xfrm>
      </p:grpSpPr>
      <p:pic>
        <p:nvPicPr>
          <p:cNvPr descr="A picture containing food, drawing, shirt&#10;&#10;Description automatically generated" id="4086" name="Google Shape;4086;p30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087" name="Google Shape;4087;p30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088" name="Google Shape;4088;p30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089" name="Google Shape;4089;p304"/>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090" name="Google Shape;4090;p30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091" name="Google Shape;4091;p304"/>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092" name="Google Shape;4092;p304"/>
          <p:cNvSpPr txBox="1"/>
          <p:nvPr/>
        </p:nvSpPr>
        <p:spPr>
          <a:xfrm>
            <a:off x="1357489" y="3803851"/>
            <a:ext cx="9477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lt1"/>
                </a:solidFill>
                <a:highlight>
                  <a:srgbClr val="3585F9"/>
                </a:highlight>
                <a:latin typeface="Poppins"/>
                <a:ea typeface="Poppins"/>
                <a:cs typeface="Poppins"/>
                <a:sym typeface="Poppins"/>
              </a:rPr>
              <a:t>Active Response</a:t>
            </a:r>
            <a:endParaRPr sz="4400">
              <a:solidFill>
                <a:schemeClr val="lt1"/>
              </a:solidFill>
              <a:highlight>
                <a:srgbClr val="3585F9"/>
              </a:highlight>
              <a:latin typeface="Poppins"/>
              <a:ea typeface="Poppins"/>
              <a:cs typeface="Poppins"/>
              <a:sym typeface="Poppins"/>
            </a:endParaRPr>
          </a:p>
        </p:txBody>
      </p:sp>
      <p:pic>
        <p:nvPicPr>
          <p:cNvPr id="4093" name="Google Shape;4093;p304"/>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7" name="Shape 4097"/>
        <p:cNvGrpSpPr/>
        <p:nvPr/>
      </p:nvGrpSpPr>
      <p:grpSpPr>
        <a:xfrm>
          <a:off x="0" y="0"/>
          <a:ext cx="0" cy="0"/>
          <a:chOff x="0" y="0"/>
          <a:chExt cx="0" cy="0"/>
        </a:xfrm>
      </p:grpSpPr>
      <p:sp>
        <p:nvSpPr>
          <p:cNvPr id="4098" name="Google Shape;4098;p305"/>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4099" name="Google Shape;4099;p30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100" name="Google Shape;4100;p30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101" name="Google Shape;4101;p30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102" name="Google Shape;4102;p30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103" name="Google Shape;4103;p30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104" name="Google Shape;4104;p30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105" name="Google Shape;4105;p30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106" name="Google Shape;4106;p305"/>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107" name="Google Shape;4107;p305"/>
          <p:cNvSpPr txBox="1"/>
          <p:nvPr/>
        </p:nvSpPr>
        <p:spPr>
          <a:xfrm>
            <a:off x="1000925" y="1730050"/>
            <a:ext cx="100716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Objective :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Define the active response component.</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K</a:t>
            </a:r>
            <a:r>
              <a:rPr lang="en-US" sz="1982">
                <a:solidFill>
                  <a:schemeClr val="dk1"/>
                </a:solidFill>
                <a:latin typeface="Archivo Medium"/>
                <a:ea typeface="Archivo Medium"/>
                <a:cs typeface="Archivo Medium"/>
                <a:sym typeface="Archivo Medium"/>
              </a:rPr>
              <a:t>n</a:t>
            </a:r>
            <a:r>
              <a:rPr lang="en-US" sz="1982">
                <a:solidFill>
                  <a:schemeClr val="dk1"/>
                </a:solidFill>
                <a:latin typeface="Archivo Medium"/>
                <a:ea typeface="Archivo Medium"/>
                <a:cs typeface="Archivo Medium"/>
                <a:sym typeface="Archivo Medium"/>
              </a:rPr>
              <a:t>ow the active response scripts that come by default with a standard installation.</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Char char="●"/>
            </a:pPr>
            <a:r>
              <a:rPr lang="en-US" sz="1982">
                <a:solidFill>
                  <a:schemeClr val="dk1"/>
                </a:solidFill>
                <a:latin typeface="Archivo Medium"/>
                <a:ea typeface="Archivo Medium"/>
                <a:cs typeface="Archivo Medium"/>
                <a:sym typeface="Archivo Medium"/>
              </a:rPr>
              <a:t>Differentiate between stateful and stateless commands.</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1" name="Shape 4111"/>
        <p:cNvGrpSpPr/>
        <p:nvPr/>
      </p:nvGrpSpPr>
      <p:grpSpPr>
        <a:xfrm>
          <a:off x="0" y="0"/>
          <a:ext cx="0" cy="0"/>
          <a:chOff x="0" y="0"/>
          <a:chExt cx="0" cy="0"/>
        </a:xfrm>
      </p:grpSpPr>
      <p:sp>
        <p:nvSpPr>
          <p:cNvPr id="4112" name="Google Shape;4112;p306"/>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Active Response</a:t>
            </a:r>
            <a:endParaRPr b="1" i="0" sz="3600" u="none" cap="none" strike="noStrike">
              <a:solidFill>
                <a:srgbClr val="6D9EEB"/>
              </a:solidFill>
              <a:latin typeface="Poppins"/>
              <a:ea typeface="Poppins"/>
              <a:cs typeface="Poppins"/>
              <a:sym typeface="Poppins"/>
            </a:endParaRPr>
          </a:p>
        </p:txBody>
      </p:sp>
      <p:cxnSp>
        <p:nvCxnSpPr>
          <p:cNvPr id="4113" name="Google Shape;4113;p30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114" name="Google Shape;4114;p30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115" name="Google Shape;4115;p30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116" name="Google Shape;4116;p30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117" name="Google Shape;4117;p30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118" name="Google Shape;4118;p30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119" name="Google Shape;4119;p30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120" name="Google Shape;4120;p306"/>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121" name="Google Shape;4121;p306"/>
          <p:cNvSpPr txBox="1"/>
          <p:nvPr/>
        </p:nvSpPr>
        <p:spPr>
          <a:xfrm>
            <a:off x="1000925" y="1650025"/>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000">
                <a:solidFill>
                  <a:schemeClr val="dk1"/>
                </a:solidFill>
                <a:latin typeface="Archivo Medium"/>
                <a:ea typeface="Archivo Medium"/>
                <a:cs typeface="Archivo Medium"/>
                <a:sym typeface="Archivo Medium"/>
              </a:rPr>
              <a:t>Komponen Active Response dalam Wazuh menyediakan mekanisme untuk respon otomatis secara real-time terhadap event atau alert tertentu. Saat sebuah event spesifik terdeteksi, Wazuh dapat menjalankan aksi yang telah ditentukan sebelumnya, seperti memblokir alamat IP, me-restart layanan, atau menjalankan skrip khusus. Fitur ini membantu mengurangi ancaman secara langsung tanpa perlu intervensi manual.</a:t>
            </a:r>
            <a:endParaRPr sz="20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000">
              <a:solidFill>
                <a:schemeClr val="dk1"/>
              </a:solidFill>
              <a:latin typeface="Archivo Medium"/>
              <a:ea typeface="Archivo Medium"/>
              <a:cs typeface="Archivo Medium"/>
              <a:sym typeface="Archivo Medium"/>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latin typeface="Archivo Medium"/>
                <a:ea typeface="Archivo Medium"/>
                <a:cs typeface="Archivo Medium"/>
                <a:sym typeface="Archivo Medium"/>
              </a:rPr>
              <a:t>Key Points:</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latin typeface="Archivo Medium"/>
                <a:ea typeface="Archivo Medium"/>
                <a:cs typeface="Archivo Medium"/>
                <a:sym typeface="Archivo Medium"/>
              </a:rPr>
              <a:t>Triggered by Alerts </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latin typeface="Archivo Medium"/>
                <a:ea typeface="Archivo Medium"/>
                <a:cs typeface="Archivo Medium"/>
                <a:sym typeface="Archivo Medium"/>
              </a:rPr>
              <a:t>Automated Actions</a:t>
            </a:r>
            <a:endParaRPr sz="1800">
              <a:solidFill>
                <a:schemeClr val="dk1"/>
              </a:solidFill>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latin typeface="Archivo Medium"/>
                <a:ea typeface="Archivo Medium"/>
                <a:cs typeface="Archivo Medium"/>
                <a:sym typeface="Archivo Medium"/>
              </a:rPr>
              <a:t>Real-Time Response</a:t>
            </a:r>
            <a:endParaRPr sz="1800">
              <a:solidFill>
                <a:schemeClr val="dk1"/>
              </a:solidFill>
              <a:latin typeface="Archivo Medium"/>
              <a:ea typeface="Archivo Medium"/>
              <a:cs typeface="Archivo Medium"/>
              <a:sym typeface="Archivo Medium"/>
            </a:endParaRPr>
          </a:p>
          <a:p>
            <a:pPr indent="0" lvl="0" marL="0" rtl="0" algn="l">
              <a:lnSpc>
                <a:spcPct val="80000"/>
              </a:lnSpc>
              <a:spcBef>
                <a:spcPts val="1200"/>
              </a:spcBef>
              <a:spcAft>
                <a:spcPts val="0"/>
              </a:spcAft>
              <a:buNone/>
            </a:pPr>
            <a:r>
              <a:t/>
            </a:r>
            <a:endParaRPr sz="20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5" name="Shape 4125"/>
        <p:cNvGrpSpPr/>
        <p:nvPr/>
      </p:nvGrpSpPr>
      <p:grpSpPr>
        <a:xfrm>
          <a:off x="0" y="0"/>
          <a:ext cx="0" cy="0"/>
          <a:chOff x="0" y="0"/>
          <a:chExt cx="0" cy="0"/>
        </a:xfrm>
      </p:grpSpPr>
      <p:sp>
        <p:nvSpPr>
          <p:cNvPr id="4126" name="Google Shape;4126;p307"/>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Active Response</a:t>
            </a:r>
            <a:endParaRPr b="1" i="0" sz="3600" u="none" cap="none" strike="noStrike">
              <a:solidFill>
                <a:srgbClr val="6D9EEB"/>
              </a:solidFill>
              <a:latin typeface="Poppins"/>
              <a:ea typeface="Poppins"/>
              <a:cs typeface="Poppins"/>
              <a:sym typeface="Poppins"/>
            </a:endParaRPr>
          </a:p>
        </p:txBody>
      </p:sp>
      <p:cxnSp>
        <p:nvCxnSpPr>
          <p:cNvPr id="4127" name="Google Shape;4127;p30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128" name="Google Shape;4128;p30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129" name="Google Shape;4129;p30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130" name="Google Shape;4130;p30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131" name="Google Shape;4131;p30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132" name="Google Shape;4132;p30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133" name="Google Shape;4133;p30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134" name="Google Shape;4134;p307"/>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135" name="Google Shape;4135;p307"/>
          <p:cNvSpPr txBox="1"/>
          <p:nvPr/>
        </p:nvSpPr>
        <p:spPr>
          <a:xfrm>
            <a:off x="1000925" y="1650025"/>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Wazuh dilengkapi dengan beberapa skrip Active Response bawaan yang tersedia secara default. Skrip-skrip ini dapat menjalankan tugas umum seperti memblokir alamat IP, me-restart layanan, atau melarang akses (ban) host untuk jangka waktu tertentu.</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pic>
        <p:nvPicPr>
          <p:cNvPr id="4136" name="Google Shape;4136;p307"/>
          <p:cNvPicPr preferRelativeResize="0"/>
          <p:nvPr/>
        </p:nvPicPr>
        <p:blipFill>
          <a:blip r:embed="rId6">
            <a:alphaModFix/>
          </a:blip>
          <a:stretch>
            <a:fillRect/>
          </a:stretch>
        </p:blipFill>
        <p:spPr>
          <a:xfrm>
            <a:off x="2667000" y="2918775"/>
            <a:ext cx="6858000" cy="2743200"/>
          </a:xfrm>
          <a:prstGeom prst="rect">
            <a:avLst/>
          </a:prstGeom>
          <a:noFill/>
          <a:ln>
            <a:noFill/>
          </a:ln>
        </p:spPr>
      </p:pic>
    </p:spTree>
  </p:cSld>
  <p:clrMapOvr>
    <a:masterClrMapping/>
  </p:clrMapOvr>
  <p:transition spd="slow">
    <p:fade thruBlk="1"/>
  </p:transition>
</p:sld>
</file>

<file path=ppt/slides/slide2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0" name="Shape 4140"/>
        <p:cNvGrpSpPr/>
        <p:nvPr/>
      </p:nvGrpSpPr>
      <p:grpSpPr>
        <a:xfrm>
          <a:off x="0" y="0"/>
          <a:ext cx="0" cy="0"/>
          <a:chOff x="0" y="0"/>
          <a:chExt cx="0" cy="0"/>
        </a:xfrm>
      </p:grpSpPr>
      <p:sp>
        <p:nvSpPr>
          <p:cNvPr id="4141" name="Google Shape;4141;p308"/>
          <p:cNvSpPr txBox="1"/>
          <p:nvPr/>
        </p:nvSpPr>
        <p:spPr>
          <a:xfrm>
            <a:off x="603103" y="486375"/>
            <a:ext cx="103929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Active Response Stateful and Stateless Commands</a:t>
            </a:r>
            <a:endParaRPr b="1" i="0" sz="3600" u="none" cap="none" strike="noStrike">
              <a:solidFill>
                <a:srgbClr val="6D9EEB"/>
              </a:solidFill>
              <a:latin typeface="Poppins"/>
              <a:ea typeface="Poppins"/>
              <a:cs typeface="Poppins"/>
              <a:sym typeface="Poppins"/>
            </a:endParaRPr>
          </a:p>
        </p:txBody>
      </p:sp>
      <p:cxnSp>
        <p:nvCxnSpPr>
          <p:cNvPr id="4142" name="Google Shape;4142;p30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143" name="Google Shape;4143;p30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144" name="Google Shape;4144;p30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145" name="Google Shape;4145;p30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146" name="Google Shape;4146;p30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147" name="Google Shape;4147;p30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148" name="Google Shape;4148;p30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149" name="Google Shape;4149;p308"/>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150" name="Google Shape;4150;p308"/>
          <p:cNvSpPr txBox="1"/>
          <p:nvPr/>
        </p:nvSpPr>
        <p:spPr>
          <a:xfrm>
            <a:off x="1000925" y="2065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200">
                <a:solidFill>
                  <a:schemeClr val="dk1"/>
                </a:solidFill>
                <a:latin typeface="Archivo Medium"/>
                <a:ea typeface="Archivo Medium"/>
                <a:cs typeface="Archivo Medium"/>
                <a:sym typeface="Archivo Medium"/>
              </a:rPr>
              <a:t> Perintah stateful (stateful commands) mempertahankan catatan atas tindakan yang mereka lakukan dan statusnya. Artinya, jika sebuah tindakan (seperti memblokir alamat IP) dijalankan, perintah stateful akan mengingat tindakan tersebut dan nantinya dapat mengembalikan (membatalkan) tindakan itu jika diperlukan.</a:t>
            </a:r>
            <a:endParaRPr sz="22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2200">
                <a:solidFill>
                  <a:schemeClr val="dk1"/>
                </a:solidFill>
                <a:latin typeface="Archivo Medium"/>
                <a:ea typeface="Archivo Medium"/>
                <a:cs typeface="Archivo Medium"/>
                <a:sym typeface="Archivo Medium"/>
              </a:rPr>
              <a:t>	Example : </a:t>
            </a:r>
            <a:r>
              <a:rPr lang="en-US" sz="2200">
                <a:solidFill>
                  <a:schemeClr val="dk1"/>
                </a:solidFill>
                <a:latin typeface="Courier New"/>
                <a:ea typeface="Courier New"/>
                <a:cs typeface="Courier New"/>
                <a:sym typeface="Courier New"/>
              </a:rPr>
              <a:t>firewall-drop.sh</a:t>
            </a:r>
            <a:endParaRPr sz="22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22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2200">
                <a:solidFill>
                  <a:schemeClr val="dk1"/>
                </a:solidFill>
                <a:latin typeface="Archivo Medium"/>
                <a:ea typeface="Archivo Medium"/>
                <a:cs typeface="Archivo Medium"/>
                <a:sym typeface="Archivo Medium"/>
              </a:rPr>
              <a:t>Perintah stateless tidak melacak tindakan yang mereka lakukan. Setelah perintah dijalankan, tidak ada mekanisme bawaan untuk membatalkan atau mengubah tindakan tersebut berdasarkan perilaku sebelumnya.</a:t>
            </a:r>
            <a:endParaRPr sz="22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2200">
                <a:solidFill>
                  <a:schemeClr val="dk1"/>
                </a:solidFill>
                <a:latin typeface="Archivo Medium"/>
                <a:ea typeface="Archivo Medium"/>
                <a:cs typeface="Archivo Medium"/>
                <a:sym typeface="Archivo Medium"/>
              </a:rPr>
              <a:t>	Example : </a:t>
            </a:r>
            <a:r>
              <a:rPr lang="en-US" sz="2200">
                <a:solidFill>
                  <a:schemeClr val="dk1"/>
                </a:solidFill>
                <a:latin typeface="Courier New"/>
                <a:ea typeface="Courier New"/>
                <a:cs typeface="Courier New"/>
                <a:sym typeface="Courier New"/>
              </a:rPr>
              <a:t>restart-ossec.sh</a:t>
            </a:r>
            <a:endParaRPr sz="2200">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2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4" name="Shape 4154"/>
        <p:cNvGrpSpPr/>
        <p:nvPr/>
      </p:nvGrpSpPr>
      <p:grpSpPr>
        <a:xfrm>
          <a:off x="0" y="0"/>
          <a:ext cx="0" cy="0"/>
          <a:chOff x="0" y="0"/>
          <a:chExt cx="0" cy="0"/>
        </a:xfrm>
      </p:grpSpPr>
      <p:sp>
        <p:nvSpPr>
          <p:cNvPr id="4155" name="Google Shape;4155;p309"/>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Example Configuration </a:t>
            </a:r>
            <a:endParaRPr b="1" i="0" sz="3600" u="none" cap="none" strike="noStrike">
              <a:solidFill>
                <a:srgbClr val="6D9EEB"/>
              </a:solidFill>
              <a:latin typeface="Poppins"/>
              <a:ea typeface="Poppins"/>
              <a:cs typeface="Poppins"/>
              <a:sym typeface="Poppins"/>
            </a:endParaRPr>
          </a:p>
        </p:txBody>
      </p:sp>
      <p:cxnSp>
        <p:nvCxnSpPr>
          <p:cNvPr id="4156" name="Google Shape;4156;p30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157" name="Google Shape;4157;p30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158" name="Google Shape;4158;p30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159" name="Google Shape;4159;p30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160" name="Google Shape;4160;p30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161" name="Google Shape;4161;p30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162" name="Google Shape;4162;p30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163" name="Google Shape;4163;p309"/>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164" name="Google Shape;4164;p309"/>
          <p:cNvSpPr txBox="1"/>
          <p:nvPr/>
        </p:nvSpPr>
        <p:spPr>
          <a:xfrm>
            <a:off x="1000925" y="2218125"/>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2200">
                <a:solidFill>
                  <a:schemeClr val="dk1"/>
                </a:solidFill>
                <a:latin typeface="Archivo Medium"/>
                <a:ea typeface="Archivo Medium"/>
                <a:cs typeface="Archivo Medium"/>
                <a:sym typeface="Archivo Medium"/>
              </a:rPr>
              <a:t>&lt;active-response&gt;</a:t>
            </a:r>
            <a:endParaRPr sz="22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200">
                <a:solidFill>
                  <a:schemeClr val="dk1"/>
                </a:solidFill>
                <a:latin typeface="Archivo Medium"/>
                <a:ea typeface="Archivo Medium"/>
                <a:cs typeface="Archivo Medium"/>
                <a:sym typeface="Archivo Medium"/>
              </a:rPr>
              <a:t>  &lt;command&gt;firewall-drop&lt;/command&gt;</a:t>
            </a:r>
            <a:endParaRPr sz="22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200">
                <a:solidFill>
                  <a:schemeClr val="dk1"/>
                </a:solidFill>
                <a:latin typeface="Archivo Medium"/>
                <a:ea typeface="Archivo Medium"/>
                <a:cs typeface="Archivo Medium"/>
                <a:sym typeface="Archivo Medium"/>
              </a:rPr>
              <a:t>  &lt;location&gt;local&lt;/location&gt; &lt;!-- Run the command on the local agent --&gt;</a:t>
            </a:r>
            <a:endParaRPr sz="22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200">
                <a:solidFill>
                  <a:schemeClr val="dk1"/>
                </a:solidFill>
                <a:latin typeface="Archivo Medium"/>
                <a:ea typeface="Archivo Medium"/>
                <a:cs typeface="Archivo Medium"/>
                <a:sym typeface="Archivo Medium"/>
              </a:rPr>
              <a:t>  &lt;rules_id&gt;1002,1003&lt;/rules_id&gt; &lt;!-- Trigger on specific rule IDs --&gt;</a:t>
            </a:r>
            <a:endParaRPr sz="22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200">
                <a:solidFill>
                  <a:schemeClr val="dk1"/>
                </a:solidFill>
                <a:latin typeface="Archivo Medium"/>
                <a:ea typeface="Archivo Medium"/>
                <a:cs typeface="Archivo Medium"/>
                <a:sym typeface="Archivo Medium"/>
              </a:rPr>
              <a:t>  &lt;timeout&gt;600&lt;/timeout&gt; &lt;!-- Block the IP for 10 minutes --&gt;</a:t>
            </a:r>
            <a:endParaRPr sz="22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2200">
                <a:solidFill>
                  <a:schemeClr val="dk1"/>
                </a:solidFill>
                <a:latin typeface="Archivo Medium"/>
                <a:ea typeface="Archivo Medium"/>
                <a:cs typeface="Archivo Medium"/>
                <a:sym typeface="Archivo Medium"/>
              </a:rPr>
              <a:t>&lt;/active-response&gt;</a:t>
            </a:r>
            <a:endParaRPr sz="22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22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2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2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168" name="Shape 4168"/>
        <p:cNvGrpSpPr/>
        <p:nvPr/>
      </p:nvGrpSpPr>
      <p:grpSpPr>
        <a:xfrm>
          <a:off x="0" y="0"/>
          <a:ext cx="0" cy="0"/>
          <a:chOff x="0" y="0"/>
          <a:chExt cx="0" cy="0"/>
        </a:xfrm>
      </p:grpSpPr>
      <p:pic>
        <p:nvPicPr>
          <p:cNvPr descr="A picture containing food, drawing, shirt&#10;&#10;Description automatically generated" id="4169" name="Google Shape;4169;p31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170" name="Google Shape;4170;p3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71" name="Google Shape;4171;p31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172" name="Google Shape;4172;p310"/>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173" name="Google Shape;4173;p31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174" name="Google Shape;4174;p310"/>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175" name="Google Shape;4175;p310"/>
          <p:cNvSpPr txBox="1"/>
          <p:nvPr/>
        </p:nvSpPr>
        <p:spPr>
          <a:xfrm>
            <a:off x="1357489" y="3803851"/>
            <a:ext cx="9477000" cy="2308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 Automatic Firewall Blocking SSH Brute Force </a:t>
            </a:r>
            <a:endParaRPr b="1" sz="1300">
              <a:solidFill>
                <a:schemeClr val="dk1"/>
              </a:solidFill>
            </a:endParaRPr>
          </a:p>
          <a:p>
            <a:pPr indent="0" lvl="0" marL="0" marR="0" rtl="0" algn="ctr">
              <a:spcBef>
                <a:spcPts val="0"/>
              </a:spcBef>
              <a:spcAft>
                <a:spcPts val="0"/>
              </a:spcAft>
              <a:buNone/>
            </a:pPr>
            <a:r>
              <a:t/>
            </a:r>
            <a:endParaRPr sz="4800">
              <a:solidFill>
                <a:schemeClr val="lt1"/>
              </a:solidFill>
              <a:highlight>
                <a:srgbClr val="3585F9"/>
              </a:highlight>
              <a:latin typeface="Poppins"/>
              <a:ea typeface="Poppins"/>
              <a:cs typeface="Poppins"/>
              <a:sym typeface="Poppins"/>
            </a:endParaRPr>
          </a:p>
        </p:txBody>
      </p:sp>
      <p:pic>
        <p:nvPicPr>
          <p:cNvPr id="4176" name="Google Shape;4176;p310"/>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2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0" name="Shape 4180"/>
        <p:cNvGrpSpPr/>
        <p:nvPr/>
      </p:nvGrpSpPr>
      <p:grpSpPr>
        <a:xfrm>
          <a:off x="0" y="0"/>
          <a:ext cx="0" cy="0"/>
          <a:chOff x="0" y="0"/>
          <a:chExt cx="0" cy="0"/>
        </a:xfrm>
      </p:grpSpPr>
      <p:sp>
        <p:nvSpPr>
          <p:cNvPr id="4181" name="Google Shape;4181;p311"/>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4182" name="Google Shape;4182;p31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183" name="Google Shape;4183;p31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184" name="Google Shape;4184;p31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185" name="Google Shape;4185;p31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186" name="Google Shape;4186;p31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187" name="Google Shape;4187;p3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188" name="Google Shape;4188;p31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189" name="Google Shape;4189;p311"/>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190" name="Google Shape;4190;p311"/>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Objective :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Protect against SSH brute force attacks, Wazuh's Active Response can be configured to automatically block IP addresses that attempt multiple failed SSH logins</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4" name="Shape 4194"/>
        <p:cNvGrpSpPr/>
        <p:nvPr/>
      </p:nvGrpSpPr>
      <p:grpSpPr>
        <a:xfrm>
          <a:off x="0" y="0"/>
          <a:ext cx="0" cy="0"/>
          <a:chOff x="0" y="0"/>
          <a:chExt cx="0" cy="0"/>
        </a:xfrm>
      </p:grpSpPr>
      <p:sp>
        <p:nvSpPr>
          <p:cNvPr id="4195" name="Google Shape;4195;p312"/>
          <p:cNvSpPr txBox="1"/>
          <p:nvPr/>
        </p:nvSpPr>
        <p:spPr>
          <a:xfrm>
            <a:off x="603103" y="486375"/>
            <a:ext cx="103929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Configure Active Response for Firewall Blocking</a:t>
            </a:r>
            <a:endParaRPr b="1" i="0" sz="3600" u="none" cap="none" strike="noStrike">
              <a:solidFill>
                <a:srgbClr val="6D9EEB"/>
              </a:solidFill>
              <a:latin typeface="Poppins"/>
              <a:ea typeface="Poppins"/>
              <a:cs typeface="Poppins"/>
              <a:sym typeface="Poppins"/>
            </a:endParaRPr>
          </a:p>
        </p:txBody>
      </p:sp>
      <p:cxnSp>
        <p:nvCxnSpPr>
          <p:cNvPr id="4196" name="Google Shape;4196;p31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197" name="Google Shape;4197;p31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198" name="Google Shape;4198;p31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199" name="Google Shape;4199;p31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200" name="Google Shape;4200;p31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201" name="Google Shape;4201;p3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202" name="Google Shape;4202;p31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203" name="Google Shape;4203;p312"/>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204" name="Google Shape;4204;p312"/>
          <p:cNvSpPr txBox="1"/>
          <p:nvPr/>
        </p:nvSpPr>
        <p:spPr>
          <a:xfrm>
            <a:off x="967800" y="1999350"/>
            <a:ext cx="100050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800">
                <a:solidFill>
                  <a:schemeClr val="dk1"/>
                </a:solidFill>
                <a:latin typeface="Archivo Medium"/>
                <a:ea typeface="Archivo Medium"/>
                <a:cs typeface="Archivo Medium"/>
                <a:sym typeface="Archivo Medium"/>
              </a:rPr>
              <a:t>configure Active Response to block IPs that trigger SSH brute force alerts by adding firewall rules via </a:t>
            </a:r>
            <a:r>
              <a:rPr lang="en-US" sz="1800">
                <a:solidFill>
                  <a:srgbClr val="C41F2F"/>
                </a:solidFill>
                <a:latin typeface="Archivo Medium"/>
                <a:ea typeface="Archivo Medium"/>
                <a:cs typeface="Archivo Medium"/>
                <a:sym typeface="Archivo Medium"/>
              </a:rPr>
              <a:t>iptables</a:t>
            </a:r>
            <a:endParaRPr sz="1800">
              <a:solidFill>
                <a:srgbClr val="C41F2F"/>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800">
              <a:solidFill>
                <a:srgbClr val="188038"/>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800">
                <a:solidFill>
                  <a:schemeClr val="dk1"/>
                </a:solidFill>
                <a:latin typeface="Courier New"/>
                <a:ea typeface="Courier New"/>
                <a:cs typeface="Courier New"/>
                <a:sym typeface="Courier New"/>
              </a:rPr>
              <a:t>sudo nano /var/ossec/etc/ossec.conf</a:t>
            </a:r>
            <a:endParaRPr sz="18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8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800">
                <a:solidFill>
                  <a:schemeClr val="dk1"/>
                </a:solidFill>
                <a:latin typeface="Courier New"/>
                <a:ea typeface="Courier New"/>
                <a:cs typeface="Courier New"/>
                <a:sym typeface="Courier New"/>
              </a:rPr>
              <a:t>&lt;active-response&gt;</a:t>
            </a:r>
            <a:endParaRPr sz="18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800">
                <a:solidFill>
                  <a:schemeClr val="dk1"/>
                </a:solidFill>
                <a:latin typeface="Courier New"/>
                <a:ea typeface="Courier New"/>
                <a:cs typeface="Courier New"/>
                <a:sym typeface="Courier New"/>
              </a:rPr>
              <a:t>  &lt;command&gt;firewall-drop&lt;/command&gt; &lt;!-- Script to block the IP --&gt;</a:t>
            </a:r>
            <a:endParaRPr sz="18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800">
                <a:solidFill>
                  <a:schemeClr val="dk1"/>
                </a:solidFill>
                <a:latin typeface="Courier New"/>
                <a:ea typeface="Courier New"/>
                <a:cs typeface="Courier New"/>
                <a:sym typeface="Courier New"/>
              </a:rPr>
              <a:t>  &lt;location&gt;local&lt;/location&gt;       &lt;!-- Run on local agent --&gt;</a:t>
            </a:r>
            <a:endParaRPr sz="18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800">
                <a:solidFill>
                  <a:schemeClr val="dk1"/>
                </a:solidFill>
                <a:latin typeface="Courier New"/>
                <a:ea typeface="Courier New"/>
                <a:cs typeface="Courier New"/>
                <a:sym typeface="Courier New"/>
              </a:rPr>
              <a:t>  &lt;rules_id&gt;1002&lt;/rules_id&gt;        &lt;!-- Use the SSH brute force rule ID --&gt;</a:t>
            </a:r>
            <a:endParaRPr sz="18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800">
                <a:solidFill>
                  <a:schemeClr val="dk1"/>
                </a:solidFill>
                <a:latin typeface="Courier New"/>
                <a:ea typeface="Courier New"/>
                <a:cs typeface="Courier New"/>
                <a:sym typeface="Courier New"/>
              </a:rPr>
              <a:t>  &lt;timeout&gt;600&lt;/timeout&gt;           &lt;!-- Block the IP for 10 minutes --&gt;</a:t>
            </a:r>
            <a:endParaRPr sz="18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800">
                <a:solidFill>
                  <a:schemeClr val="dk1"/>
                </a:solidFill>
                <a:latin typeface="Courier New"/>
                <a:ea typeface="Courier New"/>
                <a:cs typeface="Courier New"/>
                <a:sym typeface="Courier New"/>
              </a:rPr>
              <a:t>  &lt;repeated_offenders&gt;no&lt;/repeated_offenders&gt; &lt;!-- No repeated offender tracking --&gt;</a:t>
            </a:r>
            <a:endParaRPr sz="18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800">
                <a:solidFill>
                  <a:schemeClr val="dk1"/>
                </a:solidFill>
                <a:latin typeface="Courier New"/>
                <a:ea typeface="Courier New"/>
                <a:cs typeface="Courier New"/>
                <a:sym typeface="Courier New"/>
              </a:rPr>
              <a:t>&lt;/active-response&gt;</a:t>
            </a:r>
            <a:endParaRPr sz="18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8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8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800">
              <a:solidFill>
                <a:srgbClr val="188038"/>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800">
              <a:solidFill>
                <a:srgbClr val="188038"/>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8" name="Shape 4208"/>
        <p:cNvGrpSpPr/>
        <p:nvPr/>
      </p:nvGrpSpPr>
      <p:grpSpPr>
        <a:xfrm>
          <a:off x="0" y="0"/>
          <a:ext cx="0" cy="0"/>
          <a:chOff x="0" y="0"/>
          <a:chExt cx="0" cy="0"/>
        </a:xfrm>
      </p:grpSpPr>
      <p:sp>
        <p:nvSpPr>
          <p:cNvPr id="4209" name="Google Shape;4209;p313"/>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Verify</a:t>
            </a:r>
            <a:endParaRPr b="1" i="0" sz="3600" u="none" cap="none" strike="noStrike">
              <a:solidFill>
                <a:srgbClr val="6D9EEB"/>
              </a:solidFill>
              <a:latin typeface="Poppins"/>
              <a:ea typeface="Poppins"/>
              <a:cs typeface="Poppins"/>
              <a:sym typeface="Poppins"/>
            </a:endParaRPr>
          </a:p>
        </p:txBody>
      </p:sp>
      <p:cxnSp>
        <p:nvCxnSpPr>
          <p:cNvPr id="4210" name="Google Shape;4210;p31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211" name="Google Shape;4211;p31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212" name="Google Shape;4212;p31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213" name="Google Shape;4213;p31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214" name="Google Shape;4214;p3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215" name="Google Shape;4215;p3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216" name="Google Shape;4216;p31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217" name="Google Shape;4217;p313"/>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218" name="Google Shape;4218;p313"/>
          <p:cNvSpPr txBox="1"/>
          <p:nvPr/>
        </p:nvSpPr>
        <p:spPr>
          <a:xfrm>
            <a:off x="1000925" y="1999350"/>
            <a:ext cx="99720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800">
                <a:solidFill>
                  <a:schemeClr val="dk1"/>
                </a:solidFill>
                <a:latin typeface="Archivo Medium"/>
                <a:ea typeface="Archivo Medium"/>
                <a:cs typeface="Archivo Medium"/>
                <a:sym typeface="Archivo Medium"/>
              </a:rPr>
              <a:t>sudo iptables -L</a:t>
            </a:r>
            <a:endParaRPr sz="18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8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800">
                <a:solidFill>
                  <a:schemeClr val="dk1"/>
                </a:solidFill>
                <a:latin typeface="Archivo Medium"/>
                <a:ea typeface="Archivo Medium"/>
                <a:cs typeface="Archivo Medium"/>
                <a:sym typeface="Archivo Medium"/>
              </a:rPr>
              <a:t>Wazuh Alert: Multiple SSH login failures detected from IP ( IP Target ) </a:t>
            </a:r>
            <a:endParaRPr sz="18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8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8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222" name="Shape 4222"/>
        <p:cNvGrpSpPr/>
        <p:nvPr/>
      </p:nvGrpSpPr>
      <p:grpSpPr>
        <a:xfrm>
          <a:off x="0" y="0"/>
          <a:ext cx="0" cy="0"/>
          <a:chOff x="0" y="0"/>
          <a:chExt cx="0" cy="0"/>
        </a:xfrm>
      </p:grpSpPr>
      <p:pic>
        <p:nvPicPr>
          <p:cNvPr descr="A picture containing food, drawing, shirt&#10;&#10;Description automatically generated" id="4223" name="Google Shape;4223;p31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224" name="Google Shape;4224;p3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25" name="Google Shape;4225;p3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226" name="Google Shape;4226;p314"/>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227" name="Google Shape;4227;p31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228" name="Google Shape;4228;p314"/>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229" name="Google Shape;4229;p314"/>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4230" name="Google Shape;4230;p314"/>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234" name="Shape 4234"/>
        <p:cNvGrpSpPr/>
        <p:nvPr/>
      </p:nvGrpSpPr>
      <p:grpSpPr>
        <a:xfrm>
          <a:off x="0" y="0"/>
          <a:ext cx="0" cy="0"/>
          <a:chOff x="0" y="0"/>
          <a:chExt cx="0" cy="0"/>
        </a:xfrm>
      </p:grpSpPr>
      <p:pic>
        <p:nvPicPr>
          <p:cNvPr descr="A picture containing food, drawing, shirt&#10;&#10;Description automatically generated" id="4235" name="Google Shape;4235;p31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236" name="Google Shape;4236;p3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37" name="Google Shape;4237;p3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238" name="Google Shape;4238;p315"/>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239" name="Google Shape;4239;p31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240" name="Google Shape;4240;p315"/>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241" name="Google Shape;4241;p315"/>
          <p:cNvSpPr txBox="1"/>
          <p:nvPr/>
        </p:nvSpPr>
        <p:spPr>
          <a:xfrm>
            <a:off x="1357489" y="3803851"/>
            <a:ext cx="9477000" cy="2124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lt1"/>
                </a:solidFill>
                <a:highlight>
                  <a:srgbClr val="3585F9"/>
                </a:highlight>
                <a:latin typeface="Poppins"/>
                <a:ea typeface="Poppins"/>
                <a:cs typeface="Poppins"/>
                <a:sym typeface="Poppins"/>
              </a:rPr>
              <a:t>Endpoint Security </a:t>
            </a:r>
            <a:endParaRPr sz="4400">
              <a:solidFill>
                <a:schemeClr val="lt1"/>
              </a:solidFill>
              <a:highlight>
                <a:srgbClr val="3585F9"/>
              </a:highlight>
              <a:latin typeface="Poppins"/>
              <a:ea typeface="Poppins"/>
              <a:cs typeface="Poppins"/>
              <a:sym typeface="Poppins"/>
            </a:endParaRPr>
          </a:p>
          <a:p>
            <a:pPr indent="0" lvl="0" marL="0" marR="0" rtl="0" algn="ctr">
              <a:spcBef>
                <a:spcPts val="0"/>
              </a:spcBef>
              <a:spcAft>
                <a:spcPts val="0"/>
              </a:spcAft>
              <a:buNone/>
            </a:pPr>
            <a:r>
              <a:rPr lang="en-US" sz="4400">
                <a:solidFill>
                  <a:schemeClr val="lt1"/>
                </a:solidFill>
                <a:highlight>
                  <a:srgbClr val="3585F9"/>
                </a:highlight>
                <a:latin typeface="Poppins"/>
                <a:ea typeface="Poppins"/>
                <a:cs typeface="Poppins"/>
                <a:sym typeface="Poppins"/>
              </a:rPr>
              <a:t>Security Configuration Assessment </a:t>
            </a:r>
            <a:endParaRPr sz="4400">
              <a:solidFill>
                <a:schemeClr val="lt1"/>
              </a:solidFill>
              <a:highlight>
                <a:srgbClr val="3585F9"/>
              </a:highlight>
              <a:latin typeface="Poppins"/>
              <a:ea typeface="Poppins"/>
              <a:cs typeface="Poppins"/>
              <a:sym typeface="Poppins"/>
            </a:endParaRPr>
          </a:p>
        </p:txBody>
      </p:sp>
      <p:pic>
        <p:nvPicPr>
          <p:cNvPr id="4242" name="Google Shape;4242;p315"/>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6" name="Shape 4246"/>
        <p:cNvGrpSpPr/>
        <p:nvPr/>
      </p:nvGrpSpPr>
      <p:grpSpPr>
        <a:xfrm>
          <a:off x="0" y="0"/>
          <a:ext cx="0" cy="0"/>
          <a:chOff x="0" y="0"/>
          <a:chExt cx="0" cy="0"/>
        </a:xfrm>
      </p:grpSpPr>
      <p:sp>
        <p:nvSpPr>
          <p:cNvPr id="4247" name="Google Shape;4247;p316"/>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4248" name="Google Shape;4248;p316"/>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249" name="Google Shape;4249;p31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250" name="Google Shape;4250;p31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251" name="Google Shape;4251;p31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252" name="Google Shape;4252;p31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253" name="Google Shape;4253;p3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254" name="Google Shape;4254;p316"/>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255" name="Google Shape;4255;p316"/>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256" name="Google Shape;4256;p316"/>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Objective :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 Choosing, customizing, and centrally managing SCA policies</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 Types of checks that can be performed by SCA policies</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 Pros and cons of SCA versus CIS-CAT</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0" name="Shape 4260"/>
        <p:cNvGrpSpPr/>
        <p:nvPr/>
      </p:nvGrpSpPr>
      <p:grpSpPr>
        <a:xfrm>
          <a:off x="0" y="0"/>
          <a:ext cx="0" cy="0"/>
          <a:chOff x="0" y="0"/>
          <a:chExt cx="0" cy="0"/>
        </a:xfrm>
      </p:grpSpPr>
      <p:sp>
        <p:nvSpPr>
          <p:cNvPr id="4261" name="Google Shape;4261;p317"/>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Security Configuration Assessment </a:t>
            </a:r>
            <a:endParaRPr b="1" i="0" sz="3600" u="none" cap="none" strike="noStrike">
              <a:solidFill>
                <a:srgbClr val="6D9EEB"/>
              </a:solidFill>
              <a:latin typeface="Poppins"/>
              <a:ea typeface="Poppins"/>
              <a:cs typeface="Poppins"/>
              <a:sym typeface="Poppins"/>
            </a:endParaRPr>
          </a:p>
        </p:txBody>
      </p:sp>
      <p:cxnSp>
        <p:nvCxnSpPr>
          <p:cNvPr id="4262" name="Google Shape;4262;p31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263" name="Google Shape;4263;p31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264" name="Google Shape;4264;p31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265" name="Google Shape;4265;p31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266" name="Google Shape;4266;p31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267" name="Google Shape;4267;p3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268" name="Google Shape;4268;p31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269" name="Google Shape;4269;p317"/>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270" name="Google Shape;4270;p317"/>
          <p:cNvSpPr txBox="1"/>
          <p:nvPr/>
        </p:nvSpPr>
        <p:spPr>
          <a:xfrm>
            <a:off x="800600" y="2065150"/>
            <a:ext cx="102939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Security Configuration Assessment (SCA) adalah proses untuk memverifikasi bahwa semua sistem mematuhi seperangkat aturan yang telah ditentukan terkait pengaturan konfigurasi dan penggunaan aplikasi yang disetujui. Salah satu cara paling efektif untuk mengamankan endpoint adalah dengan mengurangi permukaan kerentanannya, proses ini dikenal sebagai hardening.</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82">
                <a:solidFill>
                  <a:schemeClr val="dk1"/>
                </a:solidFill>
                <a:latin typeface="Archivo Medium"/>
                <a:ea typeface="Archivo Medium"/>
                <a:cs typeface="Archivo Medium"/>
                <a:sym typeface="Archivo Medium"/>
              </a:rPr>
              <a:t>Assessment konfigurasi merupakan cara yang efektif untuk mengidentifikasi kelemahan pada endpoint dan memperbaikinya guna mengurangi permukaan serangan (attack surface).</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4" name="Shape 4274"/>
        <p:cNvGrpSpPr/>
        <p:nvPr/>
      </p:nvGrpSpPr>
      <p:grpSpPr>
        <a:xfrm>
          <a:off x="0" y="0"/>
          <a:ext cx="0" cy="0"/>
          <a:chOff x="0" y="0"/>
          <a:chExt cx="0" cy="0"/>
        </a:xfrm>
      </p:grpSpPr>
      <p:sp>
        <p:nvSpPr>
          <p:cNvPr id="4275" name="Google Shape;4275;p318"/>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How SCA Works</a:t>
            </a:r>
            <a:endParaRPr b="1" i="0" sz="3600" u="none" cap="none" strike="noStrike">
              <a:solidFill>
                <a:srgbClr val="6D9EEB"/>
              </a:solidFill>
              <a:latin typeface="Poppins"/>
              <a:ea typeface="Poppins"/>
              <a:cs typeface="Poppins"/>
              <a:sym typeface="Poppins"/>
            </a:endParaRPr>
          </a:p>
        </p:txBody>
      </p:sp>
      <p:cxnSp>
        <p:nvCxnSpPr>
          <p:cNvPr id="4276" name="Google Shape;4276;p31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277" name="Google Shape;4277;p31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278" name="Google Shape;4278;p31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279" name="Google Shape;4279;p31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280" name="Google Shape;4280;p3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281" name="Google Shape;4281;p3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282" name="Google Shape;4282;p31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283" name="Google Shape;4283;p318"/>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284" name="Google Shape;4284;p318"/>
          <p:cNvSpPr txBox="1"/>
          <p:nvPr/>
        </p:nvSpPr>
        <p:spPr>
          <a:xfrm>
            <a:off x="1000925" y="1650025"/>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this is step-by-step SCA Work :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AutoNum type="arabicPeriod"/>
            </a:pPr>
            <a:r>
              <a:rPr lang="en-US" sz="1982">
                <a:solidFill>
                  <a:schemeClr val="dk1"/>
                </a:solidFill>
                <a:latin typeface="Archivo Medium"/>
                <a:ea typeface="Archivo Medium"/>
                <a:cs typeface="Archivo Medium"/>
                <a:sym typeface="Archivo Medium"/>
              </a:rPr>
              <a:t>Each Wazuh agent has its own local database where it stores the current state of each SCA check</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AutoNum type="arabicPeriod"/>
            </a:pPr>
            <a:r>
              <a:rPr lang="en-US" sz="1982">
                <a:solidFill>
                  <a:schemeClr val="dk1"/>
                </a:solidFill>
                <a:latin typeface="Archivo Medium"/>
                <a:ea typeface="Archivo Medium"/>
                <a:cs typeface="Archivo Medium"/>
                <a:sym typeface="Archivo Medium"/>
              </a:rPr>
              <a:t>The Wazuh server maintains an SCA database for all agents that are enrolled to it</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AutoNum type="arabicPeriod"/>
            </a:pPr>
            <a:r>
              <a:rPr lang="en-US" sz="1982">
                <a:solidFill>
                  <a:schemeClr val="dk1"/>
                </a:solidFill>
                <a:latin typeface="Archivo Medium"/>
                <a:ea typeface="Archivo Medium"/>
                <a:cs typeface="Archivo Medium"/>
                <a:sym typeface="Archivo Medium"/>
              </a:rPr>
              <a:t>Wazuh agents only send the differences detected between scans to the Wazuh server. If there has been no change, only a summary of the SCA scan is sent, thus avoiding unnecessary network traffic while keeping the SCA database on the Wazuh server up to date</a:t>
            </a:r>
            <a:endParaRPr sz="1982">
              <a:solidFill>
                <a:schemeClr val="dk1"/>
              </a:solidFill>
              <a:latin typeface="Archivo Medium"/>
              <a:ea typeface="Archivo Medium"/>
              <a:cs typeface="Archivo Medium"/>
              <a:sym typeface="Archivo Medium"/>
            </a:endParaRPr>
          </a:p>
          <a:p>
            <a:pPr indent="-354488" lvl="0" marL="457200" rtl="0" algn="l">
              <a:lnSpc>
                <a:spcPct val="80000"/>
              </a:lnSpc>
              <a:spcBef>
                <a:spcPts val="0"/>
              </a:spcBef>
              <a:spcAft>
                <a:spcPts val="0"/>
              </a:spcAft>
              <a:buClr>
                <a:schemeClr val="dk1"/>
              </a:buClr>
              <a:buSzPts val="1983"/>
              <a:buFont typeface="Archivo Medium"/>
              <a:buAutoNum type="arabicPeriod"/>
            </a:pPr>
            <a:r>
              <a:rPr lang="en-US" sz="1982">
                <a:solidFill>
                  <a:schemeClr val="dk1"/>
                </a:solidFill>
                <a:latin typeface="Archivo Medium"/>
                <a:ea typeface="Archivo Medium"/>
                <a:cs typeface="Archivo Medium"/>
                <a:sym typeface="Archivo Medium"/>
              </a:rPr>
              <a:t>the Wazuh server then uses those updates to issue alerts that are shown in the Wazuh dashboard.</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8" name="Shape 4288"/>
        <p:cNvGrpSpPr/>
        <p:nvPr/>
      </p:nvGrpSpPr>
      <p:grpSpPr>
        <a:xfrm>
          <a:off x="0" y="0"/>
          <a:ext cx="0" cy="0"/>
          <a:chOff x="0" y="0"/>
          <a:chExt cx="0" cy="0"/>
        </a:xfrm>
      </p:grpSpPr>
      <p:pic>
        <p:nvPicPr>
          <p:cNvPr descr="A picture containing food, drawing, shirt&#10;&#10;Description automatically generated" id="4289" name="Google Shape;4289;p31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290" name="Google Shape;4290;p31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291" name="Google Shape;4291;p31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292" name="Google Shape;4292;p3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293" name="Google Shape;4293;p3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94" name="Google Shape;4294;p319"/>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pic>
        <p:nvPicPr>
          <p:cNvPr id="4295" name="Google Shape;4295;p319"/>
          <p:cNvPicPr preferRelativeResize="0"/>
          <p:nvPr/>
        </p:nvPicPr>
        <p:blipFill>
          <a:blip r:embed="rId6">
            <a:alphaModFix/>
          </a:blip>
          <a:stretch>
            <a:fillRect/>
          </a:stretch>
        </p:blipFill>
        <p:spPr>
          <a:xfrm>
            <a:off x="2317586" y="273100"/>
            <a:ext cx="7206064" cy="5548801"/>
          </a:xfrm>
          <a:prstGeom prst="rect">
            <a:avLst/>
          </a:prstGeom>
          <a:noFill/>
          <a:ln>
            <a:noFill/>
          </a:ln>
          <a:effectLst>
            <a:outerShdw blurRad="57150" rotWithShape="0" algn="bl" dir="10800000" dist="19050">
              <a:srgbClr val="000000">
                <a:alpha val="90000"/>
              </a:srgbClr>
            </a:outerShdw>
          </a:effectLst>
        </p:spPr>
      </p:pic>
    </p:spTree>
  </p:cSld>
  <p:clrMapOvr>
    <a:masterClrMapping/>
  </p:clrMapOvr>
  <p:transition spd="slow">
    <p:fade thruBlk="1"/>
  </p:transition>
</p:sld>
</file>

<file path=ppt/slides/slide3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299" name="Shape 4299"/>
        <p:cNvGrpSpPr/>
        <p:nvPr/>
      </p:nvGrpSpPr>
      <p:grpSpPr>
        <a:xfrm>
          <a:off x="0" y="0"/>
          <a:ext cx="0" cy="0"/>
          <a:chOff x="0" y="0"/>
          <a:chExt cx="0" cy="0"/>
        </a:xfrm>
      </p:grpSpPr>
      <p:pic>
        <p:nvPicPr>
          <p:cNvPr descr="A picture containing food, drawing, shirt&#10;&#10;Description automatically generated" id="4300" name="Google Shape;4300;p32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301" name="Google Shape;4301;p3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02" name="Google Shape;4302;p3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303" name="Google Shape;4303;p320"/>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304" name="Google Shape;4304;p32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305" name="Google Shape;4305;p320"/>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306" name="Google Shape;4306;p320"/>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Labs Custom SCA  </a:t>
            </a:r>
            <a:endParaRPr sz="4800">
              <a:solidFill>
                <a:schemeClr val="lt1"/>
              </a:solidFill>
              <a:highlight>
                <a:srgbClr val="3585F9"/>
              </a:highlight>
              <a:latin typeface="Poppins"/>
              <a:ea typeface="Poppins"/>
              <a:cs typeface="Poppins"/>
              <a:sym typeface="Poppins"/>
            </a:endParaRPr>
          </a:p>
        </p:txBody>
      </p:sp>
      <p:pic>
        <p:nvPicPr>
          <p:cNvPr id="4307" name="Google Shape;4307;p320"/>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1" name="Shape 4311"/>
        <p:cNvGrpSpPr/>
        <p:nvPr/>
      </p:nvGrpSpPr>
      <p:grpSpPr>
        <a:xfrm>
          <a:off x="0" y="0"/>
          <a:ext cx="0" cy="0"/>
          <a:chOff x="0" y="0"/>
          <a:chExt cx="0" cy="0"/>
        </a:xfrm>
      </p:grpSpPr>
      <p:sp>
        <p:nvSpPr>
          <p:cNvPr id="4312" name="Google Shape;4312;p321"/>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Detecting Keyword in a file</a:t>
            </a:r>
            <a:endParaRPr b="1" i="0" sz="3600" u="none" cap="none" strike="noStrike">
              <a:solidFill>
                <a:srgbClr val="6D9EEB"/>
              </a:solidFill>
              <a:latin typeface="Poppins"/>
              <a:ea typeface="Poppins"/>
              <a:cs typeface="Poppins"/>
              <a:sym typeface="Poppins"/>
            </a:endParaRPr>
          </a:p>
        </p:txBody>
      </p:sp>
      <p:cxnSp>
        <p:nvCxnSpPr>
          <p:cNvPr id="4313" name="Google Shape;4313;p32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314" name="Google Shape;4314;p32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315" name="Google Shape;4315;p32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316" name="Google Shape;4316;p32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317" name="Google Shape;4317;p32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318" name="Google Shape;4318;p3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319" name="Google Shape;4319;p32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320" name="Google Shape;4320;p321"/>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321" name="Google Shape;4321;p321"/>
          <p:cNvSpPr txBox="1"/>
          <p:nvPr/>
        </p:nvSpPr>
        <p:spPr>
          <a:xfrm>
            <a:off x="1000925" y="2065150"/>
            <a:ext cx="100935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Dalam use case ini, kami mendemonstrasikan bagaimana kamu dapat mengonfigurasi Wazuh SCA untuk mendeteksi keberadaan kata kunci dalam sebuah file. Kita memantau file testfile.txt untuk mendeteksi frasa </a:t>
            </a:r>
            <a:r>
              <a:rPr b="1" lang="en-US" sz="1982">
                <a:solidFill>
                  <a:schemeClr val="dk1"/>
                </a:solidFill>
                <a:latin typeface="Archivo"/>
                <a:ea typeface="Archivo"/>
                <a:cs typeface="Archivo"/>
                <a:sym typeface="Archivo"/>
              </a:rPr>
              <a:t>password_enabled: yes</a:t>
            </a:r>
            <a:r>
              <a:rPr lang="en-US" sz="1982">
                <a:solidFill>
                  <a:schemeClr val="dk1"/>
                </a:solidFill>
                <a:latin typeface="Archivo Medium"/>
                <a:ea typeface="Archivo Medium"/>
                <a:cs typeface="Archivo Medium"/>
                <a:sym typeface="Archivo Medium"/>
              </a:rPr>
              <a:t>. Modul Wazuh SCA akan memicu alert ketika pola tersebut terdeteksi di dalam file.</a:t>
            </a:r>
            <a:endParaRPr sz="1982">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5" name="Shape 4325"/>
        <p:cNvGrpSpPr/>
        <p:nvPr/>
      </p:nvGrpSpPr>
      <p:grpSpPr>
        <a:xfrm>
          <a:off x="0" y="0"/>
          <a:ext cx="0" cy="0"/>
          <a:chOff x="0" y="0"/>
          <a:chExt cx="0" cy="0"/>
        </a:xfrm>
      </p:grpSpPr>
      <p:sp>
        <p:nvSpPr>
          <p:cNvPr id="4326" name="Google Shape;4326;p322"/>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Labs Keyword Check</a:t>
            </a:r>
            <a:endParaRPr b="1" i="0" sz="3600" u="none" cap="none" strike="noStrike">
              <a:solidFill>
                <a:srgbClr val="6D9EEB"/>
              </a:solidFill>
              <a:latin typeface="Poppins"/>
              <a:ea typeface="Poppins"/>
              <a:cs typeface="Poppins"/>
              <a:sym typeface="Poppins"/>
            </a:endParaRPr>
          </a:p>
        </p:txBody>
      </p:sp>
      <p:cxnSp>
        <p:nvCxnSpPr>
          <p:cNvPr id="4327" name="Google Shape;4327;p32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328" name="Google Shape;4328;p32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329" name="Google Shape;4329;p32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330" name="Google Shape;4330;p32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331" name="Google Shape;4331;p3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332" name="Google Shape;4332;p3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333" name="Google Shape;4333;p32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334" name="Google Shape;4334;p322"/>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335" name="Google Shape;4335;p322"/>
          <p:cNvSpPr txBox="1"/>
          <p:nvPr/>
        </p:nvSpPr>
        <p:spPr>
          <a:xfrm>
            <a:off x="1000925" y="1650025"/>
            <a:ext cx="9945600" cy="2859300"/>
          </a:xfrm>
          <a:prstGeom prst="rect">
            <a:avLst/>
          </a:prstGeom>
          <a:noFill/>
          <a:ln>
            <a:noFill/>
          </a:ln>
        </p:spPr>
        <p:txBody>
          <a:bodyPr anchorCtr="0" anchor="t" bIns="45700" lIns="91425" spcFirstLastPara="1" rIns="91425" wrap="square" tIns="45700">
            <a:noAutofit/>
          </a:bodyPr>
          <a:lstStyle/>
          <a:p>
            <a:pPr indent="-354488" lvl="0" marL="457200" rtl="0" algn="l">
              <a:lnSpc>
                <a:spcPct val="80000"/>
              </a:lnSpc>
              <a:spcBef>
                <a:spcPts val="0"/>
              </a:spcBef>
              <a:spcAft>
                <a:spcPts val="0"/>
              </a:spcAft>
              <a:buClr>
                <a:schemeClr val="dk1"/>
              </a:buClr>
              <a:buSzPts val="1983"/>
              <a:buFont typeface="Archivo Medium"/>
              <a:buAutoNum type="arabicPeriod"/>
            </a:pPr>
            <a:r>
              <a:rPr lang="en-US" sz="1982">
                <a:solidFill>
                  <a:schemeClr val="dk1"/>
                </a:solidFill>
                <a:latin typeface="Archivo Medium"/>
                <a:ea typeface="Archivo Medium"/>
                <a:cs typeface="Archivo Medium"/>
                <a:sym typeface="Archivo Medium"/>
              </a:rPr>
              <a:t>Create A file with name keyword.yml and add some text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ctr">
              <a:lnSpc>
                <a:spcPct val="80000"/>
              </a:lnSpc>
              <a:spcBef>
                <a:spcPts val="0"/>
              </a:spcBef>
              <a:spcAft>
                <a:spcPts val="0"/>
              </a:spcAft>
              <a:buNone/>
            </a:pPr>
            <a:r>
              <a:rPr lang="en-US" sz="1982">
                <a:solidFill>
                  <a:schemeClr val="dk1"/>
                </a:solidFill>
                <a:latin typeface="Courier New"/>
                <a:ea typeface="Courier New"/>
                <a:cs typeface="Courier New"/>
                <a:sym typeface="Courier New"/>
              </a:rPr>
              <a:t>echo -e "config_file\</a:t>
            </a:r>
            <a:r>
              <a:rPr lang="en-US" sz="1982">
                <a:solidFill>
                  <a:schemeClr val="dk1"/>
                </a:solidFill>
                <a:latin typeface="Courier New"/>
                <a:ea typeface="Courier New"/>
                <a:cs typeface="Courier New"/>
                <a:sym typeface="Courier New"/>
              </a:rPr>
              <a:t>nsecond</a:t>
            </a:r>
            <a:r>
              <a:rPr lang="en-US" sz="1982">
                <a:solidFill>
                  <a:schemeClr val="dk1"/>
                </a:solidFill>
                <a:latin typeface="Courier New"/>
                <a:ea typeface="Courier New"/>
                <a:cs typeface="Courier New"/>
                <a:sym typeface="Courier New"/>
              </a:rPr>
              <a:t> line of configuration\</a:t>
            </a:r>
            <a:r>
              <a:rPr lang="en-US" sz="1982">
                <a:solidFill>
                  <a:schemeClr val="dk1"/>
                </a:solidFill>
                <a:latin typeface="Courier New"/>
                <a:ea typeface="Courier New"/>
                <a:cs typeface="Courier New"/>
                <a:sym typeface="Courier New"/>
              </a:rPr>
              <a:t>n</a:t>
            </a:r>
            <a:r>
              <a:rPr lang="en-US" sz="1982">
                <a:solidFill>
                  <a:schemeClr val="dk1"/>
                </a:solidFill>
                <a:latin typeface="Courier New"/>
                <a:ea typeface="Courier New"/>
                <a:cs typeface="Courier New"/>
                <a:sym typeface="Courier New"/>
              </a:rPr>
              <a:t>password_enabled: yes" &gt; /usr/share/testfile.txt</a:t>
            </a:r>
            <a:endParaRPr sz="1982">
              <a:solidFill>
                <a:schemeClr val="dk1"/>
              </a:solidFill>
              <a:latin typeface="Courier New"/>
              <a:ea typeface="Courier New"/>
              <a:cs typeface="Courier New"/>
              <a:sym typeface="Courier New"/>
            </a:endParaRPr>
          </a:p>
          <a:p>
            <a:pPr indent="0" lvl="0" marL="0" rtl="0" algn="ctr">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a:p>
            <a:pPr indent="-354488" lvl="0" marL="457200" rtl="0" algn="l">
              <a:lnSpc>
                <a:spcPct val="80000"/>
              </a:lnSpc>
              <a:spcBef>
                <a:spcPts val="0"/>
              </a:spcBef>
              <a:spcAft>
                <a:spcPts val="0"/>
              </a:spcAft>
              <a:buClr>
                <a:schemeClr val="dk1"/>
              </a:buClr>
              <a:buSzPts val="1983"/>
              <a:buFont typeface="Archivo Medium"/>
              <a:buAutoNum type="arabicPeriod"/>
            </a:pPr>
            <a:r>
              <a:rPr lang="en-US" sz="1982">
                <a:solidFill>
                  <a:schemeClr val="dk1"/>
                </a:solidFill>
                <a:latin typeface="Archivo Medium"/>
                <a:ea typeface="Archivo Medium"/>
                <a:cs typeface="Archivo Medium"/>
                <a:sym typeface="Archivo Medium"/>
              </a:rPr>
              <a:t>Create A directory custom policy for sca</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ctr">
              <a:lnSpc>
                <a:spcPct val="80000"/>
              </a:lnSpc>
              <a:spcBef>
                <a:spcPts val="0"/>
              </a:spcBef>
              <a:spcAft>
                <a:spcPts val="0"/>
              </a:spcAft>
              <a:buNone/>
            </a:pPr>
            <a:r>
              <a:rPr lang="en-US" sz="1982">
                <a:solidFill>
                  <a:schemeClr val="dk1"/>
                </a:solidFill>
                <a:latin typeface="Courier New"/>
                <a:ea typeface="Courier New"/>
                <a:cs typeface="Courier New"/>
                <a:sym typeface="Courier New"/>
              </a:rPr>
              <a:t>mkdir /var/ossec/etc/custom-sca-files/</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3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9" name="Shape 4339"/>
        <p:cNvGrpSpPr/>
        <p:nvPr/>
      </p:nvGrpSpPr>
      <p:grpSpPr>
        <a:xfrm>
          <a:off x="0" y="0"/>
          <a:ext cx="0" cy="0"/>
          <a:chOff x="0" y="0"/>
          <a:chExt cx="0" cy="0"/>
        </a:xfrm>
      </p:grpSpPr>
      <p:sp>
        <p:nvSpPr>
          <p:cNvPr id="4340" name="Google Shape;4340;p323"/>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Labs Keyword Check</a:t>
            </a:r>
            <a:endParaRPr b="1" i="0" sz="3600" u="none" cap="none" strike="noStrike">
              <a:solidFill>
                <a:srgbClr val="6D9EEB"/>
              </a:solidFill>
              <a:latin typeface="Poppins"/>
              <a:ea typeface="Poppins"/>
              <a:cs typeface="Poppins"/>
              <a:sym typeface="Poppins"/>
            </a:endParaRPr>
          </a:p>
        </p:txBody>
      </p:sp>
      <p:cxnSp>
        <p:nvCxnSpPr>
          <p:cNvPr id="4341" name="Google Shape;4341;p32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342" name="Google Shape;4342;p32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343" name="Google Shape;4343;p32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344" name="Google Shape;4344;p32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345" name="Google Shape;4345;p32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346" name="Google Shape;4346;p3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347" name="Google Shape;4347;p32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348" name="Google Shape;4348;p323"/>
          <p:cNvSpPr txBox="1"/>
          <p:nvPr/>
        </p:nvSpPr>
        <p:spPr>
          <a:xfrm>
            <a:off x="1000925" y="1671150"/>
            <a:ext cx="3194700" cy="35157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3. Create SCA Policy in </a:t>
            </a:r>
            <a:r>
              <a:rPr lang="en-US" sz="1982">
                <a:solidFill>
                  <a:schemeClr val="dk1"/>
                </a:solidFill>
                <a:latin typeface="Archivo Medium"/>
                <a:ea typeface="Archivo Medium"/>
                <a:cs typeface="Archivo Medium"/>
                <a:sym typeface="Archivo Medium"/>
              </a:rPr>
              <a:t>custom</a:t>
            </a:r>
            <a:r>
              <a:rPr lang="en-US" sz="1982">
                <a:solidFill>
                  <a:schemeClr val="dk1"/>
                </a:solidFill>
                <a:latin typeface="Archivo Medium"/>
                <a:ea typeface="Archivo Medium"/>
                <a:cs typeface="Archivo Medium"/>
                <a:sym typeface="Archivo Medium"/>
              </a:rPr>
              <a:t>-sca-files directory</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4.  Change ownership file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82">
                <a:solidFill>
                  <a:schemeClr val="dk1"/>
                </a:solidFill>
                <a:latin typeface="Courier New"/>
                <a:ea typeface="Courier New"/>
                <a:cs typeface="Courier New"/>
                <a:sym typeface="Courier New"/>
              </a:rPr>
              <a:t>chown wazuh:wazuh /var/ossec/etc/custom-sca-files/keyword.yml</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pic>
        <p:nvPicPr>
          <p:cNvPr id="4349" name="Google Shape;4349;p323"/>
          <p:cNvPicPr preferRelativeResize="0"/>
          <p:nvPr/>
        </p:nvPicPr>
        <p:blipFill rotWithShape="1">
          <a:blip r:embed="rId6">
            <a:alphaModFix/>
          </a:blip>
          <a:srcRect b="8265" l="5473" r="5677" t="8331"/>
          <a:stretch/>
        </p:blipFill>
        <p:spPr>
          <a:xfrm>
            <a:off x="4830623" y="1650025"/>
            <a:ext cx="6242053" cy="3845574"/>
          </a:xfrm>
          <a:prstGeom prst="rect">
            <a:avLst/>
          </a:prstGeom>
          <a:noFill/>
          <a:ln>
            <a:noFill/>
          </a:ln>
        </p:spPr>
      </p:pic>
    </p:spTree>
  </p:cSld>
  <p:clrMapOvr>
    <a:masterClrMapping/>
  </p:clrMapOvr>
  <p:transition spd="slow">
    <p:fade thruBlk="1"/>
  </p:transition>
</p:sld>
</file>

<file path=ppt/slides/slide3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3" name="Shape 4353"/>
        <p:cNvGrpSpPr/>
        <p:nvPr/>
      </p:nvGrpSpPr>
      <p:grpSpPr>
        <a:xfrm>
          <a:off x="0" y="0"/>
          <a:ext cx="0" cy="0"/>
          <a:chOff x="0" y="0"/>
          <a:chExt cx="0" cy="0"/>
        </a:xfrm>
      </p:grpSpPr>
      <p:sp>
        <p:nvSpPr>
          <p:cNvPr id="4354" name="Google Shape;4354;p324"/>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Labs Keyword Check</a:t>
            </a:r>
            <a:endParaRPr b="1" i="0" sz="3600" u="none" cap="none" strike="noStrike">
              <a:solidFill>
                <a:srgbClr val="6D9EEB"/>
              </a:solidFill>
              <a:latin typeface="Poppins"/>
              <a:ea typeface="Poppins"/>
              <a:cs typeface="Poppins"/>
              <a:sym typeface="Poppins"/>
            </a:endParaRPr>
          </a:p>
        </p:txBody>
      </p:sp>
      <p:cxnSp>
        <p:nvCxnSpPr>
          <p:cNvPr id="4355" name="Google Shape;4355;p32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356" name="Google Shape;4356;p32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357" name="Google Shape;4357;p32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358" name="Google Shape;4358;p32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359" name="Google Shape;4359;p3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360" name="Google Shape;4360;p3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361" name="Google Shape;4361;p32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362" name="Google Shape;4362;p324"/>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363" name="Google Shape;4363;p324"/>
          <p:cNvSpPr txBox="1"/>
          <p:nvPr/>
        </p:nvSpPr>
        <p:spPr>
          <a:xfrm>
            <a:off x="1000925" y="2065150"/>
            <a:ext cx="9972000" cy="3265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5.	Change ownership file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82">
                <a:solidFill>
                  <a:schemeClr val="dk1"/>
                </a:solidFill>
                <a:latin typeface="Courier New"/>
                <a:ea typeface="Courier New"/>
                <a:cs typeface="Courier New"/>
                <a:sym typeface="Courier New"/>
              </a:rPr>
              <a:t>chown wazuh:wazuh /var/ossec/etc/custom-sca-files/keywordcheck.yml</a:t>
            </a:r>
            <a:endParaRPr sz="1982">
              <a:solidFill>
                <a:schemeClr val="dk1"/>
              </a:solidFill>
              <a:latin typeface="Courier New"/>
              <a:ea typeface="Courier New"/>
              <a:cs typeface="Courier New"/>
              <a:sym typeface="Courier New"/>
            </a:endParaRPr>
          </a:p>
          <a:p>
            <a:pPr indent="0" lvl="0" marL="0" rtl="0" algn="ctr">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82">
                <a:solidFill>
                  <a:schemeClr val="dk1"/>
                </a:solidFill>
                <a:latin typeface="Archivo"/>
                <a:ea typeface="Archivo"/>
                <a:cs typeface="Archivo"/>
                <a:sym typeface="Archivo"/>
              </a:rPr>
              <a:t>6.	Enabling policy in file ossec.conf ( /var/ossec/etc/ossec.conf )</a:t>
            </a:r>
            <a:endParaRPr sz="1982">
              <a:solidFill>
                <a:schemeClr val="dk1"/>
              </a:solidFill>
              <a:latin typeface="Archivo"/>
              <a:ea typeface="Archivo"/>
              <a:cs typeface="Archivo"/>
              <a:sym typeface="Archivo"/>
            </a:endParaRPr>
          </a:p>
          <a:p>
            <a:pPr indent="0" lvl="0" marL="0" rtl="0" algn="l">
              <a:lnSpc>
                <a:spcPct val="80000"/>
              </a:lnSpc>
              <a:spcBef>
                <a:spcPts val="0"/>
              </a:spcBef>
              <a:spcAft>
                <a:spcPts val="0"/>
              </a:spcAft>
              <a:buNone/>
            </a:pPr>
            <a:r>
              <a:t/>
            </a:r>
            <a:endParaRPr sz="1982">
              <a:solidFill>
                <a:schemeClr val="dk1"/>
              </a:solidFill>
              <a:latin typeface="Archivo"/>
              <a:ea typeface="Archivo"/>
              <a:cs typeface="Archivo"/>
              <a:sym typeface="Archivo"/>
            </a:endParaRPr>
          </a:p>
          <a:p>
            <a:pPr indent="0" lvl="0" marL="0" rtl="0" algn="l">
              <a:lnSpc>
                <a:spcPct val="80000"/>
              </a:lnSpc>
              <a:spcBef>
                <a:spcPts val="0"/>
              </a:spcBef>
              <a:spcAft>
                <a:spcPts val="0"/>
              </a:spcAft>
              <a:buNone/>
            </a:pPr>
            <a:r>
              <a:rPr lang="en-US" sz="1582">
                <a:solidFill>
                  <a:schemeClr val="dk1"/>
                </a:solidFill>
                <a:latin typeface="Courier New"/>
                <a:ea typeface="Courier New"/>
                <a:cs typeface="Courier New"/>
                <a:sym typeface="Courier New"/>
              </a:rPr>
              <a:t> &lt;policy enabled="yes"&gt;/var/ossec/etc/custom-sca-files/keyword.yml&lt;/policy&gt;</a:t>
            </a:r>
            <a:endParaRPr sz="15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5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8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882">
                <a:solidFill>
                  <a:schemeClr val="dk1"/>
                </a:solidFill>
                <a:latin typeface="Archivo"/>
                <a:ea typeface="Archivo"/>
                <a:cs typeface="Archivo"/>
                <a:sym typeface="Archivo"/>
              </a:rPr>
              <a:t>7.	Restart agent </a:t>
            </a:r>
            <a:endParaRPr sz="1882">
              <a:solidFill>
                <a:schemeClr val="dk1"/>
              </a:solidFill>
              <a:latin typeface="Archivo"/>
              <a:ea typeface="Archivo"/>
              <a:cs typeface="Archivo"/>
              <a:sym typeface="Archivo"/>
            </a:endParaRPr>
          </a:p>
          <a:p>
            <a:pPr indent="0" lvl="0" marL="0" rtl="0" algn="l">
              <a:lnSpc>
                <a:spcPct val="80000"/>
              </a:lnSpc>
              <a:spcBef>
                <a:spcPts val="0"/>
              </a:spcBef>
              <a:spcAft>
                <a:spcPts val="0"/>
              </a:spcAft>
              <a:buNone/>
            </a:pPr>
            <a:r>
              <a:t/>
            </a:r>
            <a:endParaRPr sz="1582">
              <a:solidFill>
                <a:schemeClr val="dk1"/>
              </a:solidFill>
              <a:latin typeface="Archivo"/>
              <a:ea typeface="Archivo"/>
              <a:cs typeface="Archivo"/>
              <a:sym typeface="Archivo"/>
            </a:endParaRPr>
          </a:p>
          <a:p>
            <a:pPr indent="0" lvl="0" marL="0" rtl="0" algn="l">
              <a:lnSpc>
                <a:spcPct val="80000"/>
              </a:lnSpc>
              <a:spcBef>
                <a:spcPts val="0"/>
              </a:spcBef>
              <a:spcAft>
                <a:spcPts val="0"/>
              </a:spcAft>
              <a:buNone/>
            </a:pPr>
            <a:r>
              <a:rPr lang="en-US" sz="1582">
                <a:solidFill>
                  <a:schemeClr val="dk1"/>
                </a:solidFill>
                <a:latin typeface="Courier New"/>
                <a:ea typeface="Courier New"/>
                <a:cs typeface="Courier New"/>
                <a:sym typeface="Courier New"/>
              </a:rPr>
              <a:t>systemctl restart wazuh-agent</a:t>
            </a:r>
            <a:endParaRPr sz="1582">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3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7" name="Shape 4367"/>
        <p:cNvGrpSpPr/>
        <p:nvPr/>
      </p:nvGrpSpPr>
      <p:grpSpPr>
        <a:xfrm>
          <a:off x="0" y="0"/>
          <a:ext cx="0" cy="0"/>
          <a:chOff x="0" y="0"/>
          <a:chExt cx="0" cy="0"/>
        </a:xfrm>
      </p:grpSpPr>
      <p:sp>
        <p:nvSpPr>
          <p:cNvPr id="4368" name="Google Shape;4368;p325"/>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Verify</a:t>
            </a:r>
            <a:r>
              <a:rPr b="1" lang="en-US" sz="3600">
                <a:solidFill>
                  <a:srgbClr val="6D9EEB"/>
                </a:solidFill>
                <a:latin typeface="Poppins"/>
                <a:ea typeface="Poppins"/>
                <a:cs typeface="Poppins"/>
                <a:sym typeface="Poppins"/>
              </a:rPr>
              <a:t> Labs</a:t>
            </a:r>
            <a:endParaRPr b="1" i="0" sz="3600" u="none" cap="none" strike="noStrike">
              <a:solidFill>
                <a:srgbClr val="6D9EEB"/>
              </a:solidFill>
              <a:latin typeface="Poppins"/>
              <a:ea typeface="Poppins"/>
              <a:cs typeface="Poppins"/>
              <a:sym typeface="Poppins"/>
            </a:endParaRPr>
          </a:p>
        </p:txBody>
      </p:sp>
      <p:cxnSp>
        <p:nvCxnSpPr>
          <p:cNvPr id="4369" name="Google Shape;4369;p32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370" name="Google Shape;4370;p32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371" name="Google Shape;4371;p32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372" name="Google Shape;4372;p32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373" name="Google Shape;4373;p3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374" name="Google Shape;4374;p3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375" name="Google Shape;4375;p32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376" name="Google Shape;4376;p325"/>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pic>
        <p:nvPicPr>
          <p:cNvPr id="4377" name="Google Shape;4377;p325"/>
          <p:cNvPicPr preferRelativeResize="0"/>
          <p:nvPr/>
        </p:nvPicPr>
        <p:blipFill>
          <a:blip r:embed="rId6">
            <a:alphaModFix/>
          </a:blip>
          <a:stretch>
            <a:fillRect/>
          </a:stretch>
        </p:blipFill>
        <p:spPr>
          <a:xfrm>
            <a:off x="1231275" y="1431275"/>
            <a:ext cx="10074351" cy="4415575"/>
          </a:xfrm>
          <a:prstGeom prst="rect">
            <a:avLst/>
          </a:prstGeom>
          <a:noFill/>
          <a:ln>
            <a:noFill/>
          </a:ln>
          <a:effectLst>
            <a:outerShdw blurRad="57150" rotWithShape="0" algn="bl" dir="5400000" dist="19050">
              <a:srgbClr val="000000">
                <a:alpha val="50000"/>
              </a:srgbClr>
            </a:outerShdw>
          </a:effectLst>
        </p:spPr>
      </p:pic>
    </p:spTree>
  </p:cSld>
  <p:clrMapOvr>
    <a:masterClrMapping/>
  </p:clrMapOvr>
  <p:transition spd="slow">
    <p:fade thruBlk="1"/>
  </p:transition>
</p:sld>
</file>

<file path=ppt/slides/slide3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1" name="Shape 4381"/>
        <p:cNvGrpSpPr/>
        <p:nvPr/>
      </p:nvGrpSpPr>
      <p:grpSpPr>
        <a:xfrm>
          <a:off x="0" y="0"/>
          <a:ext cx="0" cy="0"/>
          <a:chOff x="0" y="0"/>
          <a:chExt cx="0" cy="0"/>
        </a:xfrm>
      </p:grpSpPr>
      <p:pic>
        <p:nvPicPr>
          <p:cNvPr descr="A picture containing food, drawing, shirt&#10;&#10;Description automatically generated" id="4382" name="Google Shape;4382;p32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383" name="Google Shape;4383;p326"/>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384" name="Google Shape;4384;p32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385" name="Google Shape;4385;p32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386" name="Google Shape;4386;p3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87" name="Google Shape;4387;p326"/>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388" name="Google Shape;4388;p326"/>
          <p:cNvSpPr txBox="1"/>
          <p:nvPr/>
        </p:nvSpPr>
        <p:spPr>
          <a:xfrm>
            <a:off x="800600" y="2065150"/>
            <a:ext cx="10293900" cy="3265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582">
              <a:solidFill>
                <a:schemeClr val="dk1"/>
              </a:solidFill>
              <a:latin typeface="Courier New"/>
              <a:ea typeface="Courier New"/>
              <a:cs typeface="Courier New"/>
              <a:sym typeface="Courier New"/>
            </a:endParaRPr>
          </a:p>
        </p:txBody>
      </p:sp>
      <p:pic>
        <p:nvPicPr>
          <p:cNvPr id="4389" name="Google Shape;4389;p326"/>
          <p:cNvPicPr preferRelativeResize="0"/>
          <p:nvPr/>
        </p:nvPicPr>
        <p:blipFill rotWithShape="1">
          <a:blip r:embed="rId6">
            <a:alphaModFix/>
          </a:blip>
          <a:srcRect b="8265" l="5473" r="5677" t="8331"/>
          <a:stretch/>
        </p:blipFill>
        <p:spPr>
          <a:xfrm>
            <a:off x="1514974" y="470875"/>
            <a:ext cx="8898652" cy="5482250"/>
          </a:xfrm>
          <a:prstGeom prst="rect">
            <a:avLst/>
          </a:prstGeom>
          <a:noFill/>
          <a:ln>
            <a:noFill/>
          </a:ln>
        </p:spPr>
      </p:pic>
    </p:spTree>
  </p:cSld>
  <p:clrMapOvr>
    <a:masterClrMapping/>
  </p:clrMapOvr>
  <p:transition spd="slow">
    <p:fade thruBlk="1"/>
  </p:transition>
</p:sld>
</file>

<file path=ppt/slides/slide3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3" name="Shape 4393"/>
        <p:cNvGrpSpPr/>
        <p:nvPr/>
      </p:nvGrpSpPr>
      <p:grpSpPr>
        <a:xfrm>
          <a:off x="0" y="0"/>
          <a:ext cx="0" cy="0"/>
          <a:chOff x="0" y="0"/>
          <a:chExt cx="0" cy="0"/>
        </a:xfrm>
      </p:grpSpPr>
      <p:sp>
        <p:nvSpPr>
          <p:cNvPr id="4394" name="Google Shape;4394;p327"/>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Creating custom SCA Policies</a:t>
            </a:r>
            <a:endParaRPr b="1" i="0" sz="3600" u="none" cap="none" strike="noStrike">
              <a:solidFill>
                <a:srgbClr val="6D9EEB"/>
              </a:solidFill>
              <a:latin typeface="Poppins"/>
              <a:ea typeface="Poppins"/>
              <a:cs typeface="Poppins"/>
              <a:sym typeface="Poppins"/>
            </a:endParaRPr>
          </a:p>
        </p:txBody>
      </p:sp>
      <p:cxnSp>
        <p:nvCxnSpPr>
          <p:cNvPr id="4395" name="Google Shape;4395;p32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396" name="Google Shape;4396;p32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397" name="Google Shape;4397;p32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398" name="Google Shape;4398;p32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399" name="Google Shape;4399;p3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400" name="Google Shape;4400;p3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401" name="Google Shape;4401;p32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402" name="Google Shape;4402;p327"/>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403" name="Google Shape;4403;p327"/>
          <p:cNvSpPr txBox="1"/>
          <p:nvPr/>
        </p:nvSpPr>
        <p:spPr>
          <a:xfrm>
            <a:off x="755775" y="2724075"/>
            <a:ext cx="4949100" cy="3265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a:ea typeface="Archivo"/>
                <a:cs typeface="Archivo"/>
                <a:sym typeface="Archivo"/>
              </a:rPr>
              <a:t>When Create SCA you must include 4 section like in tables</a:t>
            </a:r>
            <a:endParaRPr sz="1982">
              <a:solidFill>
                <a:schemeClr val="dk1"/>
              </a:solidFill>
              <a:latin typeface="Archivo"/>
              <a:ea typeface="Archivo"/>
              <a:cs typeface="Archivo"/>
              <a:sym typeface="Archivo"/>
            </a:endParaRPr>
          </a:p>
        </p:txBody>
      </p:sp>
      <p:graphicFrame>
        <p:nvGraphicFramePr>
          <p:cNvPr id="4404" name="Google Shape;4404;p327"/>
          <p:cNvGraphicFramePr/>
          <p:nvPr/>
        </p:nvGraphicFramePr>
        <p:xfrm>
          <a:off x="6165475" y="2130138"/>
          <a:ext cx="3000000" cy="3000000"/>
        </p:xfrm>
        <a:graphic>
          <a:graphicData uri="http://schemas.openxmlformats.org/drawingml/2006/table">
            <a:tbl>
              <a:tblPr>
                <a:noFill/>
                <a:tableStyleId>{5E9E9AE0-E05B-434B-992F-78115EA43AB1}</a:tableStyleId>
              </a:tblPr>
              <a:tblGrid>
                <a:gridCol w="2571750"/>
                <a:gridCol w="2571750"/>
              </a:tblGrid>
              <a:tr h="440075">
                <a:tc>
                  <a:txBody>
                    <a:bodyPr/>
                    <a:lstStyle/>
                    <a:p>
                      <a:pPr indent="0" lvl="0" marL="0" rtl="0" algn="ctr">
                        <a:spcBef>
                          <a:spcPts val="0"/>
                        </a:spcBef>
                        <a:spcAft>
                          <a:spcPts val="0"/>
                        </a:spcAft>
                        <a:buNone/>
                      </a:pPr>
                      <a:r>
                        <a:rPr lang="en-US"/>
                        <a:t>Section</a:t>
                      </a:r>
                      <a:endParaRPr/>
                    </a:p>
                  </a:txBody>
                  <a:tcPr marT="91425" marB="91425" marR="91425" marL="91425">
                    <a:solidFill>
                      <a:schemeClr val="accent1"/>
                    </a:solidFill>
                  </a:tcPr>
                </a:tc>
                <a:tc>
                  <a:txBody>
                    <a:bodyPr/>
                    <a:lstStyle/>
                    <a:p>
                      <a:pPr indent="0" lvl="0" marL="0" rtl="0" algn="ctr">
                        <a:spcBef>
                          <a:spcPts val="0"/>
                        </a:spcBef>
                        <a:spcAft>
                          <a:spcPts val="0"/>
                        </a:spcAft>
                        <a:buNone/>
                      </a:pPr>
                      <a:r>
                        <a:rPr lang="en-US"/>
                        <a:t>Required </a:t>
                      </a:r>
                      <a:endParaRPr/>
                    </a:p>
                  </a:txBody>
                  <a:tcPr marT="91425" marB="91425" marR="91425" marL="91425">
                    <a:solidFill>
                      <a:schemeClr val="accent1"/>
                    </a:solidFill>
                  </a:tcPr>
                </a:tc>
              </a:tr>
              <a:tr h="440075">
                <a:tc>
                  <a:txBody>
                    <a:bodyPr/>
                    <a:lstStyle/>
                    <a:p>
                      <a:pPr indent="0" lvl="0" marL="0" rtl="0" algn="ctr">
                        <a:spcBef>
                          <a:spcPts val="0"/>
                        </a:spcBef>
                        <a:spcAft>
                          <a:spcPts val="0"/>
                        </a:spcAft>
                        <a:buNone/>
                      </a:pPr>
                      <a:r>
                        <a:rPr lang="en-US"/>
                        <a:t>Policy</a:t>
                      </a:r>
                      <a:endParaRPr/>
                    </a:p>
                  </a:txBody>
                  <a:tcPr marT="91425" marB="91425" marR="91425" marL="91425"/>
                </a:tc>
                <a:tc>
                  <a:txBody>
                    <a:bodyPr/>
                    <a:lstStyle/>
                    <a:p>
                      <a:pPr indent="0" lvl="0" marL="0" rtl="0" algn="ctr">
                        <a:spcBef>
                          <a:spcPts val="0"/>
                        </a:spcBef>
                        <a:spcAft>
                          <a:spcPts val="0"/>
                        </a:spcAft>
                        <a:buNone/>
                      </a:pPr>
                      <a:r>
                        <a:rPr lang="en-US"/>
                        <a:t>Yes</a:t>
                      </a:r>
                      <a:endParaRPr/>
                    </a:p>
                  </a:txBody>
                  <a:tcPr marT="91425" marB="91425" marR="91425" marL="91425"/>
                </a:tc>
              </a:tr>
              <a:tr h="440075">
                <a:tc>
                  <a:txBody>
                    <a:bodyPr/>
                    <a:lstStyle/>
                    <a:p>
                      <a:pPr indent="0" lvl="0" marL="0" rtl="0" algn="ctr">
                        <a:spcBef>
                          <a:spcPts val="0"/>
                        </a:spcBef>
                        <a:spcAft>
                          <a:spcPts val="0"/>
                        </a:spcAft>
                        <a:buNone/>
                      </a:pPr>
                      <a:r>
                        <a:rPr lang="en-US"/>
                        <a:t>Requirements</a:t>
                      </a:r>
                      <a:endParaRPr/>
                    </a:p>
                  </a:txBody>
                  <a:tcPr marT="91425" marB="91425" marR="91425" marL="91425"/>
                </a:tc>
                <a:tc>
                  <a:txBody>
                    <a:bodyPr/>
                    <a:lstStyle/>
                    <a:p>
                      <a:pPr indent="0" lvl="0" marL="0" rtl="0" algn="ctr">
                        <a:spcBef>
                          <a:spcPts val="0"/>
                        </a:spcBef>
                        <a:spcAft>
                          <a:spcPts val="0"/>
                        </a:spcAft>
                        <a:buNone/>
                      </a:pPr>
                      <a:r>
                        <a:rPr lang="en-US"/>
                        <a:t>No</a:t>
                      </a:r>
                      <a:endParaRPr/>
                    </a:p>
                  </a:txBody>
                  <a:tcPr marT="91425" marB="91425" marR="91425" marL="91425"/>
                </a:tc>
              </a:tr>
              <a:tr h="440075">
                <a:tc>
                  <a:txBody>
                    <a:bodyPr/>
                    <a:lstStyle/>
                    <a:p>
                      <a:pPr indent="0" lvl="0" marL="0" rtl="0" algn="ctr">
                        <a:spcBef>
                          <a:spcPts val="0"/>
                        </a:spcBef>
                        <a:spcAft>
                          <a:spcPts val="0"/>
                        </a:spcAft>
                        <a:buNone/>
                      </a:pPr>
                      <a:r>
                        <a:rPr lang="en-US"/>
                        <a:t>Variables</a:t>
                      </a:r>
                      <a:endParaRPr/>
                    </a:p>
                  </a:txBody>
                  <a:tcPr marT="91425" marB="91425" marR="91425" marL="91425"/>
                </a:tc>
                <a:tc>
                  <a:txBody>
                    <a:bodyPr/>
                    <a:lstStyle/>
                    <a:p>
                      <a:pPr indent="0" lvl="0" marL="0" rtl="0" algn="ctr">
                        <a:spcBef>
                          <a:spcPts val="0"/>
                        </a:spcBef>
                        <a:spcAft>
                          <a:spcPts val="0"/>
                        </a:spcAft>
                        <a:buNone/>
                      </a:pPr>
                      <a:r>
                        <a:rPr lang="en-US"/>
                        <a:t>No</a:t>
                      </a:r>
                      <a:endParaRPr/>
                    </a:p>
                  </a:txBody>
                  <a:tcPr marT="91425" marB="91425" marR="91425" marL="91425"/>
                </a:tc>
              </a:tr>
              <a:tr h="440075">
                <a:tc>
                  <a:txBody>
                    <a:bodyPr/>
                    <a:lstStyle/>
                    <a:p>
                      <a:pPr indent="0" lvl="0" marL="0" rtl="0" algn="ctr">
                        <a:spcBef>
                          <a:spcPts val="0"/>
                        </a:spcBef>
                        <a:spcAft>
                          <a:spcPts val="0"/>
                        </a:spcAft>
                        <a:buNone/>
                      </a:pPr>
                      <a:r>
                        <a:rPr lang="en-US"/>
                        <a:t>Checks</a:t>
                      </a:r>
                      <a:endParaRPr/>
                    </a:p>
                  </a:txBody>
                  <a:tcPr marT="91425" marB="91425" marR="91425" marL="91425"/>
                </a:tc>
                <a:tc>
                  <a:txBody>
                    <a:bodyPr/>
                    <a:lstStyle/>
                    <a:p>
                      <a:pPr indent="0" lvl="0" marL="0" rtl="0" algn="ctr">
                        <a:spcBef>
                          <a:spcPts val="0"/>
                        </a:spcBef>
                        <a:spcAft>
                          <a:spcPts val="0"/>
                        </a:spcAft>
                        <a:buNone/>
                      </a:pPr>
                      <a:r>
                        <a:rPr lang="en-US"/>
                        <a:t>Yes</a:t>
                      </a:r>
                      <a:endParaRPr/>
                    </a:p>
                  </a:txBody>
                  <a:tcPr marT="91425" marB="91425" marR="91425" marL="91425"/>
                </a:tc>
              </a:tr>
            </a:tbl>
          </a:graphicData>
        </a:graphic>
      </p:graphicFrame>
    </p:spTree>
  </p:cSld>
  <p:clrMapOvr>
    <a:masterClrMapping/>
  </p:clrMapOvr>
  <p:transition spd="slow">
    <p:fade thruBlk="1"/>
  </p:transition>
</p:sld>
</file>

<file path=ppt/slides/slide3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8" name="Shape 4408"/>
        <p:cNvGrpSpPr/>
        <p:nvPr/>
      </p:nvGrpSpPr>
      <p:grpSpPr>
        <a:xfrm>
          <a:off x="0" y="0"/>
          <a:ext cx="0" cy="0"/>
          <a:chOff x="0" y="0"/>
          <a:chExt cx="0" cy="0"/>
        </a:xfrm>
      </p:grpSpPr>
      <p:pic>
        <p:nvPicPr>
          <p:cNvPr descr="A picture containing food, drawing, shirt&#10;&#10;Description automatically generated" id="4409" name="Google Shape;4409;p32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410" name="Google Shape;4410;p32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411" name="Google Shape;4411;p32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412" name="Google Shape;4412;p3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413" name="Google Shape;4413;p3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14" name="Google Shape;4414;p328"/>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graphicFrame>
        <p:nvGraphicFramePr>
          <p:cNvPr id="4415" name="Google Shape;4415;p328"/>
          <p:cNvGraphicFramePr/>
          <p:nvPr/>
        </p:nvGraphicFramePr>
        <p:xfrm>
          <a:off x="800600" y="1978513"/>
          <a:ext cx="3000000" cy="3000000"/>
        </p:xfrm>
        <a:graphic>
          <a:graphicData uri="http://schemas.openxmlformats.org/drawingml/2006/table">
            <a:tbl>
              <a:tblPr>
                <a:noFill/>
                <a:tableStyleId>{5E9E9AE0-E05B-434B-992F-78115EA43AB1}</a:tableStyleId>
              </a:tblPr>
              <a:tblGrid>
                <a:gridCol w="2078575"/>
                <a:gridCol w="2078575"/>
                <a:gridCol w="2078575"/>
                <a:gridCol w="2078575"/>
                <a:gridCol w="2078575"/>
              </a:tblGrid>
              <a:tr h="477275">
                <a:tc>
                  <a:txBody>
                    <a:bodyPr/>
                    <a:lstStyle/>
                    <a:p>
                      <a:pPr indent="0" lvl="0" marL="0" rtl="0" algn="ctr">
                        <a:spcBef>
                          <a:spcPts val="0"/>
                        </a:spcBef>
                        <a:spcAft>
                          <a:spcPts val="0"/>
                        </a:spcAft>
                        <a:buNone/>
                      </a:pPr>
                      <a:r>
                        <a:rPr lang="en-US" sz="1800">
                          <a:latin typeface="Archivo"/>
                          <a:ea typeface="Archivo"/>
                          <a:cs typeface="Archivo"/>
                          <a:sym typeface="Archivo"/>
                        </a:rPr>
                        <a:t>Field</a:t>
                      </a:r>
                      <a:endParaRPr sz="1800">
                        <a:latin typeface="Archivo"/>
                        <a:ea typeface="Archivo"/>
                        <a:cs typeface="Archivo"/>
                        <a:sym typeface="Archivo"/>
                      </a:endParaRPr>
                    </a:p>
                  </a:txBody>
                  <a:tcPr marT="91425" marB="91425" marR="91425" marL="91425" anchor="ctr">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Mandatory</a:t>
                      </a:r>
                      <a:endParaRPr sz="1800">
                        <a:latin typeface="Archivo"/>
                        <a:ea typeface="Archivo"/>
                        <a:cs typeface="Archivo"/>
                        <a:sym typeface="Archivo"/>
                      </a:endParaRPr>
                    </a:p>
                  </a:txBody>
                  <a:tcPr marT="91425" marB="91425" marR="91425" marL="91425" anchor="ctr">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Type</a:t>
                      </a:r>
                      <a:endParaRPr sz="1800">
                        <a:latin typeface="Archivo"/>
                        <a:ea typeface="Archivo"/>
                        <a:cs typeface="Archivo"/>
                        <a:sym typeface="Archivo"/>
                      </a:endParaRPr>
                    </a:p>
                  </a:txBody>
                  <a:tcPr marT="91425" marB="91425" marR="91425" marL="91425" anchor="ctr">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Allowed values</a:t>
                      </a:r>
                      <a:endParaRPr sz="1800">
                        <a:latin typeface="Archivo"/>
                        <a:ea typeface="Archivo"/>
                        <a:cs typeface="Archivo"/>
                        <a:sym typeface="Archivo"/>
                      </a:endParaRPr>
                    </a:p>
                  </a:txBody>
                  <a:tcPr marT="91425" marB="91425" marR="91425" marL="91425" anchor="ctr">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Description</a:t>
                      </a:r>
                      <a:endParaRPr sz="1800">
                        <a:latin typeface="Archivo"/>
                        <a:ea typeface="Archivo"/>
                        <a:cs typeface="Archivo"/>
                        <a:sym typeface="Archivo"/>
                      </a:endParaRPr>
                    </a:p>
                  </a:txBody>
                  <a:tcPr marT="91425" marB="91425" marR="91425" marL="91425" anchor="ctr">
                    <a:lnB cap="flat" cmpd="sng" w="9525">
                      <a:solidFill>
                        <a:schemeClr val="dk1"/>
                      </a:solidFill>
                      <a:prstDash val="solid"/>
                      <a:round/>
                      <a:headEnd len="sm" w="sm" type="none"/>
                      <a:tailEnd len="sm" w="sm" type="none"/>
                    </a:lnB>
                    <a:solidFill>
                      <a:schemeClr val="accent1"/>
                    </a:solidFill>
                  </a:tcPr>
                </a:tc>
              </a:tr>
              <a:tr h="477275">
                <a:tc>
                  <a:txBody>
                    <a:bodyPr/>
                    <a:lstStyle/>
                    <a:p>
                      <a:pPr indent="0" lvl="0" marL="0" rtl="0" algn="ctr">
                        <a:spcBef>
                          <a:spcPts val="0"/>
                        </a:spcBef>
                        <a:spcAft>
                          <a:spcPts val="0"/>
                        </a:spcAft>
                        <a:buNone/>
                      </a:pPr>
                      <a:r>
                        <a:rPr lang="en-US" sz="1800">
                          <a:latin typeface="Archivo"/>
                          <a:ea typeface="Archivo"/>
                          <a:cs typeface="Archivo"/>
                          <a:sym typeface="Archivo"/>
                        </a:rPr>
                        <a:t>ID</a:t>
                      </a:r>
                      <a:endParaRPr sz="1800">
                        <a:latin typeface="Archivo"/>
                        <a:ea typeface="Archivo"/>
                        <a:cs typeface="Archivo"/>
                        <a:sym typeface="Archiv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800">
                          <a:latin typeface="Archivo"/>
                          <a:ea typeface="Archivo"/>
                          <a:cs typeface="Archivo"/>
                          <a:sym typeface="Archivo"/>
                        </a:rPr>
                        <a:t>Yes</a:t>
                      </a:r>
                      <a:endParaRPr sz="1800">
                        <a:latin typeface="Archivo"/>
                        <a:ea typeface="Archivo"/>
                        <a:cs typeface="Archivo"/>
                        <a:sym typeface="Archiv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800">
                          <a:latin typeface="Archivo"/>
                          <a:ea typeface="Archivo"/>
                          <a:cs typeface="Archivo"/>
                          <a:sym typeface="Archivo"/>
                        </a:rPr>
                        <a:t>String</a:t>
                      </a:r>
                      <a:endParaRPr sz="1800">
                        <a:latin typeface="Archivo"/>
                        <a:ea typeface="Archivo"/>
                        <a:cs typeface="Archivo"/>
                        <a:sym typeface="Archiv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800">
                          <a:latin typeface="Archivo"/>
                          <a:ea typeface="Archivo"/>
                          <a:cs typeface="Archivo"/>
                          <a:sym typeface="Archivo"/>
                        </a:rPr>
                        <a:t>Any String</a:t>
                      </a:r>
                      <a:endParaRPr sz="1800">
                        <a:latin typeface="Archivo"/>
                        <a:ea typeface="Archivo"/>
                        <a:cs typeface="Archivo"/>
                        <a:sym typeface="Archiv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800">
                          <a:latin typeface="Archivo"/>
                          <a:ea typeface="Archivo"/>
                          <a:cs typeface="Archivo"/>
                          <a:sym typeface="Archivo"/>
                        </a:rPr>
                        <a:t>Policy ID</a:t>
                      </a:r>
                      <a:endParaRPr sz="1800">
                        <a:latin typeface="Archivo"/>
                        <a:ea typeface="Archivo"/>
                        <a:cs typeface="Archivo"/>
                        <a:sym typeface="Archiv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661075">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file</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Yes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Any 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Policy filename</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477275">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name</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Yes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Any 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Policy title</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477275">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description</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Yes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Any 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Brief description</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619050">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references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No</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Array of strings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Any string (empty by default)</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Links to references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619050">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regex_type</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No</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"osregex" (default), "pcre2"</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100000"/>
                        </a:lnSpc>
                        <a:spcBef>
                          <a:spcPts val="400"/>
                        </a:spcBef>
                        <a:spcAft>
                          <a:spcPts val="400"/>
                        </a:spcAft>
                        <a:buNone/>
                      </a:pPr>
                      <a:r>
                        <a:rPr lang="en-US" sz="1800">
                          <a:solidFill>
                            <a:schemeClr val="dk1"/>
                          </a:solidFill>
                          <a:latin typeface="Archivo"/>
                          <a:ea typeface="Archivo"/>
                          <a:cs typeface="Archivo"/>
                          <a:sym typeface="Archivo"/>
                        </a:rPr>
                        <a:t>Policy regex engine</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bl>
          </a:graphicData>
        </a:graphic>
      </p:graphicFrame>
      <p:sp>
        <p:nvSpPr>
          <p:cNvPr id="4416" name="Google Shape;4416;p328"/>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Policy section</a:t>
            </a:r>
            <a:endParaRPr b="1" i="0" sz="3600" u="none" cap="none" strike="noStrike">
              <a:solidFill>
                <a:srgbClr val="6D9EEB"/>
              </a:solidFill>
              <a:latin typeface="Poppins"/>
              <a:ea typeface="Poppins"/>
              <a:cs typeface="Poppins"/>
              <a:sym typeface="Poppins"/>
            </a:endParaRPr>
          </a:p>
        </p:txBody>
      </p:sp>
      <p:cxnSp>
        <p:nvCxnSpPr>
          <p:cNvPr id="4417" name="Google Shape;4417;p32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418" name="Google Shape;4418;p32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2" name="Shape 4422"/>
        <p:cNvGrpSpPr/>
        <p:nvPr/>
      </p:nvGrpSpPr>
      <p:grpSpPr>
        <a:xfrm>
          <a:off x="0" y="0"/>
          <a:ext cx="0" cy="0"/>
          <a:chOff x="0" y="0"/>
          <a:chExt cx="0" cy="0"/>
        </a:xfrm>
      </p:grpSpPr>
      <p:pic>
        <p:nvPicPr>
          <p:cNvPr descr="A picture containing food, drawing, shirt&#10;&#10;Description automatically generated" id="4423" name="Google Shape;4423;p32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424" name="Google Shape;4424;p32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425" name="Google Shape;4425;p32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426" name="Google Shape;4426;p3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427" name="Google Shape;4427;p3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28" name="Google Shape;4428;p329"/>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graphicFrame>
        <p:nvGraphicFramePr>
          <p:cNvPr id="4429" name="Google Shape;4429;p329"/>
          <p:cNvGraphicFramePr/>
          <p:nvPr/>
        </p:nvGraphicFramePr>
        <p:xfrm>
          <a:off x="2082550" y="2065113"/>
          <a:ext cx="3000000" cy="3000000"/>
        </p:xfrm>
        <a:graphic>
          <a:graphicData uri="http://schemas.openxmlformats.org/drawingml/2006/table">
            <a:tbl>
              <a:tblPr>
                <a:noFill/>
                <a:tableStyleId>{5E9E9AE0-E05B-434B-992F-78115EA43AB1}</a:tableStyleId>
              </a:tblPr>
              <a:tblGrid>
                <a:gridCol w="2078575"/>
                <a:gridCol w="2078575"/>
                <a:gridCol w="2078575"/>
                <a:gridCol w="2078575"/>
              </a:tblGrid>
              <a:tr h="496400">
                <a:tc>
                  <a:txBody>
                    <a:bodyPr/>
                    <a:lstStyle/>
                    <a:p>
                      <a:pPr indent="0" lvl="0" marL="0" rtl="0" algn="ctr">
                        <a:spcBef>
                          <a:spcPts val="0"/>
                        </a:spcBef>
                        <a:spcAft>
                          <a:spcPts val="0"/>
                        </a:spcAft>
                        <a:buNone/>
                      </a:pPr>
                      <a:r>
                        <a:rPr lang="en-US" sz="1800">
                          <a:latin typeface="Archivo"/>
                          <a:ea typeface="Archivo"/>
                          <a:cs typeface="Archivo"/>
                          <a:sym typeface="Archivo"/>
                        </a:rPr>
                        <a:t>Field</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Mandatory</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Type</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Allowed values</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r>
              <a:tr h="496400">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title</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Yes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Any 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687575">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description</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Yes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Any 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496400">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condition</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Yes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Any 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496400">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rules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Yes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Array of strings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Any 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496400">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title</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Yes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Any 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496400">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description</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Yes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Any 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bl>
          </a:graphicData>
        </a:graphic>
      </p:graphicFrame>
      <p:sp>
        <p:nvSpPr>
          <p:cNvPr id="4430" name="Google Shape;4430;p329"/>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Requirements sections</a:t>
            </a:r>
            <a:endParaRPr b="1" i="0" sz="3600" u="none" cap="none" strike="noStrike">
              <a:solidFill>
                <a:srgbClr val="6D9EEB"/>
              </a:solidFill>
              <a:latin typeface="Poppins"/>
              <a:ea typeface="Poppins"/>
              <a:cs typeface="Poppins"/>
              <a:sym typeface="Poppins"/>
            </a:endParaRPr>
          </a:p>
        </p:txBody>
      </p:sp>
      <p:cxnSp>
        <p:nvCxnSpPr>
          <p:cNvPr id="4431" name="Google Shape;4431;p32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432" name="Google Shape;4432;p32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6" name="Shape 4436"/>
        <p:cNvGrpSpPr/>
        <p:nvPr/>
      </p:nvGrpSpPr>
      <p:grpSpPr>
        <a:xfrm>
          <a:off x="0" y="0"/>
          <a:ext cx="0" cy="0"/>
          <a:chOff x="0" y="0"/>
          <a:chExt cx="0" cy="0"/>
        </a:xfrm>
      </p:grpSpPr>
      <p:pic>
        <p:nvPicPr>
          <p:cNvPr descr="A picture containing food, drawing, shirt&#10;&#10;Description automatically generated" id="4437" name="Google Shape;4437;p33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438" name="Google Shape;4438;p33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439" name="Google Shape;4439;p33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440" name="Google Shape;4440;p3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441" name="Google Shape;4441;p3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42" name="Google Shape;4442;p330"/>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graphicFrame>
        <p:nvGraphicFramePr>
          <p:cNvPr id="4443" name="Google Shape;4443;p330"/>
          <p:cNvGraphicFramePr/>
          <p:nvPr/>
        </p:nvGraphicFramePr>
        <p:xfrm>
          <a:off x="1720850" y="1550463"/>
          <a:ext cx="3000000" cy="3000000"/>
        </p:xfrm>
        <a:graphic>
          <a:graphicData uri="http://schemas.openxmlformats.org/drawingml/2006/table">
            <a:tbl>
              <a:tblPr>
                <a:noFill/>
                <a:tableStyleId>{5E9E9AE0-E05B-434B-992F-78115EA43AB1}</a:tableStyleId>
              </a:tblPr>
              <a:tblGrid>
                <a:gridCol w="2078575"/>
                <a:gridCol w="2078575"/>
                <a:gridCol w="2078575"/>
                <a:gridCol w="2078575"/>
              </a:tblGrid>
              <a:tr h="698100">
                <a:tc>
                  <a:txBody>
                    <a:bodyPr/>
                    <a:lstStyle/>
                    <a:p>
                      <a:pPr indent="0" lvl="0" marL="0" rtl="0" algn="ctr">
                        <a:spcBef>
                          <a:spcPts val="0"/>
                        </a:spcBef>
                        <a:spcAft>
                          <a:spcPts val="0"/>
                        </a:spcAft>
                        <a:buNone/>
                      </a:pPr>
                      <a:r>
                        <a:rPr lang="en-US" sz="1800">
                          <a:latin typeface="Archivo"/>
                          <a:ea typeface="Archivo"/>
                          <a:cs typeface="Archivo"/>
                          <a:sym typeface="Archivo"/>
                        </a:rPr>
                        <a:t>Field</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Mandatory</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Type</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Allowed values</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r>
              <a:tr h="698100">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variable_name</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Yes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Array of strings</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800">
                          <a:solidFill>
                            <a:schemeClr val="dk1"/>
                          </a:solidFill>
                          <a:latin typeface="Archivo"/>
                          <a:ea typeface="Archivo"/>
                          <a:cs typeface="Archivo"/>
                          <a:sym typeface="Archivo"/>
                        </a:rPr>
                        <a:t>Any string</a:t>
                      </a:r>
                      <a:endParaRPr sz="18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bl>
          </a:graphicData>
        </a:graphic>
      </p:graphicFrame>
      <p:sp>
        <p:nvSpPr>
          <p:cNvPr id="4444" name="Google Shape;4444;p330"/>
          <p:cNvSpPr txBox="1"/>
          <p:nvPr/>
        </p:nvSpPr>
        <p:spPr>
          <a:xfrm>
            <a:off x="800600" y="3476200"/>
            <a:ext cx="10293900" cy="21879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a:ea typeface="Archivo"/>
                <a:cs typeface="Archivo"/>
                <a:sym typeface="Archivo"/>
              </a:rPr>
              <a:t>Variables are set in the variables section, their names preceded by $. for instance : </a:t>
            </a:r>
            <a:endParaRPr sz="1982">
              <a:solidFill>
                <a:schemeClr val="dk1"/>
              </a:solidFill>
              <a:latin typeface="Archivo"/>
              <a:ea typeface="Archivo"/>
              <a:cs typeface="Archivo"/>
              <a:sym typeface="Archivo"/>
            </a:endParaRPr>
          </a:p>
          <a:p>
            <a:pPr indent="0" lvl="0" marL="0" rtl="0" algn="l">
              <a:lnSpc>
                <a:spcPct val="80000"/>
              </a:lnSpc>
              <a:spcBef>
                <a:spcPts val="0"/>
              </a:spcBef>
              <a:spcAft>
                <a:spcPts val="0"/>
              </a:spcAft>
              <a:buNone/>
            </a:pPr>
            <a:r>
              <a:t/>
            </a:r>
            <a:endParaRPr sz="1982">
              <a:solidFill>
                <a:schemeClr val="dk1"/>
              </a:solidFill>
              <a:latin typeface="Archivo"/>
              <a:ea typeface="Archivo"/>
              <a:cs typeface="Archivo"/>
              <a:sym typeface="Archivo"/>
            </a:endParaRPr>
          </a:p>
          <a:p>
            <a:pPr indent="-354488" lvl="0" marL="457200" rtl="0" algn="l">
              <a:lnSpc>
                <a:spcPct val="80000"/>
              </a:lnSpc>
              <a:spcBef>
                <a:spcPts val="0"/>
              </a:spcBef>
              <a:spcAft>
                <a:spcPts val="0"/>
              </a:spcAft>
              <a:buClr>
                <a:schemeClr val="dk1"/>
              </a:buClr>
              <a:buSzPts val="1983"/>
              <a:buFont typeface="Courier New"/>
              <a:buChar char="●"/>
            </a:pPr>
            <a:r>
              <a:rPr lang="en-US" sz="1982">
                <a:solidFill>
                  <a:schemeClr val="dk1"/>
                </a:solidFill>
                <a:latin typeface="Courier New"/>
                <a:ea typeface="Courier New"/>
                <a:cs typeface="Courier New"/>
                <a:sym typeface="Courier New"/>
              </a:rPr>
              <a:t>$list_of_files: /etc/ssh/sshd_config, /etc/sysctl.conf, /var/log/dmesg</a:t>
            </a:r>
            <a:endParaRPr sz="1982">
              <a:solidFill>
                <a:schemeClr val="dk1"/>
              </a:solidFill>
              <a:latin typeface="Courier New"/>
              <a:ea typeface="Courier New"/>
              <a:cs typeface="Courier New"/>
              <a:sym typeface="Courier New"/>
            </a:endParaRPr>
          </a:p>
          <a:p>
            <a:pPr indent="0" lvl="0" marL="45720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a:p>
            <a:pPr indent="-354488" lvl="0" marL="457200" rtl="0" algn="l">
              <a:lnSpc>
                <a:spcPct val="80000"/>
              </a:lnSpc>
              <a:spcBef>
                <a:spcPts val="0"/>
              </a:spcBef>
              <a:spcAft>
                <a:spcPts val="0"/>
              </a:spcAft>
              <a:buClr>
                <a:schemeClr val="dk1"/>
              </a:buClr>
              <a:buSzPts val="1983"/>
              <a:buFont typeface="Courier New"/>
              <a:buChar char="●"/>
            </a:pPr>
            <a:r>
              <a:rPr lang="en-US" sz="1982">
                <a:solidFill>
                  <a:schemeClr val="dk1"/>
                </a:solidFill>
                <a:latin typeface="Courier New"/>
                <a:ea typeface="Courier New"/>
                <a:cs typeface="Courier New"/>
                <a:sym typeface="Courier New"/>
              </a:rPr>
              <a:t>$list_of_folders: /etc, /var, /tmp</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a:p>
            <a:pPr indent="-354488" lvl="0" marL="457200" rtl="0" algn="l">
              <a:lnSpc>
                <a:spcPct val="80000"/>
              </a:lnSpc>
              <a:spcBef>
                <a:spcPts val="0"/>
              </a:spcBef>
              <a:spcAft>
                <a:spcPts val="0"/>
              </a:spcAft>
              <a:buClr>
                <a:schemeClr val="dk1"/>
              </a:buClr>
              <a:buSzPts val="1983"/>
              <a:buFont typeface="Courier New"/>
              <a:buChar char="●"/>
            </a:pPr>
            <a:r>
              <a:rPr lang="en-US" sz="1982">
                <a:solidFill>
                  <a:schemeClr val="dk1"/>
                </a:solidFill>
                <a:latin typeface="Courier New"/>
                <a:ea typeface="Courier New"/>
                <a:cs typeface="Courier New"/>
                <a:sym typeface="Courier New"/>
              </a:rPr>
              <a:t>$program_name: apache2</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82">
              <a:solidFill>
                <a:schemeClr val="dk1"/>
              </a:solidFill>
              <a:latin typeface="Archivo"/>
              <a:ea typeface="Archivo"/>
              <a:cs typeface="Archivo"/>
              <a:sym typeface="Archivo"/>
            </a:endParaRPr>
          </a:p>
          <a:p>
            <a:pPr indent="0" lvl="0" marL="0" rtl="0" algn="l">
              <a:lnSpc>
                <a:spcPct val="80000"/>
              </a:lnSpc>
              <a:spcBef>
                <a:spcPts val="0"/>
              </a:spcBef>
              <a:spcAft>
                <a:spcPts val="0"/>
              </a:spcAft>
              <a:buNone/>
            </a:pPr>
            <a:r>
              <a:t/>
            </a:r>
            <a:endParaRPr sz="1982">
              <a:solidFill>
                <a:schemeClr val="dk1"/>
              </a:solidFill>
              <a:latin typeface="Archivo"/>
              <a:ea typeface="Archivo"/>
              <a:cs typeface="Archivo"/>
              <a:sym typeface="Archivo"/>
            </a:endParaRPr>
          </a:p>
        </p:txBody>
      </p:sp>
      <p:sp>
        <p:nvSpPr>
          <p:cNvPr id="4445" name="Google Shape;4445;p330"/>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Variable sections</a:t>
            </a:r>
            <a:endParaRPr b="1" i="0" sz="3600" u="none" cap="none" strike="noStrike">
              <a:solidFill>
                <a:srgbClr val="6D9EEB"/>
              </a:solidFill>
              <a:latin typeface="Poppins"/>
              <a:ea typeface="Poppins"/>
              <a:cs typeface="Poppins"/>
              <a:sym typeface="Poppins"/>
            </a:endParaRPr>
          </a:p>
        </p:txBody>
      </p:sp>
      <p:cxnSp>
        <p:nvCxnSpPr>
          <p:cNvPr id="4446" name="Google Shape;4446;p33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447" name="Google Shape;4447;p33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1" name="Shape 4451"/>
        <p:cNvGrpSpPr/>
        <p:nvPr/>
      </p:nvGrpSpPr>
      <p:grpSpPr>
        <a:xfrm>
          <a:off x="0" y="0"/>
          <a:ext cx="0" cy="0"/>
          <a:chOff x="0" y="0"/>
          <a:chExt cx="0" cy="0"/>
        </a:xfrm>
      </p:grpSpPr>
      <p:pic>
        <p:nvPicPr>
          <p:cNvPr descr="A picture containing food, drawing, shirt&#10;&#10;Description automatically generated" id="4452" name="Google Shape;4452;p33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453" name="Google Shape;4453;p33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454" name="Google Shape;4454;p33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455" name="Google Shape;4455;p33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456" name="Google Shape;4456;p3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457" name="Google Shape;4457;p331"/>
          <p:cNvGraphicFramePr/>
          <p:nvPr/>
        </p:nvGraphicFramePr>
        <p:xfrm>
          <a:off x="953000" y="1917988"/>
          <a:ext cx="3000000" cy="3000000"/>
        </p:xfrm>
        <a:graphic>
          <a:graphicData uri="http://schemas.openxmlformats.org/drawingml/2006/table">
            <a:tbl>
              <a:tblPr>
                <a:noFill/>
                <a:tableStyleId>{5E9E9AE0-E05B-434B-992F-78115EA43AB1}</a:tableStyleId>
              </a:tblPr>
              <a:tblGrid>
                <a:gridCol w="2511825"/>
                <a:gridCol w="2511825"/>
                <a:gridCol w="2511825"/>
                <a:gridCol w="2511825"/>
              </a:tblGrid>
              <a:tr h="468975">
                <a:tc>
                  <a:txBody>
                    <a:bodyPr/>
                    <a:lstStyle/>
                    <a:p>
                      <a:pPr indent="0" lvl="0" marL="0" rtl="0" algn="ctr">
                        <a:spcBef>
                          <a:spcPts val="0"/>
                        </a:spcBef>
                        <a:spcAft>
                          <a:spcPts val="0"/>
                        </a:spcAft>
                        <a:buNone/>
                      </a:pPr>
                      <a:r>
                        <a:rPr lang="en-US" sz="1800">
                          <a:latin typeface="Archivo"/>
                          <a:ea typeface="Archivo"/>
                          <a:cs typeface="Archivo"/>
                          <a:sym typeface="Archivo"/>
                        </a:rPr>
                        <a:t>Field</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Mandatory</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Type</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Allowed values</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r>
              <a:tr h="468975">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id</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Yes</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Numeric</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Any integer number</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649600">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title</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Yes</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Any 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468975">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description</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Any 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468975">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rationale</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Any 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468975">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remediation</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Any 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bl>
          </a:graphicData>
        </a:graphic>
      </p:graphicFrame>
      <p:sp>
        <p:nvSpPr>
          <p:cNvPr id="4458" name="Google Shape;4458;p331"/>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Checks</a:t>
            </a:r>
            <a:endParaRPr b="1" i="0" sz="3600" u="none" cap="none" strike="noStrike">
              <a:solidFill>
                <a:srgbClr val="6D9EEB"/>
              </a:solidFill>
              <a:latin typeface="Poppins"/>
              <a:ea typeface="Poppins"/>
              <a:cs typeface="Poppins"/>
              <a:sym typeface="Poppins"/>
            </a:endParaRPr>
          </a:p>
        </p:txBody>
      </p:sp>
      <p:cxnSp>
        <p:nvCxnSpPr>
          <p:cNvPr id="4459" name="Google Shape;4459;p33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460" name="Google Shape;4460;p33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4" name="Shape 4464"/>
        <p:cNvGrpSpPr/>
        <p:nvPr/>
      </p:nvGrpSpPr>
      <p:grpSpPr>
        <a:xfrm>
          <a:off x="0" y="0"/>
          <a:ext cx="0" cy="0"/>
          <a:chOff x="0" y="0"/>
          <a:chExt cx="0" cy="0"/>
        </a:xfrm>
      </p:grpSpPr>
      <p:pic>
        <p:nvPicPr>
          <p:cNvPr descr="A picture containing food, drawing, shirt&#10;&#10;Description automatically generated" id="4465" name="Google Shape;4465;p33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466" name="Google Shape;4466;p33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467" name="Google Shape;4467;p33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468" name="Google Shape;4468;p3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469" name="Google Shape;4469;p3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70" name="Google Shape;4470;p332"/>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graphicFrame>
        <p:nvGraphicFramePr>
          <p:cNvPr id="4471" name="Google Shape;4471;p332"/>
          <p:cNvGraphicFramePr/>
          <p:nvPr/>
        </p:nvGraphicFramePr>
        <p:xfrm>
          <a:off x="1072350" y="1523538"/>
          <a:ext cx="3000000" cy="3000000"/>
        </p:xfrm>
        <a:graphic>
          <a:graphicData uri="http://schemas.openxmlformats.org/drawingml/2006/table">
            <a:tbl>
              <a:tblPr>
                <a:noFill/>
                <a:tableStyleId>{5E9E9AE0-E05B-434B-992F-78115EA43AB1}</a:tableStyleId>
              </a:tblPr>
              <a:tblGrid>
                <a:gridCol w="2511825"/>
                <a:gridCol w="2511825"/>
                <a:gridCol w="2511825"/>
                <a:gridCol w="2511825"/>
              </a:tblGrid>
              <a:tr h="396050">
                <a:tc>
                  <a:txBody>
                    <a:bodyPr/>
                    <a:lstStyle/>
                    <a:p>
                      <a:pPr indent="0" lvl="0" marL="0" rtl="0" algn="ctr">
                        <a:spcBef>
                          <a:spcPts val="0"/>
                        </a:spcBef>
                        <a:spcAft>
                          <a:spcPts val="0"/>
                        </a:spcAft>
                        <a:buNone/>
                      </a:pPr>
                      <a:r>
                        <a:rPr lang="en-US" sz="1800">
                          <a:latin typeface="Archivo"/>
                          <a:ea typeface="Archivo"/>
                          <a:cs typeface="Archivo"/>
                          <a:sym typeface="Archivo"/>
                        </a:rPr>
                        <a:t>Field</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Mandatory</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Type</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Allowed values</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r>
              <a:tr h="579300">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compliance</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Array of arrays of strings</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Any 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548575">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references</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Array of strings</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Any 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396050">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condition</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Yes</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all, any, none</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396050">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rules</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Yes</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Array of strings</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Any 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396050">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regex_type</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String</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"pcre2" or "osregex"</a:t>
                      </a:r>
                      <a:endParaRPr sz="19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bl>
          </a:graphicData>
        </a:graphic>
      </p:graphicFrame>
      <p:sp>
        <p:nvSpPr>
          <p:cNvPr id="4472" name="Google Shape;4472;p332"/>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Checks</a:t>
            </a:r>
            <a:endParaRPr b="1" i="0" sz="3600" u="none" cap="none" strike="noStrike">
              <a:solidFill>
                <a:srgbClr val="6D9EEB"/>
              </a:solidFill>
              <a:latin typeface="Poppins"/>
              <a:ea typeface="Poppins"/>
              <a:cs typeface="Poppins"/>
              <a:sym typeface="Poppins"/>
            </a:endParaRPr>
          </a:p>
        </p:txBody>
      </p:sp>
      <p:cxnSp>
        <p:nvCxnSpPr>
          <p:cNvPr id="4473" name="Google Shape;4473;p33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474" name="Google Shape;4474;p33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8" name="Shape 4478"/>
        <p:cNvGrpSpPr/>
        <p:nvPr/>
      </p:nvGrpSpPr>
      <p:grpSpPr>
        <a:xfrm>
          <a:off x="0" y="0"/>
          <a:ext cx="0" cy="0"/>
          <a:chOff x="0" y="0"/>
          <a:chExt cx="0" cy="0"/>
        </a:xfrm>
      </p:grpSpPr>
      <p:pic>
        <p:nvPicPr>
          <p:cNvPr descr="A picture containing food, drawing, shirt&#10;&#10;Description automatically generated" id="4479" name="Google Shape;4479;p33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480" name="Google Shape;4480;p33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481" name="Google Shape;4481;p33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482" name="Google Shape;4482;p33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483" name="Google Shape;4483;p3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84" name="Google Shape;4484;p333"/>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485" name="Google Shape;4485;p333"/>
          <p:cNvSpPr txBox="1"/>
          <p:nvPr/>
        </p:nvSpPr>
        <p:spPr>
          <a:xfrm>
            <a:off x="778700" y="1549675"/>
            <a:ext cx="10293900" cy="3651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82">
                <a:solidFill>
                  <a:schemeClr val="dk1"/>
                </a:solidFill>
                <a:latin typeface="Archivo Medium"/>
                <a:ea typeface="Archivo Medium"/>
                <a:cs typeface="Archivo Medium"/>
                <a:sym typeface="Archivo Medium"/>
              </a:rPr>
              <a:t>Result each SCA is governed by condition rules.</a:t>
            </a:r>
            <a:endParaRPr sz="1982">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486" name="Google Shape;4486;p333"/>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Condition</a:t>
            </a:r>
            <a:endParaRPr b="1" i="0" sz="3600" u="none" cap="none" strike="noStrike">
              <a:solidFill>
                <a:srgbClr val="6D9EEB"/>
              </a:solidFill>
              <a:latin typeface="Poppins"/>
              <a:ea typeface="Poppins"/>
              <a:cs typeface="Poppins"/>
              <a:sym typeface="Poppins"/>
            </a:endParaRPr>
          </a:p>
        </p:txBody>
      </p:sp>
      <p:cxnSp>
        <p:nvCxnSpPr>
          <p:cNvPr id="4487" name="Google Shape;4487;p33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488" name="Google Shape;4488;p33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graphicFrame>
        <p:nvGraphicFramePr>
          <p:cNvPr id="4489" name="Google Shape;4489;p333"/>
          <p:cNvGraphicFramePr/>
          <p:nvPr/>
        </p:nvGraphicFramePr>
        <p:xfrm>
          <a:off x="1003450" y="2065113"/>
          <a:ext cx="3000000" cy="3000000"/>
        </p:xfrm>
        <a:graphic>
          <a:graphicData uri="http://schemas.openxmlformats.org/drawingml/2006/table">
            <a:tbl>
              <a:tblPr>
                <a:noFill/>
                <a:tableStyleId>{5E9E9AE0-E05B-434B-992F-78115EA43AB1}</a:tableStyleId>
              </a:tblPr>
              <a:tblGrid>
                <a:gridCol w="2009450"/>
                <a:gridCol w="2009450"/>
                <a:gridCol w="2009450"/>
                <a:gridCol w="2009450"/>
                <a:gridCol w="2009450"/>
              </a:tblGrid>
              <a:tr h="516125">
                <a:tc>
                  <a:txBody>
                    <a:bodyPr/>
                    <a:lstStyle/>
                    <a:p>
                      <a:pPr indent="0" lvl="0" marL="0" rtl="0" algn="ctr">
                        <a:spcBef>
                          <a:spcPts val="0"/>
                        </a:spcBef>
                        <a:spcAft>
                          <a:spcPts val="0"/>
                        </a:spcAft>
                        <a:buNone/>
                      </a:pPr>
                      <a:r>
                        <a:rPr lang="en-US" sz="1800">
                          <a:latin typeface="Archivo"/>
                          <a:ea typeface="Archivo"/>
                          <a:cs typeface="Archivo"/>
                          <a:sym typeface="Archivo"/>
                        </a:rPr>
                        <a:t>Condition </a:t>
                      </a:r>
                      <a:endParaRPr sz="1800">
                        <a:latin typeface="Archivo"/>
                        <a:ea typeface="Archivo"/>
                        <a:cs typeface="Archivo"/>
                        <a:sym typeface="Archivo"/>
                      </a:endParaRPr>
                    </a:p>
                  </a:txBody>
                  <a:tcPr marT="91425" marB="91425" marR="91425" marL="91425" anchor="ctr">
                    <a:lnB cap="flat" cmpd="sng" w="8650">
                      <a:solidFill>
                        <a:srgbClr val="262626"/>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Passed</a:t>
                      </a:r>
                      <a:endParaRPr sz="1800">
                        <a:latin typeface="Archivo"/>
                        <a:ea typeface="Archivo"/>
                        <a:cs typeface="Archivo"/>
                        <a:sym typeface="Archivo"/>
                      </a:endParaRPr>
                    </a:p>
                  </a:txBody>
                  <a:tcPr marT="91425" marB="91425" marR="91425" marL="91425" anchor="ctr">
                    <a:lnB cap="flat" cmpd="sng" w="8650">
                      <a:solidFill>
                        <a:srgbClr val="262626"/>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Failed</a:t>
                      </a:r>
                      <a:endParaRPr sz="1800">
                        <a:latin typeface="Archivo"/>
                        <a:ea typeface="Archivo"/>
                        <a:cs typeface="Archivo"/>
                        <a:sym typeface="Archivo"/>
                      </a:endParaRPr>
                    </a:p>
                  </a:txBody>
                  <a:tcPr marT="91425" marB="91425" marR="91425" marL="91425" anchor="ctr">
                    <a:lnB cap="flat" cmpd="sng" w="8650">
                      <a:solidFill>
                        <a:srgbClr val="262626"/>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Not Applicable</a:t>
                      </a:r>
                      <a:endParaRPr sz="1800">
                        <a:latin typeface="Archivo"/>
                        <a:ea typeface="Archivo"/>
                        <a:cs typeface="Archivo"/>
                        <a:sym typeface="Archivo"/>
                      </a:endParaRPr>
                    </a:p>
                  </a:txBody>
                  <a:tcPr marT="91425" marB="91425" marR="91425" marL="91425" anchor="ctr">
                    <a:lnB cap="flat" cmpd="sng" w="8650">
                      <a:solidFill>
                        <a:srgbClr val="262626"/>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Result</a:t>
                      </a:r>
                      <a:endParaRPr sz="1800">
                        <a:latin typeface="Archivo"/>
                        <a:ea typeface="Archivo"/>
                        <a:cs typeface="Archivo"/>
                        <a:sym typeface="Archivo"/>
                      </a:endParaRPr>
                    </a:p>
                  </a:txBody>
                  <a:tcPr marT="91425" marB="91425" marR="91425" marL="91425" anchor="ctr">
                    <a:lnB cap="flat" cmpd="sng" w="8650">
                      <a:solidFill>
                        <a:srgbClr val="262626"/>
                      </a:solidFill>
                      <a:prstDash val="solid"/>
                      <a:round/>
                      <a:headEnd len="sm" w="sm" type="none"/>
                      <a:tailEnd len="sm" w="sm" type="none"/>
                    </a:lnB>
                    <a:solidFill>
                      <a:schemeClr val="accent1"/>
                    </a:solidFill>
                  </a:tcPr>
                </a:tc>
              </a:tr>
              <a:tr h="516125">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all</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yes</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Passed</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r>
              <a:tr h="714875">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all</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yes</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Not applicable</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r>
              <a:tr h="516125">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all</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yes</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Failed</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r>
              <a:tr h="516125">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any</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yes</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Passed</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r>
              <a:tr h="516125">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any</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yes</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Failed</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r>
              <a:tr h="516125">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any</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yes</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900">
                          <a:solidFill>
                            <a:schemeClr val="dk1"/>
                          </a:solidFill>
                          <a:latin typeface="Archivo"/>
                          <a:ea typeface="Archivo"/>
                          <a:cs typeface="Archivo"/>
                          <a:sym typeface="Archivo"/>
                        </a:rPr>
                        <a:t>Not applicable</a:t>
                      </a:r>
                      <a:endParaRPr sz="1900">
                        <a:solidFill>
                          <a:schemeClr val="dk1"/>
                        </a:solidFill>
                        <a:latin typeface="Archivo"/>
                        <a:ea typeface="Archivo"/>
                        <a:cs typeface="Archivo"/>
                        <a:sym typeface="Archivo"/>
                      </a:endParaRPr>
                    </a:p>
                  </a:txBody>
                  <a:tcPr marT="76200" marB="76200" marR="142875" marL="142875" anchor="ctr">
                    <a:lnL cap="flat" cmpd="sng" w="8650">
                      <a:solidFill>
                        <a:srgbClr val="262626"/>
                      </a:solidFill>
                      <a:prstDash val="solid"/>
                      <a:round/>
                      <a:headEnd len="sm" w="sm" type="none"/>
                      <a:tailEnd len="sm" w="sm" type="none"/>
                    </a:lnL>
                    <a:lnR cap="flat" cmpd="sng" w="8650">
                      <a:solidFill>
                        <a:srgbClr val="262626"/>
                      </a:solidFill>
                      <a:prstDash val="solid"/>
                      <a:round/>
                      <a:headEnd len="sm" w="sm" type="none"/>
                      <a:tailEnd len="sm" w="sm" type="none"/>
                    </a:lnR>
                    <a:lnT cap="flat" cmpd="sng" w="8650">
                      <a:solidFill>
                        <a:srgbClr val="262626"/>
                      </a:solidFill>
                      <a:prstDash val="solid"/>
                      <a:round/>
                      <a:headEnd len="sm" w="sm" type="none"/>
                      <a:tailEnd len="sm" w="sm" type="none"/>
                    </a:lnT>
                    <a:lnB cap="flat" cmpd="sng" w="8650">
                      <a:solidFill>
                        <a:srgbClr val="262626"/>
                      </a:solidFill>
                      <a:prstDash val="solid"/>
                      <a:round/>
                      <a:headEnd len="sm" w="sm" type="none"/>
                      <a:tailEnd len="sm" w="sm" type="none"/>
                    </a:lnB>
                  </a:tcPr>
                </a:tc>
              </a:tr>
            </a:tbl>
          </a:graphicData>
        </a:graphic>
      </p:graphicFrame>
    </p:spTree>
  </p:cSld>
  <p:clrMapOvr>
    <a:masterClrMapping/>
  </p:clrMapOvr>
  <p:transition spd="slow">
    <p:fade thruBlk="1"/>
  </p:transition>
</p:sld>
</file>

<file path=ppt/slides/slide3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3" name="Shape 4493"/>
        <p:cNvGrpSpPr/>
        <p:nvPr/>
      </p:nvGrpSpPr>
      <p:grpSpPr>
        <a:xfrm>
          <a:off x="0" y="0"/>
          <a:ext cx="0" cy="0"/>
          <a:chOff x="0" y="0"/>
          <a:chExt cx="0" cy="0"/>
        </a:xfrm>
      </p:grpSpPr>
      <p:pic>
        <p:nvPicPr>
          <p:cNvPr descr="A picture containing food, drawing, shirt&#10;&#10;Description automatically generated" id="4494" name="Google Shape;4494;p33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495" name="Google Shape;4495;p33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496" name="Google Shape;4496;p33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497" name="Google Shape;4497;p3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498" name="Google Shape;4498;p3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99" name="Google Shape;4499;p334"/>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500" name="Google Shape;4500;p334"/>
          <p:cNvSpPr txBox="1"/>
          <p:nvPr/>
        </p:nvSpPr>
        <p:spPr>
          <a:xfrm>
            <a:off x="778700" y="1549675"/>
            <a:ext cx="10293900" cy="3651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501" name="Google Shape;4501;p334"/>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Rules</a:t>
            </a:r>
            <a:endParaRPr b="1" i="0" sz="3600" u="none" cap="none" strike="noStrike">
              <a:solidFill>
                <a:srgbClr val="6D9EEB"/>
              </a:solidFill>
              <a:latin typeface="Poppins"/>
              <a:ea typeface="Poppins"/>
              <a:cs typeface="Poppins"/>
              <a:sym typeface="Poppins"/>
            </a:endParaRPr>
          </a:p>
        </p:txBody>
      </p:sp>
      <p:cxnSp>
        <p:nvCxnSpPr>
          <p:cNvPr id="4502" name="Google Shape;4502;p33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503" name="Google Shape;4503;p33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graphicFrame>
        <p:nvGraphicFramePr>
          <p:cNvPr id="4504" name="Google Shape;4504;p334"/>
          <p:cNvGraphicFramePr/>
          <p:nvPr/>
        </p:nvGraphicFramePr>
        <p:xfrm>
          <a:off x="1003450" y="1836513"/>
          <a:ext cx="3000000" cy="3000000"/>
        </p:xfrm>
        <a:graphic>
          <a:graphicData uri="http://schemas.openxmlformats.org/drawingml/2006/table">
            <a:tbl>
              <a:tblPr>
                <a:noFill/>
                <a:tableStyleId>{5E9E9AE0-E05B-434B-992F-78115EA43AB1}</a:tableStyleId>
              </a:tblPr>
              <a:tblGrid>
                <a:gridCol w="3376575"/>
                <a:gridCol w="3376575"/>
                <a:gridCol w="3376575"/>
              </a:tblGrid>
              <a:tr h="360925">
                <a:tc>
                  <a:txBody>
                    <a:bodyPr/>
                    <a:lstStyle/>
                    <a:p>
                      <a:pPr indent="0" lvl="0" marL="0" rtl="0" algn="ctr">
                        <a:spcBef>
                          <a:spcPts val="0"/>
                        </a:spcBef>
                        <a:spcAft>
                          <a:spcPts val="0"/>
                        </a:spcAft>
                        <a:buNone/>
                      </a:pPr>
                      <a:r>
                        <a:rPr lang="en-US" sz="1800">
                          <a:latin typeface="Archivo"/>
                          <a:ea typeface="Archivo"/>
                          <a:cs typeface="Archivo"/>
                          <a:sym typeface="Archivo"/>
                        </a:rPr>
                        <a:t>Operations</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Operator</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US" sz="1800">
                          <a:latin typeface="Archivo"/>
                          <a:ea typeface="Archivo"/>
                          <a:cs typeface="Archivo"/>
                          <a:sym typeface="Archivo"/>
                        </a:rPr>
                        <a:t>Example</a:t>
                      </a:r>
                      <a:endParaRPr sz="1800">
                        <a:latin typeface="Archivo"/>
                        <a:ea typeface="Archivo"/>
                        <a:cs typeface="Archivo"/>
                        <a:sym typeface="Archivo"/>
                      </a:endParaRPr>
                    </a:p>
                  </a:txBody>
                  <a:tcPr marT="91425" marB="91425" marR="91425" marL="91425" anchor="ctr">
                    <a:lnB cap="flat" cmpd="sng" w="8650">
                      <a:solidFill>
                        <a:schemeClr val="dk1"/>
                      </a:solidFill>
                      <a:prstDash val="solid"/>
                      <a:round/>
                      <a:headEnd len="sm" w="sm" type="none"/>
                      <a:tailEnd len="sm" w="sm" type="none"/>
                    </a:lnB>
                    <a:solidFill>
                      <a:schemeClr val="accent1"/>
                    </a:solidFill>
                  </a:tcPr>
                </a:tc>
              </a:tr>
              <a:tr h="1022725">
                <a:tc>
                  <a:txBody>
                    <a:bodyPr/>
                    <a:lstStyle/>
                    <a:p>
                      <a:pPr indent="0" lvl="0" marL="0" rtl="0" algn="ctr">
                        <a:lnSpc>
                          <a:spcPct val="200000"/>
                        </a:lnSpc>
                        <a:spcBef>
                          <a:spcPts val="400"/>
                        </a:spcBef>
                        <a:spcAft>
                          <a:spcPts val="400"/>
                        </a:spcAft>
                        <a:buNone/>
                      </a:pPr>
                      <a:r>
                        <a:rPr lang="en-US" sz="1500">
                          <a:solidFill>
                            <a:schemeClr val="dk1"/>
                          </a:solidFill>
                          <a:latin typeface="Archivo"/>
                          <a:ea typeface="Archivo"/>
                          <a:cs typeface="Archivo"/>
                          <a:sym typeface="Archivo"/>
                        </a:rPr>
                        <a:t>Literal comparison, exact match</a:t>
                      </a:r>
                      <a:endParaRPr sz="15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i="1" lang="en-US" sz="1500">
                          <a:solidFill>
                            <a:schemeClr val="dk1"/>
                          </a:solidFill>
                          <a:latin typeface="Archivo"/>
                          <a:ea typeface="Archivo"/>
                          <a:cs typeface="Archivo"/>
                          <a:sym typeface="Archivo"/>
                        </a:rPr>
                        <a:t>by omission (the absence of an operator signifies a literal comparison or exact match)</a:t>
                      </a:r>
                      <a:endParaRPr i="1" sz="15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500">
                          <a:solidFill>
                            <a:schemeClr val="dk1"/>
                          </a:solidFill>
                          <a:latin typeface="Archivo"/>
                          <a:ea typeface="Archivo"/>
                          <a:cs typeface="Archivo"/>
                          <a:sym typeface="Archivo"/>
                        </a:rPr>
                        <a:t>f:/file -&gt; CONTENT</a:t>
                      </a:r>
                      <a:endParaRPr sz="15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661750">
                <a:tc>
                  <a:txBody>
                    <a:bodyPr/>
                    <a:lstStyle/>
                    <a:p>
                      <a:pPr indent="0" lvl="0" marL="0" rtl="0" algn="ctr">
                        <a:lnSpc>
                          <a:spcPct val="200000"/>
                        </a:lnSpc>
                        <a:spcBef>
                          <a:spcPts val="400"/>
                        </a:spcBef>
                        <a:spcAft>
                          <a:spcPts val="400"/>
                        </a:spcAft>
                        <a:buNone/>
                      </a:pPr>
                      <a:r>
                        <a:rPr lang="en-US" sz="1500">
                          <a:solidFill>
                            <a:schemeClr val="dk1"/>
                          </a:solidFill>
                          <a:uFill>
                            <a:noFill/>
                          </a:uFill>
                          <a:latin typeface="Archivo"/>
                          <a:ea typeface="Archivo"/>
                          <a:cs typeface="Archivo"/>
                          <a:sym typeface="Archivo"/>
                          <a:hlinkClick r:id="rId6">
                            <a:extLst>
                              <a:ext uri="{A12FA001-AC4F-418D-AE19-62706E023703}">
                                <ahyp:hlinkClr val="tx"/>
                              </a:ext>
                            </a:extLst>
                          </a:hlinkClick>
                        </a:rPr>
                        <a:t>Lightweight Regular expression</a:t>
                      </a:r>
                      <a:r>
                        <a:rPr lang="en-US" sz="1500">
                          <a:solidFill>
                            <a:schemeClr val="dk1"/>
                          </a:solidFill>
                          <a:latin typeface="Archivo"/>
                          <a:ea typeface="Archivo"/>
                          <a:cs typeface="Archivo"/>
                          <a:sym typeface="Archivo"/>
                        </a:rPr>
                        <a:t> match</a:t>
                      </a:r>
                      <a:endParaRPr sz="15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500">
                          <a:solidFill>
                            <a:schemeClr val="dk1"/>
                          </a:solidFill>
                          <a:latin typeface="Archivo"/>
                          <a:ea typeface="Archivo"/>
                          <a:cs typeface="Archivo"/>
                          <a:sym typeface="Archivo"/>
                        </a:rPr>
                        <a:t>r:</a:t>
                      </a:r>
                      <a:endParaRPr sz="15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500">
                          <a:solidFill>
                            <a:schemeClr val="dk1"/>
                          </a:solidFill>
                          <a:latin typeface="Archivo"/>
                          <a:ea typeface="Archivo"/>
                          <a:cs typeface="Archivo"/>
                          <a:sym typeface="Archivo"/>
                        </a:rPr>
                        <a:t>f:/file -&gt; r:REGEX</a:t>
                      </a:r>
                      <a:endParaRPr sz="15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r h="1022725">
                <a:tc>
                  <a:txBody>
                    <a:bodyPr/>
                    <a:lstStyle/>
                    <a:p>
                      <a:pPr indent="0" lvl="0" marL="0" rtl="0" algn="ctr">
                        <a:lnSpc>
                          <a:spcPct val="200000"/>
                        </a:lnSpc>
                        <a:spcBef>
                          <a:spcPts val="400"/>
                        </a:spcBef>
                        <a:spcAft>
                          <a:spcPts val="400"/>
                        </a:spcAft>
                        <a:buNone/>
                      </a:pPr>
                      <a:r>
                        <a:rPr lang="en-US" sz="1500">
                          <a:solidFill>
                            <a:schemeClr val="dk1"/>
                          </a:solidFill>
                          <a:latin typeface="Archivo"/>
                          <a:ea typeface="Archivo"/>
                          <a:cs typeface="Archivo"/>
                          <a:sym typeface="Archivo"/>
                        </a:rPr>
                        <a:t>Numeric comparison (integers)</a:t>
                      </a:r>
                      <a:endParaRPr sz="15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500">
                          <a:solidFill>
                            <a:schemeClr val="dk1"/>
                          </a:solidFill>
                          <a:latin typeface="Archivo"/>
                          <a:ea typeface="Archivo"/>
                          <a:cs typeface="Archivo"/>
                          <a:sym typeface="Archivo"/>
                        </a:rPr>
                        <a:t>n:</a:t>
                      </a:r>
                      <a:endParaRPr sz="15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c>
                  <a:txBody>
                    <a:bodyPr/>
                    <a:lstStyle/>
                    <a:p>
                      <a:pPr indent="0" lvl="0" marL="0" rtl="0" algn="ctr">
                        <a:lnSpc>
                          <a:spcPct val="200000"/>
                        </a:lnSpc>
                        <a:spcBef>
                          <a:spcPts val="400"/>
                        </a:spcBef>
                        <a:spcAft>
                          <a:spcPts val="400"/>
                        </a:spcAft>
                        <a:buNone/>
                      </a:pPr>
                      <a:r>
                        <a:rPr lang="en-US" sz="1500">
                          <a:solidFill>
                            <a:schemeClr val="dk1"/>
                          </a:solidFill>
                          <a:latin typeface="Archivo"/>
                          <a:ea typeface="Archivo"/>
                          <a:cs typeface="Archivo"/>
                          <a:sym typeface="Archivo"/>
                        </a:rPr>
                        <a:t>f:/file -&gt; n:REGEX_WITH_CAPTURE_GROUP compare &lt;= VALUE</a:t>
                      </a:r>
                      <a:endParaRPr sz="1500">
                        <a:solidFill>
                          <a:schemeClr val="dk1"/>
                        </a:solidFill>
                        <a:latin typeface="Archivo"/>
                        <a:ea typeface="Archivo"/>
                        <a:cs typeface="Archivo"/>
                        <a:sym typeface="Archivo"/>
                      </a:endParaRPr>
                    </a:p>
                  </a:txBody>
                  <a:tcPr marT="76200" marB="76200" marR="142875" marL="142875" anchor="ctr">
                    <a:lnL cap="flat" cmpd="sng" w="8650">
                      <a:solidFill>
                        <a:schemeClr val="dk1"/>
                      </a:solidFill>
                      <a:prstDash val="solid"/>
                      <a:round/>
                      <a:headEnd len="sm" w="sm" type="none"/>
                      <a:tailEnd len="sm" w="sm" type="none"/>
                    </a:lnL>
                    <a:lnR cap="flat" cmpd="sng" w="8650">
                      <a:solidFill>
                        <a:schemeClr val="dk1"/>
                      </a:solidFill>
                      <a:prstDash val="solid"/>
                      <a:round/>
                      <a:headEnd len="sm" w="sm" type="none"/>
                      <a:tailEnd len="sm" w="sm" type="none"/>
                    </a:lnR>
                    <a:lnT cap="flat" cmpd="sng" w="8650">
                      <a:solidFill>
                        <a:schemeClr val="dk1"/>
                      </a:solidFill>
                      <a:prstDash val="solid"/>
                      <a:round/>
                      <a:headEnd len="sm" w="sm" type="none"/>
                      <a:tailEnd len="sm" w="sm" type="none"/>
                    </a:lnT>
                    <a:lnB cap="flat" cmpd="sng" w="8650">
                      <a:solidFill>
                        <a:schemeClr val="dk1"/>
                      </a:solidFill>
                      <a:prstDash val="solid"/>
                      <a:round/>
                      <a:headEnd len="sm" w="sm" type="none"/>
                      <a:tailEnd len="sm" w="sm" type="none"/>
                    </a:lnB>
                  </a:tcPr>
                </a:tc>
              </a:tr>
            </a:tbl>
          </a:graphicData>
        </a:graphic>
      </p:graphicFrame>
    </p:spTree>
  </p:cSld>
  <p:clrMapOvr>
    <a:masterClrMapping/>
  </p:clrMapOvr>
  <p:transition spd="slow">
    <p:fade thruBlk="1"/>
  </p:transition>
</p:sld>
</file>

<file path=ppt/slides/slide3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8" name="Shape 4508"/>
        <p:cNvGrpSpPr/>
        <p:nvPr/>
      </p:nvGrpSpPr>
      <p:grpSpPr>
        <a:xfrm>
          <a:off x="0" y="0"/>
          <a:ext cx="0" cy="0"/>
          <a:chOff x="0" y="0"/>
          <a:chExt cx="0" cy="0"/>
        </a:xfrm>
      </p:grpSpPr>
      <p:pic>
        <p:nvPicPr>
          <p:cNvPr descr="A picture containing food, drawing, shirt&#10;&#10;Description automatically generated" id="4509" name="Google Shape;4509;p33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510" name="Google Shape;4510;p33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511" name="Google Shape;4511;p33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512" name="Google Shape;4512;p33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513" name="Google Shape;4513;p3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14" name="Google Shape;4514;p335"/>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515" name="Google Shape;4515;p335"/>
          <p:cNvSpPr txBox="1"/>
          <p:nvPr/>
        </p:nvSpPr>
        <p:spPr>
          <a:xfrm>
            <a:off x="778700" y="1549675"/>
            <a:ext cx="10293900" cy="3988500"/>
          </a:xfrm>
          <a:prstGeom prst="rect">
            <a:avLst/>
          </a:prstGeom>
          <a:noFill/>
          <a:ln>
            <a:noFill/>
          </a:ln>
        </p:spPr>
        <p:txBody>
          <a:bodyPr anchorCtr="0" anchor="t" bIns="45700" lIns="91425" spcFirstLastPara="1" rIns="91425" wrap="square" tIns="45700">
            <a:noAutofit/>
          </a:bodyPr>
          <a:lstStyle/>
          <a:p>
            <a:pPr indent="-354488" lvl="0" marL="457200" rtl="0" algn="l">
              <a:lnSpc>
                <a:spcPct val="80000"/>
              </a:lnSpc>
              <a:spcBef>
                <a:spcPts val="0"/>
              </a:spcBef>
              <a:spcAft>
                <a:spcPts val="0"/>
              </a:spcAft>
              <a:buClr>
                <a:schemeClr val="dk1"/>
              </a:buClr>
              <a:buSzPts val="1983"/>
              <a:buFont typeface="Courier New"/>
              <a:buChar char="●"/>
            </a:pPr>
            <a:r>
              <a:rPr lang="en-US" sz="1982">
                <a:solidFill>
                  <a:schemeClr val="dk1"/>
                </a:solidFill>
                <a:latin typeface="Courier New"/>
                <a:ea typeface="Courier New"/>
                <a:cs typeface="Courier New"/>
                <a:sym typeface="Courier New"/>
              </a:rPr>
              <a:t>f:/etc/sshd_config checks the existence of /etc/sshd_config file.</a:t>
            </a:r>
            <a:endParaRPr sz="1982">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a:p>
            <a:pPr indent="-354488" lvl="0" marL="457200" rtl="0" algn="l">
              <a:lnSpc>
                <a:spcPct val="80000"/>
              </a:lnSpc>
              <a:spcBef>
                <a:spcPts val="0"/>
              </a:spcBef>
              <a:spcAft>
                <a:spcPts val="0"/>
              </a:spcAft>
              <a:buClr>
                <a:schemeClr val="dk1"/>
              </a:buClr>
              <a:buSzPts val="1983"/>
              <a:buFont typeface="Courier New"/>
              <a:buChar char="●"/>
            </a:pPr>
            <a:r>
              <a:rPr lang="en-US" sz="1982">
                <a:solidFill>
                  <a:schemeClr val="dk1"/>
                </a:solidFill>
                <a:latin typeface="Courier New"/>
                <a:ea typeface="Courier New"/>
                <a:cs typeface="Courier New"/>
                <a:sym typeface="Courier New"/>
              </a:rPr>
              <a:t>d:/etc checks the existence of the /etc directory.</a:t>
            </a:r>
            <a:endParaRPr sz="1982">
              <a:solidFill>
                <a:schemeClr val="dk1"/>
              </a:solidFill>
              <a:latin typeface="Courier New"/>
              <a:ea typeface="Courier New"/>
              <a:cs typeface="Courier New"/>
              <a:sym typeface="Courier New"/>
            </a:endParaRPr>
          </a:p>
          <a:p>
            <a:pPr indent="0" lvl="0" marL="45720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a:p>
            <a:pPr indent="-354488" lvl="0" marL="457200" rtl="0" algn="l">
              <a:lnSpc>
                <a:spcPct val="80000"/>
              </a:lnSpc>
              <a:spcBef>
                <a:spcPts val="0"/>
              </a:spcBef>
              <a:spcAft>
                <a:spcPts val="0"/>
              </a:spcAft>
              <a:buClr>
                <a:schemeClr val="dk1"/>
              </a:buClr>
              <a:buSzPts val="1983"/>
              <a:buFont typeface="Courier New"/>
              <a:buChar char="●"/>
            </a:pPr>
            <a:r>
              <a:rPr lang="en-US" sz="1982">
                <a:solidFill>
                  <a:schemeClr val="dk1"/>
                </a:solidFill>
                <a:latin typeface="Courier New"/>
                <a:ea typeface="Courier New"/>
                <a:cs typeface="Courier New"/>
                <a:sym typeface="Courier New"/>
              </a:rPr>
              <a:t>not p:sshd tests the presence of processes called sshd and fails if one is found.</a:t>
            </a:r>
            <a:endParaRPr sz="1982">
              <a:solidFill>
                <a:schemeClr val="dk1"/>
              </a:solidFill>
              <a:latin typeface="Courier New"/>
              <a:ea typeface="Courier New"/>
              <a:cs typeface="Courier New"/>
              <a:sym typeface="Courier New"/>
            </a:endParaRPr>
          </a:p>
          <a:p>
            <a:pPr indent="0" lvl="0" marL="45720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a:p>
            <a:pPr indent="-354488" lvl="0" marL="457200" rtl="0" algn="l">
              <a:lnSpc>
                <a:spcPct val="80000"/>
              </a:lnSpc>
              <a:spcBef>
                <a:spcPts val="0"/>
              </a:spcBef>
              <a:spcAft>
                <a:spcPts val="0"/>
              </a:spcAft>
              <a:buClr>
                <a:schemeClr val="dk1"/>
              </a:buClr>
              <a:buSzPts val="1983"/>
              <a:buFont typeface="Courier New"/>
              <a:buChar char="●"/>
            </a:pPr>
            <a:r>
              <a:rPr lang="en-US" sz="1982">
                <a:solidFill>
                  <a:schemeClr val="dk1"/>
                </a:solidFill>
                <a:latin typeface="Courier New"/>
                <a:ea typeface="Courier New"/>
                <a:cs typeface="Courier New"/>
                <a:sym typeface="Courier New"/>
              </a:rPr>
              <a:t>r:HKEY_LOCAL_MACHINE\System\CurrentControlSet\Control\Lsa checks for the existence of the HKEY_LOCAL_MACHINE\System\CurrentControlSet\Control\Lsa key.</a:t>
            </a:r>
            <a:endParaRPr sz="1982">
              <a:solidFill>
                <a:schemeClr val="dk1"/>
              </a:solidFill>
              <a:latin typeface="Courier New"/>
              <a:ea typeface="Courier New"/>
              <a:cs typeface="Courier New"/>
              <a:sym typeface="Courier New"/>
            </a:endParaRPr>
          </a:p>
          <a:p>
            <a:pPr indent="0" lvl="0" marL="45720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a:p>
            <a:pPr indent="-354488" lvl="0" marL="457200" rtl="0" algn="l">
              <a:lnSpc>
                <a:spcPct val="80000"/>
              </a:lnSpc>
              <a:spcBef>
                <a:spcPts val="0"/>
              </a:spcBef>
              <a:spcAft>
                <a:spcPts val="0"/>
              </a:spcAft>
              <a:buClr>
                <a:schemeClr val="dk1"/>
              </a:buClr>
              <a:buSzPts val="1983"/>
              <a:buFont typeface="Courier New"/>
              <a:buChar char="●"/>
            </a:pPr>
            <a:r>
              <a:rPr lang="en-US" sz="1982">
                <a:solidFill>
                  <a:schemeClr val="dk1"/>
                </a:solidFill>
                <a:latin typeface="Courier New"/>
                <a:ea typeface="Courier New"/>
                <a:cs typeface="Courier New"/>
                <a:sym typeface="Courier New"/>
              </a:rPr>
              <a:t>r:HKEY_LOCAL_MACHINE\System\CurrentControlSet\Control\Lsa -&gt; LimitBlankPasswordUse checks for the existence of LimitBlankPasswordUse value in the key.</a:t>
            </a:r>
            <a:endParaRPr sz="1982">
              <a:solidFill>
                <a:schemeClr val="dk1"/>
              </a:solidFill>
              <a:latin typeface="Courier New"/>
              <a:ea typeface="Courier New"/>
              <a:cs typeface="Courier New"/>
              <a:sym typeface="Courier New"/>
            </a:endParaRPr>
          </a:p>
          <a:p>
            <a:pPr indent="0" lvl="0" marL="457200" rtl="0" algn="l">
              <a:lnSpc>
                <a:spcPct val="80000"/>
              </a:lnSpc>
              <a:spcBef>
                <a:spcPts val="0"/>
              </a:spcBef>
              <a:spcAft>
                <a:spcPts val="0"/>
              </a:spcAft>
              <a:buNone/>
            </a:pPr>
            <a:r>
              <a:t/>
            </a:r>
            <a:endParaRPr sz="1982">
              <a:solidFill>
                <a:schemeClr val="dk1"/>
              </a:solidFill>
              <a:latin typeface="Courier New"/>
              <a:ea typeface="Courier New"/>
              <a:cs typeface="Courier New"/>
              <a:sym typeface="Courier New"/>
            </a:endParaRPr>
          </a:p>
        </p:txBody>
      </p:sp>
      <p:sp>
        <p:nvSpPr>
          <p:cNvPr id="4516" name="Google Shape;4516;p335"/>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Example </a:t>
            </a:r>
            <a:r>
              <a:rPr b="1" lang="en-US" sz="3600">
                <a:solidFill>
                  <a:srgbClr val="6D9EEB"/>
                </a:solidFill>
                <a:latin typeface="Poppins"/>
                <a:ea typeface="Poppins"/>
                <a:cs typeface="Poppins"/>
                <a:sym typeface="Poppins"/>
              </a:rPr>
              <a:t>checking</a:t>
            </a:r>
            <a:r>
              <a:rPr b="1" lang="en-US" sz="3600">
                <a:solidFill>
                  <a:srgbClr val="6D9EEB"/>
                </a:solidFill>
                <a:latin typeface="Poppins"/>
                <a:ea typeface="Poppins"/>
                <a:cs typeface="Poppins"/>
                <a:sym typeface="Poppins"/>
              </a:rPr>
              <a:t> rules</a:t>
            </a:r>
            <a:endParaRPr b="1" i="0" sz="3600" u="none" cap="none" strike="noStrike">
              <a:solidFill>
                <a:srgbClr val="6D9EEB"/>
              </a:solidFill>
              <a:latin typeface="Poppins"/>
              <a:ea typeface="Poppins"/>
              <a:cs typeface="Poppins"/>
              <a:sym typeface="Poppins"/>
            </a:endParaRPr>
          </a:p>
        </p:txBody>
      </p:sp>
      <p:cxnSp>
        <p:nvCxnSpPr>
          <p:cNvPr id="4517" name="Google Shape;4517;p33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518" name="Google Shape;4518;p33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522" name="Shape 4522"/>
        <p:cNvGrpSpPr/>
        <p:nvPr/>
      </p:nvGrpSpPr>
      <p:grpSpPr>
        <a:xfrm>
          <a:off x="0" y="0"/>
          <a:ext cx="0" cy="0"/>
          <a:chOff x="0" y="0"/>
          <a:chExt cx="0" cy="0"/>
        </a:xfrm>
      </p:grpSpPr>
      <p:pic>
        <p:nvPicPr>
          <p:cNvPr descr="A picture containing food, drawing, shirt&#10;&#10;Description automatically generated" id="4523" name="Google Shape;4523;p33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524" name="Google Shape;4524;p3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25" name="Google Shape;4525;p3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526" name="Google Shape;4526;p336"/>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527" name="Google Shape;4527;p33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528" name="Google Shape;4528;p336"/>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529" name="Google Shape;4529;p336"/>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4530" name="Google Shape;4530;p336"/>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4534" name="Shape 4534"/>
        <p:cNvGrpSpPr/>
        <p:nvPr/>
      </p:nvGrpSpPr>
      <p:grpSpPr>
        <a:xfrm>
          <a:off x="0" y="0"/>
          <a:ext cx="0" cy="0"/>
          <a:chOff x="0" y="0"/>
          <a:chExt cx="0" cy="0"/>
        </a:xfrm>
      </p:grpSpPr>
      <p:pic>
        <p:nvPicPr>
          <p:cNvPr id="4535" name="Google Shape;4535;p337"/>
          <p:cNvPicPr preferRelativeResize="0"/>
          <p:nvPr/>
        </p:nvPicPr>
        <p:blipFill rotWithShape="1">
          <a:blip r:embed="rId3">
            <a:alphaModFix/>
          </a:blip>
          <a:srcRect b="0" l="0" r="0" t="0"/>
          <a:stretch/>
        </p:blipFill>
        <p:spPr>
          <a:xfrm>
            <a:off x="8735306" y="4992977"/>
            <a:ext cx="1855917" cy="1473975"/>
          </a:xfrm>
          <a:prstGeom prst="rect">
            <a:avLst/>
          </a:prstGeom>
          <a:noFill/>
          <a:ln>
            <a:noFill/>
          </a:ln>
        </p:spPr>
      </p:pic>
      <p:sp>
        <p:nvSpPr>
          <p:cNvPr id="4536" name="Google Shape;4536;p337"/>
          <p:cNvSpPr txBox="1"/>
          <p:nvPr/>
        </p:nvSpPr>
        <p:spPr>
          <a:xfrm>
            <a:off x="842064" y="2423701"/>
            <a:ext cx="94770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chemeClr val="lt1"/>
                </a:solidFill>
                <a:latin typeface="Poppins"/>
                <a:ea typeface="Poppins"/>
                <a:cs typeface="Poppins"/>
                <a:sym typeface="Poppins"/>
              </a:rPr>
              <a:t>Day 4 </a:t>
            </a:r>
            <a:endParaRPr b="1" sz="6000">
              <a:solidFill>
                <a:schemeClr val="lt1"/>
              </a:solidFill>
              <a:latin typeface="Poppins"/>
              <a:ea typeface="Poppins"/>
              <a:cs typeface="Poppins"/>
              <a:sym typeface="Poppins"/>
            </a:endParaRPr>
          </a:p>
          <a:p>
            <a:pPr indent="0" lvl="0" marL="0" marR="0" rtl="0" algn="l">
              <a:spcBef>
                <a:spcPts val="0"/>
              </a:spcBef>
              <a:spcAft>
                <a:spcPts val="0"/>
              </a:spcAft>
              <a:buNone/>
            </a:pPr>
            <a:r>
              <a:rPr b="1" lang="en-US" sz="6000">
                <a:solidFill>
                  <a:schemeClr val="lt1"/>
                </a:solidFill>
                <a:latin typeface="Poppins"/>
                <a:ea typeface="Poppins"/>
                <a:cs typeface="Poppins"/>
                <a:sym typeface="Poppins"/>
              </a:rPr>
              <a:t>Wazuh Training</a:t>
            </a:r>
            <a:endParaRPr b="1" sz="6000">
              <a:solidFill>
                <a:schemeClr val="lt1"/>
              </a:solidFill>
              <a:latin typeface="Poppins"/>
              <a:ea typeface="Poppins"/>
              <a:cs typeface="Poppins"/>
              <a:sym typeface="Poppins"/>
            </a:endParaRPr>
          </a:p>
        </p:txBody>
      </p:sp>
      <p:sp>
        <p:nvSpPr>
          <p:cNvPr id="4537" name="Google Shape;4537;p337"/>
          <p:cNvSpPr txBox="1"/>
          <p:nvPr/>
        </p:nvSpPr>
        <p:spPr>
          <a:xfrm>
            <a:off x="902361" y="2056611"/>
            <a:ext cx="24240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Poppins"/>
                <a:ea typeface="Poppins"/>
                <a:cs typeface="Poppins"/>
                <a:sym typeface="Poppins"/>
              </a:rPr>
              <a:t>Cyber Security</a:t>
            </a:r>
            <a:endParaRPr/>
          </a:p>
        </p:txBody>
      </p:sp>
      <p:sp>
        <p:nvSpPr>
          <p:cNvPr id="4538" name="Google Shape;4538;p337"/>
          <p:cNvSpPr txBox="1"/>
          <p:nvPr/>
        </p:nvSpPr>
        <p:spPr>
          <a:xfrm>
            <a:off x="1103436" y="4459188"/>
            <a:ext cx="2735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Poppins"/>
                <a:ea typeface="Poppins"/>
                <a:cs typeface="Poppins"/>
                <a:sym typeface="Poppins"/>
              </a:rPr>
              <a:t>Aditya Firman Nugroho</a:t>
            </a:r>
            <a:br>
              <a:rPr lang="en-US" sz="1200">
                <a:solidFill>
                  <a:schemeClr val="lt1"/>
                </a:solidFill>
                <a:latin typeface="Poppins"/>
                <a:ea typeface="Poppins"/>
                <a:cs typeface="Poppins"/>
                <a:sym typeface="Poppins"/>
              </a:rPr>
            </a:br>
            <a:r>
              <a:rPr b="1" lang="en-US" sz="1200">
                <a:solidFill>
                  <a:schemeClr val="lt1"/>
                </a:solidFill>
                <a:latin typeface="Poppins"/>
                <a:ea typeface="Poppins"/>
                <a:cs typeface="Poppins"/>
                <a:sym typeface="Poppins"/>
              </a:rPr>
              <a:t>Cyber Geek</a:t>
            </a:r>
            <a:r>
              <a:rPr lang="en-US" sz="1200">
                <a:solidFill>
                  <a:schemeClr val="lt1"/>
                </a:solidFill>
                <a:latin typeface="Poppins"/>
                <a:ea typeface="Poppins"/>
                <a:cs typeface="Poppins"/>
                <a:sym typeface="Poppins"/>
              </a:rPr>
              <a:t> </a:t>
            </a:r>
            <a:endParaRPr/>
          </a:p>
        </p:txBody>
      </p:sp>
      <p:sp>
        <p:nvSpPr>
          <p:cNvPr id="4539" name="Google Shape;4539;p337"/>
          <p:cNvSpPr txBox="1"/>
          <p:nvPr/>
        </p:nvSpPr>
        <p:spPr>
          <a:xfrm>
            <a:off x="2045414" y="5739660"/>
            <a:ext cx="8757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oppins"/>
                <a:ea typeface="Poppins"/>
                <a:cs typeface="Poppins"/>
                <a:sym typeface="Poppins"/>
              </a:rPr>
              <a:t>www.idn.id</a:t>
            </a:r>
            <a:endParaRPr/>
          </a:p>
        </p:txBody>
      </p:sp>
      <p:pic>
        <p:nvPicPr>
          <p:cNvPr id="4540" name="Google Shape;4540;p337"/>
          <p:cNvPicPr preferRelativeResize="0"/>
          <p:nvPr/>
        </p:nvPicPr>
        <p:blipFill rotWithShape="1">
          <a:blip r:embed="rId4">
            <a:alphaModFix/>
          </a:blip>
          <a:srcRect b="0" l="0" r="0" t="0"/>
          <a:stretch/>
        </p:blipFill>
        <p:spPr>
          <a:xfrm>
            <a:off x="1101757" y="5716543"/>
            <a:ext cx="943658" cy="276471"/>
          </a:xfrm>
          <a:prstGeom prst="rect">
            <a:avLst/>
          </a:prstGeom>
          <a:noFill/>
          <a:ln>
            <a:noFill/>
          </a:ln>
        </p:spPr>
      </p:pic>
      <p:sp>
        <p:nvSpPr>
          <p:cNvPr id="4541" name="Google Shape;4541;p337"/>
          <p:cNvSpPr txBox="1"/>
          <p:nvPr/>
        </p:nvSpPr>
        <p:spPr>
          <a:xfrm>
            <a:off x="1207326" y="5740708"/>
            <a:ext cx="7377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oppins"/>
                <a:ea typeface="Poppins"/>
                <a:cs typeface="Poppins"/>
                <a:sym typeface="Poppins"/>
              </a:rPr>
              <a:t>visit now</a:t>
            </a:r>
            <a:endParaRPr/>
          </a:p>
        </p:txBody>
      </p:sp>
      <p:pic>
        <p:nvPicPr>
          <p:cNvPr id="4542" name="Google Shape;4542;p337"/>
          <p:cNvPicPr preferRelativeResize="0"/>
          <p:nvPr/>
        </p:nvPicPr>
        <p:blipFill rotWithShape="1">
          <a:blip r:embed="rId5">
            <a:alphaModFix/>
          </a:blip>
          <a:srcRect b="0" l="0" r="0" t="0"/>
          <a:stretch/>
        </p:blipFill>
        <p:spPr>
          <a:xfrm>
            <a:off x="7420619" y="949737"/>
            <a:ext cx="157143" cy="157143"/>
          </a:xfrm>
          <a:prstGeom prst="rect">
            <a:avLst/>
          </a:prstGeom>
          <a:noFill/>
          <a:ln>
            <a:noFill/>
          </a:ln>
        </p:spPr>
      </p:pic>
      <p:pic>
        <p:nvPicPr>
          <p:cNvPr id="4543" name="Google Shape;4543;p337"/>
          <p:cNvPicPr preferRelativeResize="0"/>
          <p:nvPr/>
        </p:nvPicPr>
        <p:blipFill rotWithShape="1">
          <a:blip r:embed="rId5">
            <a:alphaModFix/>
          </a:blip>
          <a:srcRect b="0" l="0" r="0" t="0"/>
          <a:stretch/>
        </p:blipFill>
        <p:spPr>
          <a:xfrm>
            <a:off x="7664459" y="949736"/>
            <a:ext cx="157143" cy="157143"/>
          </a:xfrm>
          <a:prstGeom prst="rect">
            <a:avLst/>
          </a:prstGeom>
          <a:noFill/>
          <a:ln>
            <a:noFill/>
          </a:ln>
        </p:spPr>
      </p:pic>
      <p:pic>
        <p:nvPicPr>
          <p:cNvPr id="4544" name="Google Shape;4544;p337"/>
          <p:cNvPicPr preferRelativeResize="0"/>
          <p:nvPr/>
        </p:nvPicPr>
        <p:blipFill rotWithShape="1">
          <a:blip r:embed="rId5">
            <a:alphaModFix/>
          </a:blip>
          <a:srcRect b="0" l="0" r="0" t="0"/>
          <a:stretch/>
        </p:blipFill>
        <p:spPr>
          <a:xfrm>
            <a:off x="7908299" y="949735"/>
            <a:ext cx="157143" cy="157143"/>
          </a:xfrm>
          <a:prstGeom prst="rect">
            <a:avLst/>
          </a:prstGeom>
          <a:noFill/>
          <a:ln>
            <a:noFill/>
          </a:ln>
        </p:spPr>
      </p:pic>
      <p:pic>
        <p:nvPicPr>
          <p:cNvPr id="4545" name="Google Shape;4545;p337"/>
          <p:cNvPicPr preferRelativeResize="0"/>
          <p:nvPr/>
        </p:nvPicPr>
        <p:blipFill rotWithShape="1">
          <a:blip r:embed="rId5">
            <a:alphaModFix/>
          </a:blip>
          <a:srcRect b="0" l="0" r="0" t="0"/>
          <a:stretch/>
        </p:blipFill>
        <p:spPr>
          <a:xfrm>
            <a:off x="8152139" y="949734"/>
            <a:ext cx="157143" cy="157143"/>
          </a:xfrm>
          <a:prstGeom prst="rect">
            <a:avLst/>
          </a:prstGeom>
          <a:noFill/>
          <a:ln>
            <a:noFill/>
          </a:ln>
        </p:spPr>
      </p:pic>
      <p:pic>
        <p:nvPicPr>
          <p:cNvPr id="4546" name="Google Shape;4546;p337"/>
          <p:cNvPicPr preferRelativeResize="0"/>
          <p:nvPr/>
        </p:nvPicPr>
        <p:blipFill rotWithShape="1">
          <a:blip r:embed="rId5">
            <a:alphaModFix/>
          </a:blip>
          <a:srcRect b="0" l="0" r="0" t="0"/>
          <a:stretch/>
        </p:blipFill>
        <p:spPr>
          <a:xfrm>
            <a:off x="8395979" y="949733"/>
            <a:ext cx="157143" cy="157143"/>
          </a:xfrm>
          <a:prstGeom prst="rect">
            <a:avLst/>
          </a:prstGeom>
          <a:noFill/>
          <a:ln>
            <a:noFill/>
          </a:ln>
        </p:spPr>
      </p:pic>
      <p:pic>
        <p:nvPicPr>
          <p:cNvPr id="4547" name="Google Shape;4547;p337"/>
          <p:cNvPicPr preferRelativeResize="0"/>
          <p:nvPr/>
        </p:nvPicPr>
        <p:blipFill rotWithShape="1">
          <a:blip r:embed="rId5">
            <a:alphaModFix/>
          </a:blip>
          <a:srcRect b="0" l="0" r="0" t="0"/>
          <a:stretch/>
        </p:blipFill>
        <p:spPr>
          <a:xfrm>
            <a:off x="8639819" y="949732"/>
            <a:ext cx="157143" cy="157143"/>
          </a:xfrm>
          <a:prstGeom prst="rect">
            <a:avLst/>
          </a:prstGeom>
          <a:noFill/>
          <a:ln>
            <a:noFill/>
          </a:ln>
        </p:spPr>
      </p:pic>
      <p:pic>
        <p:nvPicPr>
          <p:cNvPr id="4548" name="Google Shape;4548;p337"/>
          <p:cNvPicPr preferRelativeResize="0"/>
          <p:nvPr/>
        </p:nvPicPr>
        <p:blipFill rotWithShape="1">
          <a:blip r:embed="rId5">
            <a:alphaModFix/>
          </a:blip>
          <a:srcRect b="0" l="0" r="0" t="0"/>
          <a:stretch/>
        </p:blipFill>
        <p:spPr>
          <a:xfrm>
            <a:off x="7420619" y="1162524"/>
            <a:ext cx="157143" cy="157143"/>
          </a:xfrm>
          <a:prstGeom prst="rect">
            <a:avLst/>
          </a:prstGeom>
          <a:noFill/>
          <a:ln>
            <a:noFill/>
          </a:ln>
        </p:spPr>
      </p:pic>
      <p:pic>
        <p:nvPicPr>
          <p:cNvPr id="4549" name="Google Shape;4549;p337"/>
          <p:cNvPicPr preferRelativeResize="0"/>
          <p:nvPr/>
        </p:nvPicPr>
        <p:blipFill rotWithShape="1">
          <a:blip r:embed="rId5">
            <a:alphaModFix/>
          </a:blip>
          <a:srcRect b="0" l="0" r="0" t="0"/>
          <a:stretch/>
        </p:blipFill>
        <p:spPr>
          <a:xfrm>
            <a:off x="7664458" y="1162523"/>
            <a:ext cx="157143" cy="157143"/>
          </a:xfrm>
          <a:prstGeom prst="rect">
            <a:avLst/>
          </a:prstGeom>
          <a:noFill/>
          <a:ln>
            <a:noFill/>
          </a:ln>
        </p:spPr>
      </p:pic>
      <p:pic>
        <p:nvPicPr>
          <p:cNvPr id="4550" name="Google Shape;4550;p337"/>
          <p:cNvPicPr preferRelativeResize="0"/>
          <p:nvPr/>
        </p:nvPicPr>
        <p:blipFill rotWithShape="1">
          <a:blip r:embed="rId5">
            <a:alphaModFix/>
          </a:blip>
          <a:srcRect b="0" l="0" r="0" t="0"/>
          <a:stretch/>
        </p:blipFill>
        <p:spPr>
          <a:xfrm>
            <a:off x="7908297" y="1162522"/>
            <a:ext cx="157143" cy="157143"/>
          </a:xfrm>
          <a:prstGeom prst="rect">
            <a:avLst/>
          </a:prstGeom>
          <a:noFill/>
          <a:ln>
            <a:noFill/>
          </a:ln>
        </p:spPr>
      </p:pic>
      <p:pic>
        <p:nvPicPr>
          <p:cNvPr id="4551" name="Google Shape;4551;p337"/>
          <p:cNvPicPr preferRelativeResize="0"/>
          <p:nvPr/>
        </p:nvPicPr>
        <p:blipFill rotWithShape="1">
          <a:blip r:embed="rId5">
            <a:alphaModFix/>
          </a:blip>
          <a:srcRect b="0" l="0" r="0" t="0"/>
          <a:stretch/>
        </p:blipFill>
        <p:spPr>
          <a:xfrm>
            <a:off x="8152136" y="1162521"/>
            <a:ext cx="157143" cy="157143"/>
          </a:xfrm>
          <a:prstGeom prst="rect">
            <a:avLst/>
          </a:prstGeom>
          <a:noFill/>
          <a:ln>
            <a:noFill/>
          </a:ln>
        </p:spPr>
      </p:pic>
      <p:pic>
        <p:nvPicPr>
          <p:cNvPr id="4552" name="Google Shape;4552;p337"/>
          <p:cNvPicPr preferRelativeResize="0"/>
          <p:nvPr/>
        </p:nvPicPr>
        <p:blipFill rotWithShape="1">
          <a:blip r:embed="rId5">
            <a:alphaModFix/>
          </a:blip>
          <a:srcRect b="0" l="0" r="0" t="0"/>
          <a:stretch/>
        </p:blipFill>
        <p:spPr>
          <a:xfrm>
            <a:off x="8395975" y="1162520"/>
            <a:ext cx="157143" cy="157143"/>
          </a:xfrm>
          <a:prstGeom prst="rect">
            <a:avLst/>
          </a:prstGeom>
          <a:noFill/>
          <a:ln>
            <a:noFill/>
          </a:ln>
        </p:spPr>
      </p:pic>
      <p:pic>
        <p:nvPicPr>
          <p:cNvPr id="4553" name="Google Shape;4553;p337"/>
          <p:cNvPicPr preferRelativeResize="0"/>
          <p:nvPr/>
        </p:nvPicPr>
        <p:blipFill rotWithShape="1">
          <a:blip r:embed="rId5">
            <a:alphaModFix/>
          </a:blip>
          <a:srcRect b="0" l="0" r="0" t="0"/>
          <a:stretch/>
        </p:blipFill>
        <p:spPr>
          <a:xfrm>
            <a:off x="8639814" y="1162519"/>
            <a:ext cx="157143" cy="157143"/>
          </a:xfrm>
          <a:prstGeom prst="rect">
            <a:avLst/>
          </a:prstGeom>
          <a:noFill/>
          <a:ln>
            <a:noFill/>
          </a:ln>
        </p:spPr>
      </p:pic>
      <p:pic>
        <p:nvPicPr>
          <p:cNvPr id="4554" name="Google Shape;4554;p337"/>
          <p:cNvPicPr preferRelativeResize="0"/>
          <p:nvPr/>
        </p:nvPicPr>
        <p:blipFill rotWithShape="1">
          <a:blip r:embed="rId5">
            <a:alphaModFix/>
          </a:blip>
          <a:srcRect b="0" l="0" r="0" t="0"/>
          <a:stretch/>
        </p:blipFill>
        <p:spPr>
          <a:xfrm>
            <a:off x="10046787" y="5767072"/>
            <a:ext cx="157143" cy="157143"/>
          </a:xfrm>
          <a:prstGeom prst="rect">
            <a:avLst/>
          </a:prstGeom>
          <a:noFill/>
          <a:ln>
            <a:noFill/>
          </a:ln>
        </p:spPr>
      </p:pic>
      <p:pic>
        <p:nvPicPr>
          <p:cNvPr id="4555" name="Google Shape;4555;p337"/>
          <p:cNvPicPr preferRelativeResize="0"/>
          <p:nvPr/>
        </p:nvPicPr>
        <p:blipFill rotWithShape="1">
          <a:blip r:embed="rId5">
            <a:alphaModFix/>
          </a:blip>
          <a:srcRect b="0" l="0" r="0" t="0"/>
          <a:stretch/>
        </p:blipFill>
        <p:spPr>
          <a:xfrm>
            <a:off x="10290627" y="5767071"/>
            <a:ext cx="157143" cy="157143"/>
          </a:xfrm>
          <a:prstGeom prst="rect">
            <a:avLst/>
          </a:prstGeom>
          <a:noFill/>
          <a:ln>
            <a:noFill/>
          </a:ln>
        </p:spPr>
      </p:pic>
      <p:pic>
        <p:nvPicPr>
          <p:cNvPr id="4556" name="Google Shape;4556;p337"/>
          <p:cNvPicPr preferRelativeResize="0"/>
          <p:nvPr/>
        </p:nvPicPr>
        <p:blipFill rotWithShape="1">
          <a:blip r:embed="rId5">
            <a:alphaModFix/>
          </a:blip>
          <a:srcRect b="0" l="0" r="0" t="0"/>
          <a:stretch/>
        </p:blipFill>
        <p:spPr>
          <a:xfrm>
            <a:off x="10534467" y="5767070"/>
            <a:ext cx="157143" cy="157143"/>
          </a:xfrm>
          <a:prstGeom prst="rect">
            <a:avLst/>
          </a:prstGeom>
          <a:noFill/>
          <a:ln>
            <a:noFill/>
          </a:ln>
        </p:spPr>
      </p:pic>
      <p:pic>
        <p:nvPicPr>
          <p:cNvPr id="4557" name="Google Shape;4557;p337"/>
          <p:cNvPicPr preferRelativeResize="0"/>
          <p:nvPr/>
        </p:nvPicPr>
        <p:blipFill rotWithShape="1">
          <a:blip r:embed="rId5">
            <a:alphaModFix/>
          </a:blip>
          <a:srcRect b="0" l="0" r="0" t="0"/>
          <a:stretch/>
        </p:blipFill>
        <p:spPr>
          <a:xfrm>
            <a:off x="10778307" y="5767069"/>
            <a:ext cx="157143" cy="157143"/>
          </a:xfrm>
          <a:prstGeom prst="rect">
            <a:avLst/>
          </a:prstGeom>
          <a:noFill/>
          <a:ln>
            <a:noFill/>
          </a:ln>
        </p:spPr>
      </p:pic>
      <p:pic>
        <p:nvPicPr>
          <p:cNvPr id="4558" name="Google Shape;4558;p337"/>
          <p:cNvPicPr preferRelativeResize="0"/>
          <p:nvPr/>
        </p:nvPicPr>
        <p:blipFill rotWithShape="1">
          <a:blip r:embed="rId5">
            <a:alphaModFix/>
          </a:blip>
          <a:srcRect b="0" l="0" r="0" t="0"/>
          <a:stretch/>
        </p:blipFill>
        <p:spPr>
          <a:xfrm>
            <a:off x="11022147" y="5767068"/>
            <a:ext cx="157143" cy="157143"/>
          </a:xfrm>
          <a:prstGeom prst="rect">
            <a:avLst/>
          </a:prstGeom>
          <a:noFill/>
          <a:ln>
            <a:noFill/>
          </a:ln>
        </p:spPr>
      </p:pic>
      <p:pic>
        <p:nvPicPr>
          <p:cNvPr id="4559" name="Google Shape;4559;p337"/>
          <p:cNvPicPr preferRelativeResize="0"/>
          <p:nvPr/>
        </p:nvPicPr>
        <p:blipFill rotWithShape="1">
          <a:blip r:embed="rId5">
            <a:alphaModFix/>
          </a:blip>
          <a:srcRect b="0" l="0" r="0" t="0"/>
          <a:stretch/>
        </p:blipFill>
        <p:spPr>
          <a:xfrm>
            <a:off x="11265987" y="5767067"/>
            <a:ext cx="157143" cy="157143"/>
          </a:xfrm>
          <a:prstGeom prst="rect">
            <a:avLst/>
          </a:prstGeom>
          <a:noFill/>
          <a:ln>
            <a:noFill/>
          </a:ln>
        </p:spPr>
      </p:pic>
      <p:pic>
        <p:nvPicPr>
          <p:cNvPr id="4560" name="Google Shape;4560;p337"/>
          <p:cNvPicPr preferRelativeResize="0"/>
          <p:nvPr/>
        </p:nvPicPr>
        <p:blipFill rotWithShape="1">
          <a:blip r:embed="rId5">
            <a:alphaModFix/>
          </a:blip>
          <a:srcRect b="0" l="0" r="0" t="0"/>
          <a:stretch/>
        </p:blipFill>
        <p:spPr>
          <a:xfrm>
            <a:off x="10046787" y="5979859"/>
            <a:ext cx="157143" cy="157143"/>
          </a:xfrm>
          <a:prstGeom prst="rect">
            <a:avLst/>
          </a:prstGeom>
          <a:noFill/>
          <a:ln>
            <a:noFill/>
          </a:ln>
        </p:spPr>
      </p:pic>
      <p:pic>
        <p:nvPicPr>
          <p:cNvPr id="4561" name="Google Shape;4561;p337"/>
          <p:cNvPicPr preferRelativeResize="0"/>
          <p:nvPr/>
        </p:nvPicPr>
        <p:blipFill rotWithShape="1">
          <a:blip r:embed="rId5">
            <a:alphaModFix/>
          </a:blip>
          <a:srcRect b="0" l="0" r="0" t="0"/>
          <a:stretch/>
        </p:blipFill>
        <p:spPr>
          <a:xfrm>
            <a:off x="10290626" y="5979858"/>
            <a:ext cx="157143" cy="157143"/>
          </a:xfrm>
          <a:prstGeom prst="rect">
            <a:avLst/>
          </a:prstGeom>
          <a:noFill/>
          <a:ln>
            <a:noFill/>
          </a:ln>
        </p:spPr>
      </p:pic>
      <p:pic>
        <p:nvPicPr>
          <p:cNvPr id="4562" name="Google Shape;4562;p337"/>
          <p:cNvPicPr preferRelativeResize="0"/>
          <p:nvPr/>
        </p:nvPicPr>
        <p:blipFill rotWithShape="1">
          <a:blip r:embed="rId5">
            <a:alphaModFix/>
          </a:blip>
          <a:srcRect b="0" l="0" r="0" t="0"/>
          <a:stretch/>
        </p:blipFill>
        <p:spPr>
          <a:xfrm>
            <a:off x="10534465" y="5979857"/>
            <a:ext cx="157143" cy="157143"/>
          </a:xfrm>
          <a:prstGeom prst="rect">
            <a:avLst/>
          </a:prstGeom>
          <a:noFill/>
          <a:ln>
            <a:noFill/>
          </a:ln>
        </p:spPr>
      </p:pic>
      <p:pic>
        <p:nvPicPr>
          <p:cNvPr id="4563" name="Google Shape;4563;p337"/>
          <p:cNvPicPr preferRelativeResize="0"/>
          <p:nvPr/>
        </p:nvPicPr>
        <p:blipFill rotWithShape="1">
          <a:blip r:embed="rId5">
            <a:alphaModFix/>
          </a:blip>
          <a:srcRect b="0" l="0" r="0" t="0"/>
          <a:stretch/>
        </p:blipFill>
        <p:spPr>
          <a:xfrm>
            <a:off x="10778304" y="5979856"/>
            <a:ext cx="157143" cy="157143"/>
          </a:xfrm>
          <a:prstGeom prst="rect">
            <a:avLst/>
          </a:prstGeom>
          <a:noFill/>
          <a:ln>
            <a:noFill/>
          </a:ln>
        </p:spPr>
      </p:pic>
      <p:pic>
        <p:nvPicPr>
          <p:cNvPr id="4564" name="Google Shape;4564;p337"/>
          <p:cNvPicPr preferRelativeResize="0"/>
          <p:nvPr/>
        </p:nvPicPr>
        <p:blipFill rotWithShape="1">
          <a:blip r:embed="rId5">
            <a:alphaModFix/>
          </a:blip>
          <a:srcRect b="0" l="0" r="0" t="0"/>
          <a:stretch/>
        </p:blipFill>
        <p:spPr>
          <a:xfrm>
            <a:off x="11022143" y="5979855"/>
            <a:ext cx="157143" cy="157143"/>
          </a:xfrm>
          <a:prstGeom prst="rect">
            <a:avLst/>
          </a:prstGeom>
          <a:noFill/>
          <a:ln>
            <a:noFill/>
          </a:ln>
        </p:spPr>
      </p:pic>
      <p:pic>
        <p:nvPicPr>
          <p:cNvPr id="4565" name="Google Shape;4565;p337"/>
          <p:cNvPicPr preferRelativeResize="0"/>
          <p:nvPr/>
        </p:nvPicPr>
        <p:blipFill rotWithShape="1">
          <a:blip r:embed="rId5">
            <a:alphaModFix/>
          </a:blip>
          <a:srcRect b="0" l="0" r="0" t="0"/>
          <a:stretch/>
        </p:blipFill>
        <p:spPr>
          <a:xfrm>
            <a:off x="11265982" y="5979854"/>
            <a:ext cx="157143" cy="157143"/>
          </a:xfrm>
          <a:prstGeom prst="rect">
            <a:avLst/>
          </a:prstGeom>
          <a:noFill/>
          <a:ln>
            <a:noFill/>
          </a:ln>
        </p:spPr>
      </p:pic>
      <p:pic>
        <p:nvPicPr>
          <p:cNvPr id="4566" name="Google Shape;4566;p337"/>
          <p:cNvPicPr preferRelativeResize="0"/>
          <p:nvPr/>
        </p:nvPicPr>
        <p:blipFill rotWithShape="1">
          <a:blip r:embed="rId6">
            <a:alphaModFix/>
          </a:blip>
          <a:srcRect b="0" l="0" r="0" t="0"/>
          <a:stretch/>
        </p:blipFill>
        <p:spPr>
          <a:xfrm rot="6280505">
            <a:off x="9663482" y="1641145"/>
            <a:ext cx="2166077" cy="2256331"/>
          </a:xfrm>
          <a:prstGeom prst="rect">
            <a:avLst/>
          </a:prstGeom>
          <a:noFill/>
          <a:ln>
            <a:noFill/>
          </a:ln>
        </p:spPr>
      </p:pic>
      <p:pic>
        <p:nvPicPr>
          <p:cNvPr id="4567" name="Google Shape;4567;p337"/>
          <p:cNvPicPr preferRelativeResize="0"/>
          <p:nvPr/>
        </p:nvPicPr>
        <p:blipFill rotWithShape="1">
          <a:blip r:embed="rId7">
            <a:alphaModFix/>
          </a:blip>
          <a:srcRect b="0" l="0" r="0" t="0"/>
          <a:stretch/>
        </p:blipFill>
        <p:spPr>
          <a:xfrm>
            <a:off x="8553122" y="2267369"/>
            <a:ext cx="501941" cy="501941"/>
          </a:xfrm>
          <a:prstGeom prst="rect">
            <a:avLst/>
          </a:prstGeom>
          <a:noFill/>
          <a:ln>
            <a:noFill/>
          </a:ln>
        </p:spPr>
      </p:pic>
      <p:pic>
        <p:nvPicPr>
          <p:cNvPr id="4568" name="Google Shape;4568;p337"/>
          <p:cNvPicPr preferRelativeResize="0"/>
          <p:nvPr/>
        </p:nvPicPr>
        <p:blipFill rotWithShape="1">
          <a:blip r:embed="rId8">
            <a:alphaModFix/>
          </a:blip>
          <a:srcRect b="0" l="0" r="0" t="0"/>
          <a:stretch/>
        </p:blipFill>
        <p:spPr>
          <a:xfrm>
            <a:off x="8767747" y="5108544"/>
            <a:ext cx="854810" cy="854810"/>
          </a:xfrm>
          <a:prstGeom prst="rect">
            <a:avLst/>
          </a:prstGeom>
          <a:noFill/>
          <a:ln>
            <a:noFill/>
          </a:ln>
        </p:spPr>
      </p:pic>
      <p:pic>
        <p:nvPicPr>
          <p:cNvPr id="4569" name="Google Shape;4569;p337"/>
          <p:cNvPicPr preferRelativeResize="0"/>
          <p:nvPr/>
        </p:nvPicPr>
        <p:blipFill rotWithShape="1">
          <a:blip r:embed="rId9">
            <a:alphaModFix/>
          </a:blip>
          <a:srcRect b="0" l="0" r="0" t="0"/>
          <a:stretch/>
        </p:blipFill>
        <p:spPr>
          <a:xfrm>
            <a:off x="7426365" y="5740908"/>
            <a:ext cx="215541" cy="215541"/>
          </a:xfrm>
          <a:prstGeom prst="rect">
            <a:avLst/>
          </a:prstGeom>
          <a:noFill/>
          <a:ln>
            <a:noFill/>
          </a:ln>
        </p:spPr>
      </p:pic>
      <p:pic>
        <p:nvPicPr>
          <p:cNvPr id="4570" name="Google Shape;4570;p337"/>
          <p:cNvPicPr preferRelativeResize="0"/>
          <p:nvPr/>
        </p:nvPicPr>
        <p:blipFill rotWithShape="1">
          <a:blip r:embed="rId10">
            <a:alphaModFix/>
          </a:blip>
          <a:srcRect b="0" l="0" r="0" t="0"/>
          <a:stretch/>
        </p:blipFill>
        <p:spPr>
          <a:xfrm>
            <a:off x="1034046" y="4445778"/>
            <a:ext cx="67711" cy="461665"/>
          </a:xfrm>
          <a:prstGeom prst="rect">
            <a:avLst/>
          </a:prstGeom>
          <a:noFill/>
          <a:ln>
            <a:noFill/>
          </a:ln>
        </p:spPr>
      </p:pic>
      <p:pic>
        <p:nvPicPr>
          <p:cNvPr id="4571" name="Google Shape;4571;p337"/>
          <p:cNvPicPr preferRelativeResize="0"/>
          <p:nvPr/>
        </p:nvPicPr>
        <p:blipFill rotWithShape="1">
          <a:blip r:embed="rId11">
            <a:alphaModFix/>
          </a:blip>
          <a:srcRect b="0" l="0" r="0" t="0"/>
          <a:stretch/>
        </p:blipFill>
        <p:spPr>
          <a:xfrm>
            <a:off x="902361" y="587968"/>
            <a:ext cx="2817438" cy="880669"/>
          </a:xfrm>
          <a:prstGeom prst="rect">
            <a:avLst/>
          </a:prstGeom>
          <a:noFill/>
          <a:ln>
            <a:noFill/>
          </a:ln>
        </p:spPr>
      </p:pic>
    </p:spTree>
  </p:cSld>
  <p:clrMapOvr>
    <a:masterClrMapping/>
  </p:clrMapOvr>
</p:sld>
</file>

<file path=ppt/slides/slide3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575" name="Shape 4575"/>
        <p:cNvGrpSpPr/>
        <p:nvPr/>
      </p:nvGrpSpPr>
      <p:grpSpPr>
        <a:xfrm>
          <a:off x="0" y="0"/>
          <a:ext cx="0" cy="0"/>
          <a:chOff x="0" y="0"/>
          <a:chExt cx="0" cy="0"/>
        </a:xfrm>
      </p:grpSpPr>
      <p:pic>
        <p:nvPicPr>
          <p:cNvPr descr="A picture containing food, drawing, shirt&#10;&#10;Description automatically generated" id="4576" name="Google Shape;4576;p33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577" name="Google Shape;4577;p3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78" name="Google Shape;4578;p33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579" name="Google Shape;4579;p338"/>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580" name="Google Shape;4580;p33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581" name="Google Shape;4581;p338"/>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582" name="Google Shape;4582;p338"/>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MITRE ATT&amp;CK Techniques</a:t>
            </a:r>
            <a:endParaRPr sz="4800">
              <a:solidFill>
                <a:schemeClr val="lt1"/>
              </a:solidFill>
              <a:highlight>
                <a:srgbClr val="3585F9"/>
              </a:highlight>
              <a:latin typeface="Poppins"/>
              <a:ea typeface="Poppins"/>
              <a:cs typeface="Poppins"/>
              <a:sym typeface="Poppins"/>
            </a:endParaRPr>
          </a:p>
        </p:txBody>
      </p:sp>
      <p:pic>
        <p:nvPicPr>
          <p:cNvPr id="4583" name="Google Shape;4583;p338"/>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7" name="Shape 4587"/>
        <p:cNvGrpSpPr/>
        <p:nvPr/>
      </p:nvGrpSpPr>
      <p:grpSpPr>
        <a:xfrm>
          <a:off x="0" y="0"/>
          <a:ext cx="0" cy="0"/>
          <a:chOff x="0" y="0"/>
          <a:chExt cx="0" cy="0"/>
        </a:xfrm>
      </p:grpSpPr>
      <p:pic>
        <p:nvPicPr>
          <p:cNvPr descr="A picture containing food, drawing, shirt&#10;&#10;Description automatically generated" id="4588" name="Google Shape;4588;p33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589" name="Google Shape;4589;p33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590" name="Google Shape;4590;p33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591" name="Google Shape;4591;p33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592" name="Google Shape;4592;p33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93" name="Google Shape;4593;p339"/>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594" name="Google Shape;4594;p339"/>
          <p:cNvSpPr txBox="1"/>
          <p:nvPr/>
        </p:nvSpPr>
        <p:spPr>
          <a:xfrm>
            <a:off x="778700" y="1549675"/>
            <a:ext cx="10293900" cy="3988500"/>
          </a:xfrm>
          <a:prstGeom prst="rect">
            <a:avLst/>
          </a:prstGeom>
          <a:noFill/>
          <a:ln>
            <a:noFill/>
          </a:ln>
        </p:spPr>
        <p:txBody>
          <a:bodyPr anchorCtr="0" anchor="t" bIns="45700" lIns="91425" spcFirstLastPara="1" rIns="91425" wrap="square" tIns="45700">
            <a:noAutofit/>
          </a:bodyPr>
          <a:lstStyle/>
          <a:p>
            <a:pPr indent="0" lvl="0" marL="457200" rtl="0" algn="l">
              <a:lnSpc>
                <a:spcPct val="80000"/>
              </a:lnSpc>
              <a:spcBef>
                <a:spcPts val="0"/>
              </a:spcBef>
              <a:spcAft>
                <a:spcPts val="0"/>
              </a:spcAft>
              <a:buNone/>
            </a:pPr>
            <a:r>
              <a:rPr lang="en-US" sz="1982">
                <a:solidFill>
                  <a:schemeClr val="dk1"/>
                </a:solidFill>
                <a:latin typeface="Archivo"/>
                <a:ea typeface="Archivo"/>
                <a:cs typeface="Archivo"/>
                <a:sym typeface="Archivo"/>
              </a:rPr>
              <a:t>Created by the MITRE Corporation, MITRE ATT&amp;CK is an acronym that stands for MITRE Adversarial Tactics, Techniques, and Common Knowledge. It is a globally-accessible collection of observed real-world threat actor actions and behavior. The MITRE ATT&amp;CK framework describes 14 tactics and several techniques that security analysts can use to identify attacks in progress. MITRE uses IDs to reference the tactic or technique employed by an adversary</a:t>
            </a:r>
            <a:endParaRPr sz="1982">
              <a:solidFill>
                <a:schemeClr val="dk1"/>
              </a:solidFill>
              <a:latin typeface="Archivo"/>
              <a:ea typeface="Archivo"/>
              <a:cs typeface="Archivo"/>
              <a:sym typeface="Archivo"/>
            </a:endParaRPr>
          </a:p>
        </p:txBody>
      </p:sp>
      <p:sp>
        <p:nvSpPr>
          <p:cNvPr id="4595" name="Google Shape;4595;p339"/>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MITRE ATT &amp; CK </a:t>
            </a:r>
            <a:endParaRPr b="1" i="0" sz="3600" u="none" cap="none" strike="noStrike">
              <a:solidFill>
                <a:srgbClr val="6D9EEB"/>
              </a:solidFill>
              <a:latin typeface="Poppins"/>
              <a:ea typeface="Poppins"/>
              <a:cs typeface="Poppins"/>
              <a:sym typeface="Poppins"/>
            </a:endParaRPr>
          </a:p>
        </p:txBody>
      </p:sp>
      <p:cxnSp>
        <p:nvCxnSpPr>
          <p:cNvPr id="4596" name="Google Shape;4596;p33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597" name="Google Shape;4597;p33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1" name="Shape 4601"/>
        <p:cNvGrpSpPr/>
        <p:nvPr/>
      </p:nvGrpSpPr>
      <p:grpSpPr>
        <a:xfrm>
          <a:off x="0" y="0"/>
          <a:ext cx="0" cy="0"/>
          <a:chOff x="0" y="0"/>
          <a:chExt cx="0" cy="0"/>
        </a:xfrm>
      </p:grpSpPr>
      <p:pic>
        <p:nvPicPr>
          <p:cNvPr descr="A picture containing food, drawing, shirt&#10;&#10;Description automatically generated" id="4602" name="Google Shape;4602;p34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603" name="Google Shape;4603;p34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604" name="Google Shape;4604;p34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605" name="Google Shape;4605;p3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606" name="Google Shape;4606;p3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07" name="Google Shape;4607;p340"/>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608" name="Google Shape;4608;p340"/>
          <p:cNvSpPr txBox="1"/>
          <p:nvPr/>
        </p:nvSpPr>
        <p:spPr>
          <a:xfrm>
            <a:off x="1000925" y="1653525"/>
            <a:ext cx="10293900" cy="39885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1200"/>
              </a:spcBef>
              <a:spcAft>
                <a:spcPts val="0"/>
              </a:spcAft>
              <a:buClr>
                <a:schemeClr val="dk1"/>
              </a:buClr>
              <a:buSzPts val="1900"/>
              <a:buChar char="●"/>
            </a:pPr>
            <a:r>
              <a:rPr lang="en-US" sz="1900">
                <a:solidFill>
                  <a:schemeClr val="dk1"/>
                </a:solidFill>
                <a:latin typeface="Archivo Medium"/>
                <a:ea typeface="Archivo Medium"/>
                <a:cs typeface="Archivo Medium"/>
                <a:sym typeface="Archivo Medium"/>
              </a:rPr>
              <a:t>Understand attack vectors by showing which tactics or techniques are being used.</a:t>
            </a:r>
            <a:endParaRPr sz="1900">
              <a:solidFill>
                <a:schemeClr val="dk1"/>
              </a:solidFill>
              <a:latin typeface="Archivo Medium"/>
              <a:ea typeface="Archivo Medium"/>
              <a:cs typeface="Archivo Medium"/>
              <a:sym typeface="Archivo Medium"/>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latin typeface="Archivo Medium"/>
                <a:ea typeface="Archivo Medium"/>
                <a:cs typeface="Archivo Medium"/>
                <a:sym typeface="Archivo Medium"/>
              </a:rPr>
              <a:t>Prioritize incidents based on known attack stages (e.g., initial access, persistence).</a:t>
            </a:r>
            <a:endParaRPr sz="1900">
              <a:solidFill>
                <a:schemeClr val="dk1"/>
              </a:solidFill>
              <a:latin typeface="Archivo Medium"/>
              <a:ea typeface="Archivo Medium"/>
              <a:cs typeface="Archivo Medium"/>
              <a:sym typeface="Archivo Medium"/>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latin typeface="Archivo Medium"/>
                <a:ea typeface="Archivo Medium"/>
                <a:cs typeface="Archivo Medium"/>
                <a:sym typeface="Archivo Medium"/>
              </a:rPr>
              <a:t>Improve threat hunting with ATT&amp;CK knowledge as a guide for identifying related events.</a:t>
            </a:r>
            <a:endParaRPr sz="1900">
              <a:solidFill>
                <a:schemeClr val="dk1"/>
              </a:solidFill>
              <a:latin typeface="Archivo Medium"/>
              <a:ea typeface="Archivo Medium"/>
              <a:cs typeface="Archivo Medium"/>
              <a:sym typeface="Archivo Medium"/>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latin typeface="Archivo Medium"/>
                <a:ea typeface="Archivo Medium"/>
                <a:cs typeface="Archivo Medium"/>
                <a:sym typeface="Archivo Medium"/>
              </a:rPr>
              <a:t>Enhance reports and compliance efforts, as many frameworks recommend mapping security activities to MITRE ATT&amp;CK.</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1200"/>
              </a:spcBef>
              <a:spcAft>
                <a:spcPts val="0"/>
              </a:spcAft>
              <a:buNone/>
            </a:pPr>
            <a:r>
              <a:t/>
            </a:r>
            <a:endParaRPr sz="1900">
              <a:solidFill>
                <a:schemeClr val="dk1"/>
              </a:solidFill>
              <a:latin typeface="Archivo Medium"/>
              <a:ea typeface="Archivo Medium"/>
              <a:cs typeface="Archivo Medium"/>
              <a:sym typeface="Archivo Medium"/>
            </a:endParaRPr>
          </a:p>
        </p:txBody>
      </p:sp>
      <p:sp>
        <p:nvSpPr>
          <p:cNvPr id="4609" name="Google Shape;4609;p340"/>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MITRE ATT &amp; CK </a:t>
            </a:r>
            <a:endParaRPr b="1" sz="3600">
              <a:solidFill>
                <a:srgbClr val="6D9EEB"/>
              </a:solidFill>
              <a:latin typeface="Poppins"/>
              <a:ea typeface="Poppins"/>
              <a:cs typeface="Poppins"/>
              <a:sym typeface="Poppins"/>
            </a:endParaRPr>
          </a:p>
        </p:txBody>
      </p:sp>
      <p:cxnSp>
        <p:nvCxnSpPr>
          <p:cNvPr id="4610" name="Google Shape;4610;p34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611" name="Google Shape;4611;p34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5" name="Shape 4615"/>
        <p:cNvGrpSpPr/>
        <p:nvPr/>
      </p:nvGrpSpPr>
      <p:grpSpPr>
        <a:xfrm>
          <a:off x="0" y="0"/>
          <a:ext cx="0" cy="0"/>
          <a:chOff x="0" y="0"/>
          <a:chExt cx="0" cy="0"/>
        </a:xfrm>
      </p:grpSpPr>
      <p:pic>
        <p:nvPicPr>
          <p:cNvPr descr="A picture containing food, drawing, shirt&#10;&#10;Description automatically generated" id="4616" name="Google Shape;4616;p34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617" name="Google Shape;4617;p34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618" name="Google Shape;4618;p34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619" name="Google Shape;4619;p3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620" name="Google Shape;4620;p3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21" name="Google Shape;4621;p341"/>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622" name="Google Shape;4622;p341"/>
          <p:cNvSpPr txBox="1"/>
          <p:nvPr/>
        </p:nvSpPr>
        <p:spPr>
          <a:xfrm>
            <a:off x="1000925" y="1653525"/>
            <a:ext cx="10293900" cy="39885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
        <p:nvSpPr>
          <p:cNvPr id="4623" name="Google Shape;4623;p341"/>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MITRE ATT &amp; CK </a:t>
            </a:r>
            <a:endParaRPr b="1" sz="3600">
              <a:solidFill>
                <a:srgbClr val="6D9EEB"/>
              </a:solidFill>
              <a:latin typeface="Poppins"/>
              <a:ea typeface="Poppins"/>
              <a:cs typeface="Poppins"/>
              <a:sym typeface="Poppins"/>
            </a:endParaRPr>
          </a:p>
        </p:txBody>
      </p:sp>
      <p:cxnSp>
        <p:nvCxnSpPr>
          <p:cNvPr id="4624" name="Google Shape;4624;p34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625" name="Google Shape;4625;p34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4626" name="Google Shape;4626;p341"/>
          <p:cNvPicPr preferRelativeResize="0"/>
          <p:nvPr/>
        </p:nvPicPr>
        <p:blipFill rotWithShape="1">
          <a:blip r:embed="rId6">
            <a:alphaModFix/>
          </a:blip>
          <a:srcRect b="32134" l="0" r="0" t="0"/>
          <a:stretch/>
        </p:blipFill>
        <p:spPr>
          <a:xfrm>
            <a:off x="1000925" y="1650026"/>
            <a:ext cx="9971875" cy="3274424"/>
          </a:xfrm>
          <a:prstGeom prst="rect">
            <a:avLst/>
          </a:prstGeom>
          <a:noFill/>
          <a:ln>
            <a:noFill/>
          </a:ln>
        </p:spPr>
      </p:pic>
      <p:sp>
        <p:nvSpPr>
          <p:cNvPr id="4627" name="Google Shape;4627;p341"/>
          <p:cNvSpPr txBox="1"/>
          <p:nvPr/>
        </p:nvSpPr>
        <p:spPr>
          <a:xfrm>
            <a:off x="2771975" y="5310000"/>
            <a:ext cx="5179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latin typeface="Archivo Medium"/>
                <a:ea typeface="Archivo Medium"/>
                <a:cs typeface="Archivo Medium"/>
                <a:sym typeface="Archivo Medium"/>
              </a:rPr>
              <a:t>https://mitre-attack.github.io/attack-navigator/</a:t>
            </a:r>
            <a:endParaRPr sz="1900">
              <a:latin typeface="Archivo Medium"/>
              <a:ea typeface="Archivo Medium"/>
              <a:cs typeface="Archivo Medium"/>
              <a:sym typeface="Archivo Medium"/>
            </a:endParaRPr>
          </a:p>
        </p:txBody>
      </p:sp>
    </p:spTree>
  </p:cSld>
  <p:clrMapOvr>
    <a:masterClrMapping/>
  </p:clrMapOvr>
  <p:transition spd="slow">
    <p:fade thruBlk="1"/>
  </p:transition>
</p:sld>
</file>

<file path=ppt/slides/slide3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1" name="Shape 4631"/>
        <p:cNvGrpSpPr/>
        <p:nvPr/>
      </p:nvGrpSpPr>
      <p:grpSpPr>
        <a:xfrm>
          <a:off x="0" y="0"/>
          <a:ext cx="0" cy="0"/>
          <a:chOff x="0" y="0"/>
          <a:chExt cx="0" cy="0"/>
        </a:xfrm>
      </p:grpSpPr>
      <p:pic>
        <p:nvPicPr>
          <p:cNvPr descr="A picture containing food, drawing, shirt&#10;&#10;Description automatically generated" id="4632" name="Google Shape;4632;p34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633" name="Google Shape;4633;p34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634" name="Google Shape;4634;p34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635" name="Google Shape;4635;p34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636" name="Google Shape;4636;p3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37" name="Google Shape;4637;p342"/>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638" name="Google Shape;4638;p342"/>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MITRE ATT&amp;CK </a:t>
            </a:r>
            <a:endParaRPr b="1" sz="3600">
              <a:solidFill>
                <a:srgbClr val="6D9EEB"/>
              </a:solidFill>
              <a:latin typeface="Poppins"/>
              <a:ea typeface="Poppins"/>
              <a:cs typeface="Poppins"/>
              <a:sym typeface="Poppins"/>
            </a:endParaRPr>
          </a:p>
        </p:txBody>
      </p:sp>
      <p:cxnSp>
        <p:nvCxnSpPr>
          <p:cNvPr id="4639" name="Google Shape;4639;p34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640" name="Google Shape;4640;p34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4641" name="Google Shape;4641;p342"/>
          <p:cNvPicPr preferRelativeResize="0"/>
          <p:nvPr/>
        </p:nvPicPr>
        <p:blipFill>
          <a:blip r:embed="rId6">
            <a:alphaModFix/>
          </a:blip>
          <a:stretch>
            <a:fillRect/>
          </a:stretch>
        </p:blipFill>
        <p:spPr>
          <a:xfrm>
            <a:off x="1399575" y="1296464"/>
            <a:ext cx="8712452" cy="4541450"/>
          </a:xfrm>
          <a:prstGeom prst="rect">
            <a:avLst/>
          </a:prstGeom>
          <a:noFill/>
          <a:ln>
            <a:noFill/>
          </a:ln>
        </p:spPr>
      </p:pic>
    </p:spTree>
  </p:cSld>
  <p:clrMapOvr>
    <a:masterClrMapping/>
  </p:clrMapOvr>
  <p:transition spd="slow">
    <p:fade thruBlk="1"/>
  </p:transition>
</p:sld>
</file>

<file path=ppt/slides/slide3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5" name="Shape 4645"/>
        <p:cNvGrpSpPr/>
        <p:nvPr/>
      </p:nvGrpSpPr>
      <p:grpSpPr>
        <a:xfrm>
          <a:off x="0" y="0"/>
          <a:ext cx="0" cy="0"/>
          <a:chOff x="0" y="0"/>
          <a:chExt cx="0" cy="0"/>
        </a:xfrm>
      </p:grpSpPr>
      <p:pic>
        <p:nvPicPr>
          <p:cNvPr descr="A picture containing food, drawing, shirt&#10;&#10;Description automatically generated" id="4646" name="Google Shape;4646;p34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647" name="Google Shape;4647;p34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648" name="Google Shape;4648;p34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649" name="Google Shape;4649;p34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650" name="Google Shape;4650;p3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51" name="Google Shape;4651;p343"/>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652" name="Google Shape;4652;p343"/>
          <p:cNvSpPr txBox="1"/>
          <p:nvPr/>
        </p:nvSpPr>
        <p:spPr>
          <a:xfrm>
            <a:off x="603103" y="486375"/>
            <a:ext cx="10392900" cy="1200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MITRE ATT&amp;CK </a:t>
            </a:r>
            <a:endParaRPr b="1" sz="3600">
              <a:solidFill>
                <a:srgbClr val="6D9EEB"/>
              </a:solidFill>
              <a:latin typeface="Poppins"/>
              <a:ea typeface="Poppins"/>
              <a:cs typeface="Poppins"/>
              <a:sym typeface="Poppins"/>
            </a:endParaRPr>
          </a:p>
          <a:p>
            <a:pPr indent="0" lvl="0" marL="0" marR="0" rtl="0" algn="l">
              <a:lnSpc>
                <a:spcPct val="100000"/>
              </a:lnSpc>
              <a:spcBef>
                <a:spcPts val="0"/>
              </a:spcBef>
              <a:spcAft>
                <a:spcPts val="0"/>
              </a:spcAft>
              <a:buClr>
                <a:srgbClr val="C41F2F"/>
              </a:buClr>
              <a:buSzPts val="3600"/>
              <a:buFont typeface="Arial"/>
              <a:buNone/>
            </a:pPr>
            <a:r>
              <a:t/>
            </a:r>
            <a:endParaRPr b="1" sz="3600">
              <a:solidFill>
                <a:srgbClr val="6D9EEB"/>
              </a:solidFill>
              <a:latin typeface="Poppins"/>
              <a:ea typeface="Poppins"/>
              <a:cs typeface="Poppins"/>
              <a:sym typeface="Poppins"/>
            </a:endParaRPr>
          </a:p>
        </p:txBody>
      </p:sp>
      <p:cxnSp>
        <p:nvCxnSpPr>
          <p:cNvPr id="4653" name="Google Shape;4653;p34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654" name="Google Shape;4654;p34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4655" name="Google Shape;4655;p343"/>
          <p:cNvPicPr preferRelativeResize="0"/>
          <p:nvPr/>
        </p:nvPicPr>
        <p:blipFill>
          <a:blip r:embed="rId6">
            <a:alphaModFix/>
          </a:blip>
          <a:stretch>
            <a:fillRect/>
          </a:stretch>
        </p:blipFill>
        <p:spPr>
          <a:xfrm>
            <a:off x="1375450" y="1400587"/>
            <a:ext cx="9750467" cy="4336913"/>
          </a:xfrm>
          <a:prstGeom prst="rect">
            <a:avLst/>
          </a:prstGeom>
          <a:noFill/>
          <a:ln>
            <a:noFill/>
          </a:ln>
        </p:spPr>
      </p:pic>
    </p:spTree>
  </p:cSld>
  <p:clrMapOvr>
    <a:masterClrMapping/>
  </p:clrMapOvr>
  <p:transition spd="slow">
    <p:fade thruBlk="1"/>
  </p:transition>
</p:sld>
</file>

<file path=ppt/slides/slide3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9" name="Shape 4659"/>
        <p:cNvGrpSpPr/>
        <p:nvPr/>
      </p:nvGrpSpPr>
      <p:grpSpPr>
        <a:xfrm>
          <a:off x="0" y="0"/>
          <a:ext cx="0" cy="0"/>
          <a:chOff x="0" y="0"/>
          <a:chExt cx="0" cy="0"/>
        </a:xfrm>
      </p:grpSpPr>
      <p:pic>
        <p:nvPicPr>
          <p:cNvPr descr="A picture containing food, drawing, shirt&#10;&#10;Description automatically generated" id="4660" name="Google Shape;4660;p34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661" name="Google Shape;4661;p34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662" name="Google Shape;4662;p34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663" name="Google Shape;4663;p34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664" name="Google Shape;4664;p3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65" name="Google Shape;4665;p344"/>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666" name="Google Shape;4666;p344"/>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MITRE ATT&amp;CK </a:t>
            </a:r>
            <a:endParaRPr b="1" sz="3600">
              <a:solidFill>
                <a:srgbClr val="6D9EEB"/>
              </a:solidFill>
              <a:latin typeface="Poppins"/>
              <a:ea typeface="Poppins"/>
              <a:cs typeface="Poppins"/>
              <a:sym typeface="Poppins"/>
            </a:endParaRPr>
          </a:p>
        </p:txBody>
      </p:sp>
      <p:cxnSp>
        <p:nvCxnSpPr>
          <p:cNvPr id="4667" name="Google Shape;4667;p34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668" name="Google Shape;4668;p34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4669" name="Google Shape;4669;p344"/>
          <p:cNvPicPr preferRelativeResize="0"/>
          <p:nvPr/>
        </p:nvPicPr>
        <p:blipFill>
          <a:blip r:embed="rId6">
            <a:alphaModFix/>
          </a:blip>
          <a:stretch>
            <a:fillRect/>
          </a:stretch>
        </p:blipFill>
        <p:spPr>
          <a:xfrm>
            <a:off x="1409450" y="1397987"/>
            <a:ext cx="9470288" cy="4193638"/>
          </a:xfrm>
          <a:prstGeom prst="rect">
            <a:avLst/>
          </a:prstGeom>
          <a:noFill/>
          <a:ln>
            <a:noFill/>
          </a:ln>
        </p:spPr>
      </p:pic>
    </p:spTree>
  </p:cSld>
  <p:clrMapOvr>
    <a:masterClrMapping/>
  </p:clrMapOvr>
  <p:transition spd="slow">
    <p:fade thruBlk="1"/>
  </p:transition>
</p:sld>
</file>

<file path=ppt/slides/slide3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3" name="Shape 4673"/>
        <p:cNvGrpSpPr/>
        <p:nvPr/>
      </p:nvGrpSpPr>
      <p:grpSpPr>
        <a:xfrm>
          <a:off x="0" y="0"/>
          <a:ext cx="0" cy="0"/>
          <a:chOff x="0" y="0"/>
          <a:chExt cx="0" cy="0"/>
        </a:xfrm>
      </p:grpSpPr>
      <p:pic>
        <p:nvPicPr>
          <p:cNvPr descr="A picture containing food, drawing, shirt&#10;&#10;Description automatically generated" id="4674" name="Google Shape;4674;p34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675" name="Google Shape;4675;p34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676" name="Google Shape;4676;p34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677" name="Google Shape;4677;p34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678" name="Google Shape;4678;p3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79" name="Google Shape;4679;p345"/>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680" name="Google Shape;4680;p345"/>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MITRE ATT&amp;CK </a:t>
            </a:r>
            <a:endParaRPr b="1" sz="3600">
              <a:solidFill>
                <a:srgbClr val="6D9EEB"/>
              </a:solidFill>
              <a:latin typeface="Poppins"/>
              <a:ea typeface="Poppins"/>
              <a:cs typeface="Poppins"/>
              <a:sym typeface="Poppins"/>
            </a:endParaRPr>
          </a:p>
        </p:txBody>
      </p:sp>
      <p:cxnSp>
        <p:nvCxnSpPr>
          <p:cNvPr id="4681" name="Google Shape;4681;p34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682" name="Google Shape;4682;p34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pic>
        <p:nvPicPr>
          <p:cNvPr id="4683" name="Google Shape;4683;p345"/>
          <p:cNvPicPr preferRelativeResize="0"/>
          <p:nvPr/>
        </p:nvPicPr>
        <p:blipFill>
          <a:blip r:embed="rId6">
            <a:alphaModFix/>
          </a:blip>
          <a:stretch>
            <a:fillRect/>
          </a:stretch>
        </p:blipFill>
        <p:spPr>
          <a:xfrm>
            <a:off x="1670800" y="1366476"/>
            <a:ext cx="8691199" cy="4483725"/>
          </a:xfrm>
          <a:prstGeom prst="rect">
            <a:avLst/>
          </a:prstGeom>
          <a:noFill/>
          <a:ln>
            <a:noFill/>
          </a:ln>
        </p:spPr>
      </p:pic>
    </p:spTree>
  </p:cSld>
  <p:clrMapOvr>
    <a:masterClrMapping/>
  </p:clrMapOvr>
  <p:transition spd="slow">
    <p:fade thruBlk="1"/>
  </p:transition>
</p:sld>
</file>

<file path=ppt/slides/slide3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687" name="Shape 4687"/>
        <p:cNvGrpSpPr/>
        <p:nvPr/>
      </p:nvGrpSpPr>
      <p:grpSpPr>
        <a:xfrm>
          <a:off x="0" y="0"/>
          <a:ext cx="0" cy="0"/>
          <a:chOff x="0" y="0"/>
          <a:chExt cx="0" cy="0"/>
        </a:xfrm>
      </p:grpSpPr>
      <p:pic>
        <p:nvPicPr>
          <p:cNvPr descr="A picture containing food, drawing, shirt&#10;&#10;Description automatically generated" id="4688" name="Google Shape;4688;p34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689" name="Google Shape;4689;p34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90" name="Google Shape;4690;p34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691" name="Google Shape;4691;p346"/>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692" name="Google Shape;4692;p34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693" name="Google Shape;4693;p346"/>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694" name="Google Shape;4694;p346"/>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Docker Integration</a:t>
            </a:r>
            <a:endParaRPr sz="4800">
              <a:solidFill>
                <a:schemeClr val="lt1"/>
              </a:solidFill>
              <a:highlight>
                <a:srgbClr val="3585F9"/>
              </a:highlight>
              <a:latin typeface="Poppins"/>
              <a:ea typeface="Poppins"/>
              <a:cs typeface="Poppins"/>
              <a:sym typeface="Poppins"/>
            </a:endParaRPr>
          </a:p>
        </p:txBody>
      </p:sp>
      <p:pic>
        <p:nvPicPr>
          <p:cNvPr id="4695" name="Google Shape;4695;p346"/>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9" name="Shape 4699"/>
        <p:cNvGrpSpPr/>
        <p:nvPr/>
      </p:nvGrpSpPr>
      <p:grpSpPr>
        <a:xfrm>
          <a:off x="0" y="0"/>
          <a:ext cx="0" cy="0"/>
          <a:chOff x="0" y="0"/>
          <a:chExt cx="0" cy="0"/>
        </a:xfrm>
      </p:grpSpPr>
      <p:pic>
        <p:nvPicPr>
          <p:cNvPr descr="A picture containing food, drawing, shirt&#10;&#10;Description automatically generated" id="4700" name="Google Shape;4700;p34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701" name="Google Shape;4701;p347"/>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702" name="Google Shape;4702;p34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703" name="Google Shape;4703;p34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704" name="Google Shape;4704;p3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05" name="Google Shape;4705;p347"/>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706" name="Google Shape;4706;p347"/>
          <p:cNvSpPr txBox="1"/>
          <p:nvPr/>
        </p:nvSpPr>
        <p:spPr>
          <a:xfrm>
            <a:off x="959000" y="1653525"/>
            <a:ext cx="10091700" cy="39885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Docker mengotomatiskan penyebaran berbagai aplikasi di dalam container perangkat lunak. Modul Wazuh untuk Docker mengidentifikasi insiden keamanan di dalam container dan memberikan peringatan secara real-time. Dalam kasus penggunaan ini, kamu akan mengonfigurasi Wazuh untuk memantau event Docker pada endpoint Ubuntu yang menjalankan container Docker</a:t>
            </a:r>
            <a:endParaRPr sz="1900">
              <a:solidFill>
                <a:schemeClr val="dk1"/>
              </a:solidFill>
              <a:latin typeface="Archivo Medium"/>
              <a:ea typeface="Archivo Medium"/>
              <a:cs typeface="Archivo Medium"/>
              <a:sym typeface="Archivo Medium"/>
            </a:endParaRPr>
          </a:p>
        </p:txBody>
      </p:sp>
      <p:sp>
        <p:nvSpPr>
          <p:cNvPr id="4707" name="Google Shape;4707;p347"/>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Docker Integrations</a:t>
            </a:r>
            <a:endParaRPr b="1" i="0" sz="3600" u="none" cap="none" strike="noStrike">
              <a:solidFill>
                <a:srgbClr val="6D9EEB"/>
              </a:solidFill>
              <a:latin typeface="Poppins"/>
              <a:ea typeface="Poppins"/>
              <a:cs typeface="Poppins"/>
              <a:sym typeface="Poppins"/>
            </a:endParaRPr>
          </a:p>
        </p:txBody>
      </p:sp>
      <p:cxnSp>
        <p:nvCxnSpPr>
          <p:cNvPr id="4708" name="Google Shape;4708;p347"/>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709" name="Google Shape;4709;p347"/>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3" name="Shape 4713"/>
        <p:cNvGrpSpPr/>
        <p:nvPr/>
      </p:nvGrpSpPr>
      <p:grpSpPr>
        <a:xfrm>
          <a:off x="0" y="0"/>
          <a:ext cx="0" cy="0"/>
          <a:chOff x="0" y="0"/>
          <a:chExt cx="0" cy="0"/>
        </a:xfrm>
      </p:grpSpPr>
      <p:pic>
        <p:nvPicPr>
          <p:cNvPr descr="A picture containing food, drawing, shirt&#10;&#10;Description automatically generated" id="4714" name="Google Shape;4714;p34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715" name="Google Shape;4715;p34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716" name="Google Shape;4716;p34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717" name="Google Shape;4717;p34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718" name="Google Shape;4718;p34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19" name="Google Shape;4719;p348"/>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720" name="Google Shape;4720;p348"/>
          <p:cNvSpPr txBox="1"/>
          <p:nvPr/>
        </p:nvSpPr>
        <p:spPr>
          <a:xfrm>
            <a:off x="959000" y="1653525"/>
            <a:ext cx="10091700" cy="39885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Namun, memantau server Docker saja tidak cukup — kamu juga perlu memantau container itu sendiri. Pemantauan container memberikan wawasan terhadap aktivitas yang terjadi di dalam container, seperti koneksi jaringan, perubahan pada sistem file, dan eksekusi proses.</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&lt;wodle name="docker-listener"&gt;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&lt;interval&gt;10m&lt;/interval&gt;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&lt;attempts&gt;5&lt;/attempts&gt;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&lt;run_on_start&gt;no&lt;/run_on_start&gt;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&lt;disabled&gt;no&lt;/disabled&gt;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&lt;/wodle&gt;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
        <p:nvSpPr>
          <p:cNvPr id="4721" name="Google Shape;4721;p348"/>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Docker Integrations</a:t>
            </a:r>
            <a:endParaRPr b="1" i="0" sz="3600" u="none" cap="none" strike="noStrike">
              <a:solidFill>
                <a:srgbClr val="6D9EEB"/>
              </a:solidFill>
              <a:latin typeface="Poppins"/>
              <a:ea typeface="Poppins"/>
              <a:cs typeface="Poppins"/>
              <a:sym typeface="Poppins"/>
            </a:endParaRPr>
          </a:p>
        </p:txBody>
      </p:sp>
      <p:cxnSp>
        <p:nvCxnSpPr>
          <p:cNvPr id="4722" name="Google Shape;4722;p34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723" name="Google Shape;4723;p34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7" name="Shape 4727"/>
        <p:cNvGrpSpPr/>
        <p:nvPr/>
      </p:nvGrpSpPr>
      <p:grpSpPr>
        <a:xfrm>
          <a:off x="0" y="0"/>
          <a:ext cx="0" cy="0"/>
          <a:chOff x="0" y="0"/>
          <a:chExt cx="0" cy="0"/>
        </a:xfrm>
      </p:grpSpPr>
      <p:pic>
        <p:nvPicPr>
          <p:cNvPr descr="A picture containing food, drawing, shirt&#10;&#10;Description automatically generated" id="4728" name="Google Shape;4728;p34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729" name="Google Shape;4729;p34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730" name="Google Shape;4730;p34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731" name="Google Shape;4731;p34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732" name="Google Shape;4732;p34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33" name="Google Shape;4733;p349"/>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734" name="Google Shape;4734;p349"/>
          <p:cNvSpPr txBox="1"/>
          <p:nvPr/>
        </p:nvSpPr>
        <p:spPr>
          <a:xfrm>
            <a:off x="959000" y="1653525"/>
            <a:ext cx="10091700" cy="39885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&lt;wodle name="docker-listener"&gt;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  &lt;interval&gt;10m&lt;/interval&gt;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  &lt;attempts&gt;5&lt;/attempts&gt;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  &lt;run_on_start&gt;no&lt;/run_on_start&gt;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  &lt;disabled&gt;no&lt;/disabled&gt;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&lt;/wodle&gt;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
        <p:nvSpPr>
          <p:cNvPr id="4735" name="Google Shape;4735;p349"/>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Docker Integrations</a:t>
            </a:r>
            <a:endParaRPr b="1" i="0" sz="3600" u="none" cap="none" strike="noStrike">
              <a:solidFill>
                <a:srgbClr val="6D9EEB"/>
              </a:solidFill>
              <a:latin typeface="Poppins"/>
              <a:ea typeface="Poppins"/>
              <a:cs typeface="Poppins"/>
              <a:sym typeface="Poppins"/>
            </a:endParaRPr>
          </a:p>
        </p:txBody>
      </p:sp>
      <p:cxnSp>
        <p:nvCxnSpPr>
          <p:cNvPr id="4736" name="Google Shape;4736;p34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737" name="Google Shape;4737;p34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741" name="Shape 4741"/>
        <p:cNvGrpSpPr/>
        <p:nvPr/>
      </p:nvGrpSpPr>
      <p:grpSpPr>
        <a:xfrm>
          <a:off x="0" y="0"/>
          <a:ext cx="0" cy="0"/>
          <a:chOff x="0" y="0"/>
          <a:chExt cx="0" cy="0"/>
        </a:xfrm>
      </p:grpSpPr>
      <p:pic>
        <p:nvPicPr>
          <p:cNvPr descr="A picture containing food, drawing, shirt&#10;&#10;Description automatically generated" id="4742" name="Google Shape;4742;p35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743" name="Google Shape;4743;p35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44" name="Google Shape;4744;p35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745" name="Google Shape;4745;p350"/>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746" name="Google Shape;4746;p35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747" name="Google Shape;4747;p350"/>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748" name="Google Shape;4748;p350"/>
          <p:cNvSpPr txBox="1"/>
          <p:nvPr/>
        </p:nvSpPr>
        <p:spPr>
          <a:xfrm>
            <a:off x="1357489" y="3803851"/>
            <a:ext cx="9477000" cy="156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 Docker Logging Container  </a:t>
            </a:r>
            <a:endParaRPr b="1" sz="1300">
              <a:solidFill>
                <a:schemeClr val="dk1"/>
              </a:solidFill>
            </a:endParaRPr>
          </a:p>
          <a:p>
            <a:pPr indent="0" lvl="0" marL="0" marR="0" rtl="0" algn="ctr">
              <a:spcBef>
                <a:spcPts val="0"/>
              </a:spcBef>
              <a:spcAft>
                <a:spcPts val="0"/>
              </a:spcAft>
              <a:buNone/>
            </a:pPr>
            <a:r>
              <a:t/>
            </a:r>
            <a:endParaRPr sz="4800">
              <a:solidFill>
                <a:schemeClr val="lt1"/>
              </a:solidFill>
              <a:highlight>
                <a:srgbClr val="3585F9"/>
              </a:highlight>
              <a:latin typeface="Poppins"/>
              <a:ea typeface="Poppins"/>
              <a:cs typeface="Poppins"/>
              <a:sym typeface="Poppins"/>
            </a:endParaRPr>
          </a:p>
        </p:txBody>
      </p:sp>
      <p:pic>
        <p:nvPicPr>
          <p:cNvPr id="4749" name="Google Shape;4749;p350"/>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3" name="Shape 4753"/>
        <p:cNvGrpSpPr/>
        <p:nvPr/>
      </p:nvGrpSpPr>
      <p:grpSpPr>
        <a:xfrm>
          <a:off x="0" y="0"/>
          <a:ext cx="0" cy="0"/>
          <a:chOff x="0" y="0"/>
          <a:chExt cx="0" cy="0"/>
        </a:xfrm>
      </p:grpSpPr>
      <p:sp>
        <p:nvSpPr>
          <p:cNvPr id="4754" name="Google Shape;4754;p351"/>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4755" name="Google Shape;4755;p35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756" name="Google Shape;4756;p35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757" name="Google Shape;4757;p35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758" name="Google Shape;4758;p35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759" name="Google Shape;4759;p35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760" name="Google Shape;4760;p3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761" name="Google Shape;4761;p35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762" name="Google Shape;4762;p351"/>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763" name="Google Shape;4763;p351"/>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Objective :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Install Docker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Generate Log from </a:t>
            </a:r>
            <a:r>
              <a:rPr lang="en-US" sz="1900">
                <a:solidFill>
                  <a:schemeClr val="dk1"/>
                </a:solidFill>
                <a:latin typeface="Archivo Medium"/>
                <a:ea typeface="Archivo Medium"/>
                <a:cs typeface="Archivo Medium"/>
                <a:sym typeface="Archivo Medium"/>
              </a:rPr>
              <a:t>container</a:t>
            </a:r>
            <a:r>
              <a:rPr lang="en-US" sz="1900">
                <a:solidFill>
                  <a:schemeClr val="dk1"/>
                </a:solidFill>
                <a:latin typeface="Archivo Medium"/>
                <a:ea typeface="Archivo Medium"/>
                <a:cs typeface="Archivo Medium"/>
                <a:sym typeface="Archivo Medium"/>
              </a:rPr>
              <a:t>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7" name="Shape 4767"/>
        <p:cNvGrpSpPr/>
        <p:nvPr/>
      </p:nvGrpSpPr>
      <p:grpSpPr>
        <a:xfrm>
          <a:off x="0" y="0"/>
          <a:ext cx="0" cy="0"/>
          <a:chOff x="0" y="0"/>
          <a:chExt cx="0" cy="0"/>
        </a:xfrm>
      </p:grpSpPr>
      <p:sp>
        <p:nvSpPr>
          <p:cNvPr id="4768" name="Google Shape;4768;p352"/>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Python &amp; Docker</a:t>
            </a:r>
            <a:endParaRPr b="1" i="0" sz="3600" u="none" cap="none" strike="noStrike">
              <a:solidFill>
                <a:srgbClr val="6D9EEB"/>
              </a:solidFill>
              <a:latin typeface="Poppins"/>
              <a:ea typeface="Poppins"/>
              <a:cs typeface="Poppins"/>
              <a:sym typeface="Poppins"/>
            </a:endParaRPr>
          </a:p>
        </p:txBody>
      </p:sp>
      <p:cxnSp>
        <p:nvCxnSpPr>
          <p:cNvPr id="4769" name="Google Shape;4769;p35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770" name="Google Shape;4770;p35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771" name="Google Shape;4771;p35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772" name="Google Shape;4772;p35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773" name="Google Shape;4773;p35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774" name="Google Shape;4774;p35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775" name="Google Shape;4775;p35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776" name="Google Shape;4776;p352"/>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777" name="Google Shape;4777;p352"/>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349250" lvl="0" marL="457200" rtl="0" algn="l">
              <a:lnSpc>
                <a:spcPct val="80000"/>
              </a:lnSpc>
              <a:spcBef>
                <a:spcPts val="0"/>
              </a:spcBef>
              <a:spcAft>
                <a:spcPts val="0"/>
              </a:spcAft>
              <a:buClr>
                <a:schemeClr val="dk1"/>
              </a:buClr>
              <a:buSzPts val="1900"/>
              <a:buFont typeface="Archivo Medium"/>
              <a:buAutoNum type="arabicPeriod"/>
            </a:pPr>
            <a:r>
              <a:rPr lang="en-US" sz="1900">
                <a:solidFill>
                  <a:schemeClr val="dk1"/>
                </a:solidFill>
                <a:latin typeface="Archivo Medium"/>
                <a:ea typeface="Archivo Medium"/>
                <a:cs typeface="Archivo Medium"/>
                <a:sym typeface="Archivo Medium"/>
              </a:rPr>
              <a:t>Install Python and pip3</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sudo apt install python3 python3-pip</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349250" lvl="0" marL="457200" rtl="0" algn="l">
              <a:lnSpc>
                <a:spcPct val="80000"/>
              </a:lnSpc>
              <a:spcBef>
                <a:spcPts val="0"/>
              </a:spcBef>
              <a:spcAft>
                <a:spcPts val="0"/>
              </a:spcAft>
              <a:buClr>
                <a:schemeClr val="dk1"/>
              </a:buClr>
              <a:buSzPts val="1900"/>
              <a:buFont typeface="Archivo Medium"/>
              <a:buAutoNum type="arabicPeriod"/>
            </a:pPr>
            <a:r>
              <a:rPr lang="en-US" sz="1900">
                <a:solidFill>
                  <a:schemeClr val="dk1"/>
                </a:solidFill>
                <a:latin typeface="Archivo Medium"/>
                <a:ea typeface="Archivo Medium"/>
                <a:cs typeface="Archivo Medium"/>
                <a:sym typeface="Archivo Medium"/>
              </a:rPr>
              <a:t>Upgrade pip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pip3 install --upgrade pip</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349250" lvl="0" marL="457200" rtl="0" algn="l">
              <a:lnSpc>
                <a:spcPct val="80000"/>
              </a:lnSpc>
              <a:spcBef>
                <a:spcPts val="0"/>
              </a:spcBef>
              <a:spcAft>
                <a:spcPts val="0"/>
              </a:spcAft>
              <a:buClr>
                <a:schemeClr val="dk1"/>
              </a:buClr>
              <a:buSzPts val="1900"/>
              <a:buFont typeface="Archivo Medium"/>
              <a:buAutoNum type="arabicPeriod"/>
            </a:pPr>
            <a:r>
              <a:rPr lang="en-US" sz="1900">
                <a:solidFill>
                  <a:schemeClr val="dk1"/>
                </a:solidFill>
                <a:latin typeface="Archivo Medium"/>
                <a:ea typeface="Archivo Medium"/>
                <a:cs typeface="Archivo Medium"/>
                <a:sym typeface="Archivo Medium"/>
              </a:rPr>
              <a:t>Install Docker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curl -sSL https://get.docker.com/ | sh</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sudo pip3 install docker==7.1.0 urllib3==2.2.2 requests==2.32.2</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1" name="Shape 4781"/>
        <p:cNvGrpSpPr/>
        <p:nvPr/>
      </p:nvGrpSpPr>
      <p:grpSpPr>
        <a:xfrm>
          <a:off x="0" y="0"/>
          <a:ext cx="0" cy="0"/>
          <a:chOff x="0" y="0"/>
          <a:chExt cx="0" cy="0"/>
        </a:xfrm>
      </p:grpSpPr>
      <p:sp>
        <p:nvSpPr>
          <p:cNvPr id="4782" name="Google Shape;4782;p353"/>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Edit ossec.conf</a:t>
            </a:r>
            <a:r>
              <a:rPr b="1" lang="en-US" sz="3600">
                <a:solidFill>
                  <a:srgbClr val="6D9EEB"/>
                </a:solidFill>
                <a:latin typeface="Poppins"/>
                <a:ea typeface="Poppins"/>
                <a:cs typeface="Poppins"/>
                <a:sym typeface="Poppins"/>
              </a:rPr>
              <a:t> </a:t>
            </a:r>
            <a:endParaRPr b="1" i="0" sz="3600" u="none" cap="none" strike="noStrike">
              <a:solidFill>
                <a:srgbClr val="6D9EEB"/>
              </a:solidFill>
              <a:latin typeface="Poppins"/>
              <a:ea typeface="Poppins"/>
              <a:cs typeface="Poppins"/>
              <a:sym typeface="Poppins"/>
            </a:endParaRPr>
          </a:p>
        </p:txBody>
      </p:sp>
      <p:cxnSp>
        <p:nvCxnSpPr>
          <p:cNvPr id="4783" name="Google Shape;4783;p35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784" name="Google Shape;4784;p35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785" name="Google Shape;4785;p35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786" name="Google Shape;4786;p35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787" name="Google Shape;4787;p35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788" name="Google Shape;4788;p35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789" name="Google Shape;4789;p35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790" name="Google Shape;4790;p353"/>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791" name="Google Shape;4791;p353"/>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4.  </a:t>
            </a:r>
            <a:r>
              <a:rPr lang="en-US" sz="1900">
                <a:solidFill>
                  <a:schemeClr val="dk1"/>
                </a:solidFill>
                <a:latin typeface="Archivo Medium"/>
                <a:ea typeface="Archivo Medium"/>
                <a:cs typeface="Archivo Medium"/>
                <a:sym typeface="Archivo Medium"/>
              </a:rPr>
              <a:t>edit</a:t>
            </a:r>
            <a:r>
              <a:rPr lang="en-US" sz="1900">
                <a:solidFill>
                  <a:schemeClr val="dk1"/>
                </a:solidFill>
                <a:latin typeface="Courier New"/>
                <a:ea typeface="Courier New"/>
                <a:cs typeface="Courier New"/>
                <a:sym typeface="Courier New"/>
              </a:rPr>
              <a:t> /var/ossec/etc/ossec.conf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&lt;ossec_config&gt;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&lt;wodle name="docker-listener"&gt;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&lt;interval&gt;10m&lt;/interval&gt;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&lt;attempts&gt;5&lt;/attempts&gt;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&lt;run_on_start&gt;yes&lt;/run_on_start&gt;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&lt;disabled&gt;no&lt;/disabled&gt;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&lt;/wodle&gt;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&lt;/ossec_config&gt;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sudo systemctl restart wazuh-agent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3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5" name="Shape 4795"/>
        <p:cNvGrpSpPr/>
        <p:nvPr/>
      </p:nvGrpSpPr>
      <p:grpSpPr>
        <a:xfrm>
          <a:off x="0" y="0"/>
          <a:ext cx="0" cy="0"/>
          <a:chOff x="0" y="0"/>
          <a:chExt cx="0" cy="0"/>
        </a:xfrm>
      </p:grpSpPr>
      <p:sp>
        <p:nvSpPr>
          <p:cNvPr id="4796" name="Google Shape;4796;p354"/>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Test Configuration</a:t>
            </a:r>
            <a:endParaRPr b="1" i="0" sz="3600" u="none" cap="none" strike="noStrike">
              <a:solidFill>
                <a:srgbClr val="6D9EEB"/>
              </a:solidFill>
              <a:latin typeface="Poppins"/>
              <a:ea typeface="Poppins"/>
              <a:cs typeface="Poppins"/>
              <a:sym typeface="Poppins"/>
            </a:endParaRPr>
          </a:p>
        </p:txBody>
      </p:sp>
      <p:cxnSp>
        <p:nvCxnSpPr>
          <p:cNvPr id="4797" name="Google Shape;4797;p35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798" name="Google Shape;4798;p35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799" name="Google Shape;4799;p35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800" name="Google Shape;4800;p35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801" name="Google Shape;4801;p35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802" name="Google Shape;4802;p35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803" name="Google Shape;4803;p35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804" name="Google Shape;4804;p354"/>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805" name="Google Shape;4805;p354"/>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5. </a:t>
            </a:r>
            <a:r>
              <a:rPr lang="en-US" sz="1900">
                <a:solidFill>
                  <a:schemeClr val="dk1"/>
                </a:solidFill>
                <a:latin typeface="Archivo Medium"/>
                <a:ea typeface="Archivo Medium"/>
                <a:cs typeface="Archivo Medium"/>
                <a:sym typeface="Archivo Medium"/>
              </a:rPr>
              <a:t>Test Configuration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sudo docker pull nginx</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sudo docker run -d -P --name nginx_container nginx</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sudo docker exec -it nginx_container cat /etc/passwd</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sudo docker exec -it nginx_container /bin/bash</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exit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sudo docker stop nginx_container</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sudo docker rm nginx_container</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3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9" name="Shape 4809"/>
        <p:cNvGrpSpPr/>
        <p:nvPr/>
      </p:nvGrpSpPr>
      <p:grpSpPr>
        <a:xfrm>
          <a:off x="0" y="0"/>
          <a:ext cx="0" cy="0"/>
          <a:chOff x="0" y="0"/>
          <a:chExt cx="0" cy="0"/>
        </a:xfrm>
      </p:grpSpPr>
      <p:sp>
        <p:nvSpPr>
          <p:cNvPr id="4810" name="Google Shape;4810;p355"/>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Visualisasi </a:t>
            </a:r>
            <a:endParaRPr b="1" i="0" sz="3600" u="none" cap="none" strike="noStrike">
              <a:solidFill>
                <a:srgbClr val="6D9EEB"/>
              </a:solidFill>
              <a:latin typeface="Poppins"/>
              <a:ea typeface="Poppins"/>
              <a:cs typeface="Poppins"/>
              <a:sym typeface="Poppins"/>
            </a:endParaRPr>
          </a:p>
        </p:txBody>
      </p:sp>
      <p:cxnSp>
        <p:nvCxnSpPr>
          <p:cNvPr id="4811" name="Google Shape;4811;p35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812" name="Google Shape;4812;p35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813" name="Google Shape;4813;p35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814" name="Google Shape;4814;p35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815" name="Google Shape;4815;p35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816" name="Google Shape;4816;p35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817" name="Google Shape;4817;p35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818" name="Google Shape;4818;p355"/>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819" name="Google Shape;4819;p355"/>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5. </a:t>
            </a:r>
            <a:r>
              <a:rPr lang="en-US" sz="1900">
                <a:solidFill>
                  <a:schemeClr val="dk1"/>
                </a:solidFill>
                <a:latin typeface="Archivo Medium"/>
                <a:ea typeface="Archivo Medium"/>
                <a:cs typeface="Archivo Medium"/>
                <a:sym typeface="Archivo Medium"/>
              </a:rPr>
              <a:t>Test Configuration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sudo docker pull nginx</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sudo docker run -d -P --name nginx_container nginx</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sudo docker exec -it nginx_container cat /etc/passwd</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sudo docker exec -it nginx_container /bin/bash</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exit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sudo docker stop nginx_container</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chemeClr val="dk1"/>
                </a:solidFill>
                <a:latin typeface="Courier New"/>
                <a:ea typeface="Courier New"/>
                <a:cs typeface="Courier New"/>
                <a:sym typeface="Courier New"/>
              </a:rPr>
              <a:t>sudo docker rm nginx_container</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p:txBody>
      </p:sp>
      <p:pic>
        <p:nvPicPr>
          <p:cNvPr id="4820" name="Google Shape;4820;p355"/>
          <p:cNvPicPr preferRelativeResize="0"/>
          <p:nvPr/>
        </p:nvPicPr>
        <p:blipFill rotWithShape="1">
          <a:blip r:embed="rId6">
            <a:alphaModFix/>
          </a:blip>
          <a:srcRect b="24012" l="0" r="0" t="0"/>
          <a:stretch/>
        </p:blipFill>
        <p:spPr>
          <a:xfrm>
            <a:off x="1045475" y="1446876"/>
            <a:ext cx="9905998" cy="3655849"/>
          </a:xfrm>
          <a:prstGeom prst="rect">
            <a:avLst/>
          </a:prstGeom>
          <a:noFill/>
          <a:ln>
            <a:noFill/>
          </a:ln>
        </p:spPr>
      </p:pic>
    </p:spTree>
  </p:cSld>
  <p:clrMapOvr>
    <a:masterClrMapping/>
  </p:clrMapOvr>
  <p:transition spd="slow">
    <p:fade thruBlk="1"/>
  </p:transition>
</p:sld>
</file>

<file path=ppt/slides/slide3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824" name="Shape 4824"/>
        <p:cNvGrpSpPr/>
        <p:nvPr/>
      </p:nvGrpSpPr>
      <p:grpSpPr>
        <a:xfrm>
          <a:off x="0" y="0"/>
          <a:ext cx="0" cy="0"/>
          <a:chOff x="0" y="0"/>
          <a:chExt cx="0" cy="0"/>
        </a:xfrm>
      </p:grpSpPr>
      <p:pic>
        <p:nvPicPr>
          <p:cNvPr descr="A picture containing food, drawing, shirt&#10;&#10;Description automatically generated" id="4825" name="Google Shape;4825;p35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826" name="Google Shape;4826;p35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27" name="Google Shape;4827;p35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828" name="Google Shape;4828;p356"/>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829" name="Google Shape;4829;p35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830" name="Google Shape;4830;p356"/>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831" name="Google Shape;4831;p356"/>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4832" name="Google Shape;4832;p356"/>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836" name="Shape 4836"/>
        <p:cNvGrpSpPr/>
        <p:nvPr/>
      </p:nvGrpSpPr>
      <p:grpSpPr>
        <a:xfrm>
          <a:off x="0" y="0"/>
          <a:ext cx="0" cy="0"/>
          <a:chOff x="0" y="0"/>
          <a:chExt cx="0" cy="0"/>
        </a:xfrm>
      </p:grpSpPr>
      <p:pic>
        <p:nvPicPr>
          <p:cNvPr descr="A picture containing food, drawing, shirt&#10;&#10;Description automatically generated" id="4837" name="Google Shape;4837;p35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838" name="Google Shape;4838;p35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39" name="Google Shape;4839;p35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840" name="Google Shape;4840;p357"/>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841" name="Google Shape;4841;p35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842" name="Google Shape;4842;p357"/>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843" name="Google Shape;4843;p357"/>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Osquery Integration</a:t>
            </a:r>
            <a:endParaRPr sz="4800">
              <a:solidFill>
                <a:schemeClr val="lt1"/>
              </a:solidFill>
              <a:highlight>
                <a:srgbClr val="3585F9"/>
              </a:highlight>
              <a:latin typeface="Poppins"/>
              <a:ea typeface="Poppins"/>
              <a:cs typeface="Poppins"/>
              <a:sym typeface="Poppins"/>
            </a:endParaRPr>
          </a:p>
        </p:txBody>
      </p:sp>
      <p:pic>
        <p:nvPicPr>
          <p:cNvPr id="4844" name="Google Shape;4844;p357"/>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8" name="Shape 4848"/>
        <p:cNvGrpSpPr/>
        <p:nvPr/>
      </p:nvGrpSpPr>
      <p:grpSpPr>
        <a:xfrm>
          <a:off x="0" y="0"/>
          <a:ext cx="0" cy="0"/>
          <a:chOff x="0" y="0"/>
          <a:chExt cx="0" cy="0"/>
        </a:xfrm>
      </p:grpSpPr>
      <p:pic>
        <p:nvPicPr>
          <p:cNvPr descr="A picture containing food, drawing, shirt&#10;&#10;Description automatically generated" id="4849" name="Google Shape;4849;p35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850" name="Google Shape;4850;p35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851" name="Google Shape;4851;p35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852" name="Google Shape;4852;p35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853" name="Google Shape;4853;p35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54" name="Google Shape;4854;p358"/>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855" name="Google Shape;4855;p358"/>
          <p:cNvSpPr txBox="1"/>
          <p:nvPr/>
        </p:nvSpPr>
        <p:spPr>
          <a:xfrm>
            <a:off x="1000925" y="1549675"/>
            <a:ext cx="9995100" cy="39885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Wazuh memanfaatkan Osquery sebagai subagen untuk mendapatkan visibilitas yang mendalam terhadap endpoint, sehingga meningkatkan kemampuan pemantauan, audit, dan deteksi ancaman.</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Integrasi ini memungkinkan manajemen terpusat terhadap agen Osquery melalui Wazuh, serta memungkinkan eksekusi kueri secara otomatis pada interval waktu yang dijadwalkan.</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
        <p:nvSpPr>
          <p:cNvPr id="4856" name="Google Shape;4856;p358"/>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Osquery Integrations</a:t>
            </a:r>
            <a:endParaRPr b="1" i="0" sz="3600" u="none" cap="none" strike="noStrike">
              <a:solidFill>
                <a:srgbClr val="6D9EEB"/>
              </a:solidFill>
              <a:latin typeface="Poppins"/>
              <a:ea typeface="Poppins"/>
              <a:cs typeface="Poppins"/>
              <a:sym typeface="Poppins"/>
            </a:endParaRPr>
          </a:p>
        </p:txBody>
      </p:sp>
      <p:cxnSp>
        <p:nvCxnSpPr>
          <p:cNvPr id="4857" name="Google Shape;4857;p35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858" name="Google Shape;4858;p35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2" name="Shape 4862"/>
        <p:cNvGrpSpPr/>
        <p:nvPr/>
      </p:nvGrpSpPr>
      <p:grpSpPr>
        <a:xfrm>
          <a:off x="0" y="0"/>
          <a:ext cx="0" cy="0"/>
          <a:chOff x="0" y="0"/>
          <a:chExt cx="0" cy="0"/>
        </a:xfrm>
      </p:grpSpPr>
      <p:pic>
        <p:nvPicPr>
          <p:cNvPr descr="A picture containing food, drawing, shirt&#10;&#10;Description automatically generated" id="4863" name="Google Shape;4863;p35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864" name="Google Shape;4864;p359"/>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865" name="Google Shape;4865;p35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866" name="Google Shape;4866;p35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867" name="Google Shape;4867;p35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68" name="Google Shape;4868;p359"/>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869" name="Google Shape;4869;p359"/>
          <p:cNvSpPr txBox="1"/>
          <p:nvPr/>
        </p:nvSpPr>
        <p:spPr>
          <a:xfrm>
            <a:off x="1000925" y="1650025"/>
            <a:ext cx="9995100" cy="3888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2200">
                <a:solidFill>
                  <a:schemeClr val="dk1"/>
                </a:solidFill>
                <a:latin typeface="Archivo Medium"/>
                <a:ea typeface="Archivo Medium"/>
                <a:cs typeface="Archivo Medium"/>
                <a:sym typeface="Archivo Medium"/>
              </a:rPr>
              <a:t>Key Features dari Osquery yang di integrasikan dengan Wazuh</a:t>
            </a:r>
            <a:endParaRPr sz="22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200">
              <a:solidFill>
                <a:schemeClr val="dk1"/>
              </a:solidFill>
              <a:latin typeface="Archivo Medium"/>
              <a:ea typeface="Archivo Medium"/>
              <a:cs typeface="Archivo Medium"/>
              <a:sym typeface="Archivo Medium"/>
            </a:endParaRPr>
          </a:p>
          <a:p>
            <a:pPr indent="-368300" lvl="0" marL="457200" rtl="0" algn="l">
              <a:lnSpc>
                <a:spcPct val="80000"/>
              </a:lnSpc>
              <a:spcBef>
                <a:spcPts val="0"/>
              </a:spcBef>
              <a:spcAft>
                <a:spcPts val="0"/>
              </a:spcAft>
              <a:buClr>
                <a:schemeClr val="dk1"/>
              </a:buClr>
              <a:buSzPts val="2200"/>
              <a:buFont typeface="Archivo Medium"/>
              <a:buChar char="●"/>
            </a:pPr>
            <a:r>
              <a:rPr lang="en-US" sz="2200">
                <a:solidFill>
                  <a:schemeClr val="dk1"/>
                </a:solidFill>
                <a:latin typeface="Archivo Medium"/>
                <a:ea typeface="Archivo Medium"/>
                <a:cs typeface="Archivo Medium"/>
                <a:sym typeface="Archivo Medium"/>
              </a:rPr>
              <a:t>Centralized Configuration Management</a:t>
            </a:r>
            <a:endParaRPr sz="2200">
              <a:solidFill>
                <a:schemeClr val="dk1"/>
              </a:solidFill>
              <a:latin typeface="Archivo Medium"/>
              <a:ea typeface="Archivo Medium"/>
              <a:cs typeface="Archivo Medium"/>
              <a:sym typeface="Archivo Medium"/>
            </a:endParaRPr>
          </a:p>
          <a:p>
            <a:pPr indent="-368300" lvl="0" marL="457200" rtl="0" algn="l">
              <a:lnSpc>
                <a:spcPct val="115000"/>
              </a:lnSpc>
              <a:spcBef>
                <a:spcPts val="0"/>
              </a:spcBef>
              <a:spcAft>
                <a:spcPts val="0"/>
              </a:spcAft>
              <a:buClr>
                <a:schemeClr val="dk1"/>
              </a:buClr>
              <a:buSzPts val="2200"/>
              <a:buFont typeface="Archivo Medium"/>
              <a:buChar char="●"/>
            </a:pPr>
            <a:r>
              <a:rPr lang="en-US" sz="2200">
                <a:solidFill>
                  <a:schemeClr val="dk1"/>
                </a:solidFill>
                <a:latin typeface="Archivo Medium"/>
                <a:ea typeface="Archivo Medium"/>
                <a:cs typeface="Archivo Medium"/>
                <a:sym typeface="Archivo Medium"/>
              </a:rPr>
              <a:t>Scheduled </a:t>
            </a:r>
            <a:r>
              <a:rPr lang="en-US" sz="2200">
                <a:solidFill>
                  <a:schemeClr val="dk1"/>
                </a:solidFill>
                <a:latin typeface="Archivo Medium"/>
                <a:ea typeface="Archivo Medium"/>
                <a:cs typeface="Archivo Medium"/>
                <a:sym typeface="Archivo Medium"/>
              </a:rPr>
              <a:t>Execution of Queries</a:t>
            </a:r>
            <a:endParaRPr sz="2200">
              <a:solidFill>
                <a:schemeClr val="dk1"/>
              </a:solidFill>
              <a:latin typeface="Archivo Medium"/>
              <a:ea typeface="Archivo Medium"/>
              <a:cs typeface="Archivo Medium"/>
              <a:sym typeface="Archivo Medium"/>
            </a:endParaRPr>
          </a:p>
          <a:p>
            <a:pPr indent="-368300" lvl="0" marL="457200" rtl="0" algn="l">
              <a:lnSpc>
                <a:spcPct val="115000"/>
              </a:lnSpc>
              <a:spcBef>
                <a:spcPts val="0"/>
              </a:spcBef>
              <a:spcAft>
                <a:spcPts val="0"/>
              </a:spcAft>
              <a:buClr>
                <a:schemeClr val="dk1"/>
              </a:buClr>
              <a:buSzPts val="2200"/>
              <a:buFont typeface="Archivo Medium"/>
              <a:buChar char="●"/>
            </a:pPr>
            <a:r>
              <a:rPr lang="en-US" sz="2200">
                <a:solidFill>
                  <a:schemeClr val="dk1"/>
                </a:solidFill>
                <a:latin typeface="Archivo Medium"/>
                <a:ea typeface="Archivo Medium"/>
                <a:cs typeface="Archivo Medium"/>
                <a:sym typeface="Archivo Medium"/>
              </a:rPr>
              <a:t>Flexible Query Distribution</a:t>
            </a:r>
            <a:endParaRPr sz="2200">
              <a:solidFill>
                <a:schemeClr val="dk1"/>
              </a:solidFill>
              <a:latin typeface="Archivo Medium"/>
              <a:ea typeface="Archivo Medium"/>
              <a:cs typeface="Archivo Medium"/>
              <a:sym typeface="Archivo Medium"/>
            </a:endParaRPr>
          </a:p>
          <a:p>
            <a:pPr indent="-368300" lvl="0" marL="457200" rtl="0" algn="l">
              <a:lnSpc>
                <a:spcPct val="115000"/>
              </a:lnSpc>
              <a:spcBef>
                <a:spcPts val="0"/>
              </a:spcBef>
              <a:spcAft>
                <a:spcPts val="0"/>
              </a:spcAft>
              <a:buClr>
                <a:schemeClr val="dk1"/>
              </a:buClr>
              <a:buSzPts val="2200"/>
              <a:buFont typeface="Archivo Medium"/>
              <a:buChar char="●"/>
            </a:pPr>
            <a:r>
              <a:rPr lang="en-US" sz="2200">
                <a:solidFill>
                  <a:schemeClr val="dk1"/>
                </a:solidFill>
                <a:latin typeface="Archivo Medium"/>
                <a:ea typeface="Archivo Medium"/>
                <a:cs typeface="Archivo Medium"/>
                <a:sym typeface="Archivo Medium"/>
              </a:rPr>
              <a:t>Real-time Alerting and Logging</a:t>
            </a:r>
            <a:endParaRPr sz="2200">
              <a:solidFill>
                <a:schemeClr val="dk1"/>
              </a:solidFill>
              <a:latin typeface="Archivo Medium"/>
              <a:ea typeface="Archivo Medium"/>
              <a:cs typeface="Archivo Medium"/>
              <a:sym typeface="Archivo Medium"/>
            </a:endParaRPr>
          </a:p>
          <a:p>
            <a:pPr indent="-368300" lvl="0" marL="457200" rtl="0" algn="l">
              <a:lnSpc>
                <a:spcPct val="115000"/>
              </a:lnSpc>
              <a:spcBef>
                <a:spcPts val="0"/>
              </a:spcBef>
              <a:spcAft>
                <a:spcPts val="0"/>
              </a:spcAft>
              <a:buClr>
                <a:schemeClr val="dk1"/>
              </a:buClr>
              <a:buSzPts val="2200"/>
              <a:buFont typeface="Archivo Medium"/>
              <a:buChar char="●"/>
            </a:pPr>
            <a:r>
              <a:rPr lang="en-US" sz="2200">
                <a:solidFill>
                  <a:schemeClr val="dk1"/>
                </a:solidFill>
                <a:latin typeface="Archivo Medium"/>
                <a:ea typeface="Archivo Medium"/>
                <a:cs typeface="Archivo Medium"/>
                <a:sym typeface="Archivo Medium"/>
              </a:rPr>
              <a:t>Threat Detection and Incident Response</a:t>
            </a:r>
            <a:endParaRPr sz="22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2200">
              <a:solidFill>
                <a:schemeClr val="dk1"/>
              </a:solidFill>
              <a:latin typeface="Archivo Medium"/>
              <a:ea typeface="Archivo Medium"/>
              <a:cs typeface="Archivo Medium"/>
              <a:sym typeface="Archivo Medium"/>
            </a:endParaRPr>
          </a:p>
        </p:txBody>
      </p:sp>
      <p:sp>
        <p:nvSpPr>
          <p:cNvPr id="4870" name="Google Shape;4870;p359"/>
          <p:cNvSpPr txBox="1"/>
          <p:nvPr/>
        </p:nvSpPr>
        <p:spPr>
          <a:xfrm>
            <a:off x="603103" y="486375"/>
            <a:ext cx="10392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200">
                <a:solidFill>
                  <a:srgbClr val="6D9EEB"/>
                </a:solidFill>
                <a:latin typeface="Poppins"/>
                <a:ea typeface="Poppins"/>
                <a:cs typeface="Poppins"/>
                <a:sym typeface="Poppins"/>
              </a:rPr>
              <a:t>Key Features of Osquery Integration with Wazuh</a:t>
            </a:r>
            <a:endParaRPr b="1" i="0" sz="3200" u="none" cap="none" strike="noStrike">
              <a:solidFill>
                <a:srgbClr val="6D9EEB"/>
              </a:solidFill>
              <a:latin typeface="Poppins"/>
              <a:ea typeface="Poppins"/>
              <a:cs typeface="Poppins"/>
              <a:sym typeface="Poppins"/>
            </a:endParaRPr>
          </a:p>
        </p:txBody>
      </p:sp>
      <p:cxnSp>
        <p:nvCxnSpPr>
          <p:cNvPr id="4871" name="Google Shape;4871;p359"/>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872" name="Google Shape;4872;p359"/>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6" name="Shape 4876"/>
        <p:cNvGrpSpPr/>
        <p:nvPr/>
      </p:nvGrpSpPr>
      <p:grpSpPr>
        <a:xfrm>
          <a:off x="0" y="0"/>
          <a:ext cx="0" cy="0"/>
          <a:chOff x="0" y="0"/>
          <a:chExt cx="0" cy="0"/>
        </a:xfrm>
      </p:grpSpPr>
      <p:pic>
        <p:nvPicPr>
          <p:cNvPr descr="A picture containing food, drawing, shirt&#10;&#10;Description automatically generated" id="4877" name="Google Shape;4877;p36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878" name="Google Shape;4878;p36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879" name="Google Shape;4879;p36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880" name="Google Shape;4880;p36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881" name="Google Shape;4881;p36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82" name="Google Shape;4882;p360"/>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883" name="Google Shape;4883;p360"/>
          <p:cNvSpPr txBox="1"/>
          <p:nvPr/>
        </p:nvSpPr>
        <p:spPr>
          <a:xfrm>
            <a:off x="1000925" y="1650025"/>
            <a:ext cx="9995100" cy="3888300"/>
          </a:xfrm>
          <a:prstGeom prst="rect">
            <a:avLst/>
          </a:prstGeom>
          <a:noFill/>
          <a:ln>
            <a:noFill/>
          </a:ln>
        </p:spPr>
        <p:txBody>
          <a:bodyPr anchorCtr="0" anchor="t" bIns="45700" lIns="91425" spcFirstLastPara="1" rIns="91425" wrap="square" tIns="45700">
            <a:noAutofit/>
          </a:bodyPr>
          <a:lstStyle/>
          <a:p>
            <a:pPr indent="-381000" lvl="0" marL="457200" rtl="0" algn="l">
              <a:lnSpc>
                <a:spcPct val="115000"/>
              </a:lnSpc>
              <a:spcBef>
                <a:spcPts val="1200"/>
              </a:spcBef>
              <a:spcAft>
                <a:spcPts val="0"/>
              </a:spcAft>
              <a:buClr>
                <a:schemeClr val="dk1"/>
              </a:buClr>
              <a:buSzPts val="2400"/>
              <a:buChar char="●"/>
            </a:pPr>
            <a:r>
              <a:rPr lang="en-US" sz="2400">
                <a:solidFill>
                  <a:schemeClr val="dk1"/>
                </a:solidFill>
                <a:latin typeface="Archivo Medium"/>
                <a:ea typeface="Archivo Medium"/>
                <a:cs typeface="Archivo Medium"/>
                <a:sym typeface="Archivo Medium"/>
              </a:rPr>
              <a:t>Monitoring Installed Software and Browser Extensions</a:t>
            </a:r>
            <a:endParaRPr sz="2400">
              <a:solidFill>
                <a:schemeClr val="dk1"/>
              </a:solidFill>
              <a:latin typeface="Archivo Medium"/>
              <a:ea typeface="Archivo Medium"/>
              <a:cs typeface="Archivo Medium"/>
              <a:sym typeface="Archivo Medium"/>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latin typeface="Archivo Medium"/>
                <a:ea typeface="Archivo Medium"/>
                <a:cs typeface="Archivo Medium"/>
                <a:sym typeface="Archivo Medium"/>
              </a:rPr>
              <a:t>Auditing User Account Changes</a:t>
            </a:r>
            <a:endParaRPr sz="2400">
              <a:solidFill>
                <a:schemeClr val="dk1"/>
              </a:solidFill>
              <a:latin typeface="Archivo Medium"/>
              <a:ea typeface="Archivo Medium"/>
              <a:cs typeface="Archivo Medium"/>
              <a:sym typeface="Archivo Medium"/>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latin typeface="Archivo Medium"/>
                <a:ea typeface="Archivo Medium"/>
                <a:cs typeface="Archivo Medium"/>
                <a:sym typeface="Archivo Medium"/>
              </a:rPr>
              <a:t>Tracking Network Connections and Open Ports</a:t>
            </a:r>
            <a:endParaRPr sz="2400">
              <a:solidFill>
                <a:schemeClr val="dk1"/>
              </a:solidFill>
              <a:latin typeface="Archivo Medium"/>
              <a:ea typeface="Archivo Medium"/>
              <a:cs typeface="Archivo Medium"/>
              <a:sym typeface="Archivo Medium"/>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latin typeface="Archivo Medium"/>
                <a:ea typeface="Archivo Medium"/>
                <a:cs typeface="Archivo Medium"/>
                <a:sym typeface="Archivo Medium"/>
              </a:rPr>
              <a:t>Detecting Privilege Escalations or Process Injections</a:t>
            </a:r>
            <a:endParaRPr sz="2400">
              <a:solidFill>
                <a:schemeClr val="dk1"/>
              </a:solidFill>
              <a:latin typeface="Archivo Medium"/>
              <a:ea typeface="Archivo Medium"/>
              <a:cs typeface="Archivo Medium"/>
              <a:sym typeface="Archivo Medium"/>
            </a:endParaRPr>
          </a:p>
        </p:txBody>
      </p:sp>
      <p:sp>
        <p:nvSpPr>
          <p:cNvPr id="4884" name="Google Shape;4884;p360"/>
          <p:cNvSpPr txBox="1"/>
          <p:nvPr/>
        </p:nvSpPr>
        <p:spPr>
          <a:xfrm>
            <a:off x="603103" y="486375"/>
            <a:ext cx="10392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200">
                <a:solidFill>
                  <a:srgbClr val="6D9EEB"/>
                </a:solidFill>
                <a:latin typeface="Poppins"/>
                <a:ea typeface="Poppins"/>
                <a:cs typeface="Poppins"/>
                <a:sym typeface="Poppins"/>
              </a:rPr>
              <a:t>Use Cases for Osquery with Wazuh</a:t>
            </a:r>
            <a:endParaRPr b="1" i="0" sz="3200" u="none" cap="none" strike="noStrike">
              <a:solidFill>
                <a:srgbClr val="6D9EEB"/>
              </a:solidFill>
              <a:latin typeface="Poppins"/>
              <a:ea typeface="Poppins"/>
              <a:cs typeface="Poppins"/>
              <a:sym typeface="Poppins"/>
            </a:endParaRPr>
          </a:p>
        </p:txBody>
      </p:sp>
      <p:cxnSp>
        <p:nvCxnSpPr>
          <p:cNvPr id="4885" name="Google Shape;4885;p36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886" name="Google Shape;4886;p36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890" name="Shape 4890"/>
        <p:cNvGrpSpPr/>
        <p:nvPr/>
      </p:nvGrpSpPr>
      <p:grpSpPr>
        <a:xfrm>
          <a:off x="0" y="0"/>
          <a:ext cx="0" cy="0"/>
          <a:chOff x="0" y="0"/>
          <a:chExt cx="0" cy="0"/>
        </a:xfrm>
      </p:grpSpPr>
      <p:pic>
        <p:nvPicPr>
          <p:cNvPr descr="A picture containing food, drawing, shirt&#10;&#10;Description automatically generated" id="4891" name="Google Shape;4891;p36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892" name="Google Shape;4892;p36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93" name="Google Shape;4893;p36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894" name="Google Shape;4894;p361"/>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895" name="Google Shape;4895;p36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896" name="Google Shape;4896;p361"/>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897" name="Google Shape;4897;p361"/>
          <p:cNvSpPr txBox="1"/>
          <p:nvPr/>
        </p:nvSpPr>
        <p:spPr>
          <a:xfrm>
            <a:off x="1357489" y="3803851"/>
            <a:ext cx="9477000" cy="156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 Osquery  </a:t>
            </a:r>
            <a:endParaRPr b="1" sz="1300">
              <a:solidFill>
                <a:schemeClr val="dk1"/>
              </a:solidFill>
            </a:endParaRPr>
          </a:p>
          <a:p>
            <a:pPr indent="0" lvl="0" marL="0" marR="0" rtl="0" algn="ctr">
              <a:spcBef>
                <a:spcPts val="0"/>
              </a:spcBef>
              <a:spcAft>
                <a:spcPts val="0"/>
              </a:spcAft>
              <a:buNone/>
            </a:pPr>
            <a:r>
              <a:t/>
            </a:r>
            <a:endParaRPr sz="4800">
              <a:solidFill>
                <a:schemeClr val="lt1"/>
              </a:solidFill>
              <a:highlight>
                <a:srgbClr val="3585F9"/>
              </a:highlight>
              <a:latin typeface="Poppins"/>
              <a:ea typeface="Poppins"/>
              <a:cs typeface="Poppins"/>
              <a:sym typeface="Poppins"/>
            </a:endParaRPr>
          </a:p>
        </p:txBody>
      </p:sp>
      <p:pic>
        <p:nvPicPr>
          <p:cNvPr id="4898" name="Google Shape;4898;p361"/>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2" name="Shape 4902"/>
        <p:cNvGrpSpPr/>
        <p:nvPr/>
      </p:nvGrpSpPr>
      <p:grpSpPr>
        <a:xfrm>
          <a:off x="0" y="0"/>
          <a:ext cx="0" cy="0"/>
          <a:chOff x="0" y="0"/>
          <a:chExt cx="0" cy="0"/>
        </a:xfrm>
      </p:grpSpPr>
      <p:sp>
        <p:nvSpPr>
          <p:cNvPr id="4903" name="Google Shape;4903;p362"/>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4904" name="Google Shape;4904;p36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905" name="Google Shape;4905;p36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906" name="Google Shape;4906;p36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907" name="Google Shape;4907;p36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908" name="Google Shape;4908;p36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909" name="Google Shape;4909;p36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910" name="Google Shape;4910;p36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911" name="Google Shape;4911;p362"/>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912" name="Google Shape;4912;p362"/>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Objective :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Install Osquery</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Using Osquery for detection specific log</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6" name="Shape 4916"/>
        <p:cNvGrpSpPr/>
        <p:nvPr/>
      </p:nvGrpSpPr>
      <p:grpSpPr>
        <a:xfrm>
          <a:off x="0" y="0"/>
          <a:ext cx="0" cy="0"/>
          <a:chOff x="0" y="0"/>
          <a:chExt cx="0" cy="0"/>
        </a:xfrm>
      </p:grpSpPr>
      <p:sp>
        <p:nvSpPr>
          <p:cNvPr id="4917" name="Google Shape;4917;p363"/>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Installing Osquery</a:t>
            </a:r>
            <a:endParaRPr b="1" i="0" sz="3600" u="none" cap="none" strike="noStrike">
              <a:solidFill>
                <a:srgbClr val="6D9EEB"/>
              </a:solidFill>
              <a:latin typeface="Poppins"/>
              <a:ea typeface="Poppins"/>
              <a:cs typeface="Poppins"/>
              <a:sym typeface="Poppins"/>
            </a:endParaRPr>
          </a:p>
        </p:txBody>
      </p:sp>
      <p:cxnSp>
        <p:nvCxnSpPr>
          <p:cNvPr id="4918" name="Google Shape;4918;p36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919" name="Google Shape;4919;p36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920" name="Google Shape;4920;p36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921" name="Google Shape;4921;p36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922" name="Google Shape;4922;p36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923" name="Google Shape;4923;p36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924" name="Google Shape;4924;p36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925" name="Google Shape;4925;p363"/>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926" name="Google Shape;4926;p363"/>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Installing</a:t>
            </a:r>
            <a:r>
              <a:rPr lang="en-US" sz="1900">
                <a:solidFill>
                  <a:schemeClr val="dk1"/>
                </a:solidFill>
                <a:latin typeface="Archivo Medium"/>
                <a:ea typeface="Archivo Medium"/>
                <a:cs typeface="Archivo Medium"/>
                <a:sym typeface="Archivo Medium"/>
              </a:rPr>
              <a:t> Osquery</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export OSQUERY_KEY=1484120AC4E9F8A1A577AEEE97A80C63C9D8B80B</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apt-key adv --keyserver keyserver.ubuntu.com --recv-keys $OSQUERY_KEY</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add-apt-repository 'deb [arch=amd64] https://pkg.osquery.io/deb deb main'</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apt-get update</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apt-get install osquery</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3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0" name="Shape 4930"/>
        <p:cNvGrpSpPr/>
        <p:nvPr/>
      </p:nvGrpSpPr>
      <p:grpSpPr>
        <a:xfrm>
          <a:off x="0" y="0"/>
          <a:ext cx="0" cy="0"/>
          <a:chOff x="0" y="0"/>
          <a:chExt cx="0" cy="0"/>
        </a:xfrm>
      </p:grpSpPr>
      <p:sp>
        <p:nvSpPr>
          <p:cNvPr id="4931" name="Google Shape;4931;p364"/>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Edit ossec.conf</a:t>
            </a:r>
            <a:endParaRPr b="1" i="0" sz="3600" u="none" cap="none" strike="noStrike">
              <a:solidFill>
                <a:srgbClr val="6D9EEB"/>
              </a:solidFill>
              <a:latin typeface="Poppins"/>
              <a:ea typeface="Poppins"/>
              <a:cs typeface="Poppins"/>
              <a:sym typeface="Poppins"/>
            </a:endParaRPr>
          </a:p>
        </p:txBody>
      </p:sp>
      <p:cxnSp>
        <p:nvCxnSpPr>
          <p:cNvPr id="4932" name="Google Shape;4932;p36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933" name="Google Shape;4933;p36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934" name="Google Shape;4934;p36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935" name="Google Shape;4935;p36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936" name="Google Shape;4936;p36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937" name="Google Shape;4937;p36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938" name="Google Shape;4938;p36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939" name="Google Shape;4939;p364"/>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940" name="Google Shape;4940;p364"/>
          <p:cNvSpPr txBox="1"/>
          <p:nvPr/>
        </p:nvSpPr>
        <p:spPr>
          <a:xfrm>
            <a:off x="1000925" y="1650025"/>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cp</a:t>
            </a:r>
            <a:r>
              <a:rPr lang="en-US" sz="1900">
                <a:solidFill>
                  <a:schemeClr val="dk1"/>
                </a:solidFill>
                <a:latin typeface="Courier New"/>
                <a:ea typeface="Courier New"/>
                <a:cs typeface="Courier New"/>
                <a:sym typeface="Courier New"/>
              </a:rPr>
              <a:t> /opt/osquery/share/osquery/osquery.example.conf /etc/osquery/osquery.conf</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nano</a:t>
            </a:r>
            <a:r>
              <a:rPr lang="en-US" sz="1900">
                <a:solidFill>
                  <a:schemeClr val="dk1"/>
                </a:solidFill>
                <a:latin typeface="Courier New"/>
                <a:ea typeface="Courier New"/>
                <a:cs typeface="Courier New"/>
                <a:sym typeface="Courier New"/>
              </a:rPr>
              <a:t> /var/ossec/etc/ossec.conf</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&lt;wodle name="osquery"&gt;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&lt;disabled&gt;no&lt;/disabled&gt;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&lt;run_daemon&gt;yes&lt;/run_daemon&gt;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&lt;queries&gt;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&lt;query name="user_accounts" interval="300"&gt;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&lt;sql&gt;SELECT * FROM users WHERE uid &gt;= 1000;&lt;/sql&gt;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&lt;/query&gt;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  &lt;/queries&gt;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&lt;/wodle&gt;</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900">
              <a:solidFill>
                <a:schemeClr val="dk1"/>
              </a:solidFill>
              <a:latin typeface="Courier New"/>
              <a:ea typeface="Courier New"/>
              <a:cs typeface="Courier New"/>
              <a:sym typeface="Courier New"/>
            </a:endParaRPr>
          </a:p>
        </p:txBody>
      </p:sp>
    </p:spTree>
  </p:cSld>
  <p:clrMapOvr>
    <a:masterClrMapping/>
  </p:clrMapOvr>
  <p:transition spd="slow">
    <p:fade thruBlk="1"/>
  </p:transition>
</p:sld>
</file>

<file path=ppt/slides/slide3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4" name="Shape 4944"/>
        <p:cNvGrpSpPr/>
        <p:nvPr/>
      </p:nvGrpSpPr>
      <p:grpSpPr>
        <a:xfrm>
          <a:off x="0" y="0"/>
          <a:ext cx="0" cy="0"/>
          <a:chOff x="0" y="0"/>
          <a:chExt cx="0" cy="0"/>
        </a:xfrm>
      </p:grpSpPr>
      <p:sp>
        <p:nvSpPr>
          <p:cNvPr id="4945" name="Google Shape;4945;p365"/>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Testing in Agent</a:t>
            </a:r>
            <a:endParaRPr b="1" i="0" sz="3600" u="none" cap="none" strike="noStrike">
              <a:solidFill>
                <a:srgbClr val="6D9EEB"/>
              </a:solidFill>
              <a:latin typeface="Poppins"/>
              <a:ea typeface="Poppins"/>
              <a:cs typeface="Poppins"/>
              <a:sym typeface="Poppins"/>
            </a:endParaRPr>
          </a:p>
        </p:txBody>
      </p:sp>
      <p:cxnSp>
        <p:nvCxnSpPr>
          <p:cNvPr id="4946" name="Google Shape;4946;p365"/>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4947" name="Google Shape;4947;p36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948" name="Google Shape;4948;p365"/>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949" name="Google Shape;4949;p36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950" name="Google Shape;4950;p36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951" name="Google Shape;4951;p36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952" name="Google Shape;4952;p365"/>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4953" name="Google Shape;4953;p365"/>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954" name="Google Shape;4954;p365"/>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testing with create user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sudo useradd newuser</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chemeClr val="dk1"/>
                </a:solidFill>
                <a:latin typeface="Courier New"/>
                <a:ea typeface="Courier New"/>
                <a:cs typeface="Courier New"/>
                <a:sym typeface="Courier New"/>
              </a:rPr>
              <a:t>sudo passwd newuser</a:t>
            </a:r>
            <a:endParaRPr sz="19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958" name="Shape 4958"/>
        <p:cNvGrpSpPr/>
        <p:nvPr/>
      </p:nvGrpSpPr>
      <p:grpSpPr>
        <a:xfrm>
          <a:off x="0" y="0"/>
          <a:ext cx="0" cy="0"/>
          <a:chOff x="0" y="0"/>
          <a:chExt cx="0" cy="0"/>
        </a:xfrm>
      </p:grpSpPr>
      <p:pic>
        <p:nvPicPr>
          <p:cNvPr descr="A picture containing food, drawing, shirt&#10;&#10;Description automatically generated" id="4959" name="Google Shape;4959;p366"/>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960" name="Google Shape;4960;p36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961" name="Google Shape;4961;p36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962" name="Google Shape;4962;p366"/>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963" name="Google Shape;4963;p366"/>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964" name="Google Shape;4964;p366"/>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965" name="Google Shape;4965;p366"/>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4966" name="Google Shape;4966;p366"/>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970" name="Shape 4970"/>
        <p:cNvGrpSpPr/>
        <p:nvPr/>
      </p:nvGrpSpPr>
      <p:grpSpPr>
        <a:xfrm>
          <a:off x="0" y="0"/>
          <a:ext cx="0" cy="0"/>
          <a:chOff x="0" y="0"/>
          <a:chExt cx="0" cy="0"/>
        </a:xfrm>
      </p:grpSpPr>
      <p:pic>
        <p:nvPicPr>
          <p:cNvPr descr="A picture containing food, drawing, shirt&#10;&#10;Description automatically generated" id="4971" name="Google Shape;4971;p367"/>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972" name="Google Shape;4972;p36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973" name="Google Shape;4973;p36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4974" name="Google Shape;4974;p367"/>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4975" name="Google Shape;4975;p367"/>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4976" name="Google Shape;4976;p367"/>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4977" name="Google Shape;4977;p367"/>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Sysmon Integration</a:t>
            </a:r>
            <a:endParaRPr sz="4800">
              <a:solidFill>
                <a:schemeClr val="lt1"/>
              </a:solidFill>
              <a:highlight>
                <a:srgbClr val="3585F9"/>
              </a:highlight>
              <a:latin typeface="Poppins"/>
              <a:ea typeface="Poppins"/>
              <a:cs typeface="Poppins"/>
              <a:sym typeface="Poppins"/>
            </a:endParaRPr>
          </a:p>
        </p:txBody>
      </p:sp>
      <p:pic>
        <p:nvPicPr>
          <p:cNvPr id="4978" name="Google Shape;4978;p367"/>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2" name="Shape 4982"/>
        <p:cNvGrpSpPr/>
        <p:nvPr/>
      </p:nvGrpSpPr>
      <p:grpSpPr>
        <a:xfrm>
          <a:off x="0" y="0"/>
          <a:ext cx="0" cy="0"/>
          <a:chOff x="0" y="0"/>
          <a:chExt cx="0" cy="0"/>
        </a:xfrm>
      </p:grpSpPr>
      <p:pic>
        <p:nvPicPr>
          <p:cNvPr descr="A picture containing food, drawing, shirt&#10;&#10;Description automatically generated" id="4983" name="Google Shape;4983;p368"/>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4984" name="Google Shape;4984;p368"/>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4985" name="Google Shape;4985;p368"/>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4986" name="Google Shape;4986;p36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4987" name="Google Shape;4987;p36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988" name="Google Shape;4988;p368"/>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4989" name="Google Shape;4989;p368"/>
          <p:cNvSpPr txBox="1"/>
          <p:nvPr/>
        </p:nvSpPr>
        <p:spPr>
          <a:xfrm>
            <a:off x="1000925" y="1611400"/>
            <a:ext cx="9972000" cy="3926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Wazuh integrates with Sysmon to enhance monitoring by collecting detailed Windows event logs for activities like process creation, file changes, and network connections. Sysmon logs are forwarded to Wazuh through the Windows EventChannel. This integration allows Wazuh to detect malicious behaviors based on predefined rules and generate real-time alerts for suspicious activity.</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1200"/>
              </a:spcBef>
              <a:spcAft>
                <a:spcPts val="0"/>
              </a:spcAft>
              <a:buNone/>
            </a:pPr>
            <a:r>
              <a:t/>
            </a:r>
            <a:endParaRPr sz="1900">
              <a:solidFill>
                <a:schemeClr val="dk1"/>
              </a:solidFill>
              <a:latin typeface="Archivo Medium"/>
              <a:ea typeface="Archivo Medium"/>
              <a:cs typeface="Archivo Medium"/>
              <a:sym typeface="Archivo Medium"/>
            </a:endParaRPr>
          </a:p>
        </p:txBody>
      </p:sp>
      <p:sp>
        <p:nvSpPr>
          <p:cNvPr id="4990" name="Google Shape;4990;p368"/>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Example checking rules</a:t>
            </a:r>
            <a:endParaRPr b="1" i="0" sz="3600" u="none" cap="none" strike="noStrike">
              <a:solidFill>
                <a:srgbClr val="6D9EEB"/>
              </a:solidFill>
              <a:latin typeface="Poppins"/>
              <a:ea typeface="Poppins"/>
              <a:cs typeface="Poppins"/>
              <a:sym typeface="Poppins"/>
            </a:endParaRPr>
          </a:p>
        </p:txBody>
      </p:sp>
      <p:cxnSp>
        <p:nvCxnSpPr>
          <p:cNvPr id="4991" name="Google Shape;4991;p368"/>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cxnSp>
        <p:nvCxnSpPr>
          <p:cNvPr id="4992" name="Google Shape;4992;p368"/>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Tree>
  </p:cSld>
  <p:clrMapOvr>
    <a:masterClrMapping/>
  </p:clrMapOvr>
  <p:transition spd="slow">
    <p:fade thruBlk="1"/>
  </p:transition>
</p:sld>
</file>

<file path=ppt/slides/slide3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996" name="Shape 4996"/>
        <p:cNvGrpSpPr/>
        <p:nvPr/>
      </p:nvGrpSpPr>
      <p:grpSpPr>
        <a:xfrm>
          <a:off x="0" y="0"/>
          <a:ext cx="0" cy="0"/>
          <a:chOff x="0" y="0"/>
          <a:chExt cx="0" cy="0"/>
        </a:xfrm>
      </p:grpSpPr>
      <p:pic>
        <p:nvPicPr>
          <p:cNvPr descr="A picture containing food, drawing, shirt&#10;&#10;Description automatically generated" id="4997" name="Google Shape;4997;p369"/>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4998" name="Google Shape;4998;p3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999" name="Google Shape;4999;p36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5000" name="Google Shape;5000;p369"/>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5001" name="Google Shape;5001;p369"/>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5002" name="Google Shape;5002;p369"/>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5003" name="Google Shape;5003;p369"/>
          <p:cNvSpPr txBox="1"/>
          <p:nvPr/>
        </p:nvSpPr>
        <p:spPr>
          <a:xfrm>
            <a:off x="1357489" y="3803851"/>
            <a:ext cx="9477000" cy="156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Lab Sysmon Integration  </a:t>
            </a:r>
            <a:endParaRPr b="1" sz="1300">
              <a:solidFill>
                <a:schemeClr val="dk1"/>
              </a:solidFill>
            </a:endParaRPr>
          </a:p>
          <a:p>
            <a:pPr indent="0" lvl="0" marL="0" marR="0" rtl="0" algn="ctr">
              <a:spcBef>
                <a:spcPts val="0"/>
              </a:spcBef>
              <a:spcAft>
                <a:spcPts val="0"/>
              </a:spcAft>
              <a:buNone/>
            </a:pPr>
            <a:r>
              <a:t/>
            </a:r>
            <a:endParaRPr sz="4800">
              <a:solidFill>
                <a:schemeClr val="lt1"/>
              </a:solidFill>
              <a:highlight>
                <a:srgbClr val="3585F9"/>
              </a:highlight>
              <a:latin typeface="Poppins"/>
              <a:ea typeface="Poppins"/>
              <a:cs typeface="Poppins"/>
              <a:sym typeface="Poppins"/>
            </a:endParaRPr>
          </a:p>
        </p:txBody>
      </p:sp>
      <p:pic>
        <p:nvPicPr>
          <p:cNvPr id="5004" name="Google Shape;5004;p369"/>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slides/slide3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8" name="Shape 5008"/>
        <p:cNvGrpSpPr/>
        <p:nvPr/>
      </p:nvGrpSpPr>
      <p:grpSpPr>
        <a:xfrm>
          <a:off x="0" y="0"/>
          <a:ext cx="0" cy="0"/>
          <a:chOff x="0" y="0"/>
          <a:chExt cx="0" cy="0"/>
        </a:xfrm>
      </p:grpSpPr>
      <p:sp>
        <p:nvSpPr>
          <p:cNvPr id="5009" name="Google Shape;5009;p370"/>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5010" name="Google Shape;5010;p370"/>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5011" name="Google Shape;5011;p370"/>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5012" name="Google Shape;5012;p370"/>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5013" name="Google Shape;5013;p370"/>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5014" name="Google Shape;5014;p37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5015" name="Google Shape;5015;p37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5016" name="Google Shape;5016;p370"/>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5017" name="Google Shape;5017;p370"/>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5018" name="Google Shape;5018;p370"/>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chemeClr val="dk1"/>
                </a:solidFill>
                <a:latin typeface="Archivo Medium"/>
                <a:ea typeface="Archivo Medium"/>
                <a:cs typeface="Archivo Medium"/>
                <a:sym typeface="Archivo Medium"/>
              </a:rPr>
              <a:t>Objective : </a:t>
            </a:r>
            <a:endParaRPr sz="1900">
              <a:solidFill>
                <a:schemeClr val="dk1"/>
              </a:solidFill>
              <a:latin typeface="Archivo Medium"/>
              <a:ea typeface="Archivo Medium"/>
              <a:cs typeface="Archivo Medium"/>
              <a:sym typeface="Archivo Medium"/>
            </a:endParaRPr>
          </a:p>
          <a:p>
            <a:pPr indent="0" lvl="0" marL="0" rtl="0" algn="l">
              <a:lnSpc>
                <a:spcPct val="115000"/>
              </a:lnSpc>
              <a:spcBef>
                <a:spcPts val="1200"/>
              </a:spcBef>
              <a:spcAft>
                <a:spcPts val="0"/>
              </a:spcAft>
              <a:buClr>
                <a:schemeClr val="dk1"/>
              </a:buClr>
              <a:buSzPts val="1100"/>
              <a:buFont typeface="Arial"/>
              <a:buNone/>
            </a:pPr>
            <a:r>
              <a:rPr lang="en-US" sz="1900">
                <a:solidFill>
                  <a:schemeClr val="dk1"/>
                </a:solidFill>
                <a:latin typeface="Archivo Medium"/>
                <a:ea typeface="Archivo Medium"/>
                <a:cs typeface="Archivo Medium"/>
                <a:sym typeface="Archivo Medium"/>
              </a:rPr>
              <a:t>This lab walks through deploying Sysmon on a Windows system and integrating it with Wazuh to detect suspicious activities, such as malicious command execution.</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120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chemeClr val="dk1"/>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2" name="Shape 5022"/>
        <p:cNvGrpSpPr/>
        <p:nvPr/>
      </p:nvGrpSpPr>
      <p:grpSpPr>
        <a:xfrm>
          <a:off x="0" y="0"/>
          <a:ext cx="0" cy="0"/>
          <a:chOff x="0" y="0"/>
          <a:chExt cx="0" cy="0"/>
        </a:xfrm>
      </p:grpSpPr>
      <p:sp>
        <p:nvSpPr>
          <p:cNvPr id="5023" name="Google Shape;5023;p371"/>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5024" name="Google Shape;5024;p371"/>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5025" name="Google Shape;5025;p371"/>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5026" name="Google Shape;5026;p371"/>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5027" name="Google Shape;5027;p371"/>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5028" name="Google Shape;5028;p37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5029" name="Google Shape;5029;p37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5030" name="Google Shape;5030;p371"/>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5031" name="Google Shape;5031;p371"/>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5032" name="Google Shape;5032;p371"/>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rgbClr val="262626"/>
                </a:solidFill>
                <a:latin typeface="Archivo Medium"/>
                <a:ea typeface="Archivo Medium"/>
                <a:cs typeface="Archivo Medium"/>
                <a:sym typeface="Archivo Medium"/>
              </a:rPr>
              <a:t>Perform the steps below to install Sysmon and Atomic Red Team (ART) on a Windows 11 endpoint and emulate the signed binary proxy execution technique</a:t>
            </a:r>
            <a:endParaRPr sz="1900">
              <a:solidFill>
                <a:srgbClr val="262626"/>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t/>
            </a:r>
            <a:endParaRPr sz="1900">
              <a:solidFill>
                <a:srgbClr val="262626"/>
              </a:solidFill>
              <a:latin typeface="Archivo Medium"/>
              <a:ea typeface="Archivo Medium"/>
              <a:cs typeface="Archivo Medium"/>
              <a:sym typeface="Archivo Medium"/>
            </a:endParaRPr>
          </a:p>
          <a:p>
            <a:pPr indent="-349250" lvl="0" marL="457200" rtl="0" algn="l">
              <a:lnSpc>
                <a:spcPct val="115000"/>
              </a:lnSpc>
              <a:spcBef>
                <a:spcPts val="0"/>
              </a:spcBef>
              <a:spcAft>
                <a:spcPts val="0"/>
              </a:spcAft>
              <a:buClr>
                <a:schemeClr val="dk1"/>
              </a:buClr>
              <a:buSzPts val="1900"/>
              <a:buFont typeface="Archivo Medium"/>
              <a:buAutoNum type="arabicPeriod"/>
            </a:pPr>
            <a:r>
              <a:rPr lang="en-US" sz="1900">
                <a:solidFill>
                  <a:schemeClr val="dk1"/>
                </a:solidFill>
                <a:latin typeface="Archivo Medium"/>
                <a:ea typeface="Archivo Medium"/>
                <a:cs typeface="Archivo Medium"/>
                <a:sym typeface="Archivo Medium"/>
              </a:rPr>
              <a:t>Download Sysmon from the </a:t>
            </a:r>
            <a:r>
              <a:rPr lang="en-US" sz="1900">
                <a:solidFill>
                  <a:schemeClr val="dk1"/>
                </a:solidFill>
                <a:uFill>
                  <a:noFill/>
                </a:uFill>
                <a:latin typeface="Archivo Medium"/>
                <a:ea typeface="Archivo Medium"/>
                <a:cs typeface="Archivo Medium"/>
                <a:sym typeface="Archivo Medium"/>
                <a:hlinkClick r:id="rId6">
                  <a:extLst>
                    <a:ext uri="{A12FA001-AC4F-418D-AE19-62706E023703}">
                      <ahyp:hlinkClr val="tx"/>
                    </a:ext>
                  </a:extLst>
                </a:hlinkClick>
              </a:rPr>
              <a:t>Microsoft Sysinternals page</a:t>
            </a:r>
            <a:r>
              <a:rPr lang="en-US" sz="1900">
                <a:solidFill>
                  <a:schemeClr val="dk1"/>
                </a:solidFill>
                <a:latin typeface="Archivo Medium"/>
                <a:ea typeface="Archivo Medium"/>
                <a:cs typeface="Archivo Medium"/>
                <a:sym typeface="Archivo Medium"/>
              </a:rPr>
              <a:t>.</a:t>
            </a:r>
            <a:endParaRPr sz="1900">
              <a:solidFill>
                <a:schemeClr val="dk1"/>
              </a:solidFill>
              <a:latin typeface="Archivo Medium"/>
              <a:ea typeface="Archivo Medium"/>
              <a:cs typeface="Archivo Medium"/>
              <a:sym typeface="Archivo Medium"/>
            </a:endParaRPr>
          </a:p>
          <a:p>
            <a:pPr indent="-349250" lvl="0" marL="457200" rtl="0" algn="l">
              <a:lnSpc>
                <a:spcPct val="115000"/>
              </a:lnSpc>
              <a:spcBef>
                <a:spcPts val="0"/>
              </a:spcBef>
              <a:spcAft>
                <a:spcPts val="0"/>
              </a:spcAft>
              <a:buClr>
                <a:schemeClr val="dk1"/>
              </a:buClr>
              <a:buSzPts val="1900"/>
              <a:buFont typeface="Archivo Medium"/>
              <a:buAutoNum type="arabicPeriod"/>
            </a:pPr>
            <a:r>
              <a:rPr lang="en-US" sz="1900">
                <a:solidFill>
                  <a:schemeClr val="dk1"/>
                </a:solidFill>
                <a:latin typeface="Archivo Medium"/>
                <a:ea typeface="Archivo Medium"/>
                <a:cs typeface="Archivo Medium"/>
                <a:sym typeface="Archivo Medium"/>
              </a:rPr>
              <a:t>Download the Sysmon configuration file: </a:t>
            </a:r>
            <a:r>
              <a:rPr lang="en-US" sz="1900">
                <a:solidFill>
                  <a:schemeClr val="dk1"/>
                </a:solidFill>
                <a:uFill>
                  <a:noFill/>
                </a:uFill>
                <a:latin typeface="Courier New"/>
                <a:ea typeface="Courier New"/>
                <a:cs typeface="Courier New"/>
                <a:sym typeface="Courier New"/>
                <a:hlinkClick r:id="rId7">
                  <a:extLst>
                    <a:ext uri="{A12FA001-AC4F-418D-AE19-62706E023703}">
                      <ahyp:hlinkClr val="tx"/>
                    </a:ext>
                  </a:extLst>
                </a:hlinkClick>
              </a:rPr>
              <a:t>sysmonconfig.xml</a:t>
            </a:r>
            <a:r>
              <a:rPr lang="en-US" sz="1900">
                <a:solidFill>
                  <a:schemeClr val="dk1"/>
                </a:solidFill>
                <a:latin typeface="Archivo Medium"/>
                <a:ea typeface="Archivo Medium"/>
                <a:cs typeface="Archivo Medium"/>
                <a:sym typeface="Archivo Medium"/>
              </a:rPr>
              <a:t>.</a:t>
            </a:r>
            <a:endParaRPr sz="1900">
              <a:solidFill>
                <a:schemeClr val="dk1"/>
              </a:solidFill>
              <a:latin typeface="Archivo Medium"/>
              <a:ea typeface="Archivo Medium"/>
              <a:cs typeface="Archivo Medium"/>
              <a:sym typeface="Archivo Medium"/>
            </a:endParaRPr>
          </a:p>
          <a:p>
            <a:pPr indent="-349250" lvl="0" marL="457200" rtl="0" algn="l">
              <a:lnSpc>
                <a:spcPct val="115000"/>
              </a:lnSpc>
              <a:spcBef>
                <a:spcPts val="0"/>
              </a:spcBef>
              <a:spcAft>
                <a:spcPts val="0"/>
              </a:spcAft>
              <a:buClr>
                <a:schemeClr val="dk1"/>
              </a:buClr>
              <a:buSzPts val="1900"/>
              <a:buFont typeface="Archivo Medium"/>
              <a:buAutoNum type="arabicPeriod"/>
            </a:pPr>
            <a:r>
              <a:rPr lang="en-US" sz="1900">
                <a:solidFill>
                  <a:schemeClr val="dk1"/>
                </a:solidFill>
                <a:latin typeface="Archivo Medium"/>
                <a:ea typeface="Archivo Medium"/>
                <a:cs typeface="Archivo Medium"/>
                <a:sym typeface="Archivo Medium"/>
              </a:rPr>
              <a:t>Install Sysmon with the downloaded configuration file using PowerShell as an administrator:</a:t>
            </a:r>
            <a:endParaRPr sz="1900">
              <a:solidFill>
                <a:schemeClr val="dk1"/>
              </a:solidFill>
              <a:latin typeface="Archivo Medium"/>
              <a:ea typeface="Archivo Medium"/>
              <a:cs typeface="Archivo Medium"/>
              <a:sym typeface="Archivo Medium"/>
            </a:endParaRPr>
          </a:p>
          <a:p>
            <a:pPr indent="0" lvl="0" marL="0" rtl="0" algn="l">
              <a:lnSpc>
                <a:spcPct val="115000"/>
              </a:lnSpc>
              <a:spcBef>
                <a:spcPts val="1200"/>
              </a:spcBef>
              <a:spcAft>
                <a:spcPts val="0"/>
              </a:spcAft>
              <a:buNone/>
            </a:pPr>
            <a:r>
              <a:rPr lang="en-US" sz="1900">
                <a:solidFill>
                  <a:schemeClr val="dk1"/>
                </a:solidFill>
                <a:latin typeface="Courier New"/>
                <a:ea typeface="Courier New"/>
                <a:cs typeface="Courier New"/>
                <a:sym typeface="Courier New"/>
              </a:rPr>
              <a:t>.\sysmon64.exe -accepteula -i .\sysmonconfig.xml</a:t>
            </a:r>
            <a:endParaRPr sz="1900">
              <a:solidFill>
                <a:schemeClr val="dk1"/>
              </a:solidFill>
              <a:latin typeface="Courier New"/>
              <a:ea typeface="Courier New"/>
              <a:cs typeface="Courier New"/>
              <a:sym typeface="Courier New"/>
            </a:endParaRPr>
          </a:p>
          <a:p>
            <a:pPr indent="0" lvl="0" marL="0" rtl="0" algn="l">
              <a:lnSpc>
                <a:spcPct val="80000"/>
              </a:lnSpc>
              <a:spcBef>
                <a:spcPts val="1200"/>
              </a:spcBef>
              <a:spcAft>
                <a:spcPts val="0"/>
              </a:spcAft>
              <a:buNone/>
            </a:pPr>
            <a:r>
              <a:t/>
            </a:r>
            <a:endParaRPr sz="1900">
              <a:solidFill>
                <a:srgbClr val="262626"/>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6" name="Shape 5036"/>
        <p:cNvGrpSpPr/>
        <p:nvPr/>
      </p:nvGrpSpPr>
      <p:grpSpPr>
        <a:xfrm>
          <a:off x="0" y="0"/>
          <a:ext cx="0" cy="0"/>
          <a:chOff x="0" y="0"/>
          <a:chExt cx="0" cy="0"/>
        </a:xfrm>
      </p:grpSpPr>
      <p:sp>
        <p:nvSpPr>
          <p:cNvPr id="5037" name="Google Shape;5037;p372"/>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5038" name="Google Shape;5038;p372"/>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5039" name="Google Shape;5039;p372"/>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5040" name="Google Shape;5040;p372"/>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5041" name="Google Shape;5041;p372"/>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5042" name="Google Shape;5042;p37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5043" name="Google Shape;5043;p37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5044" name="Google Shape;5044;p372"/>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5045" name="Google Shape;5045;p372"/>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5046" name="Google Shape;5046;p372"/>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rgbClr val="262626"/>
                </a:solidFill>
                <a:latin typeface="Archivo Medium"/>
                <a:ea typeface="Archivo Medium"/>
                <a:cs typeface="Archivo Medium"/>
                <a:sym typeface="Archivo Medium"/>
              </a:rPr>
              <a:t>4.  edit ossec.conf </a:t>
            </a:r>
            <a:endParaRPr sz="1900">
              <a:solidFill>
                <a:srgbClr val="262626"/>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rgbClr val="262626"/>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00">
                <a:solidFill>
                  <a:srgbClr val="262626"/>
                </a:solidFill>
                <a:latin typeface="Courier New"/>
                <a:ea typeface="Courier New"/>
                <a:cs typeface="Courier New"/>
                <a:sym typeface="Courier New"/>
              </a:rPr>
              <a:t>&lt;localfile&gt;</a:t>
            </a:r>
            <a:endParaRPr sz="1900">
              <a:solidFill>
                <a:srgbClr val="262626"/>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rgbClr val="262626"/>
                </a:solidFill>
                <a:latin typeface="Courier New"/>
                <a:ea typeface="Courier New"/>
                <a:cs typeface="Courier New"/>
                <a:sym typeface="Courier New"/>
              </a:rPr>
              <a:t>  &lt;location&gt;Microsoft-Windows-Sysmon/Operational&lt;/location&gt;</a:t>
            </a:r>
            <a:endParaRPr sz="1900">
              <a:solidFill>
                <a:srgbClr val="262626"/>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rgbClr val="262626"/>
                </a:solidFill>
                <a:latin typeface="Courier New"/>
                <a:ea typeface="Courier New"/>
                <a:cs typeface="Courier New"/>
                <a:sym typeface="Courier New"/>
              </a:rPr>
              <a:t>  &lt;log_format&gt;eventchannel&lt;/log_format&gt;</a:t>
            </a:r>
            <a:endParaRPr sz="1900">
              <a:solidFill>
                <a:srgbClr val="262626"/>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rgbClr val="262626"/>
                </a:solidFill>
                <a:latin typeface="Courier New"/>
                <a:ea typeface="Courier New"/>
                <a:cs typeface="Courier New"/>
                <a:sym typeface="Courier New"/>
              </a:rPr>
              <a:t>&lt;/localfile&gt;</a:t>
            </a:r>
            <a:endParaRPr sz="1900">
              <a:solidFill>
                <a:srgbClr val="262626"/>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rgbClr val="262626"/>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rgbClr val="262626"/>
                </a:solidFill>
                <a:latin typeface="Courier New"/>
                <a:ea typeface="Courier New"/>
                <a:cs typeface="Courier New"/>
                <a:sym typeface="Courier New"/>
              </a:rPr>
              <a:t>Restart-Service -Name Wazuh</a:t>
            </a:r>
            <a:endParaRPr sz="1900">
              <a:solidFill>
                <a:srgbClr val="262626"/>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rgbClr val="262626"/>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0" name="Shape 5050"/>
        <p:cNvGrpSpPr/>
        <p:nvPr/>
      </p:nvGrpSpPr>
      <p:grpSpPr>
        <a:xfrm>
          <a:off x="0" y="0"/>
          <a:ext cx="0" cy="0"/>
          <a:chOff x="0" y="0"/>
          <a:chExt cx="0" cy="0"/>
        </a:xfrm>
      </p:grpSpPr>
      <p:sp>
        <p:nvSpPr>
          <p:cNvPr id="5051" name="Google Shape;5051;p373"/>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Objective </a:t>
            </a:r>
            <a:endParaRPr b="1" i="0" sz="3600" u="none" cap="none" strike="noStrike">
              <a:solidFill>
                <a:srgbClr val="6D9EEB"/>
              </a:solidFill>
              <a:latin typeface="Poppins"/>
              <a:ea typeface="Poppins"/>
              <a:cs typeface="Poppins"/>
              <a:sym typeface="Poppins"/>
            </a:endParaRPr>
          </a:p>
        </p:txBody>
      </p:sp>
      <p:cxnSp>
        <p:nvCxnSpPr>
          <p:cNvPr id="5052" name="Google Shape;5052;p373"/>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5053" name="Google Shape;5053;p373"/>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5054" name="Google Shape;5054;p373"/>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5055" name="Google Shape;5055;p373"/>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5056" name="Google Shape;5056;p37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5057" name="Google Shape;5057;p37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5058" name="Google Shape;5058;p373"/>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5059" name="Google Shape;5059;p373"/>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5060" name="Google Shape;5060;p373"/>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rgbClr val="262626"/>
                </a:solidFill>
                <a:latin typeface="Archivo Medium"/>
                <a:ea typeface="Archivo Medium"/>
                <a:cs typeface="Archivo Medium"/>
                <a:sym typeface="Archivo Medium"/>
              </a:rPr>
              <a:t>Testing </a:t>
            </a:r>
            <a:r>
              <a:rPr lang="en-US" sz="1900">
                <a:solidFill>
                  <a:srgbClr val="262626"/>
                </a:solidFill>
                <a:latin typeface="Archivo Medium"/>
                <a:ea typeface="Archivo Medium"/>
                <a:cs typeface="Archivo Medium"/>
                <a:sym typeface="Archivo Medium"/>
              </a:rPr>
              <a:t>Atomic</a:t>
            </a:r>
            <a:r>
              <a:rPr lang="en-US" sz="1900">
                <a:solidFill>
                  <a:srgbClr val="262626"/>
                </a:solidFill>
                <a:latin typeface="Archivo Medium"/>
                <a:ea typeface="Archivo Medium"/>
                <a:cs typeface="Archivo Medium"/>
                <a:sym typeface="Archivo Medium"/>
              </a:rPr>
              <a:t> Red Team</a:t>
            </a:r>
            <a:endParaRPr sz="1900">
              <a:solidFill>
                <a:srgbClr val="262626"/>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rgbClr val="262626"/>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rPr lang="en-US" sz="1900">
                <a:solidFill>
                  <a:srgbClr val="262626"/>
                </a:solidFill>
                <a:latin typeface="Courier New"/>
                <a:ea typeface="Courier New"/>
                <a:cs typeface="Courier New"/>
                <a:sym typeface="Courier New"/>
              </a:rPr>
              <a:t>Set-ExecutionPolicy RemoteSigned</a:t>
            </a:r>
            <a:endParaRPr sz="1900">
              <a:solidFill>
                <a:srgbClr val="262626"/>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rgbClr val="262626"/>
                </a:solidFill>
                <a:latin typeface="Courier New"/>
                <a:ea typeface="Courier New"/>
                <a:cs typeface="Courier New"/>
                <a:sym typeface="Courier New"/>
              </a:rPr>
              <a:t>IEX (IWR 'https://raw.githubusercontent.com/redcanaryco/invoke-atomicredteam/master/install-atomicredteam.ps1' -UseBasicParsing);</a:t>
            </a:r>
            <a:endParaRPr sz="1900">
              <a:solidFill>
                <a:srgbClr val="262626"/>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rgbClr val="262626"/>
                </a:solidFill>
                <a:latin typeface="Courier New"/>
                <a:ea typeface="Courier New"/>
                <a:cs typeface="Courier New"/>
                <a:sym typeface="Courier New"/>
              </a:rPr>
              <a:t>Install-AtomicRedTeam -getAtomics</a:t>
            </a:r>
            <a:endParaRPr sz="1900">
              <a:solidFill>
                <a:srgbClr val="262626"/>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US" sz="1900">
                <a:solidFill>
                  <a:srgbClr val="262626"/>
                </a:solidFill>
                <a:latin typeface="Courier New"/>
                <a:ea typeface="Courier New"/>
                <a:cs typeface="Courier New"/>
                <a:sym typeface="Courier New"/>
              </a:rPr>
              <a:t>Import-Module "C:\AtomicRedTeam\invoke-atomicredteam\Invoke-AtomicRedTeam.psd1" -Force</a:t>
            </a:r>
            <a:endParaRPr sz="1900">
              <a:solidFill>
                <a:srgbClr val="262626"/>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US" sz="1900">
                <a:solidFill>
                  <a:srgbClr val="262626"/>
                </a:solidFill>
                <a:latin typeface="Courier New"/>
                <a:ea typeface="Courier New"/>
                <a:cs typeface="Courier New"/>
                <a:sym typeface="Courier New"/>
              </a:rPr>
              <a:t>Invoke-AtomicTest T1218.010 -ShowDetailsBrief</a:t>
            </a:r>
            <a:endParaRPr sz="1900">
              <a:solidFill>
                <a:srgbClr val="262626"/>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900">
              <a:solidFill>
                <a:srgbClr val="262626"/>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rgbClr val="262626"/>
              </a:solidFill>
              <a:latin typeface="Archivo Medium"/>
              <a:ea typeface="Archivo Medium"/>
              <a:cs typeface="Archivo Medium"/>
              <a:sym typeface="Archivo Medium"/>
            </a:endParaRPr>
          </a:p>
        </p:txBody>
      </p:sp>
    </p:spTree>
  </p:cSld>
  <p:clrMapOvr>
    <a:masterClrMapping/>
  </p:clrMapOvr>
  <p:transition spd="slow">
    <p:fade thruBlk="1"/>
  </p:transition>
</p:sld>
</file>

<file path=ppt/slides/slide3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4" name="Shape 5064"/>
        <p:cNvGrpSpPr/>
        <p:nvPr/>
      </p:nvGrpSpPr>
      <p:grpSpPr>
        <a:xfrm>
          <a:off x="0" y="0"/>
          <a:ext cx="0" cy="0"/>
          <a:chOff x="0" y="0"/>
          <a:chExt cx="0" cy="0"/>
        </a:xfrm>
      </p:grpSpPr>
      <p:sp>
        <p:nvSpPr>
          <p:cNvPr id="5065" name="Google Shape;5065;p374"/>
          <p:cNvSpPr txBox="1"/>
          <p:nvPr/>
        </p:nvSpPr>
        <p:spPr>
          <a:xfrm>
            <a:off x="603103" y="486375"/>
            <a:ext cx="10392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41F2F"/>
              </a:buClr>
              <a:buSzPts val="3600"/>
              <a:buFont typeface="Arial"/>
              <a:buNone/>
            </a:pPr>
            <a:r>
              <a:rPr b="1" lang="en-US" sz="3600">
                <a:solidFill>
                  <a:srgbClr val="6D9EEB"/>
                </a:solidFill>
                <a:latin typeface="Poppins"/>
                <a:ea typeface="Poppins"/>
                <a:cs typeface="Poppins"/>
                <a:sym typeface="Poppins"/>
              </a:rPr>
              <a:t>Testing T1218.010</a:t>
            </a:r>
            <a:endParaRPr b="1" i="0" sz="3600" u="none" cap="none" strike="noStrike">
              <a:solidFill>
                <a:srgbClr val="6D9EEB"/>
              </a:solidFill>
              <a:latin typeface="Poppins"/>
              <a:ea typeface="Poppins"/>
              <a:cs typeface="Poppins"/>
              <a:sym typeface="Poppins"/>
            </a:endParaRPr>
          </a:p>
        </p:txBody>
      </p:sp>
      <p:cxnSp>
        <p:nvCxnSpPr>
          <p:cNvPr id="5066" name="Google Shape;5066;p374"/>
          <p:cNvCxnSpPr/>
          <p:nvPr/>
        </p:nvCxnSpPr>
        <p:spPr>
          <a:xfrm>
            <a:off x="382588" y="393700"/>
            <a:ext cx="0" cy="831900"/>
          </a:xfrm>
          <a:prstGeom prst="straightConnector1">
            <a:avLst/>
          </a:prstGeom>
          <a:noFill/>
          <a:ln cap="flat" cmpd="sng" w="88900">
            <a:solidFill>
              <a:srgbClr val="C41F2F"/>
            </a:solidFill>
            <a:prstDash val="solid"/>
            <a:miter lim="800000"/>
            <a:headEnd len="sm" w="sm" type="none"/>
            <a:tailEnd len="sm" w="sm" type="none"/>
          </a:ln>
        </p:spPr>
      </p:cxnSp>
      <p:pic>
        <p:nvPicPr>
          <p:cNvPr descr="A picture containing food, drawing, shirt&#10;&#10;Description automatically generated" id="5067" name="Google Shape;5067;p374"/>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pic>
        <p:nvPicPr>
          <p:cNvPr id="5068" name="Google Shape;5068;p374"/>
          <p:cNvPicPr preferRelativeResize="0"/>
          <p:nvPr/>
        </p:nvPicPr>
        <p:blipFill rotWithShape="1">
          <a:blip r:embed="rId4">
            <a:alphaModFix/>
          </a:blip>
          <a:srcRect b="0" l="0" r="0" t="0"/>
          <a:stretch/>
        </p:blipFill>
        <p:spPr>
          <a:xfrm>
            <a:off x="0" y="6162675"/>
            <a:ext cx="12191998" cy="695325"/>
          </a:xfrm>
          <a:prstGeom prst="rect">
            <a:avLst/>
          </a:prstGeom>
          <a:noFill/>
          <a:ln>
            <a:noFill/>
          </a:ln>
        </p:spPr>
      </p:pic>
      <p:pic>
        <p:nvPicPr>
          <p:cNvPr descr="A picture containing shirt&#10;&#10;Description automatically generated" id="5069" name="Google Shape;5069;p374"/>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sp>
        <p:nvSpPr>
          <p:cNvPr id="5070" name="Google Shape;5070;p37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sp>
        <p:nvSpPr>
          <p:cNvPr id="5071" name="Google Shape;5071;p37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5072" name="Google Shape;5072;p374"/>
          <p:cNvCxnSpPr/>
          <p:nvPr/>
        </p:nvCxnSpPr>
        <p:spPr>
          <a:xfrm>
            <a:off x="382588" y="393700"/>
            <a:ext cx="0" cy="831900"/>
          </a:xfrm>
          <a:prstGeom prst="straightConnector1">
            <a:avLst/>
          </a:prstGeom>
          <a:noFill/>
          <a:ln cap="flat" cmpd="sng" w="88900">
            <a:solidFill>
              <a:srgbClr val="0B5394"/>
            </a:solidFill>
            <a:prstDash val="solid"/>
            <a:miter lim="800000"/>
            <a:headEnd len="sm" w="sm" type="none"/>
            <a:tailEnd len="sm" w="sm" type="none"/>
          </a:ln>
        </p:spPr>
      </p:cxnSp>
      <p:sp>
        <p:nvSpPr>
          <p:cNvPr id="5073" name="Google Shape;5073;p374"/>
          <p:cNvSpPr txBox="1"/>
          <p:nvPr/>
        </p:nvSpPr>
        <p:spPr>
          <a:xfrm>
            <a:off x="800600" y="2065150"/>
            <a:ext cx="10250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1982">
              <a:solidFill>
                <a:schemeClr val="dk1"/>
              </a:solidFill>
              <a:latin typeface="Archivo Medium"/>
              <a:ea typeface="Archivo Medium"/>
              <a:cs typeface="Archivo Medium"/>
              <a:sym typeface="Archivo Medium"/>
            </a:endParaRPr>
          </a:p>
        </p:txBody>
      </p:sp>
      <p:sp>
        <p:nvSpPr>
          <p:cNvPr id="5074" name="Google Shape;5074;p374"/>
          <p:cNvSpPr txBox="1"/>
          <p:nvPr/>
        </p:nvSpPr>
        <p:spPr>
          <a:xfrm>
            <a:off x="1000925" y="1752150"/>
            <a:ext cx="9995100" cy="28593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en-US" sz="1900">
                <a:solidFill>
                  <a:srgbClr val="262626"/>
                </a:solidFill>
                <a:latin typeface="Archivo Medium"/>
                <a:ea typeface="Archivo Medium"/>
                <a:cs typeface="Archivo Medium"/>
                <a:sym typeface="Archivo Medium"/>
              </a:rPr>
              <a:t>Testing T1218.010</a:t>
            </a:r>
            <a:endParaRPr sz="1900">
              <a:solidFill>
                <a:srgbClr val="262626"/>
              </a:solidFill>
              <a:latin typeface="Archivo Medium"/>
              <a:ea typeface="Archivo Medium"/>
              <a:cs typeface="Archivo Medium"/>
              <a:sym typeface="Archivo Medium"/>
            </a:endParaRPr>
          </a:p>
          <a:p>
            <a:pPr indent="0" lvl="0" marL="0" rtl="0" algn="l">
              <a:lnSpc>
                <a:spcPct val="80000"/>
              </a:lnSpc>
              <a:spcBef>
                <a:spcPts val="0"/>
              </a:spcBef>
              <a:spcAft>
                <a:spcPts val="0"/>
              </a:spcAft>
              <a:buNone/>
            </a:pPr>
            <a:r>
              <a:t/>
            </a:r>
            <a:endParaRPr sz="1900">
              <a:solidFill>
                <a:srgbClr val="262626"/>
              </a:solidFill>
              <a:latin typeface="Archivo Medium"/>
              <a:ea typeface="Archivo Medium"/>
              <a:cs typeface="Archivo Medium"/>
              <a:sym typeface="Archivo Medium"/>
            </a:endParaRPr>
          </a:p>
          <a:p>
            <a:pPr indent="0" lvl="0" marL="0" rtl="0" algn="l">
              <a:lnSpc>
                <a:spcPct val="80000"/>
              </a:lnSpc>
              <a:spcBef>
                <a:spcPts val="0"/>
              </a:spcBef>
              <a:spcAft>
                <a:spcPts val="0"/>
              </a:spcAft>
              <a:buClr>
                <a:schemeClr val="dk1"/>
              </a:buClr>
              <a:buSzPts val="1100"/>
              <a:buFont typeface="Arial"/>
              <a:buNone/>
            </a:pPr>
            <a:r>
              <a:rPr lang="en-US" sz="1900">
                <a:solidFill>
                  <a:srgbClr val="262626"/>
                </a:solidFill>
                <a:latin typeface="Archivo Medium"/>
                <a:ea typeface="Archivo Medium"/>
                <a:cs typeface="Archivo Medium"/>
                <a:sym typeface="Archivo Medium"/>
              </a:rPr>
              <a:t>Invoke-AtomicTest T1218.010</a:t>
            </a:r>
            <a:endParaRPr sz="1900">
              <a:solidFill>
                <a:srgbClr val="262626"/>
              </a:solidFill>
              <a:latin typeface="Archivo Medium"/>
              <a:ea typeface="Archivo Medium"/>
              <a:cs typeface="Archivo Medium"/>
              <a:sym typeface="Archivo Medium"/>
            </a:endParaRPr>
          </a:p>
        </p:txBody>
      </p:sp>
      <p:pic>
        <p:nvPicPr>
          <p:cNvPr id="5075" name="Google Shape;5075;p374"/>
          <p:cNvPicPr preferRelativeResize="0"/>
          <p:nvPr/>
        </p:nvPicPr>
        <p:blipFill>
          <a:blip r:embed="rId6">
            <a:alphaModFix/>
          </a:blip>
          <a:stretch>
            <a:fillRect/>
          </a:stretch>
        </p:blipFill>
        <p:spPr>
          <a:xfrm>
            <a:off x="5235925" y="2017301"/>
            <a:ext cx="6273976" cy="3260951"/>
          </a:xfrm>
          <a:prstGeom prst="rect">
            <a:avLst/>
          </a:prstGeom>
          <a:noFill/>
          <a:ln>
            <a:noFill/>
          </a:ln>
          <a:effectLst>
            <a:outerShdw blurRad="57150" rotWithShape="0" algn="bl" dir="10800000" dist="19050">
              <a:srgbClr val="000000">
                <a:alpha val="90000"/>
              </a:srgbClr>
            </a:outerShdw>
          </a:effectLst>
        </p:spPr>
      </p:pic>
    </p:spTree>
  </p:cSld>
  <p:clrMapOvr>
    <a:masterClrMapping/>
  </p:clrMapOvr>
  <p:transition spd="slow">
    <p:fade thruBlk="1"/>
  </p:transition>
</p:sld>
</file>

<file path=ppt/slides/slide3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5079" name="Shape 5079"/>
        <p:cNvGrpSpPr/>
        <p:nvPr/>
      </p:nvGrpSpPr>
      <p:grpSpPr>
        <a:xfrm>
          <a:off x="0" y="0"/>
          <a:ext cx="0" cy="0"/>
          <a:chOff x="0" y="0"/>
          <a:chExt cx="0" cy="0"/>
        </a:xfrm>
      </p:grpSpPr>
      <p:pic>
        <p:nvPicPr>
          <p:cNvPr descr="A picture containing food, drawing, shirt&#10;&#10;Description automatically generated" id="5080" name="Google Shape;5080;p375"/>
          <p:cNvPicPr preferRelativeResize="0"/>
          <p:nvPr/>
        </p:nvPicPr>
        <p:blipFill rotWithShape="1">
          <a:blip r:embed="rId3">
            <a:alphaModFix/>
          </a:blip>
          <a:srcRect b="31378" l="6886" r="6713" t="33999"/>
          <a:stretch/>
        </p:blipFill>
        <p:spPr>
          <a:xfrm>
            <a:off x="382588" y="6456363"/>
            <a:ext cx="684212" cy="273047"/>
          </a:xfrm>
          <a:prstGeom prst="rect">
            <a:avLst/>
          </a:prstGeom>
          <a:noFill/>
          <a:ln>
            <a:noFill/>
          </a:ln>
        </p:spPr>
      </p:pic>
      <p:sp>
        <p:nvSpPr>
          <p:cNvPr id="5081" name="Google Shape;5081;p37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82" name="Google Shape;5082;p37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www.idn.id</a:t>
            </a:r>
            <a:endParaRPr/>
          </a:p>
        </p:txBody>
      </p:sp>
      <p:pic>
        <p:nvPicPr>
          <p:cNvPr id="5083" name="Google Shape;5083;p375"/>
          <p:cNvPicPr preferRelativeResize="0"/>
          <p:nvPr/>
        </p:nvPicPr>
        <p:blipFill>
          <a:blip r:embed="rId4">
            <a:alphaModFix/>
          </a:blip>
          <a:stretch>
            <a:fillRect/>
          </a:stretch>
        </p:blipFill>
        <p:spPr>
          <a:xfrm>
            <a:off x="2771775" y="1762350"/>
            <a:ext cx="6648450" cy="1885950"/>
          </a:xfrm>
          <a:prstGeom prst="rect">
            <a:avLst/>
          </a:prstGeom>
          <a:noFill/>
          <a:ln>
            <a:noFill/>
          </a:ln>
        </p:spPr>
      </p:pic>
      <p:pic>
        <p:nvPicPr>
          <p:cNvPr descr="A picture containing shirt&#10;&#10;Description automatically generated" id="5084" name="Google Shape;5084;p375"/>
          <p:cNvPicPr preferRelativeResize="0"/>
          <p:nvPr/>
        </p:nvPicPr>
        <p:blipFill rotWithShape="1">
          <a:blip r:embed="rId5">
            <a:alphaModFix/>
          </a:blip>
          <a:srcRect b="31110" l="0" r="0" t="33866"/>
          <a:stretch/>
        </p:blipFill>
        <p:spPr>
          <a:xfrm>
            <a:off x="280988" y="6257925"/>
            <a:ext cx="1439863" cy="504824"/>
          </a:xfrm>
          <a:prstGeom prst="rect">
            <a:avLst/>
          </a:prstGeom>
          <a:noFill/>
          <a:ln>
            <a:noFill/>
          </a:ln>
        </p:spPr>
      </p:pic>
      <p:pic>
        <p:nvPicPr>
          <p:cNvPr id="5085" name="Google Shape;5085;p375"/>
          <p:cNvPicPr preferRelativeResize="0"/>
          <p:nvPr/>
        </p:nvPicPr>
        <p:blipFill rotWithShape="1">
          <a:blip r:embed="rId6">
            <a:alphaModFix/>
          </a:blip>
          <a:srcRect b="0" l="0" r="0" t="0"/>
          <a:stretch/>
        </p:blipFill>
        <p:spPr>
          <a:xfrm>
            <a:off x="0" y="6162675"/>
            <a:ext cx="12191998" cy="695325"/>
          </a:xfrm>
          <a:prstGeom prst="rect">
            <a:avLst/>
          </a:prstGeom>
          <a:noFill/>
          <a:ln>
            <a:noFill/>
          </a:ln>
        </p:spPr>
      </p:pic>
      <p:sp>
        <p:nvSpPr>
          <p:cNvPr id="5086" name="Google Shape;5086;p375"/>
          <p:cNvSpPr txBox="1"/>
          <p:nvPr/>
        </p:nvSpPr>
        <p:spPr>
          <a:xfrm>
            <a:off x="1357489" y="3803851"/>
            <a:ext cx="94770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800">
                <a:solidFill>
                  <a:schemeClr val="lt1"/>
                </a:solidFill>
                <a:highlight>
                  <a:srgbClr val="3585F9"/>
                </a:highlight>
                <a:latin typeface="Poppins"/>
                <a:ea typeface="Poppins"/>
                <a:cs typeface="Poppins"/>
                <a:sym typeface="Poppins"/>
              </a:rPr>
              <a:t>Break.  </a:t>
            </a:r>
            <a:endParaRPr sz="4800">
              <a:solidFill>
                <a:schemeClr val="lt1"/>
              </a:solidFill>
              <a:highlight>
                <a:srgbClr val="3585F9"/>
              </a:highlight>
              <a:latin typeface="Poppins"/>
              <a:ea typeface="Poppins"/>
              <a:cs typeface="Poppins"/>
              <a:sym typeface="Poppins"/>
            </a:endParaRPr>
          </a:p>
        </p:txBody>
      </p:sp>
      <p:pic>
        <p:nvPicPr>
          <p:cNvPr id="5087" name="Google Shape;5087;p375"/>
          <p:cNvPicPr preferRelativeResize="0"/>
          <p:nvPr/>
        </p:nvPicPr>
        <p:blipFill>
          <a:blip r:embed="rId7">
            <a:alphaModFix/>
          </a:blip>
          <a:stretch>
            <a:fillRect/>
          </a:stretch>
        </p:blipFill>
        <p:spPr>
          <a:xfrm>
            <a:off x="1672200" y="1409975"/>
            <a:ext cx="1357400" cy="1357400"/>
          </a:xfrm>
          <a:prstGeom prst="rect">
            <a:avLst/>
          </a:prstGeom>
          <a:noFill/>
          <a:ln>
            <a:noFill/>
          </a:ln>
        </p:spPr>
      </p:pic>
    </p:spTree>
  </p:cSld>
  <p:clrMapOvr>
    <a:masterClrMapping/>
  </p:clrMapOvr>
  <p:transition spd="slow">
    <p:fade thruBlk="1"/>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